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  <p:sldMasterId id="2147483678" r:id="rId2"/>
    <p:sldMasterId id="2147483686" r:id="rId3"/>
    <p:sldMasterId id="2147483692" r:id="rId4"/>
  </p:sldMasterIdLst>
  <p:notesMasterIdLst>
    <p:notesMasterId r:id="rId24"/>
  </p:notesMasterIdLst>
  <p:sldIdLst>
    <p:sldId id="264" r:id="rId5"/>
    <p:sldId id="276" r:id="rId6"/>
    <p:sldId id="277" r:id="rId7"/>
    <p:sldId id="278" r:id="rId8"/>
    <p:sldId id="280" r:id="rId9"/>
    <p:sldId id="281" r:id="rId10"/>
    <p:sldId id="275" r:id="rId11"/>
    <p:sldId id="279" r:id="rId12"/>
    <p:sldId id="283" r:id="rId13"/>
    <p:sldId id="282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300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05.11.2015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600174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290148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016817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8241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308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332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35232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1827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800541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6000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267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4571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5191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39760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707319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389236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17294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420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6368959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26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350267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 Boolean</a:t>
            </a:r>
            <a:r>
              <a:rPr lang="de-DE" sz="1000" baseline="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und Modulo </a:t>
            </a:r>
            <a:r>
              <a:rPr lang="de-DE" sz="1000" dirty="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 Seite </a:t>
            </a:r>
            <a:fld id="{C5A4FFB9-E613-43CD-964A-AE1E9E6225EE}" type="slidenum">
              <a:rPr lang="de-DE" sz="100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86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079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91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8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chnelle-online.info/Wann-ist-ein-Schaltjahr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971600" y="1124744"/>
            <a:ext cx="74168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dirty="0" smtClean="0"/>
              <a:t>Ein Ausdruck besteht aus </a:t>
            </a:r>
            <a:r>
              <a:rPr lang="de-AT" sz="2400" dirty="0" smtClean="0">
                <a:solidFill>
                  <a:srgbClr val="0070C0"/>
                </a:solidFill>
              </a:rPr>
              <a:t>Operanden</a:t>
            </a:r>
            <a:r>
              <a:rPr lang="de-AT" sz="24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AT" sz="2400" dirty="0" smtClean="0"/>
              <a:t>und </a:t>
            </a:r>
            <a:r>
              <a:rPr lang="de-AT" sz="2400" dirty="0" smtClean="0">
                <a:solidFill>
                  <a:srgbClr val="FF0000"/>
                </a:solidFill>
              </a:rPr>
              <a:t>Operatoren</a:t>
            </a:r>
            <a:r>
              <a:rPr lang="de-AT" sz="2400" dirty="0" smtClean="0"/>
              <a:t>.</a:t>
            </a:r>
          </a:p>
          <a:p>
            <a:endParaRPr lang="de-AT" sz="2400" dirty="0" smtClean="0"/>
          </a:p>
          <a:p>
            <a:r>
              <a:rPr lang="de-AT" sz="2400" dirty="0" smtClean="0"/>
              <a:t>Ein </a:t>
            </a:r>
            <a:r>
              <a:rPr lang="de-AT" sz="2400" dirty="0" smtClean="0">
                <a:solidFill>
                  <a:srgbClr val="0070C0"/>
                </a:solidFill>
              </a:rPr>
              <a:t>Operand </a:t>
            </a:r>
            <a:r>
              <a:rPr lang="de-AT" sz="2400" dirty="0" smtClean="0"/>
              <a:t>kann sein</a:t>
            </a:r>
          </a:p>
          <a:p>
            <a:r>
              <a:rPr lang="de-AT" sz="2400" dirty="0" smtClean="0"/>
              <a:t>   -  Wert</a:t>
            </a:r>
          </a:p>
          <a:p>
            <a:r>
              <a:rPr lang="de-AT" sz="2400" dirty="0" smtClean="0"/>
              <a:t>   -  Variable</a:t>
            </a:r>
          </a:p>
          <a:p>
            <a:r>
              <a:rPr lang="de-AT" sz="2400" dirty="0" smtClean="0"/>
              <a:t>   -  Ausdruck</a:t>
            </a:r>
          </a:p>
          <a:p>
            <a:endParaRPr lang="de-AT" sz="2400" dirty="0"/>
          </a:p>
          <a:p>
            <a:r>
              <a:rPr lang="de-AT" sz="2400" dirty="0" smtClean="0"/>
              <a:t>Ein </a:t>
            </a:r>
            <a:r>
              <a:rPr lang="de-AT" sz="2400" dirty="0" smtClean="0">
                <a:solidFill>
                  <a:srgbClr val="FF0000"/>
                </a:solidFill>
              </a:rPr>
              <a:t>Operator</a:t>
            </a:r>
            <a:r>
              <a:rPr lang="de-AT" sz="2400" dirty="0" smtClean="0"/>
              <a:t> verknüpft zwei </a:t>
            </a:r>
            <a:r>
              <a:rPr lang="de-AT" sz="2400" dirty="0" smtClean="0">
                <a:solidFill>
                  <a:srgbClr val="0070C0"/>
                </a:solidFill>
              </a:rPr>
              <a:t>Operanden </a:t>
            </a:r>
            <a:r>
              <a:rPr lang="de-AT" sz="2400" dirty="0" smtClean="0"/>
              <a:t>nach gewissen Regeln,</a:t>
            </a:r>
          </a:p>
          <a:p>
            <a:r>
              <a:rPr lang="de-AT" sz="2400" dirty="0" smtClean="0"/>
              <a:t>wobei ein Ergebnis entsteht.</a:t>
            </a:r>
          </a:p>
          <a:p>
            <a:endParaRPr lang="de-AT" sz="2400" dirty="0"/>
          </a:p>
          <a:p>
            <a:r>
              <a:rPr lang="de-AT" sz="2400" dirty="0" smtClean="0">
                <a:solidFill>
                  <a:srgbClr val="0070C0"/>
                </a:solidFill>
              </a:rPr>
              <a:t>&lt;Operand&gt;</a:t>
            </a:r>
            <a:r>
              <a:rPr lang="de-AT" sz="2400" dirty="0" smtClean="0"/>
              <a:t> </a:t>
            </a:r>
            <a:r>
              <a:rPr lang="de-AT" sz="2400" dirty="0" smtClean="0">
                <a:solidFill>
                  <a:srgbClr val="FF0000"/>
                </a:solidFill>
              </a:rPr>
              <a:t>&lt;Operator&gt;</a:t>
            </a:r>
            <a:r>
              <a:rPr lang="de-AT" sz="2400" dirty="0" smtClean="0"/>
              <a:t> </a:t>
            </a:r>
            <a:r>
              <a:rPr lang="de-AT" sz="2400" dirty="0" smtClean="0">
                <a:solidFill>
                  <a:srgbClr val="0070C0"/>
                </a:solidFill>
              </a:rPr>
              <a:t>&lt;Operand&gt;</a:t>
            </a:r>
          </a:p>
          <a:p>
            <a:r>
              <a:rPr lang="de-AT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de-AT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Ausdrücke</a:t>
            </a:r>
            <a:br>
              <a:rPr lang="de-AT" dirty="0" smtClean="0"/>
            </a:b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97097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475656" y="3045965"/>
            <a:ext cx="5285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  2  *  (  a  +  b  )   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Ellipse 2"/>
          <p:cNvSpPr/>
          <p:nvPr/>
        </p:nvSpPr>
        <p:spPr>
          <a:xfrm>
            <a:off x="3419872" y="2985979"/>
            <a:ext cx="504056" cy="44407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Ellipse 10"/>
          <p:cNvSpPr/>
          <p:nvPr/>
        </p:nvSpPr>
        <p:spPr>
          <a:xfrm>
            <a:off x="4644008" y="3009734"/>
            <a:ext cx="504056" cy="44407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Ellipse 11"/>
          <p:cNvSpPr/>
          <p:nvPr/>
        </p:nvSpPr>
        <p:spPr>
          <a:xfrm>
            <a:off x="5436096" y="3008596"/>
            <a:ext cx="504056" cy="44407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s Rechteck 9"/>
          <p:cNvSpPr/>
          <p:nvPr/>
        </p:nvSpPr>
        <p:spPr>
          <a:xfrm>
            <a:off x="3203848" y="1905859"/>
            <a:ext cx="2952328" cy="576064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>
                <a:solidFill>
                  <a:srgbClr val="0070C0"/>
                </a:solidFill>
              </a:rPr>
              <a:t>Operanden</a:t>
            </a:r>
            <a:endParaRPr lang="de-AT" b="1" dirty="0"/>
          </a:p>
        </p:txBody>
      </p:sp>
      <p:cxnSp>
        <p:nvCxnSpPr>
          <p:cNvPr id="14" name="Gerade Verbindung 13"/>
          <p:cNvCxnSpPr>
            <a:stCxn id="10" idx="2"/>
            <a:endCxn id="3" idx="7"/>
          </p:cNvCxnSpPr>
          <p:nvPr/>
        </p:nvCxnSpPr>
        <p:spPr>
          <a:xfrm flipH="1">
            <a:off x="3850111" y="2481923"/>
            <a:ext cx="829901" cy="5690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7"/>
          <p:cNvCxnSpPr>
            <a:stCxn id="10" idx="2"/>
            <a:endCxn id="12" idx="1"/>
          </p:cNvCxnSpPr>
          <p:nvPr/>
        </p:nvCxnSpPr>
        <p:spPr>
          <a:xfrm>
            <a:off x="4680012" y="2481923"/>
            <a:ext cx="829901" cy="5917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/>
          <p:cNvCxnSpPr>
            <a:stCxn id="10" idx="2"/>
            <a:endCxn id="11" idx="0"/>
          </p:cNvCxnSpPr>
          <p:nvPr/>
        </p:nvCxnSpPr>
        <p:spPr>
          <a:xfrm>
            <a:off x="4680012" y="2481923"/>
            <a:ext cx="216024" cy="5278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lipse 22"/>
          <p:cNvSpPr/>
          <p:nvPr/>
        </p:nvSpPr>
        <p:spPr>
          <a:xfrm>
            <a:off x="3850111" y="2971227"/>
            <a:ext cx="504056" cy="444070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Ellipse 23"/>
          <p:cNvSpPr/>
          <p:nvPr/>
        </p:nvSpPr>
        <p:spPr>
          <a:xfrm>
            <a:off x="5036848" y="3008596"/>
            <a:ext cx="504056" cy="444070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5" name="Abgerundetes Rechteck 24"/>
          <p:cNvSpPr/>
          <p:nvPr/>
        </p:nvSpPr>
        <p:spPr>
          <a:xfrm>
            <a:off x="3059832" y="4005064"/>
            <a:ext cx="2952328" cy="576064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 smtClean="0">
                <a:solidFill>
                  <a:srgbClr val="FF0000"/>
                </a:solidFill>
              </a:rPr>
              <a:t>Operatoren</a:t>
            </a:r>
            <a:endParaRPr lang="de-AT" b="1" dirty="0">
              <a:solidFill>
                <a:srgbClr val="FF0000"/>
              </a:solidFill>
            </a:endParaRPr>
          </a:p>
        </p:txBody>
      </p:sp>
      <p:cxnSp>
        <p:nvCxnSpPr>
          <p:cNvPr id="26" name="Gerade Verbindung 25"/>
          <p:cNvCxnSpPr>
            <a:stCxn id="25" idx="0"/>
            <a:endCxn id="23" idx="5"/>
          </p:cNvCxnSpPr>
          <p:nvPr/>
        </p:nvCxnSpPr>
        <p:spPr>
          <a:xfrm flipH="1" flipV="1">
            <a:off x="4280350" y="3350264"/>
            <a:ext cx="255646" cy="65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/>
          <p:cNvCxnSpPr>
            <a:stCxn id="25" idx="0"/>
            <a:endCxn id="24" idx="4"/>
          </p:cNvCxnSpPr>
          <p:nvPr/>
        </p:nvCxnSpPr>
        <p:spPr>
          <a:xfrm flipV="1">
            <a:off x="4535996" y="3452666"/>
            <a:ext cx="752880" cy="5523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/>
          <p:cNvSpPr/>
          <p:nvPr/>
        </p:nvSpPr>
        <p:spPr>
          <a:xfrm>
            <a:off x="2915816" y="2996952"/>
            <a:ext cx="504056" cy="444070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27" name="Gerade Verbindung 26"/>
          <p:cNvCxnSpPr>
            <a:stCxn id="25" idx="0"/>
            <a:endCxn id="22" idx="5"/>
          </p:cNvCxnSpPr>
          <p:nvPr/>
        </p:nvCxnSpPr>
        <p:spPr>
          <a:xfrm flipH="1" flipV="1">
            <a:off x="3346055" y="3375989"/>
            <a:ext cx="1189941" cy="6290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el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Ausdrücke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797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0" grpId="0" animBg="1"/>
      <p:bldP spid="23" grpId="0" animBg="1"/>
      <p:bldP spid="24" grpId="0" animBg="1"/>
      <p:bldP spid="25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827584" y="2985205"/>
            <a:ext cx="5285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  2  *  (  a  +  b  )   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3779912" y="2000088"/>
            <a:ext cx="1800200" cy="144016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Ausdruck</a:t>
            </a:r>
          </a:p>
          <a:p>
            <a:pPr algn="ctr"/>
            <a:endParaRPr lang="de-AT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AT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AT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bgerundetes Rechteck 26"/>
          <p:cNvSpPr/>
          <p:nvPr/>
        </p:nvSpPr>
        <p:spPr>
          <a:xfrm>
            <a:off x="2663788" y="2789714"/>
            <a:ext cx="3060340" cy="1658646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AT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AT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AT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AT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Ausdruck</a:t>
            </a:r>
          </a:p>
        </p:txBody>
      </p:sp>
      <p:sp>
        <p:nvSpPr>
          <p:cNvPr id="12" name="Abgerundetes Rechteck 11"/>
          <p:cNvSpPr/>
          <p:nvPr/>
        </p:nvSpPr>
        <p:spPr>
          <a:xfrm>
            <a:off x="1403648" y="2780928"/>
            <a:ext cx="5760640" cy="838109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Ausdruck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Ausdrücke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3840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7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761927" y="1317302"/>
            <a:ext cx="73448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smtClean="0"/>
              <a:t>Ein arithmetischer Ausdruck besteht aus </a:t>
            </a:r>
            <a:r>
              <a:rPr lang="de-AT" i="1" dirty="0" smtClean="0">
                <a:solidFill>
                  <a:srgbClr val="FF0000"/>
                </a:solidFill>
              </a:rPr>
              <a:t>arithmetischen Operatoren</a:t>
            </a:r>
            <a:r>
              <a:rPr lang="de-AT" dirty="0" smtClean="0"/>
              <a:t>.</a:t>
            </a:r>
          </a:p>
          <a:p>
            <a:r>
              <a:rPr lang="de-AT" dirty="0" smtClean="0"/>
              <a:t>Dabei wird ein Zahlenwert berechnet.</a:t>
            </a:r>
          </a:p>
          <a:p>
            <a:endParaRPr lang="de-AT" dirty="0" smtClean="0"/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 smtClean="0"/>
              <a:t>		</a:t>
            </a:r>
            <a:r>
              <a:rPr lang="de-AT" dirty="0" smtClean="0">
                <a:latin typeface="Calibri" panose="020F0502020204030204" pitchFamily="34" charset="0"/>
                <a:cs typeface="Courier New" panose="02070309020205020404" pitchFamily="49" charset="0"/>
              </a:rPr>
              <a:t>Addition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 smtClean="0"/>
              <a:t>		Subtraktion</a:t>
            </a:r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	 </a:t>
            </a:r>
            <a:r>
              <a:rPr lang="de-AT" dirty="0" smtClean="0"/>
              <a:t>	Multiplikation</a:t>
            </a:r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dirty="0" smtClean="0"/>
              <a:t>Division</a:t>
            </a:r>
          </a:p>
          <a:p>
            <a:endParaRPr lang="de-AT" dirty="0" smtClean="0"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de-AT" dirty="0" smtClean="0">
                <a:latin typeface="Calibri" panose="020F0502020204030204" pitchFamily="34" charset="0"/>
                <a:cs typeface="Courier New" panose="02070309020205020404" pitchFamily="49" charset="0"/>
              </a:rPr>
              <a:t>Sind a und b ganzzahlige Datentypen, ist auch das Ergebnis einer Division eine ganze Zahl. Den Rest dieser Division kann man mit dem Modulo-Operator berechnen: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dirty="0" err="1" smtClean="0"/>
              <a:t>Modulodivision</a:t>
            </a:r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Arithmetische Operatoren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9352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043608" y="1628800"/>
            <a:ext cx="69847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smtClean="0"/>
              <a:t>Ein Zuweisungsoperator berechnet den Ausdruck auf der rechten Seite </a:t>
            </a:r>
            <a:br>
              <a:rPr lang="de-AT" dirty="0" smtClean="0"/>
            </a:br>
            <a:r>
              <a:rPr lang="de-AT" dirty="0" smtClean="0"/>
              <a:t>und kopiert den Wert in die Variable auf der linken Seite.</a:t>
            </a:r>
          </a:p>
          <a:p>
            <a:endParaRPr lang="de-AT" dirty="0"/>
          </a:p>
          <a:p>
            <a:endParaRPr lang="de-AT" dirty="0" smtClean="0"/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&lt;Variable&gt; 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&lt;Ausdruck&gt;</a:t>
            </a:r>
            <a:endParaRPr lang="de-AT" dirty="0" smtClean="0"/>
          </a:p>
          <a:p>
            <a:endParaRPr lang="de-AT" dirty="0" smtClean="0"/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Abgerundetes Rechteck 2"/>
          <p:cNvSpPr/>
          <p:nvPr/>
        </p:nvSpPr>
        <p:spPr>
          <a:xfrm>
            <a:off x="2195736" y="3760009"/>
            <a:ext cx="1944216" cy="1008112"/>
          </a:xfrm>
          <a:prstGeom prst="round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err="1">
                <a:solidFill>
                  <a:schemeClr val="accent1">
                    <a:lumMod val="50000"/>
                  </a:schemeClr>
                </a:solidFill>
              </a:rPr>
              <a:t>l</a:t>
            </a:r>
            <a:r>
              <a:rPr lang="de-AT" dirty="0" err="1" smtClean="0">
                <a:solidFill>
                  <a:schemeClr val="accent1">
                    <a:lumMod val="50000"/>
                  </a:schemeClr>
                </a:solidFill>
              </a:rPr>
              <a:t>eftvalue</a:t>
            </a:r>
            <a:endParaRPr lang="de-AT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de-AT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de-AT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Abgerundetes Rechteck 10"/>
          <p:cNvSpPr/>
          <p:nvPr/>
        </p:nvSpPr>
        <p:spPr>
          <a:xfrm>
            <a:off x="4535996" y="3760009"/>
            <a:ext cx="1944216" cy="1008112"/>
          </a:xfrm>
          <a:prstGeom prst="round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err="1" smtClean="0">
                <a:solidFill>
                  <a:schemeClr val="accent1">
                    <a:lumMod val="50000"/>
                  </a:schemeClr>
                </a:solidFill>
              </a:rPr>
              <a:t>rightvalue</a:t>
            </a:r>
            <a:endParaRPr lang="de-AT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de-AT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de-AT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Zuweisungsoperatoren</a:t>
            </a:r>
            <a:br>
              <a:rPr lang="de-AT" dirty="0" smtClean="0"/>
            </a:b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7594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079612" y="1287132"/>
            <a:ext cx="69847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smtClean="0"/>
              <a:t>Sonderfälle (derzeit noch nicht wichtig!)</a:t>
            </a:r>
          </a:p>
          <a:p>
            <a:endParaRPr lang="de-AT" dirty="0"/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/>
              <a:t>	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 + 1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/>
              <a:t>	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 - 1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	 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 +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	 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b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	 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 b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	 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 b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	 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Spezielle Zuweisungsoperatoren 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64456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079612" y="1268760"/>
            <a:ext cx="69847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smtClean="0"/>
              <a:t>Dabei wird der Wert von Operanden verglichen.</a:t>
            </a:r>
          </a:p>
          <a:p>
            <a:r>
              <a:rPr lang="de-AT" dirty="0" smtClean="0"/>
              <a:t>Das Ergebnis ist immer ein Wahrheitswert vom Datentyp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A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de-AT" dirty="0" smtClean="0"/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 smtClean="0"/>
              <a:t>		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 smtClean="0"/>
              <a:t> ist gleich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 smtClean="0"/>
              <a:t>		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 smtClean="0"/>
              <a:t> ist nicht gleich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	 </a:t>
            </a:r>
            <a:r>
              <a:rPr lang="de-AT" dirty="0" smtClean="0"/>
              <a:t>	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 smtClean="0"/>
              <a:t> ist größer als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größer </a:t>
            </a:r>
            <a:r>
              <a:rPr lang="de-AT" dirty="0" smtClean="0"/>
              <a:t>oder gleich als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</a:t>
            </a:r>
            <a:r>
              <a:rPr lang="de-AT" dirty="0" smtClean="0"/>
              <a:t>kleiner als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</a:t>
            </a:r>
            <a:r>
              <a:rPr lang="de-AT" dirty="0" smtClean="0"/>
              <a:t>kleiner oder gleich als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Relationale Operatoren – </a:t>
            </a:r>
            <a:r>
              <a:rPr lang="de-AT" dirty="0" err="1" smtClean="0"/>
              <a:t>Vergleichsop</a:t>
            </a:r>
            <a:r>
              <a:rPr lang="de-AT" dirty="0" smtClean="0"/>
              <a:t>.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165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827584" y="1772816"/>
            <a:ext cx="743030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Ein logischer Ausdruck kann auch aus </a:t>
            </a:r>
            <a:r>
              <a:rPr lang="de-AT" i="1" dirty="0" smtClean="0">
                <a:solidFill>
                  <a:srgbClr val="FF0000"/>
                </a:solidFill>
              </a:rPr>
              <a:t>logischen Operatoren </a:t>
            </a:r>
            <a:r>
              <a:rPr lang="de-AT" dirty="0" smtClean="0"/>
              <a:t>bestehen.</a:t>
            </a:r>
          </a:p>
          <a:p>
            <a:r>
              <a:rPr lang="de-AT" dirty="0" smtClean="0"/>
              <a:t>Dabei werden zwei Wahrheitswerte vom Datentyp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AT" dirty="0" smtClean="0"/>
              <a:t> verknüpft.</a:t>
            </a:r>
          </a:p>
          <a:p>
            <a:endParaRPr lang="de-AT" dirty="0" smtClean="0"/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 smtClean="0"/>
              <a:t>	ist nur </a:t>
            </a:r>
            <a:r>
              <a:rPr lang="de-AT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AT" dirty="0" smtClean="0"/>
              <a:t>, wenn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 smtClean="0"/>
              <a:t> und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de-AT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AT" dirty="0" smtClean="0">
                <a:solidFill>
                  <a:srgbClr val="00B050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AT" dirty="0" smtClean="0">
                <a:latin typeface="Calibri" panose="020F0502020204030204" pitchFamily="34" charset="0"/>
                <a:cs typeface="Courier New" panose="02070309020205020404" pitchFamily="49" charset="0"/>
              </a:rPr>
              <a:t>sind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 smtClean="0"/>
              <a:t>	ist nur </a:t>
            </a:r>
            <a:r>
              <a:rPr lang="de-AT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AT" dirty="0" smtClean="0"/>
              <a:t>, wenn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 smtClean="0"/>
              <a:t> und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de-AT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AT" dirty="0" smtClean="0">
                <a:solidFill>
                  <a:srgbClr val="FF0000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AT" dirty="0" smtClean="0">
                <a:latin typeface="Calibri" panose="020F0502020204030204" pitchFamily="34" charset="0"/>
                <a:cs typeface="Courier New" panose="02070309020205020404" pitchFamily="49" charset="0"/>
              </a:rPr>
              <a:t>sind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de-AT" dirty="0" smtClean="0"/>
              <a:t>	</a:t>
            </a:r>
            <a:r>
              <a:rPr lang="de-AT" dirty="0" smtClean="0">
                <a:latin typeface="Calibri" panose="020F0502020204030204" pitchFamily="34" charset="0"/>
                <a:cs typeface="Courier New" panose="02070309020205020404" pitchFamily="49" charset="0"/>
              </a:rPr>
              <a:t>ist </a:t>
            </a:r>
            <a:r>
              <a:rPr lang="de-AT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AT" dirty="0" smtClean="0">
                <a:latin typeface="Calibri" panose="020F0502020204030204" pitchFamily="34" charset="0"/>
                <a:cs typeface="Courier New" panose="02070309020205020404" pitchFamily="49" charset="0"/>
              </a:rPr>
              <a:t>, wenn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 smtClean="0"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AT" dirty="0" smtClean="0">
                <a:solidFill>
                  <a:srgbClr val="FF0000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AT" dirty="0" smtClean="0">
                <a:latin typeface="Calibri" panose="020F0502020204030204" pitchFamily="34" charset="0"/>
                <a:cs typeface="Courier New" panose="02070309020205020404" pitchFamily="49" charset="0"/>
              </a:rPr>
              <a:t>ist</a:t>
            </a:r>
          </a:p>
          <a:p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de-AT" dirty="0" smtClean="0">
                <a:latin typeface="Calibri" panose="020F0502020204030204" pitchFamily="34" charset="0"/>
                <a:cs typeface="Courier New" panose="02070309020205020404" pitchFamily="49" charset="0"/>
              </a:rPr>
              <a:t>	ist </a:t>
            </a:r>
            <a:r>
              <a:rPr lang="de-AT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AT" dirty="0" smtClean="0">
                <a:latin typeface="Calibri" panose="020F0502020204030204" pitchFamily="34" charset="0"/>
                <a:cs typeface="Courier New" panose="02070309020205020404" pitchFamily="49" charset="0"/>
              </a:rPr>
              <a:t>, wenn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 smtClean="0"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AT" dirty="0" smtClean="0">
                <a:solidFill>
                  <a:srgbClr val="00B050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AT" dirty="0" smtClean="0">
                <a:latin typeface="Calibri" panose="020F0502020204030204" pitchFamily="34" charset="0"/>
                <a:cs typeface="Courier New" panose="02070309020205020404" pitchFamily="49" charset="0"/>
              </a:rPr>
              <a:t>ist 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Logische Operatoren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5610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899592" y="1628800"/>
            <a:ext cx="76328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smtClean="0"/>
              <a:t>Ein logischer Ausdruck besteht a</a:t>
            </a:r>
            <a:r>
              <a:rPr lang="de-AT" dirty="0"/>
              <a:t>us relationalen Operatoren und/oder logischen Operatoren und/oder weiteren logischen </a:t>
            </a:r>
            <a:r>
              <a:rPr lang="de-AT" dirty="0" smtClean="0"/>
              <a:t>Ausdrücken</a:t>
            </a:r>
            <a:r>
              <a:rPr lang="de-AT" dirty="0"/>
              <a:t>.</a:t>
            </a:r>
          </a:p>
          <a:p>
            <a:endParaRPr lang="de-AT" dirty="0"/>
          </a:p>
          <a:p>
            <a:r>
              <a:rPr lang="de-AT" dirty="0"/>
              <a:t>Logische </a:t>
            </a:r>
            <a:r>
              <a:rPr lang="de-AT" dirty="0" smtClean="0"/>
              <a:t>Ausdrücke ergeben den </a:t>
            </a:r>
            <a:r>
              <a:rPr lang="de-AT" dirty="0"/>
              <a:t>Wert </a:t>
            </a:r>
            <a:r>
              <a:rPr lang="de-AT" b="1" i="1" dirty="0" err="1">
                <a:solidFill>
                  <a:srgbClr val="00B050"/>
                </a:solidFill>
              </a:rPr>
              <a:t>true</a:t>
            </a:r>
            <a:r>
              <a:rPr lang="de-AT" dirty="0">
                <a:solidFill>
                  <a:srgbClr val="00B050"/>
                </a:solidFill>
              </a:rPr>
              <a:t> </a:t>
            </a:r>
            <a:r>
              <a:rPr lang="de-AT" dirty="0"/>
              <a:t>(wahr) oder </a:t>
            </a:r>
            <a:r>
              <a:rPr lang="de-AT" b="1" i="1" dirty="0" err="1">
                <a:solidFill>
                  <a:srgbClr val="FF0000"/>
                </a:solidFill>
              </a:rPr>
              <a:t>false</a:t>
            </a:r>
            <a:r>
              <a:rPr lang="de-AT" dirty="0"/>
              <a:t> (falsch</a:t>
            </a:r>
            <a:r>
              <a:rPr lang="de-AT" dirty="0" smtClean="0"/>
              <a:t>)!</a:t>
            </a:r>
          </a:p>
          <a:p>
            <a:endParaRPr lang="de-AT" dirty="0"/>
          </a:p>
          <a:p>
            <a:endParaRPr lang="de-AT" dirty="0" smtClean="0"/>
          </a:p>
          <a:p>
            <a:r>
              <a:rPr lang="de-AT" dirty="0" smtClean="0"/>
              <a:t>Bsp.: </a:t>
            </a:r>
          </a:p>
          <a:p>
            <a:endParaRPr lang="de-AT" dirty="0"/>
          </a:p>
          <a:p>
            <a:endParaRPr lang="de-AT" dirty="0" smtClean="0"/>
          </a:p>
          <a:p>
            <a:endParaRPr lang="de-AT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Logischer Ausdruck</a:t>
            </a:r>
            <a:endParaRPr lang="de-AT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891334"/>
            <a:ext cx="4166746" cy="47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2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Beispiele – logische Ausdrücke </a:t>
            </a:r>
            <a:endParaRPr lang="de-AT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06" y="1988840"/>
            <a:ext cx="6464422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4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Beispiel: Integer-Division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457200" y="1556792"/>
            <a:ext cx="8208912" cy="4680520"/>
          </a:xfrm>
        </p:spPr>
        <p:txBody>
          <a:bodyPr/>
          <a:lstStyle/>
          <a:p>
            <a:pPr marL="0" indent="0">
              <a:buNone/>
            </a:pPr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 a = 5;</a:t>
            </a:r>
          </a:p>
          <a:p>
            <a:pPr marL="0" indent="0">
              <a:buNone/>
            </a:pPr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 b = 3;</a:t>
            </a:r>
            <a:br>
              <a:rPr lang="de-AT" dirty="0" smtClean="0"/>
            </a:br>
            <a:endParaRPr lang="de-AT" dirty="0" smtClean="0"/>
          </a:p>
          <a:p>
            <a:pPr marL="0" indent="0">
              <a:buNone/>
            </a:pPr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 c = a / b;</a:t>
            </a:r>
            <a:br>
              <a:rPr lang="de-AT" dirty="0" smtClean="0"/>
            </a:br>
            <a:endParaRPr lang="de-AT" dirty="0" smtClean="0"/>
          </a:p>
          <a:p>
            <a:pPr marL="0" indent="0">
              <a:buNone/>
            </a:pPr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 </a:t>
            </a:r>
            <a:r>
              <a:rPr lang="de-AT" dirty="0" err="1" smtClean="0"/>
              <a:t>remainder</a:t>
            </a:r>
            <a:r>
              <a:rPr lang="de-AT" dirty="0" smtClean="0"/>
              <a:t> = a % b;</a:t>
            </a:r>
            <a:endParaRPr lang="de-AT" dirty="0"/>
          </a:p>
        </p:txBody>
      </p:sp>
      <p:sp>
        <p:nvSpPr>
          <p:cNvPr id="4" name="Ovale Legende 3"/>
          <p:cNvSpPr/>
          <p:nvPr/>
        </p:nvSpPr>
        <p:spPr>
          <a:xfrm>
            <a:off x="1835696" y="1772878"/>
            <a:ext cx="3096344" cy="720080"/>
          </a:xfrm>
          <a:prstGeom prst="wedgeEllipseCallout">
            <a:avLst>
              <a:gd name="adj1" fmla="val -35447"/>
              <a:gd name="adj2" fmla="val 1292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Was ist der Wert von c?</a:t>
            </a:r>
            <a:endParaRPr lang="de-AT" dirty="0"/>
          </a:p>
        </p:txBody>
      </p:sp>
      <p:sp>
        <p:nvSpPr>
          <p:cNvPr id="5" name="Ovale Legende 4"/>
          <p:cNvSpPr/>
          <p:nvPr/>
        </p:nvSpPr>
        <p:spPr>
          <a:xfrm>
            <a:off x="3563888" y="2636974"/>
            <a:ext cx="3312368" cy="1080120"/>
          </a:xfrm>
          <a:prstGeom prst="wedgeEllipseCallout">
            <a:avLst>
              <a:gd name="adj1" fmla="val -87713"/>
              <a:gd name="adj2" fmla="val -33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Und wie bekommen wir den Rest der Division?</a:t>
            </a:r>
            <a:endParaRPr lang="de-AT" dirty="0"/>
          </a:p>
        </p:txBody>
      </p:sp>
      <p:sp>
        <p:nvSpPr>
          <p:cNvPr id="6" name="Ovale Legende 5"/>
          <p:cNvSpPr/>
          <p:nvPr/>
        </p:nvSpPr>
        <p:spPr>
          <a:xfrm>
            <a:off x="3716288" y="4437174"/>
            <a:ext cx="3312368" cy="1080120"/>
          </a:xfrm>
          <a:prstGeom prst="wedgeEllipseCallout">
            <a:avLst>
              <a:gd name="adj1" fmla="val -64376"/>
              <a:gd name="adj2" fmla="val -762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Das ist der „</a:t>
            </a:r>
            <a:r>
              <a:rPr lang="de-AT" dirty="0" err="1" smtClean="0"/>
              <a:t>modulo</a:t>
            </a:r>
            <a:r>
              <a:rPr lang="de-AT" dirty="0" smtClean="0"/>
              <a:t>“-Operator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9098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Gerade oder ungerade?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dirty="0" smtClean="0"/>
              <a:t>Ausprobieren:</a:t>
            </a:r>
          </a:p>
          <a:p>
            <a:pPr marL="541337" lvl="1" indent="0">
              <a:buNone/>
            </a:pPr>
            <a:r>
              <a:rPr lang="de-AT" sz="2000" dirty="0" smtClean="0"/>
              <a:t>2 % 2 =</a:t>
            </a:r>
            <a:br>
              <a:rPr lang="de-AT" sz="2000" dirty="0" smtClean="0"/>
            </a:br>
            <a:r>
              <a:rPr lang="de-AT" sz="2000" dirty="0" smtClean="0"/>
              <a:t>3 % 2 =</a:t>
            </a:r>
            <a:br>
              <a:rPr lang="de-AT" sz="2000" dirty="0" smtClean="0"/>
            </a:br>
            <a:r>
              <a:rPr lang="de-AT" sz="2000" dirty="0" smtClean="0"/>
              <a:t>4 % 2 =</a:t>
            </a:r>
            <a:br>
              <a:rPr lang="de-AT" sz="2000" dirty="0" smtClean="0"/>
            </a:br>
            <a:r>
              <a:rPr lang="de-AT" sz="2000" dirty="0" smtClean="0"/>
              <a:t>5 % 2 =</a:t>
            </a:r>
          </a:p>
        </p:txBody>
      </p:sp>
    </p:spTree>
    <p:extLst>
      <p:ext uri="{BB962C8B-B14F-4D97-AF65-F5344CB8AC3E}">
        <p14:creationId xmlns:p14="http://schemas.microsoft.com/office/powerpoint/2010/main" val="125545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Achte auf Lesbarkeit!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de-AT" dirty="0"/>
              <a:t>Was ist besser lesbar?</a:t>
            </a:r>
          </a:p>
          <a:p>
            <a:pPr marL="541337" lvl="1" indent="0">
              <a:buNone/>
            </a:pPr>
            <a:r>
              <a:rPr lang="de-AT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(a % 2 == 0)</a:t>
            </a:r>
          </a:p>
          <a:p>
            <a:pPr marL="541337" lvl="1" indent="0">
              <a:buNone/>
            </a:pP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541337" lvl="1" indent="0">
              <a:buNone/>
            </a:pP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00050" indent="-342900">
              <a:buFont typeface="Arial" panose="020B0604020202020204" pitchFamily="34" charset="0"/>
              <a:buChar char="•"/>
            </a:pPr>
            <a:r>
              <a:rPr lang="de-AT" sz="2800" dirty="0"/>
              <a:t>Oder:</a:t>
            </a:r>
          </a:p>
          <a:p>
            <a:pPr marL="541337" lvl="1" indent="0">
              <a:buNone/>
            </a:pPr>
            <a:r>
              <a:rPr lang="de-AT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AT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aIsEven</a:t>
            </a: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541337" lvl="1" indent="0">
              <a:buNone/>
            </a:pP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541337" lvl="1" indent="0">
              <a:buNone/>
            </a:pP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316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Wie geht das?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lvl="1" indent="0">
              <a:buClr>
                <a:schemeClr val="tx1">
                  <a:lumMod val="50000"/>
                  <a:lumOff val="50000"/>
                </a:schemeClr>
              </a:buClr>
              <a:buSzPct val="100000"/>
              <a:buNone/>
            </a:pPr>
            <a:endParaRPr lang="de-AT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Clr>
                <a:schemeClr val="tx1">
                  <a:lumMod val="50000"/>
                  <a:lumOff val="50000"/>
                </a:schemeClr>
              </a:buClr>
              <a:buSzPct val="100000"/>
              <a:buNone/>
            </a:pPr>
            <a:endParaRPr lang="de-AT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Clr>
                <a:schemeClr val="tx1">
                  <a:lumMod val="50000"/>
                  <a:lumOff val="50000"/>
                </a:schemeClr>
              </a:buClr>
              <a:buSzPct val="100000"/>
              <a:buNone/>
            </a:pPr>
            <a:endParaRPr lang="de-AT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Clr>
                <a:schemeClr val="tx1">
                  <a:lumMod val="50000"/>
                  <a:lumOff val="50000"/>
                </a:schemeClr>
              </a:buClr>
              <a:buSzPct val="100000"/>
              <a:buNone/>
            </a:pPr>
            <a:endParaRPr lang="de-AT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Clr>
                <a:schemeClr val="tx1">
                  <a:lumMod val="50000"/>
                  <a:lumOff val="50000"/>
                </a:schemeClr>
              </a:buClr>
              <a:buSzPct val="100000"/>
              <a:buNone/>
            </a:pPr>
            <a:r>
              <a:rPr lang="de-AT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AT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aIsEven</a:t>
            </a: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 2 == </a:t>
            </a:r>
            <a:r>
              <a:rPr lang="de-AT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endParaRPr lang="de-AT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dirty="0"/>
          </a:p>
        </p:txBody>
      </p:sp>
      <p:sp>
        <p:nvSpPr>
          <p:cNvPr id="5" name="Ovale Legende 4"/>
          <p:cNvSpPr/>
          <p:nvPr/>
        </p:nvSpPr>
        <p:spPr>
          <a:xfrm>
            <a:off x="395536" y="1484784"/>
            <a:ext cx="3096344" cy="720080"/>
          </a:xfrm>
          <a:prstGeom prst="wedgeEllipseCallout">
            <a:avLst>
              <a:gd name="adj1" fmla="val -29966"/>
              <a:gd name="adj2" fmla="val 1628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Datentyp: Boolean!</a:t>
            </a:r>
            <a:endParaRPr lang="de-AT" dirty="0"/>
          </a:p>
        </p:txBody>
      </p:sp>
      <p:sp>
        <p:nvSpPr>
          <p:cNvPr id="6" name="Ellipse 5"/>
          <p:cNvSpPr/>
          <p:nvPr/>
        </p:nvSpPr>
        <p:spPr>
          <a:xfrm>
            <a:off x="3203848" y="2924944"/>
            <a:ext cx="2232248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Ovale Legende 6"/>
          <p:cNvSpPr/>
          <p:nvPr/>
        </p:nvSpPr>
        <p:spPr>
          <a:xfrm>
            <a:off x="4716016" y="1340768"/>
            <a:ext cx="3168352" cy="1224136"/>
          </a:xfrm>
          <a:prstGeom prst="wedgeEllipseCallout">
            <a:avLst>
              <a:gd name="adj1" fmla="val -48206"/>
              <a:gd name="adj2" fmla="val 786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Das Ergebnis dieses Ausdrucks ist </a:t>
            </a:r>
            <a:r>
              <a:rPr lang="de-AT" dirty="0" err="1" smtClean="0"/>
              <a:t>true</a:t>
            </a:r>
            <a:r>
              <a:rPr lang="de-AT" dirty="0" smtClean="0"/>
              <a:t> oder </a:t>
            </a:r>
            <a:r>
              <a:rPr lang="de-AT" dirty="0" err="1" smtClean="0"/>
              <a:t>false</a:t>
            </a:r>
            <a:r>
              <a:rPr lang="de-AT" dirty="0" smtClean="0"/>
              <a:t> …</a:t>
            </a:r>
            <a:endParaRPr lang="de-AT" dirty="0"/>
          </a:p>
        </p:txBody>
      </p:sp>
      <p:sp>
        <p:nvSpPr>
          <p:cNvPr id="8" name="Ovale Legende 7"/>
          <p:cNvSpPr/>
          <p:nvPr/>
        </p:nvSpPr>
        <p:spPr>
          <a:xfrm>
            <a:off x="1312633" y="4365104"/>
            <a:ext cx="3024336" cy="1221572"/>
          </a:xfrm>
          <a:prstGeom prst="wedgeEllipseCallout">
            <a:avLst>
              <a:gd name="adj1" fmla="val 6582"/>
              <a:gd name="adj2" fmla="val -1316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… und kann auf eine Variable zugewiesen werden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9002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Beispiel: Schaltjahr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AT" sz="2400" u="sng" dirty="0">
                <a:hlinkClick r:id="rId2"/>
              </a:rPr>
              <a:t>http://</a:t>
            </a:r>
            <a:r>
              <a:rPr lang="de-AT" sz="2400" u="sng" dirty="0" smtClean="0">
                <a:hlinkClick r:id="rId2"/>
              </a:rPr>
              <a:t>www.schnelle-online.info/Wann-ist-ein-Schaltjahr.html</a:t>
            </a:r>
            <a:endParaRPr lang="de-AT" sz="2400" u="sng" dirty="0" smtClean="0"/>
          </a:p>
          <a:p>
            <a:pPr marL="0" indent="0">
              <a:buNone/>
            </a:pPr>
            <a:endParaRPr lang="de-AT" sz="2800" dirty="0" smtClean="0"/>
          </a:p>
          <a:p>
            <a:pPr marL="0" indent="0">
              <a:buNone/>
            </a:pPr>
            <a:r>
              <a:rPr lang="de-AT" sz="2800" dirty="0" smtClean="0"/>
              <a:t>Ein Jahr ist ein Schaltjahr, wenn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sz="2500" dirty="0" smtClean="0"/>
              <a:t>das Jahr durch 4 geteilt werden kann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AT" sz="2200" dirty="0" smtClean="0"/>
              <a:t>Ausnahme 1: Das Jahr ist durch 100 teilbar =&gt; Kein Schaltjahr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AT" sz="2200" dirty="0" smtClean="0"/>
              <a:t>Ausnahme 2: Das Jahr ist durch 400 teilbar =&gt; Immer ein Schaltjahr!</a:t>
            </a:r>
          </a:p>
          <a:p>
            <a:pPr lvl="1">
              <a:buFont typeface="Arial" panose="020B0604020202020204" pitchFamily="34" charset="0"/>
              <a:buChar char="•"/>
            </a:pPr>
            <a:endParaRPr lang="de-AT" sz="2500" dirty="0"/>
          </a:p>
          <a:p>
            <a:pPr marL="0" indent="0">
              <a:buNone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1241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Schaltjahr: Beispiele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AT" dirty="0" smtClean="0"/>
              <a:t>1892 war ein Schaltjahr, weil es durch 4 teilbar 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AT" dirty="0" smtClean="0"/>
              <a:t>1894? 	// Kein Schaltjahr: 1894 % 4 </a:t>
            </a:r>
            <a:r>
              <a:rPr lang="de-AT" dirty="0"/>
              <a:t>=</a:t>
            </a:r>
            <a:r>
              <a:rPr lang="de-AT" dirty="0" smtClean="0"/>
              <a:t>= </a:t>
            </a:r>
            <a:r>
              <a:rPr lang="de-AT" dirty="0" smtClean="0"/>
              <a:t>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AT" dirty="0" smtClean="0"/>
              <a:t>1896?   	// Schaltjahr: 1896 % 4 ==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AT" dirty="0" smtClean="0"/>
              <a:t>1900?	// Kein Schaltjahr: 1900 % 4 == 0, aber 		// 1900 % 100 == 0!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AT" dirty="0" smtClean="0"/>
              <a:t>2000?	// Schaltjahr: </a:t>
            </a:r>
          </a:p>
          <a:p>
            <a:pPr marL="0" indent="0">
              <a:buNone/>
            </a:pPr>
            <a:r>
              <a:rPr lang="de-AT" dirty="0"/>
              <a:t>	</a:t>
            </a:r>
            <a:r>
              <a:rPr lang="de-AT" dirty="0" smtClean="0"/>
              <a:t>	// 2000 % 4 == 0</a:t>
            </a:r>
          </a:p>
          <a:p>
            <a:pPr marL="0" indent="0">
              <a:buNone/>
            </a:pPr>
            <a:r>
              <a:rPr lang="de-AT" dirty="0"/>
              <a:t>	</a:t>
            </a:r>
            <a:r>
              <a:rPr lang="de-AT" dirty="0" smtClean="0"/>
              <a:t>	// 2000 % 100 == 0</a:t>
            </a:r>
          </a:p>
          <a:p>
            <a:pPr marL="0" indent="0">
              <a:buNone/>
            </a:pPr>
            <a:r>
              <a:rPr lang="de-AT" dirty="0"/>
              <a:t>	</a:t>
            </a:r>
            <a:r>
              <a:rPr lang="de-AT" dirty="0" smtClean="0"/>
              <a:t>	// 2000 % 400 == 0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6465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Kurz gesagt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AT" dirty="0" smtClean="0"/>
              <a:t>Ein Jahr ist ein Schaltjahr,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Wenn das Jahr durch 4 teilbar ist UND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AT" dirty="0" smtClean="0"/>
              <a:t>Jahr ist nicht durch 100 teilbar ODER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AT" dirty="0" smtClean="0"/>
              <a:t>Jahr ist teilbar durch 400</a:t>
            </a:r>
          </a:p>
          <a:p>
            <a:pPr lvl="2">
              <a:buFont typeface="Arial" panose="020B0604020202020204" pitchFamily="34" charset="0"/>
              <a:buChar char="•"/>
            </a:pPr>
            <a:endParaRPr lang="de-AT" dirty="0"/>
          </a:p>
          <a:p>
            <a:pPr lvl="2">
              <a:buFont typeface="Arial" panose="020B0604020202020204" pitchFamily="34" charset="0"/>
              <a:buChar char="•"/>
            </a:pPr>
            <a:endParaRPr lang="de-A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de-AT" dirty="0" smtClean="0"/>
              <a:t>In C# (</a:t>
            </a:r>
            <a:r>
              <a:rPr lang="de-AT" dirty="0" err="1" smtClean="0"/>
              <a:t>or</a:t>
            </a:r>
            <a:r>
              <a:rPr lang="de-AT" dirty="0" smtClean="0"/>
              <a:t> Java </a:t>
            </a:r>
            <a:r>
              <a:rPr lang="de-AT" dirty="0" err="1" smtClean="0"/>
              <a:t>or</a:t>
            </a:r>
            <a:r>
              <a:rPr lang="de-AT" dirty="0" smtClean="0"/>
              <a:t> C)</a:t>
            </a:r>
            <a:br>
              <a:rPr lang="de-AT" dirty="0" smtClean="0"/>
            </a:br>
            <a:endParaRPr lang="de-AT" dirty="0" smtClean="0"/>
          </a:p>
          <a:p>
            <a:pPr marL="0" indent="0">
              <a:buNone/>
            </a:pPr>
            <a:r>
              <a:rPr lang="de-A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AT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yearIsLeapYear</a:t>
            </a:r>
            <a:r>
              <a:rPr lang="de-AT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yearIsDivisibleBy4 </a:t>
            </a:r>
            <a:r>
              <a:rPr lang="de-AT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</a:p>
          <a:p>
            <a:pPr marL="541337" lvl="1" indent="0">
              <a:buNone/>
            </a:pPr>
            <a:r>
              <a:rPr lang="de-AT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(!</a:t>
            </a:r>
            <a:r>
              <a:rPr lang="de-AT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yearIsDivisibleBy100 </a:t>
            </a:r>
            <a:r>
              <a:rPr lang="de-AT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|| </a:t>
            </a:r>
            <a:r>
              <a:rPr lang="de-AT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yearIsDivisibleBy400</a:t>
            </a:r>
            <a:r>
              <a:rPr lang="de-AT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de-AT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62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Schreibtischtest</a:t>
            </a:r>
            <a:endParaRPr lang="de-AT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445276741"/>
              </p:ext>
            </p:extLst>
          </p:nvPr>
        </p:nvGraphicFramePr>
        <p:xfrm>
          <a:off x="468313" y="2716128"/>
          <a:ext cx="792011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134"/>
                <a:gridCol w="1537345"/>
                <a:gridCol w="1800200"/>
                <a:gridCol w="2016224"/>
                <a:gridCol w="1872207"/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Year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err="1" smtClean="0"/>
                        <a:t>IsLeapYear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b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IsDivisibleBy4</a:t>
                      </a:r>
                      <a:endParaRPr lang="de-AT" sz="1600" b="1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b="1" dirty="0" smtClean="0">
                          <a:solidFill>
                            <a:srgbClr val="FF0000"/>
                          </a:solidFill>
                        </a:rPr>
                        <a:t>!</a:t>
                      </a:r>
                      <a:r>
                        <a:rPr lang="de-AT" sz="1600" b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IsDivisibleBy100</a:t>
                      </a:r>
                      <a:endParaRPr lang="de-AT" sz="1600" b="1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b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IsDivisibleBy400</a:t>
                      </a:r>
                      <a:endParaRPr lang="de-AT" sz="1600" b="1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1892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 smtClean="0">
                          <a:solidFill>
                            <a:srgbClr val="00B050"/>
                          </a:solidFill>
                        </a:rPr>
                        <a:t>✔</a:t>
                      </a:r>
                      <a:endParaRPr lang="de-AT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 smtClean="0">
                          <a:solidFill>
                            <a:srgbClr val="00B050"/>
                          </a:solidFill>
                        </a:rPr>
                        <a:t>✔</a:t>
                      </a:r>
                      <a:endParaRPr lang="de-AT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1894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 smtClean="0">
                          <a:solidFill>
                            <a:srgbClr val="FF0000"/>
                          </a:solidFill>
                        </a:rPr>
                        <a:t>✖</a:t>
                      </a:r>
                      <a:endParaRPr lang="de-AT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1896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 smtClean="0">
                          <a:solidFill>
                            <a:srgbClr val="00B050"/>
                          </a:solidFill>
                        </a:rPr>
                        <a:t>✔</a:t>
                      </a:r>
                      <a:endParaRPr lang="de-AT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1900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FF0000"/>
                          </a:solidFill>
                        </a:rPr>
                        <a:t>✖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00B050"/>
                          </a:solidFill>
                        </a:rPr>
                        <a:t>✔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2000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hteck 4"/>
          <p:cNvSpPr/>
          <p:nvPr/>
        </p:nvSpPr>
        <p:spPr>
          <a:xfrm>
            <a:off x="827584" y="1268760"/>
            <a:ext cx="784810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A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yearIsLeapYear</a:t>
            </a:r>
            <a:r>
              <a:rPr lang="de-A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yearIsDivisibleBy4 </a:t>
            </a:r>
            <a:r>
              <a:rPr lang="de-A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</a:p>
          <a:p>
            <a:pPr marL="541337" lvl="1" indent="0">
              <a:buNone/>
            </a:pP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   (!</a:t>
            </a:r>
            <a:r>
              <a:rPr lang="de-A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yearIsDivisibleBy100 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|| </a:t>
            </a:r>
            <a:r>
              <a:rPr lang="de-AT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yearIsDivisibleBy400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6" name="Ovale Legende 5"/>
          <p:cNvSpPr/>
          <p:nvPr/>
        </p:nvSpPr>
        <p:spPr>
          <a:xfrm>
            <a:off x="2051720" y="5445224"/>
            <a:ext cx="3816424" cy="943312"/>
          </a:xfrm>
          <a:prstGeom prst="wedgeEllipseCallout">
            <a:avLst>
              <a:gd name="adj1" fmla="val 21825"/>
              <a:gd name="adj2" fmla="val -2367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Egal, weil der Ausdruck </a:t>
            </a:r>
            <a:r>
              <a:rPr lang="de-AT" b="1" dirty="0" smtClean="0"/>
              <a:t>kann</a:t>
            </a:r>
            <a:r>
              <a:rPr lang="de-AT" dirty="0" smtClean="0"/>
              <a:t> gar nicht mehr </a:t>
            </a:r>
            <a:r>
              <a:rPr lang="de-AT" dirty="0" err="1" smtClean="0"/>
              <a:t>true</a:t>
            </a:r>
            <a:r>
              <a:rPr lang="de-AT" dirty="0" smtClean="0"/>
              <a:t> werden!</a:t>
            </a:r>
            <a:endParaRPr lang="de-AT" dirty="0"/>
          </a:p>
        </p:txBody>
      </p:sp>
      <p:sp>
        <p:nvSpPr>
          <p:cNvPr id="7" name="Ellipse 6"/>
          <p:cNvSpPr/>
          <p:nvPr/>
        </p:nvSpPr>
        <p:spPr>
          <a:xfrm>
            <a:off x="4860032" y="3501008"/>
            <a:ext cx="3024336" cy="288032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0385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Was fehlt noch?</a:t>
            </a:r>
            <a:endParaRPr lang="de-AT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87" y="2890837"/>
            <a:ext cx="568642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0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Bildschirmpräsentation (4:3)</PresentationFormat>
  <Paragraphs>194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4</vt:i4>
      </vt:variant>
      <vt:variant>
        <vt:lpstr>Folientitel</vt:lpstr>
      </vt:variant>
      <vt:variant>
        <vt:i4>19</vt:i4>
      </vt:variant>
    </vt:vector>
  </HeadingPairs>
  <TitlesOfParts>
    <vt:vector size="28" baseType="lpstr">
      <vt:lpstr>Arial</vt:lpstr>
      <vt:lpstr>Calibri</vt:lpstr>
      <vt:lpstr>Courier New</vt:lpstr>
      <vt:lpstr>Symbol</vt:lpstr>
      <vt:lpstr>Wingdings</vt:lpstr>
      <vt:lpstr>2_Larissa</vt:lpstr>
      <vt:lpstr>5_Larissa</vt:lpstr>
      <vt:lpstr>6_Larissa</vt:lpstr>
      <vt:lpstr>4_Larissa</vt:lpstr>
      <vt:lpstr>Ausdrücke </vt:lpstr>
      <vt:lpstr>Ausdrücke</vt:lpstr>
      <vt:lpstr>Ausdrücke</vt:lpstr>
      <vt:lpstr>Arithmetische Operatoren</vt:lpstr>
      <vt:lpstr>Zuweisungsoperatoren </vt:lpstr>
      <vt:lpstr>Spezielle Zuweisungsoperatoren </vt:lpstr>
      <vt:lpstr>Relationale Operatoren – Vergleichsop.</vt:lpstr>
      <vt:lpstr>Logische Operatoren</vt:lpstr>
      <vt:lpstr>Logischer Ausdruck</vt:lpstr>
      <vt:lpstr>Beispiele – logische Ausdrücke </vt:lpstr>
      <vt:lpstr>Beispiel: Integer-Division</vt:lpstr>
      <vt:lpstr>Gerade oder ungerade?</vt:lpstr>
      <vt:lpstr>Achte auf Lesbarkeit!</vt:lpstr>
      <vt:lpstr>Wie geht das?</vt:lpstr>
      <vt:lpstr>Beispiel: Schaltjahr</vt:lpstr>
      <vt:lpstr>Schaltjahr: Beispiele</vt:lpstr>
      <vt:lpstr>Kurz gesagt</vt:lpstr>
      <vt:lpstr>Schreibtischtest</vt:lpstr>
      <vt:lpstr>Was fehlt noch?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r.obermueller@eduhi.at</dc:creator>
  <cp:lastModifiedBy>Birgit Schröder</cp:lastModifiedBy>
  <cp:revision>91</cp:revision>
  <dcterms:created xsi:type="dcterms:W3CDTF">2013-05-11T11:25:57Z</dcterms:created>
  <dcterms:modified xsi:type="dcterms:W3CDTF">2015-11-05T14:36:08Z</dcterms:modified>
</cp:coreProperties>
</file>