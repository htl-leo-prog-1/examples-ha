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8"/>
  </p:notesMasterIdLst>
  <p:sldIdLst>
    <p:sldId id="285" r:id="rId2"/>
    <p:sldId id="292" r:id="rId3"/>
    <p:sldId id="294" r:id="rId4"/>
    <p:sldId id="295" r:id="rId5"/>
    <p:sldId id="293" r:id="rId6"/>
    <p:sldId id="296" r:id="rId7"/>
  </p:sldIdLst>
  <p:sldSz cx="9144000" cy="6858000" type="screen4x3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5EE26"/>
    <a:srgbClr val="BBEF39"/>
    <a:srgbClr val="C7F12F"/>
    <a:srgbClr val="B6F42C"/>
    <a:srgbClr val="CC3300"/>
    <a:srgbClr val="00FF00"/>
    <a:srgbClr val="79BB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1" d="100"/>
          <a:sy n="91" d="100"/>
        </p:scale>
        <p:origin x="978" y="57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336932-01FD-45AF-B110-84880AA37D65}" type="datetimeFigureOut">
              <a:rPr lang="de-AT" smtClean="0"/>
              <a:t>27.02.2022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364C66-90D0-45FE-9B3B-EB18F2272AED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5474845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Fließ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200"/>
            </a:lvl1pPr>
            <a:lvl2pPr marL="541337" indent="0">
              <a:buNone/>
              <a:defRPr sz="2400"/>
            </a:lvl2pPr>
            <a:lvl3pPr marL="1073150" indent="0">
              <a:buNone/>
              <a:defRPr sz="2200"/>
            </a:lvl3pPr>
            <a:lvl4pPr marL="1436687" indent="0">
              <a:buNone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16062584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Aufzählu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/>
          <a:lstStyle>
            <a:lvl1pPr marL="514350" indent="-514350">
              <a:buClr>
                <a:schemeClr val="tx1">
                  <a:lumMod val="50000"/>
                  <a:lumOff val="50000"/>
                </a:schemeClr>
              </a:buClr>
              <a:buSzPct val="100000"/>
              <a:buFont typeface="+mj-lt"/>
              <a:buAutoNum type="arabicPeriod"/>
              <a:defRPr sz="2600" baseline="0"/>
            </a:lvl1pPr>
            <a:lvl2pPr marL="998537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lphaLcPeriod"/>
              <a:defRPr sz="2300"/>
            </a:lvl2pPr>
            <a:lvl3pPr marL="1530350" indent="-457200">
              <a:buSzPct val="100000"/>
              <a:buFont typeface="Wingdings" pitchFamily="2" charset="2"/>
              <a:buChar char="§"/>
              <a:defRPr sz="2000" baseline="0"/>
            </a:lvl3pPr>
            <a:lvl4pPr marL="1893887" indent="-457200">
              <a:buFont typeface="+mj-lt"/>
              <a:buAutoNum type="arabicPeriod"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  <a:p>
            <a:pPr lvl="4"/>
            <a:r>
              <a:rPr lang="en-US" dirty="0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454863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uflis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>
          <a:xfrm>
            <a:off x="468313" y="1268760"/>
            <a:ext cx="8207375" cy="4608165"/>
          </a:xfrm>
          <a:prstGeom prst="rect">
            <a:avLst/>
          </a:prstGeom>
        </p:spPr>
        <p:txBody>
          <a:bodyPr/>
          <a:lstStyle>
            <a:lvl1pPr>
              <a:defRPr sz="2600"/>
            </a:lvl1pPr>
            <a:lvl2pPr>
              <a:defRPr sz="2400"/>
            </a:lvl2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</p:txBody>
      </p:sp>
    </p:spTree>
    <p:extLst>
      <p:ext uri="{BB962C8B-B14F-4D97-AF65-F5344CB8AC3E}">
        <p14:creationId xmlns:p14="http://schemas.microsoft.com/office/powerpoint/2010/main" val="231009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3146480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9651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</p:spPr>
        <p:txBody>
          <a:bodyPr/>
          <a:lstStyle/>
          <a:p>
            <a:r>
              <a:rPr lang="en-US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Textmasterformate durch Klicken bearbeiten</a:t>
            </a:r>
          </a:p>
          <a:p>
            <a:pPr lvl="1"/>
            <a:r>
              <a:rPr lang="en-US"/>
              <a:t>Zweite Ebene</a:t>
            </a:r>
          </a:p>
          <a:p>
            <a:pPr lvl="2"/>
            <a:r>
              <a:rPr lang="en-US"/>
              <a:t>Dritte Ebene</a:t>
            </a:r>
          </a:p>
          <a:p>
            <a:pPr lvl="3"/>
            <a:r>
              <a:rPr lang="en-US"/>
              <a:t>Vierte Ebene</a:t>
            </a:r>
          </a:p>
          <a:p>
            <a:pPr lvl="4"/>
            <a:r>
              <a:rPr lang="en-US"/>
              <a:t>Fünfte Ebene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74887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70000">
              <a:schemeClr val="bg1">
                <a:tint val="80000"/>
                <a:satMod val="300000"/>
                <a:lumMod val="85000"/>
                <a:lumOff val="15000"/>
              </a:schemeClr>
            </a:gs>
            <a:gs pos="100000">
              <a:schemeClr val="bg1">
                <a:lumMod val="8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 userDrawn="1"/>
        </p:nvSpPr>
        <p:spPr>
          <a:xfrm>
            <a:off x="-7455" y="-12449"/>
            <a:ext cx="9252520" cy="849161"/>
          </a:xfrm>
          <a:prstGeom prst="rect">
            <a:avLst/>
          </a:prstGeom>
          <a:gradFill flip="none" rotWithShape="1">
            <a:gsLst>
              <a:gs pos="27000">
                <a:srgbClr val="4879B4"/>
              </a:gs>
              <a:gs pos="0">
                <a:schemeClr val="tx2"/>
              </a:gs>
              <a:gs pos="50000">
                <a:schemeClr val="accent1"/>
              </a:gs>
              <a:gs pos="100000">
                <a:schemeClr val="tx2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sp>
        <p:nvSpPr>
          <p:cNvPr id="12" name="Rechteck 11"/>
          <p:cNvSpPr/>
          <p:nvPr userDrawn="1"/>
        </p:nvSpPr>
        <p:spPr>
          <a:xfrm>
            <a:off x="-7938" y="-26988"/>
            <a:ext cx="9253538" cy="8096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pic>
        <p:nvPicPr>
          <p:cNvPr id="10246" name="Grafik 6"/>
          <p:cNvPicPr>
            <a:picLocks noChangeAspect="1"/>
          </p:cNvPicPr>
          <p:nvPr userDrawn="1"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6516688" y="6259513"/>
            <a:ext cx="2281237" cy="338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itelplatzhalter 4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/>
              <a:t>Masterfolie</a:t>
            </a:r>
            <a:endParaRPr lang="de-AT" dirty="0"/>
          </a:p>
        </p:txBody>
      </p:sp>
      <p:sp>
        <p:nvSpPr>
          <p:cNvPr id="11" name="Rectangle 10"/>
          <p:cNvSpPr>
            <a:spLocks noChangeArrowheads="1"/>
          </p:cNvSpPr>
          <p:nvPr userDrawn="1"/>
        </p:nvSpPr>
        <p:spPr bwMode="gray">
          <a:xfrm>
            <a:off x="349250" y="6361113"/>
            <a:ext cx="2998614" cy="2365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I</a:t>
            </a:r>
            <a:r>
              <a:rPr lang="de-DE" sz="100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_POS 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  <a:sym typeface="Wingdings" pitchFamily="2" charset="2"/>
              </a:rPr>
              <a:t> Arrays  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Seite </a:t>
            </a:r>
            <a:fld id="{C5A4FFB9-E613-43CD-964A-AE1E9E6225EE}" type="slidenum">
              <a:rPr lang="de-DE" sz="1000" smtClean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t>‹Nr.›</a:t>
            </a:fld>
            <a:endParaRPr lang="de-DE" sz="1000" dirty="0">
              <a:solidFill>
                <a:schemeClr val="bg1">
                  <a:lumMod val="50000"/>
                </a:schemeClr>
              </a:solidFill>
              <a:latin typeface="+mn-lt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0921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9pPr>
    </p:titleStyle>
    <p:bodyStyle>
      <a:lvl1pPr marL="26987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8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1pPr>
      <a:lvl2pPr marL="89535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5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2pPr>
      <a:lvl3pPr marL="134302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2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3pPr>
      <a:lvl4pPr marL="179070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0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/>
          <p:cNvSpPr txBox="1"/>
          <p:nvPr/>
        </p:nvSpPr>
        <p:spPr>
          <a:xfrm>
            <a:off x="755576" y="1418764"/>
            <a:ext cx="741682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Arrays, die auch als Datenfelder bezeichnet werden, ermöglichen es,</a:t>
            </a:r>
          </a:p>
          <a:p>
            <a:r>
              <a:rPr lang="de-DE" dirty="0"/>
              <a:t>eine nahezu beliebig große Anzahl von Variablen gleichen Namens</a:t>
            </a:r>
          </a:p>
          <a:p>
            <a:r>
              <a:rPr lang="de-DE" dirty="0"/>
              <a:t>und gleichen Datentyps zu definieren.</a:t>
            </a:r>
          </a:p>
          <a:p>
            <a:r>
              <a:rPr lang="de-DE" dirty="0"/>
              <a:t>Unterschieden werden die einzelnen Elemente nur anhand einer Indizierung.</a:t>
            </a:r>
            <a:endParaRPr lang="de-AT" dirty="0"/>
          </a:p>
        </p:txBody>
      </p:sp>
      <p:sp>
        <p:nvSpPr>
          <p:cNvPr id="11" name="Rechteck 10"/>
          <p:cNvSpPr/>
          <p:nvPr/>
        </p:nvSpPr>
        <p:spPr>
          <a:xfrm>
            <a:off x="2122011" y="4330978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2" name="Rechteck 11"/>
          <p:cNvSpPr/>
          <p:nvPr/>
        </p:nvSpPr>
        <p:spPr>
          <a:xfrm>
            <a:off x="2698075" y="4330978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3" name="Rechteck 12"/>
          <p:cNvSpPr/>
          <p:nvPr/>
        </p:nvSpPr>
        <p:spPr>
          <a:xfrm>
            <a:off x="3277938" y="4330978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4" name="Rechteck 13"/>
          <p:cNvSpPr/>
          <p:nvPr/>
        </p:nvSpPr>
        <p:spPr>
          <a:xfrm>
            <a:off x="3854002" y="4330978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5" name="Rechteck 14"/>
          <p:cNvSpPr/>
          <p:nvPr/>
        </p:nvSpPr>
        <p:spPr>
          <a:xfrm>
            <a:off x="4430066" y="4330978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6" name="Rechteck 15"/>
          <p:cNvSpPr/>
          <p:nvPr/>
        </p:nvSpPr>
        <p:spPr>
          <a:xfrm>
            <a:off x="5006130" y="4330978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7" name="Rechteck 16"/>
          <p:cNvSpPr/>
          <p:nvPr/>
        </p:nvSpPr>
        <p:spPr>
          <a:xfrm>
            <a:off x="6158258" y="4332966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8" name="Rechteck 17"/>
          <p:cNvSpPr/>
          <p:nvPr/>
        </p:nvSpPr>
        <p:spPr>
          <a:xfrm>
            <a:off x="5582194" y="4334954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9" name="Rechteck 18"/>
          <p:cNvSpPr/>
          <p:nvPr/>
        </p:nvSpPr>
        <p:spPr>
          <a:xfrm>
            <a:off x="6723856" y="4334954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0" name="Rechteck 19"/>
          <p:cNvSpPr/>
          <p:nvPr/>
        </p:nvSpPr>
        <p:spPr>
          <a:xfrm>
            <a:off x="7299920" y="4334954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4" name="Rechteck 23"/>
          <p:cNvSpPr/>
          <p:nvPr/>
        </p:nvSpPr>
        <p:spPr>
          <a:xfrm>
            <a:off x="2115344" y="3822946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5" name="Rechteck 24"/>
          <p:cNvSpPr/>
          <p:nvPr/>
        </p:nvSpPr>
        <p:spPr>
          <a:xfrm>
            <a:off x="2691408" y="3822946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6" name="Rechteck 25"/>
          <p:cNvSpPr/>
          <p:nvPr/>
        </p:nvSpPr>
        <p:spPr>
          <a:xfrm>
            <a:off x="3271271" y="3822946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7" name="Rechteck 26"/>
          <p:cNvSpPr/>
          <p:nvPr/>
        </p:nvSpPr>
        <p:spPr>
          <a:xfrm>
            <a:off x="3847335" y="3822946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8" name="Rechteck 27"/>
          <p:cNvSpPr/>
          <p:nvPr/>
        </p:nvSpPr>
        <p:spPr>
          <a:xfrm>
            <a:off x="4423399" y="3822946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29" name="Rechteck 28"/>
          <p:cNvSpPr/>
          <p:nvPr/>
        </p:nvSpPr>
        <p:spPr>
          <a:xfrm>
            <a:off x="4999463" y="3822946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30" name="Rechteck 29"/>
          <p:cNvSpPr/>
          <p:nvPr/>
        </p:nvSpPr>
        <p:spPr>
          <a:xfrm>
            <a:off x="6151591" y="3824934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31" name="Rechteck 30"/>
          <p:cNvSpPr/>
          <p:nvPr/>
        </p:nvSpPr>
        <p:spPr>
          <a:xfrm>
            <a:off x="5575527" y="3824934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32" name="Rechteck 31"/>
          <p:cNvSpPr/>
          <p:nvPr/>
        </p:nvSpPr>
        <p:spPr>
          <a:xfrm>
            <a:off x="6717189" y="3826922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33" name="Rechteck 32"/>
          <p:cNvSpPr/>
          <p:nvPr/>
        </p:nvSpPr>
        <p:spPr>
          <a:xfrm>
            <a:off x="7303845" y="3826922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0" name="Textfeld 9"/>
          <p:cNvSpPr txBox="1"/>
          <p:nvPr/>
        </p:nvSpPr>
        <p:spPr>
          <a:xfrm>
            <a:off x="972337" y="4432466"/>
            <a:ext cx="1149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numbers</a:t>
            </a:r>
            <a:endParaRPr lang="de-AT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6" name="Abgerundetes Rechteck 45"/>
          <p:cNvSpPr/>
          <p:nvPr/>
        </p:nvSpPr>
        <p:spPr>
          <a:xfrm>
            <a:off x="827584" y="3717032"/>
            <a:ext cx="7264424" cy="1440160"/>
          </a:xfrm>
          <a:prstGeom prst="roundRect">
            <a:avLst/>
          </a:prstGeom>
          <a:solidFill>
            <a:schemeClr val="accent1">
              <a:alpha val="3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Eindimensionale Arrays / Felder</a:t>
            </a: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04651E13-288B-48B5-8D2A-6D63CEEA620D}"/>
              </a:ext>
            </a:extLst>
          </p:cNvPr>
          <p:cNvSpPr txBox="1"/>
          <p:nvPr/>
        </p:nvSpPr>
        <p:spPr>
          <a:xfrm>
            <a:off x="1979712" y="3064764"/>
            <a:ext cx="46271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[] numbers =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[10];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41783817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hteck 33"/>
          <p:cNvSpPr/>
          <p:nvPr/>
        </p:nvSpPr>
        <p:spPr>
          <a:xfrm>
            <a:off x="1877387" y="2416820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5" name="Rechteck 34"/>
          <p:cNvSpPr/>
          <p:nvPr/>
        </p:nvSpPr>
        <p:spPr>
          <a:xfrm>
            <a:off x="2453451" y="2416820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6" name="Rechteck 35"/>
          <p:cNvSpPr/>
          <p:nvPr/>
        </p:nvSpPr>
        <p:spPr>
          <a:xfrm>
            <a:off x="3033314" y="2416820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8" name="Rechteck 37"/>
          <p:cNvSpPr/>
          <p:nvPr/>
        </p:nvSpPr>
        <p:spPr>
          <a:xfrm>
            <a:off x="3609378" y="2416820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9" name="Rechteck 38"/>
          <p:cNvSpPr/>
          <p:nvPr/>
        </p:nvSpPr>
        <p:spPr>
          <a:xfrm>
            <a:off x="4185442" y="2416820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0" name="Rechteck 39"/>
          <p:cNvSpPr/>
          <p:nvPr/>
        </p:nvSpPr>
        <p:spPr>
          <a:xfrm>
            <a:off x="4761506" y="2416820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1" name="Rechteck 40"/>
          <p:cNvSpPr/>
          <p:nvPr/>
        </p:nvSpPr>
        <p:spPr>
          <a:xfrm>
            <a:off x="5913634" y="2418808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2" name="Rechteck 41"/>
          <p:cNvSpPr/>
          <p:nvPr/>
        </p:nvSpPr>
        <p:spPr>
          <a:xfrm>
            <a:off x="5337570" y="2418808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3" name="Rechteck 42"/>
          <p:cNvSpPr/>
          <p:nvPr/>
        </p:nvSpPr>
        <p:spPr>
          <a:xfrm>
            <a:off x="6479232" y="2420796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4" name="Rechteck 43"/>
          <p:cNvSpPr/>
          <p:nvPr/>
        </p:nvSpPr>
        <p:spPr>
          <a:xfrm>
            <a:off x="7065888" y="2420796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8" name="Rechteck 47"/>
          <p:cNvSpPr/>
          <p:nvPr/>
        </p:nvSpPr>
        <p:spPr>
          <a:xfrm>
            <a:off x="1870720" y="1908788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9" name="Rechteck 48"/>
          <p:cNvSpPr/>
          <p:nvPr/>
        </p:nvSpPr>
        <p:spPr>
          <a:xfrm>
            <a:off x="2446784" y="1908788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0" name="Rechteck 49"/>
          <p:cNvSpPr/>
          <p:nvPr/>
        </p:nvSpPr>
        <p:spPr>
          <a:xfrm>
            <a:off x="3026647" y="1908788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1" name="Rechteck 50"/>
          <p:cNvSpPr/>
          <p:nvPr/>
        </p:nvSpPr>
        <p:spPr>
          <a:xfrm>
            <a:off x="3602711" y="1908788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52" name="Rechteck 51"/>
          <p:cNvSpPr/>
          <p:nvPr/>
        </p:nvSpPr>
        <p:spPr>
          <a:xfrm>
            <a:off x="4178775" y="1908788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53" name="Rechteck 52"/>
          <p:cNvSpPr/>
          <p:nvPr/>
        </p:nvSpPr>
        <p:spPr>
          <a:xfrm>
            <a:off x="4754839" y="1908788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4" name="Rechteck 53"/>
          <p:cNvSpPr/>
          <p:nvPr/>
        </p:nvSpPr>
        <p:spPr>
          <a:xfrm>
            <a:off x="5906967" y="1910776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55" name="Rechteck 54"/>
          <p:cNvSpPr/>
          <p:nvPr/>
        </p:nvSpPr>
        <p:spPr>
          <a:xfrm>
            <a:off x="5330903" y="1910776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56" name="Rechteck 55"/>
          <p:cNvSpPr/>
          <p:nvPr/>
        </p:nvSpPr>
        <p:spPr>
          <a:xfrm>
            <a:off x="6472565" y="1912764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57" name="Rechteck 56"/>
          <p:cNvSpPr/>
          <p:nvPr/>
        </p:nvSpPr>
        <p:spPr>
          <a:xfrm>
            <a:off x="7059221" y="1912764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61" name="Textfeld 60"/>
          <p:cNvSpPr txBox="1"/>
          <p:nvPr/>
        </p:nvSpPr>
        <p:spPr>
          <a:xfrm>
            <a:off x="4475088" y="3415640"/>
            <a:ext cx="2803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AT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</a:t>
            </a:r>
            <a:r>
              <a:rPr lang="de-AT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AT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numbers</a:t>
            </a:r>
            <a:r>
              <a:rPr lang="de-AT" dirty="0">
                <a:latin typeface="Courier New" panose="02070309020205020404" pitchFamily="49" charset="0"/>
                <a:cs typeface="Courier New" panose="02070309020205020404" pitchFamily="49" charset="0"/>
              </a:rPr>
              <a:t>[4];</a:t>
            </a:r>
          </a:p>
        </p:txBody>
      </p:sp>
      <p:sp>
        <p:nvSpPr>
          <p:cNvPr id="62" name="Rechteck 61"/>
          <p:cNvSpPr/>
          <p:nvPr/>
        </p:nvSpPr>
        <p:spPr>
          <a:xfrm>
            <a:off x="4205459" y="3866272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cxnSp>
        <p:nvCxnSpPr>
          <p:cNvPr id="63" name="Gerade Verbindung mit Pfeil 62"/>
          <p:cNvCxnSpPr/>
          <p:nvPr/>
        </p:nvCxnSpPr>
        <p:spPr>
          <a:xfrm flipH="1">
            <a:off x="4475088" y="2992884"/>
            <a:ext cx="10466" cy="873388"/>
          </a:xfrm>
          <a:prstGeom prst="straightConnector1">
            <a:avLst/>
          </a:prstGeom>
          <a:ln w="19050">
            <a:solidFill>
              <a:srgbClr val="C0000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63"/>
          <p:cNvCxnSpPr/>
          <p:nvPr/>
        </p:nvCxnSpPr>
        <p:spPr>
          <a:xfrm>
            <a:off x="1877387" y="2416820"/>
            <a:ext cx="0" cy="288032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64"/>
          <p:cNvCxnSpPr/>
          <p:nvPr/>
        </p:nvCxnSpPr>
        <p:spPr>
          <a:xfrm flipH="1">
            <a:off x="7607436" y="2429094"/>
            <a:ext cx="36004" cy="286804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/>
          <p:cNvCxnSpPr/>
          <p:nvPr/>
        </p:nvCxnSpPr>
        <p:spPr>
          <a:xfrm>
            <a:off x="1870720" y="5297140"/>
            <a:ext cx="5736716" cy="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prstDash val="sys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feld 66"/>
          <p:cNvSpPr txBox="1"/>
          <p:nvPr/>
        </p:nvSpPr>
        <p:spPr>
          <a:xfrm>
            <a:off x="3899024" y="3969638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>
                <a:solidFill>
                  <a:srgbClr val="C00000"/>
                </a:solidFill>
              </a:rPr>
              <a:t>i</a:t>
            </a:r>
          </a:p>
        </p:txBody>
      </p:sp>
      <p:sp>
        <p:nvSpPr>
          <p:cNvPr id="68" name="Textfeld 67"/>
          <p:cNvSpPr txBox="1"/>
          <p:nvPr/>
        </p:nvSpPr>
        <p:spPr>
          <a:xfrm>
            <a:off x="730672" y="2520186"/>
            <a:ext cx="1140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numbers</a:t>
            </a:r>
            <a:endParaRPr lang="de-AT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9" name="Textfeld 68"/>
          <p:cNvSpPr txBox="1"/>
          <p:nvPr/>
        </p:nvSpPr>
        <p:spPr>
          <a:xfrm>
            <a:off x="3034928" y="4855800"/>
            <a:ext cx="3631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AT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AT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dirty="0"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de-AT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numbers.Length</a:t>
            </a:r>
            <a:r>
              <a:rPr lang="de-AT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70" name="Textfeld 69"/>
          <p:cNvSpPr txBox="1"/>
          <p:nvPr/>
        </p:nvSpPr>
        <p:spPr>
          <a:xfrm>
            <a:off x="4632448" y="529714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>
                <a:solidFill>
                  <a:schemeClr val="accent6">
                    <a:lumMod val="75000"/>
                  </a:schemeClr>
                </a:solidFill>
              </a:rPr>
              <a:t>10</a:t>
            </a:r>
          </a:p>
        </p:txBody>
      </p:sp>
      <p:sp>
        <p:nvSpPr>
          <p:cNvPr id="73" name="Abgerundetes Rechteck 72"/>
          <p:cNvSpPr/>
          <p:nvPr/>
        </p:nvSpPr>
        <p:spPr>
          <a:xfrm>
            <a:off x="658664" y="1840756"/>
            <a:ext cx="7200800" cy="1404156"/>
          </a:xfrm>
          <a:prstGeom prst="roundRect">
            <a:avLst/>
          </a:prstGeom>
          <a:solidFill>
            <a:schemeClr val="accent1">
              <a:alpha val="3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Eindimensionale Arrays</a:t>
            </a:r>
          </a:p>
        </p:txBody>
      </p:sp>
    </p:spTree>
    <p:extLst>
      <p:ext uri="{BB962C8B-B14F-4D97-AF65-F5344CB8AC3E}">
        <p14:creationId xmlns:p14="http://schemas.microsoft.com/office/powerpoint/2010/main" val="39129687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/>
          <p:cNvSpPr/>
          <p:nvPr/>
        </p:nvSpPr>
        <p:spPr>
          <a:xfrm>
            <a:off x="2130395" y="4186962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" name="Rechteck 11"/>
          <p:cNvSpPr/>
          <p:nvPr/>
        </p:nvSpPr>
        <p:spPr>
          <a:xfrm>
            <a:off x="2706459" y="4186962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3" name="Rechteck 12"/>
          <p:cNvSpPr/>
          <p:nvPr/>
        </p:nvSpPr>
        <p:spPr>
          <a:xfrm>
            <a:off x="3286322" y="4186962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4" name="Rechteck 13"/>
          <p:cNvSpPr/>
          <p:nvPr/>
        </p:nvSpPr>
        <p:spPr>
          <a:xfrm>
            <a:off x="3862386" y="4186962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5" name="Rechteck 14"/>
          <p:cNvSpPr/>
          <p:nvPr/>
        </p:nvSpPr>
        <p:spPr>
          <a:xfrm>
            <a:off x="4438450" y="4186962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16" name="Rechteck 15"/>
          <p:cNvSpPr/>
          <p:nvPr/>
        </p:nvSpPr>
        <p:spPr>
          <a:xfrm>
            <a:off x="5014514" y="4186962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17" name="Rechteck 16"/>
          <p:cNvSpPr/>
          <p:nvPr/>
        </p:nvSpPr>
        <p:spPr>
          <a:xfrm>
            <a:off x="6166642" y="4188950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16</a:t>
            </a:r>
          </a:p>
        </p:txBody>
      </p:sp>
      <p:sp>
        <p:nvSpPr>
          <p:cNvPr id="18" name="Rechteck 17"/>
          <p:cNvSpPr/>
          <p:nvPr/>
        </p:nvSpPr>
        <p:spPr>
          <a:xfrm>
            <a:off x="5590578" y="4190938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14</a:t>
            </a:r>
          </a:p>
        </p:txBody>
      </p:sp>
      <p:sp>
        <p:nvSpPr>
          <p:cNvPr id="19" name="Rechteck 18"/>
          <p:cNvSpPr/>
          <p:nvPr/>
        </p:nvSpPr>
        <p:spPr>
          <a:xfrm>
            <a:off x="6732240" y="4190938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18</a:t>
            </a:r>
          </a:p>
        </p:txBody>
      </p:sp>
      <p:sp>
        <p:nvSpPr>
          <p:cNvPr id="20" name="Rechteck 19"/>
          <p:cNvSpPr/>
          <p:nvPr/>
        </p:nvSpPr>
        <p:spPr>
          <a:xfrm>
            <a:off x="7308304" y="4190938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20</a:t>
            </a:r>
          </a:p>
        </p:txBody>
      </p:sp>
      <p:sp>
        <p:nvSpPr>
          <p:cNvPr id="24" name="Rechteck 23"/>
          <p:cNvSpPr/>
          <p:nvPr/>
        </p:nvSpPr>
        <p:spPr>
          <a:xfrm>
            <a:off x="2123728" y="3678930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5" name="Rechteck 24"/>
          <p:cNvSpPr/>
          <p:nvPr/>
        </p:nvSpPr>
        <p:spPr>
          <a:xfrm>
            <a:off x="2699792" y="3678930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6" name="Rechteck 25"/>
          <p:cNvSpPr/>
          <p:nvPr/>
        </p:nvSpPr>
        <p:spPr>
          <a:xfrm>
            <a:off x="3279655" y="3678930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7" name="Rechteck 26"/>
          <p:cNvSpPr/>
          <p:nvPr/>
        </p:nvSpPr>
        <p:spPr>
          <a:xfrm>
            <a:off x="3855719" y="3678930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8" name="Rechteck 27"/>
          <p:cNvSpPr/>
          <p:nvPr/>
        </p:nvSpPr>
        <p:spPr>
          <a:xfrm>
            <a:off x="4431783" y="3678930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29" name="Rechteck 28"/>
          <p:cNvSpPr/>
          <p:nvPr/>
        </p:nvSpPr>
        <p:spPr>
          <a:xfrm>
            <a:off x="5007847" y="3678930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30" name="Rechteck 29"/>
          <p:cNvSpPr/>
          <p:nvPr/>
        </p:nvSpPr>
        <p:spPr>
          <a:xfrm>
            <a:off x="6159975" y="3680918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31" name="Rechteck 30"/>
          <p:cNvSpPr/>
          <p:nvPr/>
        </p:nvSpPr>
        <p:spPr>
          <a:xfrm>
            <a:off x="5583911" y="3680918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32" name="Rechteck 31"/>
          <p:cNvSpPr/>
          <p:nvPr/>
        </p:nvSpPr>
        <p:spPr>
          <a:xfrm>
            <a:off x="6725573" y="3682906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33" name="Rechteck 32"/>
          <p:cNvSpPr/>
          <p:nvPr/>
        </p:nvSpPr>
        <p:spPr>
          <a:xfrm>
            <a:off x="7312229" y="3682906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0" name="Textfeld 9"/>
          <p:cNvSpPr txBox="1"/>
          <p:nvPr/>
        </p:nvSpPr>
        <p:spPr>
          <a:xfrm>
            <a:off x="980721" y="4288450"/>
            <a:ext cx="1149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numbers</a:t>
            </a:r>
            <a:endParaRPr lang="de-AT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4" name="Abgerundetes Rechteck 33"/>
          <p:cNvSpPr/>
          <p:nvPr/>
        </p:nvSpPr>
        <p:spPr>
          <a:xfrm>
            <a:off x="899592" y="3573016"/>
            <a:ext cx="7200800" cy="1440160"/>
          </a:xfrm>
          <a:prstGeom prst="roundRect">
            <a:avLst/>
          </a:prstGeom>
          <a:solidFill>
            <a:schemeClr val="accent1">
              <a:alpha val="3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Eindimensionale Arrays</a:t>
            </a:r>
            <a:br>
              <a:rPr lang="de-AT" dirty="0"/>
            </a:br>
            <a:endParaRPr lang="de-DE" dirty="0"/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F25088BD-0628-4542-BE34-DBE2B0A4110E}"/>
              </a:ext>
            </a:extLst>
          </p:cNvPr>
          <p:cNvSpPr txBox="1"/>
          <p:nvPr/>
        </p:nvSpPr>
        <p:spPr>
          <a:xfrm>
            <a:off x="956732" y="1299244"/>
            <a:ext cx="720079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int[]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numbers =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[10];</a:t>
            </a:r>
          </a:p>
          <a:p>
            <a:endParaRPr lang="de-AT" sz="18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de-AT" sz="18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for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de-AT" sz="18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i=0; i&lt;</a:t>
            </a:r>
            <a:r>
              <a:rPr lang="de-AT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number.Length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; i++)</a:t>
            </a:r>
          </a:p>
          <a:p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  </a:t>
            </a:r>
            <a:r>
              <a:rPr lang="de-AT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numbers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[i] = 2 * (i + 1);</a:t>
            </a:r>
          </a:p>
          <a:p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389784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Eindimensionale Arrays</a:t>
            </a:r>
            <a:br>
              <a:rPr lang="de-AT" dirty="0"/>
            </a:br>
            <a:endParaRPr lang="de-DE" dirty="0"/>
          </a:p>
        </p:txBody>
      </p:sp>
      <p:sp>
        <p:nvSpPr>
          <p:cNvPr id="36" name="Inhaltsplatzhalter 16"/>
          <p:cNvSpPr txBox="1">
            <a:spLocks/>
          </p:cNvSpPr>
          <p:nvPr/>
        </p:nvSpPr>
        <p:spPr>
          <a:xfrm>
            <a:off x="507570" y="1052736"/>
            <a:ext cx="8208912" cy="4896544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595959"/>
              </a:buClr>
              <a:buSzPct val="80000"/>
              <a:buFont typeface="Wingdings" pitchFamily="2" charset="2"/>
              <a:buNone/>
              <a:defRPr sz="2200" kern="1200">
                <a:solidFill>
                  <a:srgbClr val="404040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541337" indent="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595959"/>
              </a:buClr>
              <a:buFont typeface="Symbol" pitchFamily="18" charset="2"/>
              <a:buNone/>
              <a:defRPr sz="2400" kern="1200">
                <a:solidFill>
                  <a:srgbClr val="404040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073150" indent="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595959"/>
              </a:buClr>
              <a:buSzPct val="80000"/>
              <a:buFont typeface="Wingdings" pitchFamily="2" charset="2"/>
              <a:buNone/>
              <a:defRPr sz="2200" kern="1200">
                <a:solidFill>
                  <a:srgbClr val="404040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436687" indent="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595959"/>
              </a:buClr>
              <a:buFont typeface="Symbol" pitchFamily="18" charset="2"/>
              <a:buNone/>
              <a:defRPr sz="2000" kern="1200">
                <a:solidFill>
                  <a:srgbClr val="404040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/>
              <a:t>Arrays erlauben es, idente Operationen auf mehrere Variablen in einer Schleife durchzuführen. </a:t>
            </a:r>
            <a:br>
              <a:rPr lang="de-DE" dirty="0"/>
            </a:br>
            <a:r>
              <a:rPr lang="de-DE" dirty="0"/>
              <a:t>Um 10 Zahlen einzulesen und zu speichern kann nun eine Schleife verwendet werden:</a:t>
            </a:r>
          </a:p>
          <a:p>
            <a:endParaRPr lang="de-DE" dirty="0"/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[] numbers =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[10];</a:t>
            </a:r>
          </a:p>
          <a:p>
            <a:endParaRPr lang="de-AT" sz="18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de-AT" sz="18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for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de-AT" sz="18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i = 0; i &lt; </a:t>
            </a:r>
            <a:r>
              <a:rPr lang="de-AT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number.Length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; i++)</a:t>
            </a:r>
          </a:p>
          <a:p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  </a:t>
            </a:r>
            <a:r>
              <a:rPr lang="de-AT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numbers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[i] = </a:t>
            </a:r>
            <a:r>
              <a:rPr lang="de-AT" sz="18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de-AT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.Parse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de-AT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Console.ReadLine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());</a:t>
            </a:r>
          </a:p>
          <a:p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</a:p>
          <a:p>
            <a:endParaRPr lang="de-DE" dirty="0"/>
          </a:p>
          <a:p>
            <a:r>
              <a:rPr lang="de-DE" dirty="0"/>
              <a:t>Wie würde das Einlesen von 10 Zahlen ohne Array aussehen?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7254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hteck 24"/>
          <p:cNvSpPr/>
          <p:nvPr/>
        </p:nvSpPr>
        <p:spPr>
          <a:xfrm>
            <a:off x="2772420" y="2641476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6" name="Rechteck 25"/>
          <p:cNvSpPr/>
          <p:nvPr/>
        </p:nvSpPr>
        <p:spPr>
          <a:xfrm>
            <a:off x="3352283" y="2641476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7" name="Rechteck 26"/>
          <p:cNvSpPr/>
          <p:nvPr/>
        </p:nvSpPr>
        <p:spPr>
          <a:xfrm>
            <a:off x="3928347" y="2641476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8" name="Rechteck 27"/>
          <p:cNvSpPr/>
          <p:nvPr/>
        </p:nvSpPr>
        <p:spPr>
          <a:xfrm>
            <a:off x="4504411" y="2641476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29" name="Rechteck 28"/>
          <p:cNvSpPr/>
          <p:nvPr/>
        </p:nvSpPr>
        <p:spPr>
          <a:xfrm>
            <a:off x="5080475" y="2641476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31" name="Rechteck 30"/>
          <p:cNvSpPr/>
          <p:nvPr/>
        </p:nvSpPr>
        <p:spPr>
          <a:xfrm>
            <a:off x="5656539" y="2643464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24" name="Rechteck 23"/>
          <p:cNvSpPr/>
          <p:nvPr/>
        </p:nvSpPr>
        <p:spPr>
          <a:xfrm>
            <a:off x="2196356" y="2641476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" name="Abgerundetes Rechteck 2"/>
          <p:cNvSpPr/>
          <p:nvPr/>
        </p:nvSpPr>
        <p:spPr>
          <a:xfrm>
            <a:off x="684188" y="2497460"/>
            <a:ext cx="6408712" cy="1440160"/>
          </a:xfrm>
          <a:prstGeom prst="roundRect">
            <a:avLst/>
          </a:prstGeom>
          <a:solidFill>
            <a:schemeClr val="accent1">
              <a:alpha val="3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1" name="Rechteck 10"/>
          <p:cNvSpPr/>
          <p:nvPr/>
        </p:nvSpPr>
        <p:spPr>
          <a:xfrm>
            <a:off x="2203023" y="3149508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" name="Rechteck 11"/>
          <p:cNvSpPr/>
          <p:nvPr/>
        </p:nvSpPr>
        <p:spPr>
          <a:xfrm>
            <a:off x="2779087" y="3149508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3" name="Rechteck 12"/>
          <p:cNvSpPr/>
          <p:nvPr/>
        </p:nvSpPr>
        <p:spPr>
          <a:xfrm>
            <a:off x="3358950" y="3149508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4" name="Rechteck 13"/>
          <p:cNvSpPr/>
          <p:nvPr/>
        </p:nvSpPr>
        <p:spPr>
          <a:xfrm>
            <a:off x="3935014" y="3149508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5" name="Rechteck 14"/>
          <p:cNvSpPr/>
          <p:nvPr/>
        </p:nvSpPr>
        <p:spPr>
          <a:xfrm>
            <a:off x="4511078" y="3149508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6" name="Rechteck 15"/>
          <p:cNvSpPr/>
          <p:nvPr/>
        </p:nvSpPr>
        <p:spPr>
          <a:xfrm>
            <a:off x="5087142" y="3149508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8" name="Rechteck 17"/>
          <p:cNvSpPr/>
          <p:nvPr/>
        </p:nvSpPr>
        <p:spPr>
          <a:xfrm>
            <a:off x="5663206" y="3149508"/>
            <a:ext cx="576064" cy="580040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37" name="Textfeld 36"/>
          <p:cNvSpPr txBox="1"/>
          <p:nvPr/>
        </p:nvSpPr>
        <p:spPr>
          <a:xfrm>
            <a:off x="540172" y="1489348"/>
            <a:ext cx="72728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[] numbers =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[] { 2, 4, 3, 5, 5, 6, 4 };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[] numbers = { 2, 4, 3, 5, 5, 6, 4 };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numbers   = { 2, 4, 3, 5, 5, 6, 4 };</a:t>
            </a:r>
            <a:endParaRPr lang="de-AT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Textfeld 9"/>
          <p:cNvSpPr txBox="1"/>
          <p:nvPr/>
        </p:nvSpPr>
        <p:spPr>
          <a:xfrm>
            <a:off x="1053349" y="3250996"/>
            <a:ext cx="1149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numbers</a:t>
            </a:r>
            <a:endParaRPr lang="de-AT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Eindimensionale Arrays</a:t>
            </a:r>
            <a:br>
              <a:rPr lang="de-AT" dirty="0"/>
            </a:br>
            <a:endParaRPr lang="de-DE" dirty="0"/>
          </a:p>
        </p:txBody>
      </p:sp>
      <p:sp>
        <p:nvSpPr>
          <p:cNvPr id="19" name="Textfeld 18"/>
          <p:cNvSpPr txBox="1"/>
          <p:nvPr/>
        </p:nvSpPr>
        <p:spPr>
          <a:xfrm>
            <a:off x="413304" y="1043444"/>
            <a:ext cx="49552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Arrays Initialisierung direkt bei der Deklaration 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A8D5CFAB-275E-48CE-A3AD-BD2A9A06C828}"/>
              </a:ext>
            </a:extLst>
          </p:cNvPr>
          <p:cNvSpPr txBox="1"/>
          <p:nvPr/>
        </p:nvSpPr>
        <p:spPr>
          <a:xfrm>
            <a:off x="695792" y="4149080"/>
            <a:ext cx="755888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AT" sz="18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e-AT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sum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= 0;</a:t>
            </a:r>
          </a:p>
          <a:p>
            <a:r>
              <a:rPr lang="de-AT" sz="18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for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de-AT" sz="18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i =0;i&lt;</a:t>
            </a:r>
            <a:r>
              <a:rPr lang="de-AT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numbers.Length;i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++)</a:t>
            </a:r>
          </a:p>
          <a:p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de-AT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sum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+= </a:t>
            </a:r>
            <a:r>
              <a:rPr lang="de-AT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numbers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[i];</a:t>
            </a:r>
          </a:p>
          <a:p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</a:p>
          <a:p>
            <a:r>
              <a:rPr lang="de-DE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de-DE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de-DE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$"Summe aller Zahlen </a:t>
            </a:r>
            <a:r>
              <a:rPr lang="de-DE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de-DE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sum</a:t>
            </a:r>
            <a:r>
              <a:rPr lang="de-DE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de-DE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de-DE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3297187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Eindimensionale Arrays - </a:t>
            </a:r>
            <a:r>
              <a:rPr lang="de-AT" dirty="0" err="1"/>
              <a:t>foreach</a:t>
            </a:r>
            <a:br>
              <a:rPr lang="de-AT" dirty="0"/>
            </a:br>
            <a:endParaRPr lang="de-DE" dirty="0"/>
          </a:p>
        </p:txBody>
      </p:sp>
      <p:sp>
        <p:nvSpPr>
          <p:cNvPr id="19" name="Textfeld 18"/>
          <p:cNvSpPr txBox="1"/>
          <p:nvPr/>
        </p:nvSpPr>
        <p:spPr>
          <a:xfrm>
            <a:off x="413305" y="1052736"/>
            <a:ext cx="79751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C# </a:t>
            </a:r>
            <a:r>
              <a:rPr lang="de-DE" dirty="0" err="1"/>
              <a:t>foreach</a:t>
            </a:r>
            <a:r>
              <a:rPr lang="de-DE" dirty="0"/>
              <a:t> </a:t>
            </a:r>
            <a:br>
              <a:rPr lang="de-DE" dirty="0"/>
            </a:br>
            <a:endParaRPr lang="de-DE" dirty="0"/>
          </a:p>
          <a:p>
            <a:r>
              <a:rPr lang="de-DE" dirty="0"/>
              <a:t>Diese Schleifen-Konstruktion </a:t>
            </a:r>
            <a:r>
              <a:rPr lang="de-DE" u="sng" dirty="0"/>
              <a:t>kann</a:t>
            </a:r>
            <a:r>
              <a:rPr lang="de-DE" dirty="0"/>
              <a:t> verwendet werden: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Wenn der Index nicht benötigt wird.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Wenn nur „lesend“ auf die Elemente des Arrays zugegriffen wird.</a:t>
            </a:r>
            <a:br>
              <a:rPr lang="de-DE" dirty="0"/>
            </a:br>
            <a:r>
              <a:rPr lang="de-DE" dirty="0"/>
              <a:t>Ein Zuweisen der Array-Elemente ist nicht möglich.</a:t>
            </a:r>
            <a:br>
              <a:rPr lang="de-DE" dirty="0"/>
            </a:br>
            <a:endParaRPr lang="de-DE" dirty="0"/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A8D5CFAB-275E-48CE-A3AD-BD2A9A06C828}"/>
              </a:ext>
            </a:extLst>
          </p:cNvPr>
          <p:cNvSpPr txBox="1"/>
          <p:nvPr/>
        </p:nvSpPr>
        <p:spPr>
          <a:xfrm>
            <a:off x="422889" y="3240339"/>
            <a:ext cx="7558884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numbers   = { 2, 4, 3, 5, 5, 6, 4 };</a:t>
            </a:r>
            <a:endParaRPr lang="de-AT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de-AT" sz="1800" dirty="0">
              <a:solidFill>
                <a:srgbClr val="0000FF"/>
              </a:solidFill>
              <a:latin typeface="Cascadia Mono" panose="020B0609020000020004" pitchFamily="49" charset="0"/>
            </a:endParaRPr>
          </a:p>
          <a:p>
            <a:r>
              <a:rPr lang="de-AT" sz="18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e-AT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sum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= 0;</a:t>
            </a:r>
            <a:b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</a:br>
            <a:endParaRPr lang="de-AT" sz="18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foreach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number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in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numbers)</a:t>
            </a:r>
          </a:p>
          <a:p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de-AT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sum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+= </a:t>
            </a:r>
            <a:r>
              <a:rPr lang="de-AT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number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</a:p>
          <a:p>
            <a:r>
              <a:rPr lang="de-DE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de-DE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de-DE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$"Summe aller Zahlen </a:t>
            </a:r>
            <a:r>
              <a:rPr lang="de-DE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de-DE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sum</a:t>
            </a:r>
            <a:r>
              <a:rPr lang="de-DE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de-DE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de-DE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647700542"/>
      </p:ext>
    </p:extLst>
  </p:cSld>
  <p:clrMapOvr>
    <a:masterClrMapping/>
  </p:clrMapOvr>
</p:sld>
</file>

<file path=ppt/theme/theme1.xml><?xml version="1.0" encoding="utf-8"?>
<a:theme xmlns:a="http://schemas.openxmlformats.org/drawingml/2006/main" name="2_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 Klassisch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472</Words>
  <Application>Microsoft Office PowerPoint</Application>
  <PresentationFormat>Bildschirmpräsentation (4:3)</PresentationFormat>
  <Paragraphs>136</Paragraphs>
  <Slides>6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6</vt:i4>
      </vt:variant>
    </vt:vector>
  </HeadingPairs>
  <TitlesOfParts>
    <vt:vector size="13" baseType="lpstr">
      <vt:lpstr>Arial</vt:lpstr>
      <vt:lpstr>Calibri</vt:lpstr>
      <vt:lpstr>Cascadia Mono</vt:lpstr>
      <vt:lpstr>Courier New</vt:lpstr>
      <vt:lpstr>Symbol</vt:lpstr>
      <vt:lpstr>Wingdings</vt:lpstr>
      <vt:lpstr>2_Larissa</vt:lpstr>
      <vt:lpstr>Eindimensionale Arrays / Felder</vt:lpstr>
      <vt:lpstr>Eindimensionale Arrays</vt:lpstr>
      <vt:lpstr>Eindimensionale Arrays </vt:lpstr>
      <vt:lpstr>Eindimensionale Arrays </vt:lpstr>
      <vt:lpstr>Eindimensionale Arrays </vt:lpstr>
      <vt:lpstr>Eindimensionale Arrays - foreach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r.obermueller@eduhi.at</dc:creator>
  <cp:lastModifiedBy>Aitenbichler Herbert</cp:lastModifiedBy>
  <cp:revision>147</cp:revision>
  <dcterms:created xsi:type="dcterms:W3CDTF">2013-05-11T11:25:57Z</dcterms:created>
  <dcterms:modified xsi:type="dcterms:W3CDTF">2022-02-27T17:21:12Z</dcterms:modified>
</cp:coreProperties>
</file>