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27"/>
  </p:notesMasterIdLst>
  <p:handoutMasterIdLst>
    <p:handoutMasterId r:id="rId28"/>
  </p:handoutMasterIdLst>
  <p:sldIdLst>
    <p:sldId id="322" r:id="rId3"/>
    <p:sldId id="300" r:id="rId4"/>
    <p:sldId id="301" r:id="rId5"/>
    <p:sldId id="302" r:id="rId6"/>
    <p:sldId id="303" r:id="rId7"/>
    <p:sldId id="304" r:id="rId8"/>
    <p:sldId id="307" r:id="rId9"/>
    <p:sldId id="308" r:id="rId10"/>
    <p:sldId id="309" r:id="rId11"/>
    <p:sldId id="323" r:id="rId12"/>
    <p:sldId id="325" r:id="rId13"/>
    <p:sldId id="326" r:id="rId14"/>
    <p:sldId id="310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7" r:id="rId26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29" autoAdjust="0"/>
  </p:normalViewPr>
  <p:slideViewPr>
    <p:cSldViewPr>
      <p:cViewPr varScale="1">
        <p:scale>
          <a:sx n="84" d="100"/>
          <a:sy n="84" d="100"/>
        </p:scale>
        <p:origin x="149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 smtClean="0"/>
              <a:t>Click </a:t>
            </a:r>
            <a:r>
              <a:rPr lang="de-DE" noProof="0" dirty="0" err="1" smtClean="0"/>
              <a:t>to</a:t>
            </a:r>
            <a:r>
              <a:rPr lang="de-DE" noProof="0" dirty="0" smtClean="0"/>
              <a:t> </a:t>
            </a:r>
            <a:r>
              <a:rPr lang="de-DE" noProof="0" dirty="0" err="1" smtClean="0"/>
              <a:t>edit</a:t>
            </a:r>
            <a:r>
              <a:rPr lang="de-DE" noProof="0" dirty="0" smtClean="0"/>
              <a:t> Master </a:t>
            </a:r>
            <a:r>
              <a:rPr lang="de-DE" noProof="0" dirty="0" err="1" smtClean="0"/>
              <a:t>text</a:t>
            </a:r>
            <a:r>
              <a:rPr lang="de-DE" noProof="0" dirty="0" smtClean="0"/>
              <a:t> </a:t>
            </a:r>
            <a:r>
              <a:rPr lang="de-DE" noProof="0" dirty="0" err="1" smtClean="0"/>
              <a:t>styles</a:t>
            </a:r>
            <a:endParaRPr lang="de-DE" noProof="0" dirty="0" smtClean="0"/>
          </a:p>
          <a:p>
            <a:pPr lvl="1"/>
            <a:r>
              <a:rPr lang="de-DE" noProof="0" dirty="0" smtClean="0"/>
              <a:t>Second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2"/>
            <a:r>
              <a:rPr lang="de-DE" noProof="0" dirty="0" smtClean="0"/>
              <a:t>Third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3"/>
            <a:r>
              <a:rPr lang="de-DE" noProof="0" dirty="0" err="1" smtClean="0"/>
              <a:t>Fourth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  <a:p>
            <a:pPr lvl="4"/>
            <a:r>
              <a:rPr lang="de-DE" noProof="0" dirty="0" err="1" smtClean="0"/>
              <a:t>Fifth</a:t>
            </a:r>
            <a:r>
              <a:rPr lang="de-DE" noProof="0" dirty="0" smtClean="0"/>
              <a:t> </a:t>
            </a:r>
            <a:r>
              <a:rPr lang="de-DE" noProof="0" dirty="0" err="1" smtClean="0"/>
              <a:t>level</a:t>
            </a:r>
            <a:endParaRPr lang="de-DE" noProof="0" dirty="0" smtClean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18488" cy="69215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A6957-6B33-49AB-A4E1-71E66DD489D2}" type="datetime1">
              <a:rPr lang="de-DE"/>
              <a:pPr>
                <a:defRPr/>
              </a:pPr>
              <a:t>01.02.2016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82E3C53-8032-42BC-9CB4-267DBC1803F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1692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36538" y="0"/>
            <a:ext cx="8583612" cy="60928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2DB0B-A611-4F36-B4FD-D6EEA09DD94D}" type="datetime1">
              <a:rPr lang="de-DE"/>
              <a:pPr>
                <a:defRPr/>
              </a:pPr>
              <a:t>01.02.2016</a:t>
            </a:fld>
            <a:endParaRPr lang="de-DE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A7AF743E-C3CE-496E-BFA5-92A24AC8B0D2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3582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8A608-9A7D-4CC8-97E5-151138EF0A4C}" type="datetime1">
              <a:rPr lang="de-DE"/>
              <a:pPr>
                <a:defRPr/>
              </a:pPr>
              <a:t>01.02.2016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FB6EFEF-7C0F-4D4A-A7DE-C1DE975D531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8729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OO-Basics </a:t>
            </a:r>
            <a:r>
              <a:rPr lang="de-DE" sz="1000" kern="12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31" r:id="rId8"/>
    <p:sldLayoutId id="2147483932" r:id="rId9"/>
    <p:sldLayoutId id="2147483933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 smtClean="0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 smtClean="0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smtClean="0"/>
              <a:t>Klicken Sie, um die Formate des Vorlagentextes zu bearbeiten</a:t>
            </a:r>
          </a:p>
          <a:p>
            <a:pPr lvl="1"/>
            <a:r>
              <a:rPr lang="de-DE" altLang="de-DE" smtClean="0"/>
              <a:t>Zweite Ebene</a:t>
            </a:r>
          </a:p>
          <a:p>
            <a:pPr lvl="2"/>
            <a:r>
              <a:rPr lang="de-DE" altLang="de-DE" smtClean="0"/>
              <a:t>Dritte Ebene</a:t>
            </a:r>
          </a:p>
          <a:p>
            <a:pPr lvl="3"/>
            <a:r>
              <a:rPr lang="de-DE" altLang="de-DE" smtClean="0"/>
              <a:t>Vierte Ebene</a:t>
            </a:r>
          </a:p>
          <a:p>
            <a:pPr lvl="4"/>
            <a:r>
              <a:rPr lang="de-DE" altLang="de-DE" smtClean="0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768350" y="1196752"/>
            <a:ext cx="77724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altLang="de-DE" sz="4000" dirty="0" smtClean="0">
                <a:solidFill>
                  <a:schemeClr val="tx2"/>
                </a:solidFill>
              </a:rPr>
              <a:t>Grundlagen </a:t>
            </a:r>
            <a:br>
              <a:rPr lang="de-DE" altLang="de-DE" sz="4000" dirty="0" smtClean="0">
                <a:solidFill>
                  <a:schemeClr val="tx2"/>
                </a:solidFill>
              </a:rPr>
            </a:br>
            <a:r>
              <a:rPr lang="de-DE" altLang="de-DE" sz="4000" dirty="0" smtClean="0">
                <a:solidFill>
                  <a:schemeClr val="tx2"/>
                </a:solidFill>
              </a:rPr>
              <a:t>der</a:t>
            </a:r>
            <a:br>
              <a:rPr lang="de-DE" altLang="de-DE" sz="4000" dirty="0" smtClean="0">
                <a:solidFill>
                  <a:schemeClr val="tx2"/>
                </a:solidFill>
              </a:rPr>
            </a:br>
            <a:r>
              <a:rPr lang="de-DE" altLang="de-DE" sz="4000" dirty="0" smtClean="0">
                <a:solidFill>
                  <a:schemeClr val="tx2"/>
                </a:solidFill>
              </a:rPr>
              <a:t>objektorientierten Programmierung</a:t>
            </a:r>
            <a:endParaRPr lang="de-DE" altLang="de-DE" sz="4000" dirty="0" smtClean="0">
              <a:solidFill>
                <a:schemeClr val="tx2"/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212976"/>
            <a:ext cx="1314450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48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 smtClean="0"/>
              <a:t>Programmentwicklung </a:t>
            </a:r>
            <a:r>
              <a:rPr lang="de-AT" altLang="de-DE" sz="2800" dirty="0" smtClean="0"/>
              <a:t>bisher</a:t>
            </a:r>
            <a:endParaRPr lang="de-AT" altLang="de-DE" sz="2800" dirty="0" smtClean="0"/>
          </a:p>
        </p:txBody>
      </p:sp>
      <p:sp>
        <p:nvSpPr>
          <p:cNvPr id="7171" name="Inhaltsplatzhalt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de-DE" altLang="de-DE" sz="2800" dirty="0" smtClean="0"/>
              <a:t>Lesen und Verstehen der Aufgabenstellung</a:t>
            </a:r>
            <a:endParaRPr lang="de-AT" altLang="de-DE" sz="2800" dirty="0" smtClean="0"/>
          </a:p>
          <a:p>
            <a:r>
              <a:rPr lang="de-DE" altLang="de-DE" sz="2800" dirty="0" smtClean="0"/>
              <a:t>Entwurf eines geeigneten </a:t>
            </a:r>
            <a:r>
              <a:rPr lang="de-DE" altLang="de-DE" sz="2800" dirty="0" smtClean="0"/>
              <a:t>Algorithmus</a:t>
            </a:r>
          </a:p>
          <a:p>
            <a:pPr lvl="1"/>
            <a:r>
              <a:rPr lang="de-DE" altLang="de-DE" sz="2500" dirty="0" smtClean="0"/>
              <a:t>Entwurfsmethode „schrittweise Verfeinerung“</a:t>
            </a:r>
            <a:endParaRPr lang="de-AT" altLang="de-DE" sz="2500" dirty="0" smtClean="0"/>
          </a:p>
          <a:p>
            <a:r>
              <a:rPr lang="de-DE" altLang="de-DE" sz="2800" dirty="0" smtClean="0"/>
              <a:t>Umsetzen des Algorithmus in C#</a:t>
            </a:r>
            <a:endParaRPr lang="de-AT" altLang="de-DE" sz="2800" dirty="0" smtClean="0"/>
          </a:p>
          <a:p>
            <a:r>
              <a:rPr lang="de-DE" altLang="de-DE" sz="2800" dirty="0" smtClean="0"/>
              <a:t>Testen der </a:t>
            </a:r>
            <a:r>
              <a:rPr lang="de-DE" altLang="de-DE" sz="2800" dirty="0" smtClean="0"/>
              <a:t>Anwendung</a:t>
            </a:r>
          </a:p>
          <a:p>
            <a:pPr lvl="1"/>
            <a:r>
              <a:rPr lang="de-DE" altLang="de-DE" sz="2500" dirty="0" err="1" smtClean="0"/>
              <a:t>Unittests</a:t>
            </a:r>
            <a:r>
              <a:rPr lang="de-DE" altLang="de-DE" sz="2500" dirty="0" smtClean="0"/>
              <a:t> für Methoden</a:t>
            </a:r>
          </a:p>
          <a:p>
            <a:pPr lvl="1"/>
            <a:r>
              <a:rPr lang="de-DE" altLang="de-DE" dirty="0" smtClean="0"/>
              <a:t>Test des Hauptprogramms</a:t>
            </a:r>
            <a:endParaRPr lang="de-AT" altLang="de-DE" sz="2500" dirty="0" smtClean="0"/>
          </a:p>
          <a:p>
            <a:endParaRPr lang="de-AT" altLang="de-DE" sz="28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58118C-B327-4E20-A3D1-E4AAA383BAAE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4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Entwurf eines geeigneten Algorithmus</a:t>
            </a:r>
            <a:endParaRPr lang="de-AT" altLang="de-DE" smtClean="0"/>
          </a:p>
        </p:txBody>
      </p:sp>
      <p:sp>
        <p:nvSpPr>
          <p:cNvPr id="8195" name="Inhaltsplatzhalter 2"/>
          <p:cNvSpPr>
            <a:spLocks noGrp="1"/>
          </p:cNvSpPr>
          <p:nvPr>
            <p:ph idx="1"/>
          </p:nvPr>
        </p:nvSpPr>
        <p:spPr>
          <a:xfrm>
            <a:off x="395536" y="1412776"/>
            <a:ext cx="8229600" cy="4525963"/>
          </a:xfrm>
        </p:spPr>
        <p:txBody>
          <a:bodyPr/>
          <a:lstStyle/>
          <a:p>
            <a:r>
              <a:rPr lang="de-DE" altLang="de-DE" sz="2400" dirty="0" smtClean="0"/>
              <a:t>Nutzung grafischer Hilfsmittel (Ablaufdiagramm, …) zur Visualisierung der Lösungsidee</a:t>
            </a:r>
            <a:endParaRPr lang="de-AT" altLang="de-DE" sz="2400" dirty="0" smtClean="0"/>
          </a:p>
          <a:p>
            <a:r>
              <a:rPr lang="de-DE" altLang="de-DE" sz="2400" dirty="0" smtClean="0"/>
              <a:t>Strukturieren der Lösung durch schrittweise Verfeinerung</a:t>
            </a:r>
            <a:endParaRPr lang="de-AT" altLang="de-DE" sz="2400" dirty="0" smtClean="0"/>
          </a:p>
          <a:p>
            <a:r>
              <a:rPr lang="de-DE" altLang="de-DE" sz="2400" dirty="0" smtClean="0"/>
              <a:t>Durchspielen des Algorithmus mit Hilfe von Schreibtischtests</a:t>
            </a:r>
            <a:endParaRPr lang="de-AT" altLang="de-DE" sz="2400" dirty="0" smtClean="0"/>
          </a:p>
          <a:p>
            <a:endParaRPr lang="de-AT" altLang="de-DE" sz="24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8DC8362-4E6D-4D4A-82B4-553B814B7EC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00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Umsetzen des Algorithmus in C#</a:t>
            </a:r>
            <a:endParaRPr lang="de-AT" altLang="de-DE" smtClean="0"/>
          </a:p>
        </p:txBody>
      </p:sp>
      <p:sp>
        <p:nvSpPr>
          <p:cNvPr id="9219" name="Inhaltsplatzhalter 2"/>
          <p:cNvSpPr>
            <a:spLocks noGrp="1"/>
          </p:cNvSpPr>
          <p:nvPr>
            <p:ph idx="1"/>
          </p:nvPr>
        </p:nvSpPr>
        <p:spPr>
          <a:xfrm>
            <a:off x="395536" y="1135285"/>
            <a:ext cx="8229600" cy="4525963"/>
          </a:xfrm>
        </p:spPr>
        <p:txBody>
          <a:bodyPr/>
          <a:lstStyle/>
          <a:p>
            <a:r>
              <a:rPr lang="de-DE" altLang="de-DE" sz="2400" dirty="0" smtClean="0"/>
              <a:t>Codieren unter Berücksichtigung der vorgegebenen </a:t>
            </a:r>
            <a:r>
              <a:rPr lang="de-DE" altLang="de-DE" sz="2400" dirty="0" err="1" smtClean="0"/>
              <a:t>Codierrichtlinien</a:t>
            </a:r>
            <a:endParaRPr lang="de-AT" altLang="de-DE" sz="2400" dirty="0" smtClean="0"/>
          </a:p>
          <a:p>
            <a:pPr lvl="1"/>
            <a:r>
              <a:rPr lang="de-DE" altLang="de-DE" sz="2000" dirty="0" smtClean="0"/>
              <a:t>Sprechende Bezeichner</a:t>
            </a:r>
            <a:endParaRPr lang="de-AT" altLang="de-DE" sz="2000" dirty="0" smtClean="0"/>
          </a:p>
          <a:p>
            <a:pPr lvl="1"/>
            <a:r>
              <a:rPr lang="de-DE" altLang="de-DE" sz="2000" dirty="0" smtClean="0"/>
              <a:t>Verwendung der passenden Datentypen für Variable und Parameter</a:t>
            </a:r>
            <a:endParaRPr lang="de-AT" altLang="de-DE" sz="2000" dirty="0" smtClean="0"/>
          </a:p>
          <a:p>
            <a:pPr lvl="1"/>
            <a:r>
              <a:rPr lang="de-DE" altLang="de-DE" sz="2000" dirty="0" smtClean="0"/>
              <a:t>XML-Kommentare für alle Methoden</a:t>
            </a:r>
            <a:endParaRPr lang="de-AT" altLang="de-DE" sz="2000" dirty="0" smtClean="0"/>
          </a:p>
          <a:p>
            <a:pPr lvl="1"/>
            <a:r>
              <a:rPr lang="de-DE" altLang="de-DE" sz="2000" dirty="0" smtClean="0"/>
              <a:t>Kommentare für Codeteile, die nicht selbst erklärend sind </a:t>
            </a:r>
            <a:endParaRPr lang="de-AT" altLang="de-DE" sz="2000" dirty="0" smtClean="0"/>
          </a:p>
          <a:p>
            <a:pPr lvl="2"/>
            <a:r>
              <a:rPr lang="de-DE" altLang="de-DE" sz="1800" dirty="0" smtClean="0"/>
              <a:t>Zuerst prüfen, ob der Code nicht durch andere </a:t>
            </a:r>
            <a:r>
              <a:rPr lang="de-DE" altLang="de-DE" sz="1800" dirty="0" err="1" smtClean="0"/>
              <a:t>Bezeichnernamen</a:t>
            </a:r>
            <a:r>
              <a:rPr lang="de-DE" altLang="de-DE" sz="1800" dirty="0" smtClean="0"/>
              <a:t> und/oder einfachere Ablaufstrukturen verbessert werden kann</a:t>
            </a:r>
            <a:endParaRPr lang="de-AT" altLang="de-DE" sz="1800" dirty="0" smtClean="0"/>
          </a:p>
          <a:p>
            <a:r>
              <a:rPr lang="de-DE" altLang="de-DE" sz="2400" dirty="0" smtClean="0"/>
              <a:t>Syntaxfehler und Warnungen beheben</a:t>
            </a:r>
            <a:endParaRPr lang="de-AT" altLang="de-DE" sz="2400" dirty="0" smtClean="0"/>
          </a:p>
          <a:p>
            <a:pPr lvl="1"/>
            <a:r>
              <a:rPr lang="de-DE" altLang="de-DE" sz="2000" dirty="0" smtClean="0"/>
              <a:t>Meldungen des Compilers genau lesen und entsprechende Korrekturen anbringen</a:t>
            </a:r>
            <a:endParaRPr lang="de-AT" altLang="de-DE" sz="2000" dirty="0" smtClean="0"/>
          </a:p>
          <a:p>
            <a:endParaRPr lang="de-AT" altLang="de-DE" sz="24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B421DC-C403-4524-98E4-5C3D1B358D5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4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Testen der Anwendung</a:t>
            </a:r>
            <a:endParaRPr lang="de-AT" altLang="de-DE" smtClean="0"/>
          </a:p>
        </p:txBody>
      </p:sp>
      <p:sp>
        <p:nvSpPr>
          <p:cNvPr id="1024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de-DE" altLang="de-DE" sz="2400" smtClean="0"/>
              <a:t>Falls </a:t>
            </a:r>
            <a:r>
              <a:rPr lang="de-DE" altLang="de-DE" sz="2400" dirty="0" err="1" smtClean="0"/>
              <a:t>Unittests</a:t>
            </a:r>
            <a:r>
              <a:rPr lang="de-DE" altLang="de-DE" sz="2400" dirty="0" smtClean="0"/>
              <a:t> vorhanden sind, muss das Programm alle Tests bestehen</a:t>
            </a:r>
            <a:endParaRPr lang="de-AT" altLang="de-DE" sz="2400" dirty="0" smtClean="0"/>
          </a:p>
          <a:p>
            <a:pPr lvl="1"/>
            <a:r>
              <a:rPr lang="de-DE" altLang="de-DE" sz="2400" dirty="0" smtClean="0"/>
              <a:t>Änderung von Testfällen ist natürlich nicht zulässig</a:t>
            </a:r>
            <a:endParaRPr lang="de-AT" altLang="de-DE" sz="2400" dirty="0" smtClean="0"/>
          </a:p>
          <a:p>
            <a:pPr lvl="1"/>
            <a:r>
              <a:rPr lang="de-DE" altLang="de-DE" sz="2400" dirty="0" smtClean="0"/>
              <a:t>Ergänzung um eigene Testfälle ist erwünscht</a:t>
            </a:r>
            <a:endParaRPr lang="de-AT" altLang="de-DE" sz="2400" dirty="0" smtClean="0"/>
          </a:p>
          <a:p>
            <a:pPr lvl="1"/>
            <a:r>
              <a:rPr lang="de-DE" altLang="de-DE" sz="2400" dirty="0" smtClean="0"/>
              <a:t>Testfälle können als </a:t>
            </a:r>
            <a:r>
              <a:rPr lang="de-DE" altLang="de-DE" sz="2400" dirty="0" err="1" smtClean="0"/>
              <a:t>Einsprungpunkt</a:t>
            </a:r>
            <a:r>
              <a:rPr lang="de-DE" altLang="de-DE" sz="2400" dirty="0" smtClean="0"/>
              <a:t> für das Debugging verwendet werden</a:t>
            </a:r>
            <a:endParaRPr lang="de-AT" altLang="de-DE" sz="2400" dirty="0" smtClean="0"/>
          </a:p>
          <a:p>
            <a:r>
              <a:rPr lang="de-DE" altLang="de-DE" sz="2400" dirty="0" smtClean="0"/>
              <a:t>Funktionsfähigkeit der Anwendung auf Basis der Aufgabenstellung testen</a:t>
            </a:r>
          </a:p>
          <a:p>
            <a:pPr lvl="1"/>
            <a:r>
              <a:rPr lang="de-DE" altLang="de-DE" sz="2400" dirty="0" smtClean="0"/>
              <a:t>Im Fehlerfall, Debugger verwenden</a:t>
            </a:r>
            <a:endParaRPr lang="de-AT" altLang="de-DE" sz="2400" dirty="0" smtClean="0"/>
          </a:p>
          <a:p>
            <a:endParaRPr lang="de-AT" altLang="de-DE" sz="24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41F121-0041-44A2-9DD0-BF1B7821C0A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83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Strukturierung des Programms</a:t>
            </a:r>
            <a:endParaRPr lang="de-AT" altLang="de-DE" smtClean="0"/>
          </a:p>
        </p:txBody>
      </p:sp>
      <p:sp>
        <p:nvSpPr>
          <p:cNvPr id="11267" name="Inhaltsplatzhalter 2"/>
          <p:cNvSpPr>
            <a:spLocks noGrp="1"/>
          </p:cNvSpPr>
          <p:nvPr>
            <p:ph idx="1"/>
          </p:nvPr>
        </p:nvSpPr>
        <p:spPr>
          <a:xfrm>
            <a:off x="251520" y="1052736"/>
            <a:ext cx="8229600" cy="4525963"/>
          </a:xfrm>
        </p:spPr>
        <p:txBody>
          <a:bodyPr/>
          <a:lstStyle/>
          <a:p>
            <a:r>
              <a:rPr lang="de-DE" altLang="de-DE" sz="2000" dirty="0" smtClean="0"/>
              <a:t>Methode soll eine abgeschlossene Aufgabe erfüllen</a:t>
            </a:r>
            <a:endParaRPr lang="de-AT" altLang="de-DE" sz="2000" dirty="0" smtClean="0"/>
          </a:p>
          <a:p>
            <a:r>
              <a:rPr lang="de-DE" altLang="de-DE" sz="2000" dirty="0" smtClean="0"/>
              <a:t>Der Name der Methode beschreibt möglichst selbsterklärend deren Aufgabe</a:t>
            </a:r>
            <a:endParaRPr lang="de-AT" altLang="de-DE" sz="2000" dirty="0" smtClean="0"/>
          </a:p>
          <a:p>
            <a:pPr lvl="1"/>
            <a:r>
              <a:rPr lang="de-DE" altLang="de-DE" sz="1800" dirty="0" smtClean="0"/>
              <a:t>Bei statischen Methoden besteht der Name aus zumindest zwei Teilen:</a:t>
            </a:r>
            <a:endParaRPr lang="de-AT" altLang="de-DE" sz="1800" dirty="0" smtClean="0"/>
          </a:p>
          <a:p>
            <a:pPr lvl="2"/>
            <a:r>
              <a:rPr lang="de-DE" altLang="de-DE" sz="1600" dirty="0" smtClean="0"/>
              <a:t>WAS </a:t>
            </a:r>
            <a:r>
              <a:rPr lang="de-DE" altLang="de-DE" sz="1600" dirty="0" smtClean="0">
                <a:sym typeface="Wingdings" panose="05000000000000000000" pitchFamily="2" charset="2"/>
              </a:rPr>
              <a:t></a:t>
            </a:r>
            <a:r>
              <a:rPr lang="de-DE" altLang="de-DE" sz="1600" dirty="0" smtClean="0"/>
              <a:t> Verb (z.B. </a:t>
            </a:r>
            <a:r>
              <a:rPr lang="de-DE" altLang="de-DE" sz="1600" u="sng" dirty="0" err="1" smtClean="0"/>
              <a:t>Write</a:t>
            </a:r>
            <a:r>
              <a:rPr lang="de-DE" altLang="de-DE" sz="1600" dirty="0" err="1" smtClean="0"/>
              <a:t>Line</a:t>
            </a:r>
            <a:r>
              <a:rPr lang="de-DE" altLang="de-DE" sz="1600" dirty="0" smtClean="0"/>
              <a:t>)</a:t>
            </a:r>
            <a:endParaRPr lang="de-AT" altLang="de-DE" sz="1600" dirty="0" smtClean="0"/>
          </a:p>
          <a:p>
            <a:pPr lvl="2"/>
            <a:r>
              <a:rPr lang="de-DE" altLang="de-DE" sz="1600" dirty="0" smtClean="0"/>
              <a:t>WOMIT </a:t>
            </a:r>
            <a:r>
              <a:rPr lang="de-DE" altLang="de-DE" sz="1600" dirty="0" smtClean="0">
                <a:sym typeface="Wingdings" panose="05000000000000000000" pitchFamily="2" charset="2"/>
              </a:rPr>
              <a:t></a:t>
            </a:r>
            <a:r>
              <a:rPr lang="de-DE" altLang="de-DE" sz="1600" dirty="0" smtClean="0"/>
              <a:t> Nomen (z.B. </a:t>
            </a:r>
            <a:r>
              <a:rPr lang="de-DE" altLang="de-DE" sz="1600" dirty="0" err="1" smtClean="0"/>
              <a:t>Write</a:t>
            </a:r>
            <a:r>
              <a:rPr lang="de-DE" altLang="de-DE" sz="1600" u="sng" dirty="0" err="1" smtClean="0"/>
              <a:t>Line</a:t>
            </a:r>
            <a:r>
              <a:rPr lang="de-DE" altLang="de-DE" sz="1600" dirty="0" smtClean="0"/>
              <a:t>)</a:t>
            </a:r>
            <a:endParaRPr lang="de-AT" altLang="de-DE" sz="1600" dirty="0" smtClean="0"/>
          </a:p>
          <a:p>
            <a:r>
              <a:rPr lang="de-DE" altLang="de-DE" sz="2000" dirty="0" smtClean="0"/>
              <a:t>Die Methode soll gut </a:t>
            </a:r>
            <a:r>
              <a:rPr lang="de-DE" altLang="de-DE" sz="2000" dirty="0" err="1" smtClean="0"/>
              <a:t>testbar</a:t>
            </a:r>
            <a:r>
              <a:rPr lang="de-DE" altLang="de-DE" sz="2000" dirty="0" smtClean="0"/>
              <a:t> sein</a:t>
            </a:r>
            <a:endParaRPr lang="de-AT" altLang="de-DE" sz="2000" dirty="0" smtClean="0"/>
          </a:p>
          <a:p>
            <a:pPr lvl="1"/>
            <a:r>
              <a:rPr lang="de-DE" altLang="de-DE" sz="1800" dirty="0" smtClean="0"/>
              <a:t>Alle Standardabläufe und Sonderfälle müssen über Parameter „ansteuerbar“ sein</a:t>
            </a:r>
            <a:endParaRPr lang="de-AT" altLang="de-DE" sz="1800" dirty="0" smtClean="0"/>
          </a:p>
          <a:p>
            <a:r>
              <a:rPr lang="de-DE" altLang="de-DE" sz="2000" dirty="0" smtClean="0"/>
              <a:t>Kein Methodenrumpf hat mehr als 50 Zeilen</a:t>
            </a:r>
            <a:endParaRPr lang="de-AT" altLang="de-DE" sz="2000" dirty="0" smtClean="0"/>
          </a:p>
          <a:p>
            <a:r>
              <a:rPr lang="de-DE" altLang="de-DE" sz="2000" dirty="0" smtClean="0"/>
              <a:t>Wenn die Parameterliste lang wird, ist die Stelle der Aufteilung vermutlich schlecht gewählt</a:t>
            </a:r>
            <a:endParaRPr lang="de-AT" altLang="de-DE" sz="2000" dirty="0" smtClean="0"/>
          </a:p>
          <a:p>
            <a:pPr lvl="1"/>
            <a:r>
              <a:rPr lang="de-DE" altLang="de-DE" sz="1800" dirty="0" smtClean="0"/>
              <a:t>Es gibt sehr starke Abhängigkeiten mit dem umliegenden Code</a:t>
            </a:r>
            <a:endParaRPr lang="de-AT" altLang="de-DE" sz="1800" dirty="0" smtClean="0"/>
          </a:p>
          <a:p>
            <a:pPr lvl="1"/>
            <a:r>
              <a:rPr lang="de-DE" altLang="de-DE" sz="1800" dirty="0" smtClean="0"/>
              <a:t>Formulieren von konkreten Fragen bei etwaigen Unklarheiten</a:t>
            </a:r>
            <a:endParaRPr lang="de-AT" altLang="de-DE" sz="1800" dirty="0" smtClean="0"/>
          </a:p>
          <a:p>
            <a:endParaRPr lang="de-AT" altLang="de-DE" sz="2000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4294967295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557C79-AEB9-472D-8750-50DBC2787B3D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1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 smtClean="0"/>
              <a:t>Strukturierung der Daten</a:t>
            </a:r>
          </a:p>
        </p:txBody>
      </p:sp>
      <p:sp>
        <p:nvSpPr>
          <p:cNvPr id="14339" name="Inhaltsplatzhalt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525963"/>
          </a:xfrm>
        </p:spPr>
        <p:txBody>
          <a:bodyPr/>
          <a:lstStyle/>
          <a:p>
            <a:r>
              <a:rPr lang="de-DE" altLang="de-DE" sz="2000" dirty="0" smtClean="0"/>
              <a:t>Array fasst mehrere Daten des gleichen Typs zu einer sogenannten Collection (Sammlung) zusammen</a:t>
            </a:r>
            <a:endParaRPr lang="de-AT" altLang="de-DE" sz="2000" dirty="0" smtClean="0"/>
          </a:p>
          <a:p>
            <a:pPr lvl="1"/>
            <a:r>
              <a:rPr lang="de-DE" altLang="de-DE" sz="1800" dirty="0" smtClean="0"/>
              <a:t>Alle Arrayelemente haben den gleichen Typ</a:t>
            </a:r>
            <a:endParaRPr lang="de-AT" altLang="de-DE" sz="1800" dirty="0" smtClean="0"/>
          </a:p>
          <a:p>
            <a:pPr lvl="1"/>
            <a:r>
              <a:rPr lang="de-DE" altLang="de-DE" sz="1800" dirty="0" smtClean="0"/>
              <a:t>Deklaration legt Bezeichner und Typ fest</a:t>
            </a:r>
            <a:endParaRPr lang="de-AT" altLang="de-DE" sz="1800" dirty="0" smtClean="0"/>
          </a:p>
          <a:p>
            <a:pPr lvl="1"/>
            <a:r>
              <a:rPr lang="de-DE" altLang="de-DE" sz="1800" dirty="0" smtClean="0"/>
              <a:t>Definition </a:t>
            </a:r>
            <a:r>
              <a:rPr lang="de-DE" altLang="de-DE" sz="1800" dirty="0" err="1" smtClean="0"/>
              <a:t>alloziert</a:t>
            </a:r>
            <a:r>
              <a:rPr lang="de-DE" altLang="de-DE" sz="1800" dirty="0" smtClean="0"/>
              <a:t> Platz im Speicher für Array</a:t>
            </a:r>
          </a:p>
          <a:p>
            <a:pPr lvl="1"/>
            <a:endParaRPr lang="de-DE" altLang="de-DE" sz="1800" dirty="0" smtClean="0"/>
          </a:p>
          <a:p>
            <a:r>
              <a:rPr lang="de-DE" altLang="de-DE" sz="2000" dirty="0" err="1" smtClean="0"/>
              <a:t>Struct</a:t>
            </a:r>
            <a:r>
              <a:rPr lang="de-DE" altLang="de-DE" sz="2000" dirty="0" smtClean="0"/>
              <a:t> fasst Datenelemente unterschiedlichen Datentyps, die logisch zusammengehören, </a:t>
            </a:r>
            <a:r>
              <a:rPr lang="de-DE" altLang="de-DE" sz="2000" dirty="0" smtClean="0"/>
              <a:t>zusammen (leichtgewichtig </a:t>
            </a:r>
            <a:r>
              <a:rPr lang="de-DE" altLang="de-DE" sz="2000" dirty="0" smtClean="0">
                <a:sym typeface="Wingdings" panose="05000000000000000000" pitchFamily="2" charset="2"/>
              </a:rPr>
              <a:t> Wertetyp</a:t>
            </a:r>
            <a:r>
              <a:rPr lang="de-DE" altLang="de-DE" sz="2000" dirty="0" smtClean="0"/>
              <a:t>)</a:t>
            </a:r>
          </a:p>
          <a:p>
            <a:pPr lvl="1"/>
            <a:r>
              <a:rPr lang="de-DE" altLang="de-DE" sz="1700" dirty="0" smtClean="0"/>
              <a:t>Z.B. </a:t>
            </a:r>
            <a:r>
              <a:rPr lang="de-DE" altLang="de-DE" sz="1700" dirty="0" err="1" smtClean="0"/>
              <a:t>DataTime</a:t>
            </a:r>
            <a:endParaRPr lang="de-DE" altLang="de-DE" sz="1700" dirty="0" smtClean="0"/>
          </a:p>
          <a:p>
            <a:r>
              <a:rPr lang="de-DE" altLang="de-DE" sz="2000" dirty="0" smtClean="0"/>
              <a:t>Objekt fasst ebenfalls Datenelemente unterschiedlichen Typs zusammen</a:t>
            </a:r>
            <a:endParaRPr lang="de-AT" altLang="de-DE" sz="20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9BE1C69-E5D4-4CA5-8C72-79A267126F8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2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 smtClean="0"/>
              <a:t>Von strukturierter </a:t>
            </a:r>
            <a:r>
              <a:rPr lang="de-AT" altLang="de-DE" sz="2800" dirty="0" err="1" smtClean="0"/>
              <a:t>Pogrammierung</a:t>
            </a:r>
            <a:r>
              <a:rPr lang="de-AT" altLang="de-DE" sz="2800" dirty="0" smtClean="0"/>
              <a:t> zu OOP</a:t>
            </a:r>
          </a:p>
        </p:txBody>
      </p:sp>
      <p:sp>
        <p:nvSpPr>
          <p:cNvPr id="1536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de-AT" altLang="de-DE" sz="2400" dirty="0" smtClean="0"/>
              <a:t>Prozedurale PR</a:t>
            </a:r>
          </a:p>
          <a:p>
            <a:pPr lvl="1"/>
            <a:r>
              <a:rPr lang="de-AT" altLang="de-DE" sz="2000" dirty="0" smtClean="0"/>
              <a:t>Abläufe dominieren den PR-Prozess</a:t>
            </a:r>
          </a:p>
          <a:p>
            <a:pPr lvl="2"/>
            <a:r>
              <a:rPr lang="de-AT" altLang="de-DE" sz="1800" dirty="0" smtClean="0"/>
              <a:t>Strukturierung nach Methoden </a:t>
            </a:r>
          </a:p>
          <a:p>
            <a:pPr lvl="1"/>
            <a:r>
              <a:rPr lang="de-AT" altLang="de-DE" sz="2000" dirty="0" smtClean="0"/>
              <a:t>Daten werden „nebenher“ verwaltet</a:t>
            </a:r>
          </a:p>
          <a:p>
            <a:r>
              <a:rPr lang="de-AT" altLang="de-DE" sz="2400" dirty="0" smtClean="0"/>
              <a:t>Objektorientierte Programmierung</a:t>
            </a:r>
          </a:p>
          <a:p>
            <a:pPr lvl="1"/>
            <a:r>
              <a:rPr lang="de-AT" altLang="de-DE" sz="2000" dirty="0" smtClean="0"/>
              <a:t>Zusammenfassung von Abläufen und Daten zu Objekten</a:t>
            </a:r>
          </a:p>
          <a:p>
            <a:pPr lvl="1"/>
            <a:r>
              <a:rPr lang="de-AT" altLang="de-DE" sz="2000" dirty="0" smtClean="0"/>
              <a:t>Objekt ist für Teile der Aufgabe „verantwortlich“</a:t>
            </a:r>
          </a:p>
          <a:p>
            <a:pPr lvl="2"/>
            <a:r>
              <a:rPr lang="de-AT" altLang="de-DE" sz="1800" dirty="0" smtClean="0"/>
              <a:t>Kapselt diese Teile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CD1487C-EF9E-45E0-8D58-F1B7F335E0E5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1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C1D54E-F7F5-4AB1-914E-48174EBCD1D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Ziele von OO</a:t>
            </a:r>
            <a:endParaRPr lang="de-AT" altLang="de-DE" smtClean="0"/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538" y="1052537"/>
            <a:ext cx="8585200" cy="5184775"/>
          </a:xfrm>
        </p:spPr>
        <p:txBody>
          <a:bodyPr/>
          <a:lstStyle/>
          <a:p>
            <a:pPr eaLnBrk="1" hangingPunct="1"/>
            <a:r>
              <a:rPr lang="de-DE" altLang="de-DE" sz="2400" dirty="0" smtClean="0"/>
              <a:t>Wiederverwendbarkeit</a:t>
            </a:r>
          </a:p>
          <a:p>
            <a:pPr lvl="1" eaLnBrk="1" hangingPunct="1"/>
            <a:r>
              <a:rPr lang="de-DE" altLang="de-DE" sz="2000" dirty="0" smtClean="0"/>
              <a:t>Zugriffsschutz durch Kapselung</a:t>
            </a:r>
          </a:p>
          <a:p>
            <a:pPr lvl="2" eaLnBrk="1" hangingPunct="1"/>
            <a:r>
              <a:rPr lang="de-DE" altLang="de-DE" sz="1800" dirty="0" smtClean="0"/>
              <a:t>Schnittstelle definiert Möglichkeiten</a:t>
            </a:r>
          </a:p>
          <a:p>
            <a:pPr lvl="1" eaLnBrk="1" hangingPunct="1"/>
            <a:r>
              <a:rPr lang="de-DE" altLang="de-DE" sz="2000" dirty="0" smtClean="0"/>
              <a:t>Austauschbarkeit von Programmkomponenten</a:t>
            </a:r>
          </a:p>
          <a:p>
            <a:pPr lvl="1" eaLnBrk="1" hangingPunct="1"/>
            <a:r>
              <a:rPr lang="de-DE" altLang="de-DE" sz="2000" dirty="0" smtClean="0"/>
              <a:t>Deltaprogrammierung </a:t>
            </a:r>
            <a:r>
              <a:rPr lang="de-DE" altLang="de-DE" sz="2000" dirty="0" smtClean="0"/>
              <a:t>mittels Vererbung</a:t>
            </a:r>
          </a:p>
          <a:p>
            <a:pPr eaLnBrk="1" hangingPunct="1"/>
            <a:endParaRPr lang="de-DE" altLang="de-DE" sz="2400" dirty="0" smtClean="0"/>
          </a:p>
          <a:p>
            <a:pPr eaLnBrk="1" hangingPunct="1"/>
            <a:r>
              <a:rPr lang="de-DE" altLang="de-DE" sz="2400" dirty="0" smtClean="0"/>
              <a:t>Schnellere und einfachere Entwicklung</a:t>
            </a:r>
          </a:p>
          <a:p>
            <a:pPr lvl="1" eaLnBrk="1" hangingPunct="1"/>
            <a:r>
              <a:rPr lang="de-DE" altLang="de-DE" sz="2000" dirty="0" smtClean="0"/>
              <a:t>Erweiterbarkeit bestehender SW</a:t>
            </a:r>
          </a:p>
          <a:p>
            <a:pPr lvl="1" eaLnBrk="1" hangingPunct="1"/>
            <a:r>
              <a:rPr lang="de-DE" altLang="de-DE" sz="2000" dirty="0" smtClean="0"/>
              <a:t>Testbarkeit durch definierte </a:t>
            </a:r>
            <a:br>
              <a:rPr lang="de-DE" altLang="de-DE" sz="2000" dirty="0" smtClean="0"/>
            </a:br>
            <a:r>
              <a:rPr lang="de-DE" altLang="de-DE" sz="2000" dirty="0" smtClean="0"/>
              <a:t>Schnittstelle</a:t>
            </a:r>
          </a:p>
          <a:p>
            <a:pPr lvl="1" eaLnBrk="1" hangingPunct="1"/>
            <a:endParaRPr lang="de-AT" altLang="de-DE" sz="2000" dirty="0" smtClean="0"/>
          </a:p>
        </p:txBody>
      </p:sp>
      <p:pic>
        <p:nvPicPr>
          <p:cNvPr id="16390" name="Picture 4"/>
          <p:cNvPicPr>
            <a:picLocks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27788" y="2276872"/>
            <a:ext cx="2393950" cy="2719388"/>
          </a:xfrm>
          <a:noFill/>
        </p:spPr>
      </p:pic>
    </p:spTree>
    <p:extLst>
      <p:ext uri="{BB962C8B-B14F-4D97-AF65-F5344CB8AC3E}">
        <p14:creationId xmlns:p14="http://schemas.microsoft.com/office/powerpoint/2010/main" val="332842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Modellbildung</a:t>
            </a:r>
            <a:endParaRPr lang="de-AT" dirty="0" smtClean="0"/>
          </a:p>
        </p:txBody>
      </p:sp>
      <p:sp>
        <p:nvSpPr>
          <p:cNvPr id="7171" name="Inhaltsplatzhalter 2"/>
          <p:cNvSpPr>
            <a:spLocks noGrp="1"/>
          </p:cNvSpPr>
          <p:nvPr>
            <p:ph idx="1"/>
          </p:nvPr>
        </p:nvSpPr>
        <p:spPr>
          <a:xfrm>
            <a:off x="236538" y="1196752"/>
            <a:ext cx="8583612" cy="3726143"/>
          </a:xfrm>
        </p:spPr>
        <p:txBody>
          <a:bodyPr/>
          <a:lstStyle/>
          <a:p>
            <a:r>
              <a:rPr lang="de-AT" sz="2400" dirty="0" smtClean="0"/>
              <a:t>Entwicklung eines OO-Modells</a:t>
            </a:r>
          </a:p>
          <a:p>
            <a:r>
              <a:rPr lang="de-AT" sz="2400" dirty="0" smtClean="0"/>
              <a:t>Modell bildet Menge von kommunizierenden </a:t>
            </a:r>
            <a:r>
              <a:rPr lang="de-AT" sz="2400" dirty="0" smtClean="0"/>
              <a:t>Objekte bilden ein </a:t>
            </a:r>
            <a:r>
              <a:rPr lang="de-AT" sz="2400" dirty="0" smtClean="0"/>
              <a:t>System</a:t>
            </a:r>
          </a:p>
          <a:p>
            <a:r>
              <a:rPr lang="de-AT" sz="2400" dirty="0"/>
              <a:t>Modell ist ein vereinfachtes Abbild der </a:t>
            </a:r>
            <a:r>
              <a:rPr lang="de-AT" sz="2400" dirty="0" smtClean="0"/>
              <a:t>Realität</a:t>
            </a:r>
          </a:p>
          <a:p>
            <a:r>
              <a:rPr lang="de-AT" sz="2400" dirty="0" smtClean="0"/>
              <a:t>Welche Eigenschaften und Methoden in </a:t>
            </a:r>
            <a:r>
              <a:rPr lang="de-AT" sz="2400" dirty="0"/>
              <a:t>das Modell übernommen werden, hängt von der zu lösenden Aufgabe </a:t>
            </a:r>
            <a:r>
              <a:rPr lang="de-AT" sz="2400" dirty="0" smtClean="0"/>
              <a:t>ab</a:t>
            </a:r>
            <a:endParaRPr lang="de-AT" sz="2400" dirty="0"/>
          </a:p>
          <a:p>
            <a:endParaRPr lang="de-AT" sz="24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A7E3A43-A80D-4FE9-901A-FAFA35879F3D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5288" y="4005064"/>
            <a:ext cx="5326112" cy="206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533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521125A-126D-494C-92E5-07A14740F6E7}" type="slidenum">
              <a:rPr lang="de-DE"/>
              <a:pPr>
                <a:defRPr/>
              </a:pPr>
              <a:t>11</a:t>
            </a:fld>
            <a:endParaRPr lang="de-DE"/>
          </a:p>
        </p:txBody>
      </p:sp>
      <p:sp>
        <p:nvSpPr>
          <p:cNvPr id="307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mtClean="0"/>
              <a:t>Abstraktion hängt von der Perspektive ab</a:t>
            </a:r>
          </a:p>
        </p:txBody>
      </p:sp>
      <p:graphicFrame>
        <p:nvGraphicFramePr>
          <p:cNvPr id="3074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871538" y="1335088"/>
          <a:ext cx="7313612" cy="433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Image" r:id="rId3" imgW="7314286" imgH="4330159" progId="">
                  <p:embed/>
                </p:oleObj>
              </mc:Choice>
              <mc:Fallback>
                <p:oleObj name="Image" r:id="rId3" imgW="7314286" imgH="433015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1335088"/>
                        <a:ext cx="7313612" cy="433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578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quarter" idx="4294967295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B8F91BD-3ED5-44E6-A389-8C123FC54D1C}" type="datetime1">
              <a:rPr lang="de-DE"/>
              <a:pPr>
                <a:defRPr/>
              </a:pPr>
              <a:t>01.02.2016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1A5A8B1-6985-4BA6-B17A-0BAE7F48D940}" type="slidenum">
              <a:rPr lang="de-DE"/>
              <a:pPr>
                <a:defRPr/>
              </a:pPr>
              <a:t>12</a:t>
            </a:fld>
            <a:endParaRPr lang="de-DE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2800" smtClean="0"/>
              <a:t>Modellbildung durch Abstraktion</a:t>
            </a:r>
            <a:endParaRPr lang="de-AT" sz="2800" smtClean="0"/>
          </a:p>
        </p:txBody>
      </p:sp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" y="1595438"/>
            <a:ext cx="86518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485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800" dirty="0" smtClean="0"/>
              <a:t>Was macht ein Objekt im wahren Leben aus?</a:t>
            </a:r>
          </a:p>
        </p:txBody>
      </p:sp>
      <p:sp>
        <p:nvSpPr>
          <p:cNvPr id="17411" name="Inhaltsplatzhalter 2"/>
          <p:cNvSpPr>
            <a:spLocks noGrp="1"/>
          </p:cNvSpPr>
          <p:nvPr>
            <p:ph idx="1"/>
          </p:nvPr>
        </p:nvSpPr>
        <p:spPr>
          <a:xfrm>
            <a:off x="236538" y="1124545"/>
            <a:ext cx="4522787" cy="5184775"/>
          </a:xfrm>
        </p:spPr>
        <p:txBody>
          <a:bodyPr/>
          <a:lstStyle/>
          <a:p>
            <a:r>
              <a:rPr lang="de-AT" altLang="de-DE" sz="2400" dirty="0" smtClean="0"/>
              <a:t>Zwei Aspekte</a:t>
            </a:r>
          </a:p>
          <a:p>
            <a:pPr lvl="1"/>
            <a:r>
              <a:rPr lang="de-AT" altLang="de-DE" sz="2400" dirty="0" smtClean="0"/>
              <a:t>Zustand (</a:t>
            </a:r>
            <a:r>
              <a:rPr lang="de-AT" altLang="de-DE" sz="2400" i="1" dirty="0" err="1" smtClean="0"/>
              <a:t>state</a:t>
            </a:r>
            <a:r>
              <a:rPr lang="de-AT" altLang="de-DE" sz="2400" dirty="0" smtClean="0"/>
              <a:t>) </a:t>
            </a:r>
            <a:r>
              <a:rPr lang="de-AT" altLang="de-DE" sz="2400" dirty="0" smtClean="0">
                <a:sym typeface="Wingdings" panose="05000000000000000000" pitchFamily="2" charset="2"/>
              </a:rPr>
              <a:t></a:t>
            </a:r>
            <a:r>
              <a:rPr lang="de-AT" altLang="de-DE" sz="2400" dirty="0" smtClean="0"/>
              <a:t> die „Datensicht“</a:t>
            </a:r>
          </a:p>
          <a:p>
            <a:pPr lvl="2"/>
            <a:r>
              <a:rPr lang="de-AT" altLang="de-DE" sz="2000" dirty="0" smtClean="0"/>
              <a:t>Beispiel Hund: Farbe, Größe, Geburtsdatum, </a:t>
            </a:r>
            <a:r>
              <a:rPr lang="de-AT" altLang="de-DE" sz="2000" dirty="0" smtClean="0"/>
              <a:t>…</a:t>
            </a:r>
          </a:p>
          <a:p>
            <a:pPr lvl="2"/>
            <a:endParaRPr lang="de-AT" altLang="de-DE" sz="2000" dirty="0" smtClean="0"/>
          </a:p>
          <a:p>
            <a:pPr lvl="1"/>
            <a:r>
              <a:rPr lang="de-AT" altLang="de-DE" sz="2400" dirty="0" smtClean="0"/>
              <a:t>Verhalten (</a:t>
            </a:r>
            <a:r>
              <a:rPr lang="de-AT" altLang="de-DE" sz="2400" i="1" dirty="0" err="1" smtClean="0"/>
              <a:t>behavior</a:t>
            </a:r>
            <a:r>
              <a:rPr lang="de-AT" altLang="de-DE" sz="2400" i="1" dirty="0" smtClean="0"/>
              <a:t>) </a:t>
            </a:r>
            <a:r>
              <a:rPr lang="de-AT" altLang="de-DE" sz="2400" dirty="0" smtClean="0">
                <a:sym typeface="Wingdings" panose="05000000000000000000" pitchFamily="2" charset="2"/>
              </a:rPr>
              <a:t> Abläufe (Methoden)</a:t>
            </a:r>
          </a:p>
          <a:p>
            <a:pPr lvl="2"/>
            <a:r>
              <a:rPr lang="de-AT" altLang="de-DE" sz="2000" dirty="0" smtClean="0">
                <a:sym typeface="Wingdings" panose="05000000000000000000" pitchFamily="2" charset="2"/>
              </a:rPr>
              <a:t>Beispiel Hund: bellt, frisst, springt, …</a:t>
            </a:r>
            <a:endParaRPr lang="de-AT" altLang="de-DE" sz="20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7D3B690-3261-496B-8574-5639379BE431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414" name="Picture 2" descr="O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38" y="1562100"/>
            <a:ext cx="3709987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21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 smtClean="0"/>
              <a:t>Eigenschaften von Objekten</a:t>
            </a:r>
          </a:p>
        </p:txBody>
      </p:sp>
      <p:sp>
        <p:nvSpPr>
          <p:cNvPr id="19459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de-DE" altLang="de-DE" sz="2400" dirty="0" smtClean="0"/>
              <a:t>Verantwortlichkeit für (möglichst genau) eine Aufgabe</a:t>
            </a:r>
            <a:endParaRPr lang="de-AT" altLang="de-DE" sz="2400" dirty="0" smtClean="0"/>
          </a:p>
          <a:p>
            <a:r>
              <a:rPr lang="de-DE" altLang="de-DE" sz="2400" dirty="0" smtClean="0"/>
              <a:t>Kapselung</a:t>
            </a:r>
          </a:p>
          <a:p>
            <a:pPr lvl="1"/>
            <a:r>
              <a:rPr lang="de-DE" altLang="de-DE" sz="2000" dirty="0" smtClean="0"/>
              <a:t>Wie ist von außen nicht sichtbar</a:t>
            </a:r>
            <a:endParaRPr lang="de-AT" altLang="de-DE" sz="2000" dirty="0" smtClean="0"/>
          </a:p>
          <a:p>
            <a:pPr lvl="1"/>
            <a:r>
              <a:rPr lang="de-DE" altLang="de-DE" sz="2000" dirty="0" smtClean="0"/>
              <a:t>Führt automatisch zur </a:t>
            </a:r>
            <a:r>
              <a:rPr lang="de-DE" altLang="de-DE" sz="2000" b="1" dirty="0" smtClean="0"/>
              <a:t>Austauschbarkeit</a:t>
            </a:r>
            <a:endParaRPr lang="de-AT" altLang="de-DE" sz="2000" dirty="0" smtClean="0"/>
          </a:p>
          <a:p>
            <a:r>
              <a:rPr lang="de-DE" altLang="de-DE" sz="2400" dirty="0" smtClean="0"/>
              <a:t>Zwei wichtige Sichten auf ein Objekt</a:t>
            </a:r>
            <a:endParaRPr lang="de-AT" altLang="de-DE" sz="2400" dirty="0" smtClean="0"/>
          </a:p>
          <a:p>
            <a:pPr lvl="1"/>
            <a:r>
              <a:rPr lang="de-DE" altLang="de-DE" sz="2000" b="1" dirty="0" smtClean="0"/>
              <a:t>Nutzer </a:t>
            </a:r>
          </a:p>
          <a:p>
            <a:pPr lvl="2"/>
            <a:r>
              <a:rPr lang="de-DE" altLang="de-DE" sz="1800" dirty="0" smtClean="0"/>
              <a:t>Was kann das Objekt und wie kann ich mit ihm kommunizieren </a:t>
            </a:r>
            <a:r>
              <a:rPr lang="de-AT" altLang="de-DE" sz="1800" dirty="0" smtClean="0"/>
              <a:t>(öffentlich zugängliche Methoden</a:t>
            </a:r>
            <a:r>
              <a:rPr lang="de-AT" altLang="de-DE" sz="1800" dirty="0" smtClean="0"/>
              <a:t>)</a:t>
            </a:r>
          </a:p>
          <a:p>
            <a:pPr lvl="2"/>
            <a:r>
              <a:rPr lang="de-AT" altLang="de-DE" sz="1800" dirty="0" smtClean="0"/>
              <a:t>Prüfbar über </a:t>
            </a:r>
            <a:r>
              <a:rPr lang="de-AT" altLang="de-DE" sz="1800" dirty="0" err="1" smtClean="0"/>
              <a:t>Unittests</a:t>
            </a:r>
            <a:endParaRPr lang="de-AT" altLang="de-DE" sz="1800" dirty="0" smtClean="0"/>
          </a:p>
          <a:p>
            <a:pPr lvl="1"/>
            <a:r>
              <a:rPr lang="de-AT" altLang="de-DE" sz="2000" b="1" dirty="0" smtClean="0"/>
              <a:t>Entwickler</a:t>
            </a:r>
          </a:p>
          <a:p>
            <a:pPr lvl="2"/>
            <a:r>
              <a:rPr lang="de-AT" altLang="de-DE" sz="1800" dirty="0" smtClean="0"/>
              <a:t>Verwaltung der Funktionalitäten im Inneren (Daten, Methoden)</a:t>
            </a:r>
            <a:endParaRPr lang="de-AT" altLang="de-DE" sz="28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84961B1-385D-4E01-8BEA-ED525662319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14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81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9FDB401-F317-4F3F-9BA3-9F7F5CB5FDE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 smtClean="0"/>
              <a:t>Einfaches Objekt </a:t>
            </a:r>
            <a:r>
              <a:rPr lang="de-DE" altLang="de-DE" dirty="0" err="1" smtClean="0"/>
              <a:t>Pupil</a:t>
            </a:r>
            <a:endParaRPr lang="de-DE" altLang="de-DE" dirty="0" smtClean="0"/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2400" dirty="0" smtClean="0"/>
              <a:t>Status, Zustände in C# </a:t>
            </a:r>
            <a:r>
              <a:rPr lang="de-DE" altLang="de-DE" sz="2400" dirty="0" smtClean="0">
                <a:sym typeface="Wingdings" panose="05000000000000000000" pitchFamily="2" charset="2"/>
              </a:rPr>
              <a:t> Felder:</a:t>
            </a:r>
          </a:p>
          <a:p>
            <a:pPr lvl="1" eaLnBrk="1" hangingPunct="1"/>
            <a:r>
              <a:rPr lang="de-DE" altLang="de-DE" sz="2000" dirty="0" err="1" smtClean="0"/>
              <a:t>FirstName</a:t>
            </a:r>
            <a:r>
              <a:rPr lang="de-DE" altLang="de-DE" sz="2000" dirty="0" smtClean="0"/>
              <a:t>, </a:t>
            </a:r>
            <a:r>
              <a:rPr lang="de-DE" altLang="de-DE" sz="2000" dirty="0" err="1" smtClean="0"/>
              <a:t>LastName</a:t>
            </a:r>
            <a:endParaRPr lang="de-DE" altLang="de-DE" sz="2000" dirty="0" smtClean="0"/>
          </a:p>
          <a:p>
            <a:pPr lvl="1" eaLnBrk="1" hangingPunct="1"/>
            <a:r>
              <a:rPr lang="de-DE" altLang="de-DE" sz="2000" dirty="0" err="1" smtClean="0"/>
              <a:t>BirthDate</a:t>
            </a:r>
            <a:endParaRPr lang="de-DE" altLang="de-DE" sz="2000" dirty="0" smtClean="0"/>
          </a:p>
          <a:p>
            <a:pPr lvl="1" eaLnBrk="1" hangingPunct="1"/>
            <a:r>
              <a:rPr lang="de-DE" altLang="de-DE" sz="2000" dirty="0" smtClean="0"/>
              <a:t>Zip, City, </a:t>
            </a:r>
            <a:r>
              <a:rPr lang="de-DE" altLang="de-DE" sz="2000" dirty="0" err="1" smtClean="0"/>
              <a:t>Address</a:t>
            </a:r>
            <a:endParaRPr lang="de-DE" altLang="de-DE" sz="2000" dirty="0" smtClean="0"/>
          </a:p>
          <a:p>
            <a:pPr lvl="1" eaLnBrk="1" hangingPunct="1"/>
            <a:endParaRPr lang="de-DE" altLang="de-DE" sz="2000" dirty="0" smtClean="0"/>
          </a:p>
          <a:p>
            <a:pPr eaLnBrk="1" hangingPunct="1"/>
            <a:r>
              <a:rPr lang="de-DE" altLang="de-DE" sz="2400" dirty="0" smtClean="0"/>
              <a:t>Verhalten, in C# </a:t>
            </a:r>
            <a:r>
              <a:rPr lang="de-DE" altLang="de-DE" sz="2400" dirty="0" smtClean="0">
                <a:sym typeface="Wingdings" panose="05000000000000000000" pitchFamily="2" charset="2"/>
              </a:rPr>
              <a:t> Methoden:</a:t>
            </a:r>
          </a:p>
          <a:p>
            <a:pPr lvl="1" eaLnBrk="1" hangingPunct="1"/>
            <a:r>
              <a:rPr lang="de-DE" altLang="de-DE" sz="2000" dirty="0" err="1" smtClean="0"/>
              <a:t>IsFullOfAge</a:t>
            </a:r>
            <a:endParaRPr lang="de-DE" altLang="de-DE" sz="2000" dirty="0" smtClean="0"/>
          </a:p>
          <a:p>
            <a:pPr lvl="1" eaLnBrk="1" hangingPunct="1"/>
            <a:r>
              <a:rPr lang="de-DE" altLang="de-DE" sz="2000" dirty="0" err="1" smtClean="0"/>
              <a:t>LeavesNearBy</a:t>
            </a:r>
            <a:endParaRPr lang="de-DE" altLang="de-DE" sz="2000" dirty="0" smtClean="0"/>
          </a:p>
          <a:p>
            <a:pPr lvl="1" eaLnBrk="1" hangingPunct="1"/>
            <a:r>
              <a:rPr lang="de-DE" altLang="de-DE" sz="2000" dirty="0" err="1" smtClean="0"/>
              <a:t>IsOlderThan</a:t>
            </a:r>
            <a:endParaRPr lang="de-DE" altLang="de-DE" sz="2000" dirty="0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8" y="1052735"/>
            <a:ext cx="2884487" cy="489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2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smtClean="0"/>
              <a:t>Klassen sind Baupläne für Objekte</a:t>
            </a:r>
            <a:endParaRPr lang="de-AT" altLang="de-DE" smtClean="0"/>
          </a:p>
        </p:txBody>
      </p:sp>
      <p:sp>
        <p:nvSpPr>
          <p:cNvPr id="21507" name="Inhaltsplatzhalt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de-AT" altLang="de-DE" dirty="0" smtClean="0"/>
              <a:t>Definition von Objekten</a:t>
            </a:r>
          </a:p>
          <a:p>
            <a:pPr lvl="1"/>
            <a:r>
              <a:rPr lang="de-AT" altLang="de-DE" dirty="0" smtClean="0"/>
              <a:t>Informationen </a:t>
            </a:r>
            <a:r>
              <a:rPr lang="de-AT" altLang="de-DE" dirty="0" smtClean="0">
                <a:sym typeface="Wingdings" panose="05000000000000000000" pitchFamily="2" charset="2"/>
              </a:rPr>
              <a:t> Daten  Felder</a:t>
            </a:r>
          </a:p>
          <a:p>
            <a:pPr lvl="2"/>
            <a:r>
              <a:rPr lang="de-AT" altLang="de-DE" dirty="0" err="1" smtClean="0">
                <a:sym typeface="Wingdings" panose="05000000000000000000" pitchFamily="2" charset="2"/>
              </a:rPr>
              <a:t>Zugriffsmodifizierer</a:t>
            </a:r>
            <a:r>
              <a:rPr lang="de-AT" altLang="de-DE" dirty="0" smtClean="0">
                <a:sym typeface="Wingdings" panose="05000000000000000000" pitchFamily="2" charset="2"/>
              </a:rPr>
              <a:t> private</a:t>
            </a:r>
          </a:p>
          <a:p>
            <a:pPr lvl="1"/>
            <a:r>
              <a:rPr lang="de-AT" altLang="de-DE" dirty="0" smtClean="0">
                <a:sym typeface="Wingdings" panose="05000000000000000000" pitchFamily="2" charset="2"/>
              </a:rPr>
              <a:t>Verhalten  Funktionalitäten  Methoden</a:t>
            </a:r>
          </a:p>
          <a:p>
            <a:pPr lvl="2"/>
            <a:r>
              <a:rPr lang="de-AT" altLang="de-DE" dirty="0" smtClean="0">
                <a:sym typeface="Wingdings" panose="05000000000000000000" pitchFamily="2" charset="2"/>
              </a:rPr>
              <a:t>Schnittstelle nach Außen  </a:t>
            </a:r>
            <a:r>
              <a:rPr lang="de-AT" altLang="de-DE" dirty="0" err="1" smtClean="0">
                <a:sym typeface="Wingdings" panose="05000000000000000000" pitchFamily="2" charset="2"/>
              </a:rPr>
              <a:t>public</a:t>
            </a:r>
            <a:endParaRPr lang="de-AT" altLang="de-DE" dirty="0" smtClean="0">
              <a:sym typeface="Wingdings" panose="05000000000000000000" pitchFamily="2" charset="2"/>
            </a:endParaRPr>
          </a:p>
          <a:p>
            <a:pPr lvl="2"/>
            <a:r>
              <a:rPr lang="de-AT" altLang="de-DE" dirty="0" smtClean="0">
                <a:sym typeface="Wingdings" panose="05000000000000000000" pitchFamily="2" charset="2"/>
              </a:rPr>
              <a:t>Private Hilfsmethoden sind gewünscht</a:t>
            </a:r>
            <a:endParaRPr lang="de-AT" altLang="de-DE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A61DAF-5A70-483A-B07E-A490318A13C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9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96752"/>
            <a:ext cx="10698199" cy="4536504"/>
          </a:xfrm>
          <a:prstGeom prst="rect">
            <a:avLst/>
          </a:prstGeom>
        </p:spPr>
      </p:pic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 smtClean="0"/>
              <a:t>Definition von Objekten </a:t>
            </a:r>
            <a:r>
              <a:rPr lang="de-AT" altLang="de-DE" smtClean="0">
                <a:sym typeface="Wingdings" panose="05000000000000000000" pitchFamily="2" charset="2"/>
              </a:rPr>
              <a:t> Klasse</a:t>
            </a:r>
            <a:endParaRPr lang="de-AT" altLang="de-DE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quarter" idx="4294967295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DCA0B56-C335-464E-B049-86F4F5BA7357}" type="datetime1">
              <a:rPr lang="de-DE" smtClean="0"/>
              <a:pPr>
                <a:defRPr/>
              </a:pPr>
              <a:t>01.02.2016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3BACECF-DBCA-40A5-BB2F-44FCC903AFC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188" y="1556792"/>
            <a:ext cx="18954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5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26E100-7A4A-4A2F-B822-53741BF81E2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Klassen sind Schablonen</a:t>
            </a: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1114425"/>
            <a:ext cx="6105525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52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2ABB7C-F48D-4A0E-BAE1-B95B7EDA082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928688"/>
            <a:ext cx="755015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457200" y="0"/>
            <a:ext cx="82184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de-DE" altLang="de-DE" sz="2400" b="1">
                <a:solidFill>
                  <a:srgbClr val="000080"/>
                </a:solidFill>
                <a:latin typeface="Times New Roman" panose="02020603050405020304" pitchFamily="18" charset="0"/>
              </a:rPr>
              <a:t>Instanzierung: Auf Basis von Klassen Objekte erzeugen</a:t>
            </a:r>
          </a:p>
        </p:txBody>
      </p:sp>
    </p:spTree>
    <p:extLst>
      <p:ext uri="{BB962C8B-B14F-4D97-AF65-F5344CB8AC3E}">
        <p14:creationId xmlns:p14="http://schemas.microsoft.com/office/powerpoint/2010/main" val="156234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CE1FBF-88EE-44B9-9130-C86592A5BC0F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20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Objekte erzeugen und verwenden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2400" dirty="0" smtClean="0"/>
              <a:t>Mit </a:t>
            </a:r>
            <a:r>
              <a:rPr lang="de-DE" altLang="de-DE" sz="2400" dirty="0" err="1" smtClean="0"/>
              <a:t>new</a:t>
            </a:r>
            <a:r>
              <a:rPr lang="de-DE" altLang="de-DE" sz="2400" dirty="0" smtClean="0"/>
              <a:t>-Operator wird ein Objekt erzeugt und eine Referenz auf das Objekt zurückgegeben</a:t>
            </a:r>
          </a:p>
          <a:p>
            <a:pPr eaLnBrk="1" hangingPunct="1"/>
            <a:endParaRPr lang="de-DE" altLang="de-DE" sz="2400" dirty="0" smtClean="0"/>
          </a:p>
          <a:p>
            <a:pPr eaLnBrk="1" hangingPunct="1"/>
            <a:endParaRPr lang="de-DE" altLang="de-DE" sz="2400" dirty="0" smtClean="0"/>
          </a:p>
          <a:p>
            <a:pPr eaLnBrk="1" hangingPunct="1"/>
            <a:endParaRPr lang="de-DE" altLang="de-DE" sz="2400" dirty="0" smtClean="0"/>
          </a:p>
          <a:p>
            <a:pPr eaLnBrk="1" hangingPunct="1"/>
            <a:r>
              <a:rPr lang="de-DE" altLang="de-DE" sz="2400" dirty="0" smtClean="0"/>
              <a:t>Mit dem Punkt-Operator kann auf die Methoden zugegriffen werden</a:t>
            </a:r>
          </a:p>
        </p:txBody>
      </p:sp>
      <p:pic>
        <p:nvPicPr>
          <p:cNvPr id="256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69" y="2075433"/>
            <a:ext cx="520065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109" y="4221088"/>
            <a:ext cx="5964238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14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6F22CAC-1977-451E-BE4E-A98FBD830547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21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Methoden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538" y="980529"/>
            <a:ext cx="6021387" cy="5184775"/>
          </a:xfrm>
        </p:spPr>
        <p:txBody>
          <a:bodyPr/>
          <a:lstStyle/>
          <a:p>
            <a:pPr eaLnBrk="1" hangingPunct="1"/>
            <a:r>
              <a:rPr lang="de-DE" altLang="de-DE" sz="2400" dirty="0" smtClean="0"/>
              <a:t>Methoden implementieren das Objektverhalten</a:t>
            </a:r>
          </a:p>
          <a:p>
            <a:pPr eaLnBrk="1" hangingPunct="1"/>
            <a:r>
              <a:rPr lang="de-DE" altLang="de-DE" sz="2400" dirty="0" smtClean="0"/>
              <a:t>Durch Methoden können die Zustände eines Objektes verändert werden</a:t>
            </a:r>
          </a:p>
          <a:p>
            <a:pPr eaLnBrk="1" hangingPunct="1"/>
            <a:r>
              <a:rPr lang="de-DE" altLang="de-DE" sz="2400" dirty="0" smtClean="0"/>
              <a:t>Der Zugriff auf die Datenfelder/Attribute eines Objekts ist nur über die objekteigenen Methoden oder Properties (später) möglich (Kapselung)</a:t>
            </a:r>
          </a:p>
        </p:txBody>
      </p:sp>
      <p:pic>
        <p:nvPicPr>
          <p:cNvPr id="266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973673"/>
            <a:ext cx="2116137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78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 dirty="0" smtClean="0"/>
              <a:t>Richtiger OO-Entwurf</a:t>
            </a:r>
          </a:p>
        </p:txBody>
      </p:sp>
      <p:sp>
        <p:nvSpPr>
          <p:cNvPr id="27651" name="Inhaltsplatzhalter 2"/>
          <p:cNvSpPr>
            <a:spLocks noGrp="1"/>
          </p:cNvSpPr>
          <p:nvPr>
            <p:ph idx="1"/>
          </p:nvPr>
        </p:nvSpPr>
        <p:spPr>
          <a:xfrm>
            <a:off x="395536" y="1052736"/>
            <a:ext cx="8229600" cy="4525963"/>
          </a:xfrm>
        </p:spPr>
        <p:txBody>
          <a:bodyPr/>
          <a:lstStyle/>
          <a:p>
            <a:r>
              <a:rPr lang="de-AT" altLang="de-DE" sz="2000" dirty="0" smtClean="0"/>
              <a:t>Public Methoden realisieren in erster Linie definiertes Verhalten</a:t>
            </a:r>
          </a:p>
          <a:p>
            <a:r>
              <a:rPr lang="de-AT" altLang="de-DE" sz="2000" dirty="0" smtClean="0"/>
              <a:t>Falls nur Getter/Setter </a:t>
            </a:r>
            <a:r>
              <a:rPr lang="de-AT" altLang="de-DE" sz="2000" dirty="0" smtClean="0">
                <a:sym typeface="Wingdings" panose="05000000000000000000" pitchFamily="2" charset="2"/>
              </a:rPr>
              <a:t> Verhalten muss im „Clientcode“ realisiert werden</a:t>
            </a:r>
          </a:p>
          <a:p>
            <a:pPr lvl="1"/>
            <a:r>
              <a:rPr lang="de-AT" altLang="de-DE" sz="1800" dirty="0" smtClean="0">
                <a:sym typeface="Wingdings" panose="05000000000000000000" pitchFamily="2" charset="2"/>
              </a:rPr>
              <a:t>Redundanz</a:t>
            </a:r>
          </a:p>
          <a:p>
            <a:pPr lvl="1"/>
            <a:r>
              <a:rPr lang="de-AT" altLang="de-DE" sz="1800" dirty="0" smtClean="0">
                <a:sym typeface="Wingdings" panose="05000000000000000000" pitchFamily="2" charset="2"/>
              </a:rPr>
              <a:t>Schlechte Kapselung</a:t>
            </a:r>
            <a:br>
              <a:rPr lang="de-AT" altLang="de-DE" sz="1800" dirty="0" smtClean="0">
                <a:sym typeface="Wingdings" panose="05000000000000000000" pitchFamily="2" charset="2"/>
              </a:rPr>
            </a:br>
            <a:endParaRPr lang="de-AT" altLang="de-DE" sz="1800" dirty="0" smtClean="0">
              <a:sym typeface="Wingdings" panose="05000000000000000000" pitchFamily="2" charset="2"/>
            </a:endParaRPr>
          </a:p>
          <a:p>
            <a:r>
              <a:rPr lang="de-AT" altLang="de-DE" sz="2000" dirty="0" smtClean="0">
                <a:sym typeface="Wingdings" panose="05000000000000000000" pitchFamily="2" charset="2"/>
              </a:rPr>
              <a:t>Beispiel Counter:</a:t>
            </a:r>
            <a:endParaRPr lang="de-AT" altLang="de-DE" sz="2000" dirty="0" smtClean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F62F06-DCAB-45C0-809C-2F14AB2E46B3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654" name="Grafik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645024"/>
            <a:ext cx="5189463" cy="2118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688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F4047F-6B2A-4FEF-9211-B549709535A6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065713" y="1190625"/>
            <a:ext cx="3810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de-DE" altLang="de-DE" sz="2000" b="1" smtClean="0"/>
              <a:t>Objekt</a:t>
            </a:r>
          </a:p>
          <a:p>
            <a:pPr eaLnBrk="1" hangingPunct="1"/>
            <a:r>
              <a:rPr lang="de-DE" altLang="de-DE" sz="2000" smtClean="0"/>
              <a:t>Es gibt viele!</a:t>
            </a:r>
          </a:p>
          <a:p>
            <a:pPr eaLnBrk="1" hangingPunct="1"/>
            <a:r>
              <a:rPr lang="de-DE" altLang="de-DE" sz="2000" smtClean="0"/>
              <a:t>Kann Operationen ausführen</a:t>
            </a:r>
          </a:p>
          <a:p>
            <a:pPr eaLnBrk="1" hangingPunct="1"/>
            <a:r>
              <a:rPr lang="de-DE" altLang="de-DE" sz="2000" smtClean="0"/>
              <a:t>Dynamische Beziehungen und Bindungen</a:t>
            </a:r>
            <a:endParaRPr lang="de-AT" altLang="de-DE" sz="2000" smtClean="0"/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88950" y="1190625"/>
            <a:ext cx="3810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de-DE" altLang="de-DE" sz="2000" b="1" dirty="0" smtClean="0"/>
              <a:t>Klasse</a:t>
            </a:r>
          </a:p>
          <a:p>
            <a:pPr eaLnBrk="1" hangingPunct="1"/>
            <a:r>
              <a:rPr lang="de-DE" altLang="de-DE" sz="2000" dirty="0" smtClean="0"/>
              <a:t>Gibt’s genau einmal</a:t>
            </a:r>
          </a:p>
          <a:p>
            <a:pPr eaLnBrk="1" hangingPunct="1"/>
            <a:r>
              <a:rPr lang="de-DE" altLang="de-DE" sz="2000" dirty="0" smtClean="0"/>
              <a:t>Beschreibt Objekte</a:t>
            </a:r>
          </a:p>
          <a:p>
            <a:pPr lvl="1" eaLnBrk="1" hangingPunct="1"/>
            <a:r>
              <a:rPr lang="de-DE" altLang="de-DE" sz="1800" dirty="0" smtClean="0"/>
              <a:t>Zustände</a:t>
            </a:r>
          </a:p>
          <a:p>
            <a:pPr lvl="1" eaLnBrk="1" hangingPunct="1"/>
            <a:r>
              <a:rPr lang="de-DE" altLang="de-DE" sz="1800" dirty="0" smtClean="0"/>
              <a:t>Verhalten</a:t>
            </a:r>
          </a:p>
          <a:p>
            <a:pPr eaLnBrk="1" hangingPunct="1"/>
            <a:r>
              <a:rPr lang="de-DE" altLang="de-DE" sz="2000" dirty="0" smtClean="0"/>
              <a:t>Statische Beziehung</a:t>
            </a:r>
          </a:p>
          <a:p>
            <a:pPr eaLnBrk="1" hangingPunct="1"/>
            <a:r>
              <a:rPr lang="de-DE" altLang="de-DE" sz="2000" dirty="0" smtClean="0"/>
              <a:t>Schablone für Objekterstellung</a:t>
            </a:r>
            <a:endParaRPr lang="de-AT" altLang="de-DE" sz="2000" dirty="0" smtClean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813052"/>
              </p:ext>
            </p:extLst>
          </p:nvPr>
        </p:nvGraphicFramePr>
        <p:xfrm>
          <a:off x="899169" y="4293096"/>
          <a:ext cx="7561263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Photo Editor-Foto" r:id="rId3" imgW="5609524" imgH="1038370" progId="MSPhotoEd.3">
                  <p:embed/>
                </p:oleObj>
              </mc:Choice>
              <mc:Fallback>
                <p:oleObj name="Photo Editor-Foto" r:id="rId3" imgW="5609524" imgH="1038370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9" y="4293096"/>
                        <a:ext cx="7561263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de-AT" altLang="de-DE" dirty="0" smtClean="0"/>
              <a:t>Zusammenhang Klasse </a:t>
            </a:r>
            <a:r>
              <a:rPr lang="de-AT" altLang="de-DE" dirty="0" smtClean="0">
                <a:sym typeface="Wingdings" panose="05000000000000000000" pitchFamily="2" charset="2"/>
              </a:rPr>
              <a:t> Objekt</a:t>
            </a:r>
            <a:endParaRPr lang="de-AT" altLang="de-DE" dirty="0" smtClean="0"/>
          </a:p>
        </p:txBody>
      </p:sp>
    </p:spTree>
    <p:extLst>
      <p:ext uri="{BB962C8B-B14F-4D97-AF65-F5344CB8AC3E}">
        <p14:creationId xmlns:p14="http://schemas.microsoft.com/office/powerpoint/2010/main" val="132388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Beispiel </a:t>
            </a:r>
            <a:r>
              <a:rPr lang="de-DE" dirty="0" err="1" smtClean="0"/>
              <a:t>SkiJumpVoting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179512" y="1196752"/>
            <a:ext cx="5472608" cy="4824536"/>
          </a:xfrm>
        </p:spPr>
        <p:txBody>
          <a:bodyPr/>
          <a:lstStyle/>
          <a:p>
            <a:r>
              <a:rPr lang="de-DE" sz="2400" dirty="0" err="1" smtClean="0"/>
              <a:t>Voting</a:t>
            </a:r>
            <a:r>
              <a:rPr lang="de-DE" sz="2400" dirty="0" smtClean="0"/>
              <a:t> verwaltet die Noten eines Sprunges</a:t>
            </a:r>
          </a:p>
          <a:p>
            <a:r>
              <a:rPr lang="de-DE" sz="2400" dirty="0" smtClean="0"/>
              <a:t>Methoden sind teilweise </a:t>
            </a:r>
            <a:r>
              <a:rPr lang="de-DE" sz="2400" dirty="0" err="1" smtClean="0"/>
              <a:t>static</a:t>
            </a:r>
            <a:endParaRPr lang="de-DE" sz="2400" dirty="0" smtClean="0"/>
          </a:p>
          <a:p>
            <a:pPr lvl="1"/>
            <a:r>
              <a:rPr lang="de-DE" sz="2000" dirty="0" err="1" smtClean="0"/>
              <a:t>ArePointsValid</a:t>
            </a:r>
            <a:endParaRPr lang="de-DE" sz="2000" dirty="0" smtClean="0"/>
          </a:p>
          <a:p>
            <a:pPr lvl="1"/>
            <a:r>
              <a:rPr lang="de-DE" sz="2000" dirty="0" err="1" smtClean="0"/>
              <a:t>IsAlmostEqual</a:t>
            </a:r>
            <a:r>
              <a:rPr lang="de-DE" sz="2000" dirty="0" smtClean="0"/>
              <a:t> (private)</a:t>
            </a:r>
          </a:p>
          <a:p>
            <a:r>
              <a:rPr lang="de-DE" sz="2400" dirty="0" smtClean="0"/>
              <a:t>Restliche Methoden bilden Schnittstelle für Verwendung</a:t>
            </a:r>
          </a:p>
          <a:p>
            <a:pPr lvl="1"/>
            <a:r>
              <a:rPr lang="de-DE" sz="2000" dirty="0" err="1" smtClean="0"/>
              <a:t>Unittests</a:t>
            </a:r>
            <a:r>
              <a:rPr lang="de-DE" sz="2000" dirty="0" smtClean="0"/>
              <a:t> überprüfen die Implementierung</a:t>
            </a:r>
            <a:endParaRPr lang="de-DE" sz="20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268413"/>
            <a:ext cx="3305175" cy="39147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236296" y="4941168"/>
            <a:ext cx="1771741" cy="12142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482805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800</Words>
  <Application>Microsoft Office PowerPoint</Application>
  <PresentationFormat>Bildschirmpräsentation (4:3)</PresentationFormat>
  <Paragraphs>173</Paragraphs>
  <Slides>24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24</vt:i4>
      </vt:variant>
    </vt:vector>
  </HeadingPairs>
  <TitlesOfParts>
    <vt:vector size="35" baseType="lpstr">
      <vt:lpstr>Arial</vt:lpstr>
      <vt:lpstr>Calibri</vt:lpstr>
      <vt:lpstr>ＭＳ Ｐゴシック</vt:lpstr>
      <vt:lpstr>ＭＳ Ｐゴシック</vt:lpstr>
      <vt:lpstr>Symbol</vt:lpstr>
      <vt:lpstr>Times New Roman</vt:lpstr>
      <vt:lpstr>Wingdings</vt:lpstr>
      <vt:lpstr>2_Larissa</vt:lpstr>
      <vt:lpstr>1_Standarddesign</vt:lpstr>
      <vt:lpstr>Microsoft Photo Editor 3.0-Photo</vt:lpstr>
      <vt:lpstr>Image</vt:lpstr>
      <vt:lpstr>PowerPoint-Präsentation</vt:lpstr>
      <vt:lpstr>Programmentwicklung bisher</vt:lpstr>
      <vt:lpstr>Entwurf eines geeigneten Algorithmus</vt:lpstr>
      <vt:lpstr>Umsetzen des Algorithmus in C#</vt:lpstr>
      <vt:lpstr>Testen der Anwendung</vt:lpstr>
      <vt:lpstr>Strukturierung des Programms</vt:lpstr>
      <vt:lpstr>Strukturierung der Daten</vt:lpstr>
      <vt:lpstr>Von strukturierter Pogrammierung zu OOP</vt:lpstr>
      <vt:lpstr>Ziele von OO</vt:lpstr>
      <vt:lpstr>Modellbildung</vt:lpstr>
      <vt:lpstr>Abstraktion hängt von der Perspektive ab</vt:lpstr>
      <vt:lpstr>Modellbildung durch Abstraktion</vt:lpstr>
      <vt:lpstr>Was macht ein Objekt im wahren Leben aus?</vt:lpstr>
      <vt:lpstr>Eigenschaften von Objekten</vt:lpstr>
      <vt:lpstr>Einfaches Objekt Pupil</vt:lpstr>
      <vt:lpstr>Klassen sind Baupläne für Objekte</vt:lpstr>
      <vt:lpstr>Definition von Objekten  Klasse</vt:lpstr>
      <vt:lpstr>Klassen sind Schablonen</vt:lpstr>
      <vt:lpstr>PowerPoint-Präsentation</vt:lpstr>
      <vt:lpstr>Objekte erzeugen und verwenden</vt:lpstr>
      <vt:lpstr>Methoden</vt:lpstr>
      <vt:lpstr>Richtiger OO-Entwurf</vt:lpstr>
      <vt:lpstr>Zusammenhang Klasse  Objekt</vt:lpstr>
      <vt:lpstr>Beispiel SkiJumpVoting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Lehrer Köck Gerald 1516</cp:lastModifiedBy>
  <cp:revision>153</cp:revision>
  <dcterms:created xsi:type="dcterms:W3CDTF">2006-01-13T20:54:04Z</dcterms:created>
  <dcterms:modified xsi:type="dcterms:W3CDTF">2016-02-01T09:56:58Z</dcterms:modified>
</cp:coreProperties>
</file>