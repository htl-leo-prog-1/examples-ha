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87" r:id="rId2"/>
    <p:sldId id="263" r:id="rId3"/>
    <p:sldId id="286" r:id="rId4"/>
    <p:sldId id="278" r:id="rId5"/>
    <p:sldId id="275" r:id="rId6"/>
    <p:sldId id="281" r:id="rId7"/>
    <p:sldId id="282" r:id="rId8"/>
    <p:sldId id="283" r:id="rId9"/>
    <p:sldId id="284" r:id="rId10"/>
    <p:sldId id="285" r:id="rId11"/>
    <p:sldId id="277" r:id="rId12"/>
    <p:sldId id="267" r:id="rId13"/>
    <p:sldId id="279" r:id="rId14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3300"/>
    <a:srgbClr val="00FF00"/>
    <a:srgbClr val="79BB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38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336932-01FD-45AF-B110-84880AA37D65}" type="datetimeFigureOut">
              <a:rPr lang="de-AT" smtClean="0"/>
              <a:t>05.11.2015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364C66-90D0-45FE-9B3B-EB18F2272AE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547484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 smtClean="0"/>
              <a:t>Textmasterformate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920158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 smtClean="0"/>
              <a:t>Textmasterformate durch Klicken bearbeiten</a:t>
            </a:r>
          </a:p>
          <a:p>
            <a:pPr lvl="1"/>
            <a:r>
              <a:rPr lang="en-US" dirty="0" smtClean="0"/>
              <a:t>Zweite Ebene</a:t>
            </a:r>
          </a:p>
          <a:p>
            <a:pPr lvl="2"/>
            <a:r>
              <a:rPr lang="en-US" dirty="0" smtClean="0"/>
              <a:t>Dritte Ebene</a:t>
            </a:r>
          </a:p>
          <a:p>
            <a:pPr lvl="3"/>
            <a:r>
              <a:rPr lang="en-US" dirty="0" smtClean="0"/>
              <a:t>Vierte Ebene</a:t>
            </a:r>
          </a:p>
          <a:p>
            <a:pPr lvl="4"/>
            <a:r>
              <a:rPr lang="en-US" dirty="0" smtClean="0"/>
              <a:t>Fünfte Ebene</a:t>
            </a:r>
            <a:endParaRPr lang="de-DE" dirty="0" smtClean="0"/>
          </a:p>
        </p:txBody>
      </p:sp>
    </p:spTree>
    <p:extLst>
      <p:ext uri="{BB962C8B-B14F-4D97-AF65-F5344CB8AC3E}">
        <p14:creationId xmlns:p14="http://schemas.microsoft.com/office/powerpoint/2010/main" val="2856774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 smtClean="0"/>
              <a:t>Textmasterformate durch Klicken bearbeiten</a:t>
            </a:r>
          </a:p>
          <a:p>
            <a:pPr lvl="1"/>
            <a:r>
              <a:rPr lang="en-US" dirty="0" smtClean="0"/>
              <a:t>Zweite Ebene</a:t>
            </a:r>
          </a:p>
          <a:p>
            <a:pPr lvl="2"/>
            <a:r>
              <a:rPr lang="en-US" dirty="0" smtClean="0"/>
              <a:t>Dritte Ebene</a:t>
            </a:r>
          </a:p>
          <a:p>
            <a:pPr lvl="3"/>
            <a:r>
              <a:rPr lang="en-US" dirty="0" smtClean="0"/>
              <a:t>Vierte Ebene</a:t>
            </a:r>
          </a:p>
        </p:txBody>
      </p:sp>
    </p:spTree>
    <p:extLst>
      <p:ext uri="{BB962C8B-B14F-4D97-AF65-F5344CB8AC3E}">
        <p14:creationId xmlns:p14="http://schemas.microsoft.com/office/powerpoint/2010/main" val="2009033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335034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2673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3309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5"/>
          <p:cNvGrpSpPr/>
          <p:nvPr/>
        </p:nvGrpSpPr>
        <p:grpSpPr>
          <a:xfrm>
            <a:off x="285750" y="1803797"/>
            <a:ext cx="4000500" cy="35808"/>
            <a:chOff x="0" y="0"/>
            <a:chExt cx="5689600" cy="50926"/>
          </a:xfrm>
        </p:grpSpPr>
        <p:sp>
          <p:nvSpPr>
            <p:cNvPr id="43" name="Shape 43"/>
            <p:cNvSpPr/>
            <p:nvPr/>
          </p:nvSpPr>
          <p:spPr>
            <a:xfrm>
              <a:off x="0" y="0"/>
              <a:ext cx="5689600" cy="127"/>
            </a:xfrm>
            <a:prstGeom prst="line">
              <a:avLst/>
            </a:prstGeom>
            <a:noFill/>
            <a:ln w="12700" cap="flat">
              <a:solidFill>
                <a:srgbClr val="7996B9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l" defTabSz="321457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/>
            </a:p>
          </p:txBody>
        </p:sp>
        <p:sp>
          <p:nvSpPr>
            <p:cNvPr id="44" name="Shape 44"/>
            <p:cNvSpPr/>
            <p:nvPr/>
          </p:nvSpPr>
          <p:spPr>
            <a:xfrm>
              <a:off x="0" y="50800"/>
              <a:ext cx="5689600" cy="127"/>
            </a:xfrm>
            <a:prstGeom prst="line">
              <a:avLst/>
            </a:prstGeom>
            <a:noFill/>
            <a:ln w="12700" cap="flat">
              <a:solidFill>
                <a:srgbClr val="7996B9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l" defTabSz="321457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/>
            </a:p>
          </p:txBody>
        </p:sp>
      </p:grpSp>
      <p:sp>
        <p:nvSpPr>
          <p:cNvPr id="46" name="Shape 46"/>
          <p:cNvSpPr>
            <a:spLocks noGrp="1"/>
          </p:cNvSpPr>
          <p:nvPr>
            <p:ph type="title"/>
          </p:nvPr>
        </p:nvSpPr>
        <p:spPr>
          <a:xfrm>
            <a:off x="250031" y="312539"/>
            <a:ext cx="4089797" cy="1437680"/>
          </a:xfrm>
          <a:prstGeom prst="rect">
            <a:avLst/>
          </a:prstGeom>
        </p:spPr>
        <p:txBody>
          <a:bodyPr/>
          <a:lstStyle/>
          <a:p>
            <a:pPr lvl="0">
              <a:defRPr sz="1800" spc="0">
                <a:solidFill>
                  <a:srgbClr val="000000"/>
                </a:solidFill>
              </a:defRPr>
            </a:pPr>
            <a:r>
              <a:rPr sz="4500" spc="-90">
                <a:solidFill>
                  <a:srgbClr val="314864"/>
                </a:solidFill>
              </a:rPr>
              <a:t>Title Text</a:t>
            </a:r>
          </a:p>
        </p:txBody>
      </p:sp>
      <p:sp>
        <p:nvSpPr>
          <p:cNvPr id="47" name="Shape 47"/>
          <p:cNvSpPr>
            <a:spLocks noGrp="1"/>
          </p:cNvSpPr>
          <p:nvPr>
            <p:ph type="body" idx="1"/>
          </p:nvPr>
        </p:nvSpPr>
        <p:spPr>
          <a:xfrm>
            <a:off x="250031" y="2098477"/>
            <a:ext cx="4089797" cy="4446984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109"/>
              <a:t>Body Level One</a:t>
            </a:r>
          </a:p>
          <a:p>
            <a:pPr lvl="1">
              <a:defRPr sz="1800"/>
            </a:pPr>
            <a:r>
              <a:rPr sz="2109"/>
              <a:t>Body Level Two</a:t>
            </a:r>
          </a:p>
          <a:p>
            <a:pPr lvl="2">
              <a:defRPr sz="1800"/>
            </a:pPr>
            <a:r>
              <a:rPr sz="2109"/>
              <a:t>Body Level Three</a:t>
            </a:r>
          </a:p>
          <a:p>
            <a:pPr lvl="3">
              <a:defRPr sz="1800"/>
            </a:pPr>
            <a:r>
              <a:rPr sz="2109"/>
              <a:t>Body Level Four</a:t>
            </a:r>
          </a:p>
          <a:p>
            <a:pPr lvl="4">
              <a:defRPr sz="1800"/>
            </a:pPr>
            <a:r>
              <a:rPr sz="2109"/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100886099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4879B4"/>
              </a:gs>
              <a:gs pos="0">
                <a:schemeClr val="tx2"/>
              </a:gs>
              <a:gs pos="50000">
                <a:schemeClr val="accent1"/>
              </a:gs>
              <a:gs pos="100000">
                <a:schemeClr val="tx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12" name="Rechteck 11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10246" name="Grafik 6"/>
          <p:cNvPicPr>
            <a:picLocks noChangeAspect="1"/>
          </p:cNvPicPr>
          <p:nvPr userDrawn="1"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 smtClean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2854598" cy="236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 smtClean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I_POS 2015/16 </a:t>
            </a:r>
            <a:r>
              <a:rPr lang="de-DE" sz="1000" dirty="0" smtClean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  Schleifen   </a:t>
            </a:r>
            <a:r>
              <a:rPr lang="de-DE" sz="1000" dirty="0" smtClean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fld id="{C5A4FFB9-E613-43CD-964A-AE1E9E6225EE}" type="slidenum">
              <a:rPr lang="de-DE" sz="1000" smtClean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7113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2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6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UserDialog.png"/>
          <p:cNvPicPr/>
          <p:nvPr/>
        </p:nvPicPr>
        <p:blipFill>
          <a:blip r:embed="rId2">
            <a:extLst/>
          </a:blip>
          <a:srcRect r="8524"/>
          <a:stretch>
            <a:fillRect/>
          </a:stretch>
        </p:blipFill>
        <p:spPr>
          <a:xfrm>
            <a:off x="4572000" y="0"/>
            <a:ext cx="457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63" name="Shape 63"/>
          <p:cNvSpPr>
            <a:spLocks noGrp="1"/>
          </p:cNvSpPr>
          <p:nvPr>
            <p:ph sz="quarter" idx="11"/>
          </p:nvPr>
        </p:nvSpPr>
        <p:spPr>
          <a:xfrm>
            <a:off x="467544" y="2132855"/>
            <a:ext cx="3744416" cy="3816425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lang="de-AT" sz="2109" dirty="0" smtClean="0"/>
              <a:t>Beschränkungen bisher:</a:t>
            </a:r>
            <a:endParaRPr sz="2109" dirty="0"/>
          </a:p>
          <a:p>
            <a:pPr marL="342900" indent="-342900">
              <a:buFont typeface="Arial" panose="020B0604020202020204" pitchFamily="34" charset="0"/>
              <a:buChar char="•"/>
              <a:defRPr sz="1800"/>
            </a:pPr>
            <a:r>
              <a:rPr lang="de-AT" sz="1800" dirty="0"/>
              <a:t>Nur drei oder vier Eingaben, von denen das Maximum oder das Minimum gefunden werden soll </a:t>
            </a:r>
            <a:r>
              <a:rPr sz="1800" dirty="0"/>
              <a:t>etc</a:t>
            </a:r>
            <a:r>
              <a:rPr sz="1800" dirty="0"/>
              <a:t>.</a:t>
            </a:r>
          </a:p>
          <a:p>
            <a:pPr lvl="0">
              <a:defRPr sz="1800"/>
            </a:pPr>
            <a:r>
              <a:rPr lang="de-AT" sz="2109" dirty="0" smtClean="0"/>
              <a:t/>
            </a:r>
            <a:br>
              <a:rPr lang="de-AT" sz="2109" dirty="0" smtClean="0"/>
            </a:br>
            <a:r>
              <a:rPr lang="de-AT" sz="2109" dirty="0" smtClean="0"/>
              <a:t>Wir wollen:</a:t>
            </a:r>
          </a:p>
          <a:p>
            <a:pPr marL="342900" lvl="0" indent="-342900">
              <a:buFont typeface="Arial" panose="020B0604020202020204" pitchFamily="34" charset="0"/>
              <a:buChar char="•"/>
              <a:defRPr sz="1800"/>
            </a:pPr>
            <a:r>
              <a:rPr lang="de-AT" sz="1800" dirty="0" smtClean="0"/>
              <a:t>Beliebig viele Eingaben verarbeiten, bis der Benutzer sagt es genügt.</a:t>
            </a:r>
            <a:endParaRPr sz="1800" dirty="0"/>
          </a:p>
        </p:txBody>
      </p:sp>
      <p:sp>
        <p:nvSpPr>
          <p:cNvPr id="64" name="Shape 64"/>
          <p:cNvSpPr/>
          <p:nvPr/>
        </p:nvSpPr>
        <p:spPr>
          <a:xfrm>
            <a:off x="4572000" y="223242"/>
            <a:ext cx="4572000" cy="1509117"/>
          </a:xfrm>
          <a:prstGeom prst="rect">
            <a:avLst/>
          </a:prstGeom>
          <a:solidFill>
            <a:srgbClr val="F6F2EB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solidFill>
                  <a:srgbClr val="FFFFFF"/>
                </a:solidFill>
              </a:defRPr>
            </a:pPr>
            <a:endParaRPr sz="1266"/>
          </a:p>
        </p:txBody>
      </p:sp>
      <p:sp>
        <p:nvSpPr>
          <p:cNvPr id="65" name="Shape 65"/>
          <p:cNvSpPr/>
          <p:nvPr/>
        </p:nvSpPr>
        <p:spPr>
          <a:xfrm>
            <a:off x="4572000" y="2661047"/>
            <a:ext cx="4572000" cy="1205508"/>
          </a:xfrm>
          <a:prstGeom prst="rect">
            <a:avLst/>
          </a:prstGeom>
          <a:solidFill>
            <a:srgbClr val="F6F2EB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solidFill>
                  <a:srgbClr val="FFFFFF"/>
                </a:solidFill>
              </a:defRPr>
            </a:pPr>
            <a:endParaRPr sz="1266"/>
          </a:p>
        </p:txBody>
      </p:sp>
      <p:sp>
        <p:nvSpPr>
          <p:cNvPr id="66" name="Shape 66"/>
          <p:cNvSpPr/>
          <p:nvPr/>
        </p:nvSpPr>
        <p:spPr>
          <a:xfrm>
            <a:off x="4572000" y="1732360"/>
            <a:ext cx="4572000" cy="964406"/>
          </a:xfrm>
          <a:prstGeom prst="rect">
            <a:avLst/>
          </a:prstGeom>
          <a:solidFill>
            <a:srgbClr val="F6F2EB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solidFill>
                  <a:srgbClr val="FFFFFF"/>
                </a:solidFill>
              </a:defRPr>
            </a:pPr>
            <a:endParaRPr sz="1266"/>
          </a:p>
        </p:txBody>
      </p:sp>
      <p:sp>
        <p:nvSpPr>
          <p:cNvPr id="67" name="Shape 67"/>
          <p:cNvSpPr/>
          <p:nvPr/>
        </p:nvSpPr>
        <p:spPr>
          <a:xfrm>
            <a:off x="4572000" y="3866555"/>
            <a:ext cx="4572000" cy="2964656"/>
          </a:xfrm>
          <a:prstGeom prst="rect">
            <a:avLst/>
          </a:prstGeom>
          <a:solidFill>
            <a:srgbClr val="F6F2EB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solidFill>
                  <a:srgbClr val="FFFFFF"/>
                </a:solidFill>
              </a:defRPr>
            </a:pPr>
            <a:endParaRPr sz="1266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Motivation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40631997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6" dur="1000" fill="hold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11" dur="1000" fill="hold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16" dur="1000" fill="hold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21" dur="1000" fill="hold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 advAuto="0"/>
      <p:bldP spid="65" grpId="0" animBg="1" advAuto="0"/>
      <p:bldP spid="66" grpId="0" animBg="1" advAuto="0"/>
      <p:bldP spid="67" grpId="0" animBg="1" advAuto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/>
          <p:cNvSpPr txBox="1"/>
          <p:nvPr/>
        </p:nvSpPr>
        <p:spPr>
          <a:xfrm>
            <a:off x="539552" y="1124744"/>
            <a:ext cx="784926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b="1" i="1" dirty="0" smtClean="0"/>
              <a:t>Kopfgesteuerte Schleife - Abweisende Schleife</a:t>
            </a:r>
          </a:p>
          <a:p>
            <a:r>
              <a:rPr lang="de-AT" dirty="0"/>
              <a:t>Die </a:t>
            </a:r>
            <a:r>
              <a:rPr lang="de-AT" dirty="0">
                <a:solidFill>
                  <a:srgbClr val="CC3300"/>
                </a:solidFill>
              </a:rPr>
              <a:t>&lt;</a:t>
            </a:r>
            <a:r>
              <a:rPr lang="de-AT" i="1" dirty="0">
                <a:solidFill>
                  <a:srgbClr val="CC3300"/>
                </a:solidFill>
              </a:rPr>
              <a:t>Anweisungen&gt;</a:t>
            </a:r>
            <a:r>
              <a:rPr lang="de-AT" dirty="0">
                <a:solidFill>
                  <a:srgbClr val="CC3300"/>
                </a:solidFill>
              </a:rPr>
              <a:t> </a:t>
            </a:r>
            <a:r>
              <a:rPr lang="de-AT" dirty="0" smtClean="0"/>
              <a:t>werden ausgeführt, solange eine </a:t>
            </a:r>
            <a:r>
              <a:rPr lang="de-AT" dirty="0" smtClean="0">
                <a:solidFill>
                  <a:srgbClr val="FF0000"/>
                </a:solidFill>
              </a:rPr>
              <a:t>&lt;</a:t>
            </a:r>
            <a:r>
              <a:rPr lang="de-AT" i="1" dirty="0" smtClean="0">
                <a:solidFill>
                  <a:srgbClr val="FF0000"/>
                </a:solidFill>
              </a:rPr>
              <a:t>Bedingung&gt;</a:t>
            </a:r>
            <a:r>
              <a:rPr lang="de-AT" dirty="0" smtClean="0"/>
              <a:t> zutrifft.</a:t>
            </a:r>
          </a:p>
          <a:p>
            <a:r>
              <a:rPr lang="de-AT" dirty="0" smtClean="0"/>
              <a:t>Die Bedingung wird zu Beginn jedes Schleifendurchlaufs geprüft. </a:t>
            </a:r>
            <a:endParaRPr lang="de-AT" dirty="0"/>
          </a:p>
        </p:txBody>
      </p:sp>
      <p:sp>
        <p:nvSpPr>
          <p:cNvPr id="21" name="Titel 2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/>
          <a:p>
            <a:r>
              <a:rPr lang="de-AT" dirty="0" smtClean="0"/>
              <a:t>Schleifen (Iterationen)</a:t>
            </a:r>
            <a:endParaRPr lang="de-AT" dirty="0"/>
          </a:p>
        </p:txBody>
      </p:sp>
      <p:pic>
        <p:nvPicPr>
          <p:cNvPr id="26" name="Grafik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792" y="2267744"/>
            <a:ext cx="3267075" cy="395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897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Zahlenstatistik - Algorithmus</a:t>
            </a:r>
            <a:endParaRPr lang="de-AT" dirty="0"/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2852199"/>
            <a:ext cx="1959806" cy="2048888"/>
          </a:xfrm>
          <a:prstGeom prst="rect">
            <a:avLst/>
          </a:prstGeom>
        </p:spPr>
      </p:pic>
      <p:pic>
        <p:nvPicPr>
          <p:cNvPr id="12" name="Grafik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1880" y="1484784"/>
            <a:ext cx="2044615" cy="4783719"/>
          </a:xfrm>
          <a:prstGeom prst="rect">
            <a:avLst/>
          </a:prstGeom>
        </p:spPr>
      </p:pic>
      <p:pic>
        <p:nvPicPr>
          <p:cNvPr id="13" name="Grafik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3998" y="2040096"/>
            <a:ext cx="2125496" cy="2954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07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4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2250477374"/>
              </p:ext>
            </p:extLst>
          </p:nvPr>
        </p:nvGraphicFramePr>
        <p:xfrm>
          <a:off x="1265239" y="4812253"/>
          <a:ext cx="6078218" cy="14119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6" name="Image" r:id="rId3" imgW="5790476" imgH="1345557" progId="Photoshop.Image.7">
                  <p:embed/>
                </p:oleObj>
              </mc:Choice>
              <mc:Fallback>
                <p:oleObj name="Image" r:id="rId3" imgW="5790476" imgH="1345557" progId="Photoshop.Image.7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5239" y="4812253"/>
                        <a:ext cx="6078218" cy="14119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feld 6"/>
          <p:cNvSpPr txBox="1"/>
          <p:nvPr/>
        </p:nvSpPr>
        <p:spPr>
          <a:xfrm>
            <a:off x="683568" y="1628800"/>
            <a:ext cx="74532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b="1" i="1" dirty="0"/>
              <a:t>Kopfgesteuerte </a:t>
            </a:r>
            <a:r>
              <a:rPr lang="de-AT" b="1" i="1" dirty="0" smtClean="0"/>
              <a:t>Schleife - Abweisende Schleife</a:t>
            </a:r>
            <a:endParaRPr lang="de-AT" b="1" i="1" dirty="0"/>
          </a:p>
          <a:p>
            <a:r>
              <a:rPr lang="de-AT" dirty="0"/>
              <a:t>Die </a:t>
            </a:r>
            <a:r>
              <a:rPr lang="de-AT" dirty="0">
                <a:solidFill>
                  <a:srgbClr val="CC3300"/>
                </a:solidFill>
              </a:rPr>
              <a:t>&lt;</a:t>
            </a:r>
            <a:r>
              <a:rPr lang="de-AT" i="1" dirty="0">
                <a:solidFill>
                  <a:srgbClr val="CC3300"/>
                </a:solidFill>
              </a:rPr>
              <a:t>Anweisungen&gt;</a:t>
            </a:r>
            <a:r>
              <a:rPr lang="de-AT" dirty="0">
                <a:solidFill>
                  <a:srgbClr val="CC3300"/>
                </a:solidFill>
              </a:rPr>
              <a:t> </a:t>
            </a:r>
            <a:r>
              <a:rPr lang="de-AT" dirty="0"/>
              <a:t>werden ausgeführt, solange eine </a:t>
            </a:r>
            <a:r>
              <a:rPr lang="de-AT" dirty="0">
                <a:solidFill>
                  <a:srgbClr val="FF0000"/>
                </a:solidFill>
              </a:rPr>
              <a:t>&lt;</a:t>
            </a:r>
            <a:r>
              <a:rPr lang="de-AT" i="1" dirty="0">
                <a:solidFill>
                  <a:srgbClr val="FF0000"/>
                </a:solidFill>
              </a:rPr>
              <a:t>Bedingung&gt;</a:t>
            </a:r>
            <a:r>
              <a:rPr lang="de-AT" dirty="0"/>
              <a:t> zutrifft.</a:t>
            </a:r>
          </a:p>
        </p:txBody>
      </p:sp>
      <p:sp>
        <p:nvSpPr>
          <p:cNvPr id="3" name="Textfeld 2"/>
          <p:cNvSpPr txBox="1"/>
          <p:nvPr/>
        </p:nvSpPr>
        <p:spPr>
          <a:xfrm>
            <a:off x="1487551" y="2549803"/>
            <a:ext cx="2816797" cy="2031325"/>
          </a:xfrm>
          <a:prstGeom prst="rect">
            <a:avLst/>
          </a:prstGeom>
          <a:noFill/>
          <a:ln w="22225">
            <a:solidFill>
              <a:schemeClr val="accent1">
                <a:shade val="50000"/>
              </a:schemeClr>
            </a:solidFill>
          </a:ln>
        </p:spPr>
        <p:txBody>
          <a:bodyPr wrap="none" rtlCol="0">
            <a:spAutoFit/>
          </a:bodyPr>
          <a:lstStyle/>
          <a:p>
            <a:endParaRPr lang="de-AT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( </a:t>
            </a:r>
            <a:r>
              <a:rPr lang="de-AT" b="1" i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de-AT" i="1" dirty="0" smtClean="0">
                <a:solidFill>
                  <a:srgbClr val="FF0000"/>
                </a:solidFill>
                <a:cs typeface="Courier New" panose="02070309020205020404" pitchFamily="49" charset="0"/>
              </a:rPr>
              <a:t>Bedingung&gt;</a:t>
            </a:r>
            <a:r>
              <a:rPr lang="de-AT" b="1" i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de-AT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de-AT" b="1" i="1" dirty="0" smtClean="0">
                <a:solidFill>
                  <a:srgbClr val="CC33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de-AT" i="1" dirty="0" smtClean="0">
                <a:solidFill>
                  <a:srgbClr val="CC3300"/>
                </a:solidFill>
                <a:cs typeface="Courier New" panose="02070309020205020404" pitchFamily="49" charset="0"/>
              </a:rPr>
              <a:t>Anweisungen&gt;</a:t>
            </a:r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de-AT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Abgerundetes Rechteck 10"/>
          <p:cNvSpPr/>
          <p:nvPr/>
        </p:nvSpPr>
        <p:spPr>
          <a:xfrm>
            <a:off x="1187624" y="2737952"/>
            <a:ext cx="6840760" cy="577805"/>
          </a:xfrm>
          <a:prstGeom prst="roundRect">
            <a:avLst/>
          </a:prstGeom>
          <a:solidFill>
            <a:schemeClr val="accent1">
              <a:alpha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de-AT" dirty="0" smtClean="0">
                <a:solidFill>
                  <a:schemeClr val="tx1"/>
                </a:solidFill>
              </a:rPr>
              <a:t>Schleifenkopf</a:t>
            </a:r>
            <a:endParaRPr lang="de-AT" dirty="0">
              <a:solidFill>
                <a:schemeClr val="tx1"/>
              </a:solidFill>
            </a:endParaRPr>
          </a:p>
        </p:txBody>
      </p:sp>
      <p:sp>
        <p:nvSpPr>
          <p:cNvPr id="13" name="Abgerundetes Rechteck 12"/>
          <p:cNvSpPr/>
          <p:nvPr/>
        </p:nvSpPr>
        <p:spPr>
          <a:xfrm>
            <a:off x="1187624" y="3413899"/>
            <a:ext cx="6840760" cy="999728"/>
          </a:xfrm>
          <a:prstGeom prst="roundRect">
            <a:avLst/>
          </a:prstGeom>
          <a:solidFill>
            <a:schemeClr val="accent1">
              <a:alpha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de-AT" dirty="0" smtClean="0">
                <a:solidFill>
                  <a:schemeClr val="tx1"/>
                </a:solidFill>
              </a:rPr>
              <a:t>Schleifenrumpf (Schleifenkörper)</a:t>
            </a:r>
            <a:endParaRPr lang="de-AT" dirty="0">
              <a:solidFill>
                <a:schemeClr val="tx1"/>
              </a:solidFill>
            </a:endParaRPr>
          </a:p>
        </p:txBody>
      </p:sp>
      <p:sp>
        <p:nvSpPr>
          <p:cNvPr id="15" name="Titel 2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/>
          <a:p>
            <a:r>
              <a:rPr lang="de-AT" dirty="0" err="1"/>
              <a:t>w</a:t>
            </a:r>
            <a:r>
              <a:rPr lang="de-AT" dirty="0" err="1" smtClean="0"/>
              <a:t>hile</a:t>
            </a:r>
            <a:r>
              <a:rPr lang="de-AT" dirty="0" smtClean="0"/>
              <a:t>-Schleife (kopfgesteuert)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777802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/>
          <p:cNvSpPr txBox="1"/>
          <p:nvPr/>
        </p:nvSpPr>
        <p:spPr>
          <a:xfrm>
            <a:off x="614879" y="1509461"/>
            <a:ext cx="74532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b="1" i="1" dirty="0"/>
              <a:t>Kopfgesteuerte </a:t>
            </a:r>
            <a:r>
              <a:rPr lang="de-AT" b="1" i="1" dirty="0" smtClean="0"/>
              <a:t>Schleife - Abweisende Schleife</a:t>
            </a:r>
            <a:endParaRPr lang="de-AT" b="1" i="1" dirty="0"/>
          </a:p>
          <a:p>
            <a:r>
              <a:rPr lang="de-AT" dirty="0"/>
              <a:t>Die </a:t>
            </a:r>
            <a:r>
              <a:rPr lang="de-AT" dirty="0">
                <a:solidFill>
                  <a:srgbClr val="CC3300"/>
                </a:solidFill>
              </a:rPr>
              <a:t>&lt;</a:t>
            </a:r>
            <a:r>
              <a:rPr lang="de-AT" i="1" dirty="0">
                <a:solidFill>
                  <a:srgbClr val="CC3300"/>
                </a:solidFill>
              </a:rPr>
              <a:t>Anweisungen&gt;</a:t>
            </a:r>
            <a:r>
              <a:rPr lang="de-AT" dirty="0">
                <a:solidFill>
                  <a:srgbClr val="CC3300"/>
                </a:solidFill>
              </a:rPr>
              <a:t> </a:t>
            </a:r>
            <a:r>
              <a:rPr lang="de-AT" dirty="0"/>
              <a:t>werden ausgeführt, solange eine </a:t>
            </a:r>
            <a:r>
              <a:rPr lang="de-AT" dirty="0">
                <a:solidFill>
                  <a:srgbClr val="FF0000"/>
                </a:solidFill>
              </a:rPr>
              <a:t>&lt;</a:t>
            </a:r>
            <a:r>
              <a:rPr lang="de-AT" i="1" dirty="0">
                <a:solidFill>
                  <a:srgbClr val="FF0000"/>
                </a:solidFill>
              </a:rPr>
              <a:t>Bedingung&gt;</a:t>
            </a:r>
            <a:r>
              <a:rPr lang="de-AT" dirty="0"/>
              <a:t> zutrifft.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while</a:t>
            </a:r>
            <a:r>
              <a:rPr lang="de-AT" dirty="0"/>
              <a:t>-Schleife (kopfgesteuert)</a:t>
            </a:r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621" y="2852936"/>
            <a:ext cx="6033723" cy="2177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233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/>
          <p:cNvSpPr txBox="1"/>
          <p:nvPr/>
        </p:nvSpPr>
        <p:spPr>
          <a:xfrm>
            <a:off x="647367" y="983600"/>
            <a:ext cx="784926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b="1" i="1" dirty="0" smtClean="0"/>
              <a:t>Fußgesteuerte Schleife - Nichtabweisende Schleife</a:t>
            </a:r>
          </a:p>
          <a:p>
            <a:r>
              <a:rPr lang="de-AT" dirty="0"/>
              <a:t>Die </a:t>
            </a:r>
            <a:r>
              <a:rPr lang="de-AT" dirty="0">
                <a:solidFill>
                  <a:srgbClr val="CC3300"/>
                </a:solidFill>
              </a:rPr>
              <a:t>&lt;</a:t>
            </a:r>
            <a:r>
              <a:rPr lang="de-AT" i="1" dirty="0">
                <a:solidFill>
                  <a:srgbClr val="CC3300"/>
                </a:solidFill>
              </a:rPr>
              <a:t>Anweisungen&gt;</a:t>
            </a:r>
            <a:r>
              <a:rPr lang="de-AT" dirty="0">
                <a:solidFill>
                  <a:srgbClr val="CC3300"/>
                </a:solidFill>
              </a:rPr>
              <a:t> </a:t>
            </a:r>
            <a:r>
              <a:rPr lang="de-AT" dirty="0" smtClean="0"/>
              <a:t>werden ausgeführt, solange eine </a:t>
            </a:r>
            <a:r>
              <a:rPr lang="de-AT" dirty="0" smtClean="0">
                <a:solidFill>
                  <a:srgbClr val="FF0000"/>
                </a:solidFill>
              </a:rPr>
              <a:t>&lt;</a:t>
            </a:r>
            <a:r>
              <a:rPr lang="de-AT" i="1" dirty="0" smtClean="0">
                <a:solidFill>
                  <a:srgbClr val="FF0000"/>
                </a:solidFill>
              </a:rPr>
              <a:t>Bedingung&gt;</a:t>
            </a:r>
            <a:r>
              <a:rPr lang="de-AT" dirty="0" smtClean="0"/>
              <a:t> zutrifft.</a:t>
            </a:r>
          </a:p>
          <a:p>
            <a:r>
              <a:rPr lang="de-AT" dirty="0" smtClean="0"/>
              <a:t>Prüfung der Bedingung am Ende jedes Schleifendurchlaufs!</a:t>
            </a:r>
          </a:p>
          <a:p>
            <a:endParaRPr lang="de-AT" dirty="0"/>
          </a:p>
          <a:p>
            <a:r>
              <a:rPr lang="de-AT" dirty="0" smtClean="0"/>
              <a:t>Die fußgesteuerte Schleife wird somit mindestens einmal durchlaufen.</a:t>
            </a:r>
            <a:endParaRPr lang="de-AT" dirty="0"/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d</a:t>
            </a:r>
            <a:r>
              <a:rPr lang="de-AT" dirty="0" smtClean="0"/>
              <a:t>o-</a:t>
            </a:r>
            <a:r>
              <a:rPr lang="de-AT" dirty="0" err="1" smtClean="0"/>
              <a:t>while</a:t>
            </a:r>
            <a:r>
              <a:rPr lang="de-AT" dirty="0" smtClean="0"/>
              <a:t>-Schleife (fußgesteuert)</a:t>
            </a:r>
            <a:endParaRPr lang="de-AT" dirty="0"/>
          </a:p>
        </p:txBody>
      </p:sp>
      <p:pic>
        <p:nvPicPr>
          <p:cNvPr id="13" name="Grafik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800" y="2564904"/>
            <a:ext cx="3343275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355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/>
          <p:cNvSpPr txBox="1"/>
          <p:nvPr/>
        </p:nvSpPr>
        <p:spPr>
          <a:xfrm>
            <a:off x="845370" y="1243007"/>
            <a:ext cx="74532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b="1" i="1" dirty="0" smtClean="0"/>
              <a:t>Fußgesteuerte Schleife - </a:t>
            </a:r>
            <a:r>
              <a:rPr lang="de-AT" b="1" i="1" dirty="0"/>
              <a:t>Nichtabweisende Schleife</a:t>
            </a:r>
          </a:p>
          <a:p>
            <a:r>
              <a:rPr lang="de-AT" dirty="0"/>
              <a:t>Die </a:t>
            </a:r>
            <a:r>
              <a:rPr lang="de-AT" dirty="0">
                <a:solidFill>
                  <a:srgbClr val="CC3300"/>
                </a:solidFill>
              </a:rPr>
              <a:t>&lt;</a:t>
            </a:r>
            <a:r>
              <a:rPr lang="de-AT" i="1" dirty="0">
                <a:solidFill>
                  <a:srgbClr val="CC3300"/>
                </a:solidFill>
              </a:rPr>
              <a:t>Anweisungen&gt;</a:t>
            </a:r>
            <a:r>
              <a:rPr lang="de-AT" dirty="0">
                <a:solidFill>
                  <a:srgbClr val="CC3300"/>
                </a:solidFill>
              </a:rPr>
              <a:t> </a:t>
            </a:r>
            <a:r>
              <a:rPr lang="de-AT" dirty="0"/>
              <a:t>werden ausgeführt, solange eine </a:t>
            </a:r>
            <a:r>
              <a:rPr lang="de-AT" dirty="0">
                <a:solidFill>
                  <a:srgbClr val="FF0000"/>
                </a:solidFill>
              </a:rPr>
              <a:t>&lt;</a:t>
            </a:r>
            <a:r>
              <a:rPr lang="de-AT" i="1" dirty="0">
                <a:solidFill>
                  <a:srgbClr val="FF0000"/>
                </a:solidFill>
              </a:rPr>
              <a:t>Bedingung&gt;</a:t>
            </a:r>
            <a:r>
              <a:rPr lang="de-AT" dirty="0"/>
              <a:t> zutrifft.</a:t>
            </a:r>
          </a:p>
        </p:txBody>
      </p:sp>
      <p:sp>
        <p:nvSpPr>
          <p:cNvPr id="3" name="Textfeld 2"/>
          <p:cNvSpPr txBox="1"/>
          <p:nvPr/>
        </p:nvSpPr>
        <p:spPr>
          <a:xfrm>
            <a:off x="1547664" y="2430181"/>
            <a:ext cx="3230372" cy="2031325"/>
          </a:xfrm>
          <a:prstGeom prst="rect">
            <a:avLst/>
          </a:prstGeom>
          <a:noFill/>
          <a:ln w="22225">
            <a:solidFill>
              <a:schemeClr val="accent1">
                <a:shade val="50000"/>
              </a:schemeClr>
            </a:solidFill>
          </a:ln>
        </p:spPr>
        <p:txBody>
          <a:bodyPr wrap="none" rtlCol="0">
            <a:spAutoFit/>
          </a:bodyPr>
          <a:lstStyle/>
          <a:p>
            <a:endParaRPr lang="de-AT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do</a:t>
            </a:r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de-AT" b="1" i="1" dirty="0" smtClean="0">
                <a:solidFill>
                  <a:srgbClr val="CC33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de-AT" i="1" dirty="0" smtClean="0">
                <a:solidFill>
                  <a:srgbClr val="CC3300"/>
                </a:solidFill>
                <a:cs typeface="Courier New" panose="02070309020205020404" pitchFamily="49" charset="0"/>
              </a:rPr>
              <a:t>Anweisungen&gt;</a:t>
            </a:r>
          </a:p>
          <a:p>
            <a:endParaRPr lang="de-AT" i="1" dirty="0" smtClean="0">
              <a:solidFill>
                <a:srgbClr val="CC3300"/>
              </a:solidFill>
              <a:cs typeface="Courier New" panose="02070309020205020404" pitchFamily="49" charset="0"/>
            </a:endParaRP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de-AT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( </a:t>
            </a:r>
            <a:r>
              <a:rPr lang="de-AT" b="1" i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de-AT" i="1" dirty="0">
                <a:solidFill>
                  <a:srgbClr val="FF0000"/>
                </a:solidFill>
                <a:cs typeface="Courier New" panose="02070309020205020404" pitchFamily="49" charset="0"/>
              </a:rPr>
              <a:t>Bedingung&gt;</a:t>
            </a:r>
            <a:r>
              <a:rPr lang="de-AT" b="1" i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de-AT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de-AT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Abgerundetes Rechteck 10"/>
          <p:cNvSpPr/>
          <p:nvPr/>
        </p:nvSpPr>
        <p:spPr>
          <a:xfrm>
            <a:off x="1319744" y="3704710"/>
            <a:ext cx="7212695" cy="577805"/>
          </a:xfrm>
          <a:prstGeom prst="roundRect">
            <a:avLst/>
          </a:prstGeom>
          <a:solidFill>
            <a:schemeClr val="accent1">
              <a:alpha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de-AT" smtClean="0">
                <a:solidFill>
                  <a:schemeClr val="tx1"/>
                </a:solidFill>
              </a:rPr>
              <a:t>Schleifenfuß</a:t>
            </a:r>
            <a:endParaRPr lang="de-AT" dirty="0">
              <a:solidFill>
                <a:schemeClr val="tx1"/>
              </a:solidFill>
            </a:endParaRPr>
          </a:p>
        </p:txBody>
      </p:sp>
      <p:sp>
        <p:nvSpPr>
          <p:cNvPr id="13" name="Abgerundetes Rechteck 12"/>
          <p:cNvSpPr/>
          <p:nvPr/>
        </p:nvSpPr>
        <p:spPr>
          <a:xfrm>
            <a:off x="1319744" y="2584615"/>
            <a:ext cx="7212696" cy="999728"/>
          </a:xfrm>
          <a:prstGeom prst="roundRect">
            <a:avLst/>
          </a:prstGeom>
          <a:solidFill>
            <a:schemeClr val="accent1">
              <a:alpha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de-AT" dirty="0" smtClean="0">
                <a:solidFill>
                  <a:schemeClr val="tx1"/>
                </a:solidFill>
              </a:rPr>
              <a:t>Schleifenrumpf (</a:t>
            </a:r>
            <a:r>
              <a:rPr lang="de-AT" dirty="0" err="1" smtClean="0">
                <a:solidFill>
                  <a:schemeClr val="tx1"/>
                </a:solidFill>
              </a:rPr>
              <a:t>Scheifenkörper</a:t>
            </a:r>
            <a:r>
              <a:rPr lang="de-AT" dirty="0" smtClean="0">
                <a:solidFill>
                  <a:schemeClr val="tx1"/>
                </a:solidFill>
              </a:rPr>
              <a:t>)</a:t>
            </a:r>
            <a:endParaRPr lang="de-AT" dirty="0">
              <a:solidFill>
                <a:schemeClr val="tx1"/>
              </a:solidFill>
            </a:endParaRP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d</a:t>
            </a:r>
            <a:r>
              <a:rPr lang="de-AT" dirty="0" smtClean="0"/>
              <a:t>o-</a:t>
            </a:r>
            <a:r>
              <a:rPr lang="de-AT" dirty="0" err="1" smtClean="0"/>
              <a:t>while</a:t>
            </a:r>
            <a:r>
              <a:rPr lang="de-AT" dirty="0" smtClean="0"/>
              <a:t>-Schleife </a:t>
            </a:r>
            <a:r>
              <a:rPr lang="de-AT" dirty="0"/>
              <a:t>(fußgesteuert)</a:t>
            </a:r>
          </a:p>
        </p:txBody>
      </p:sp>
      <p:graphicFrame>
        <p:nvGraphicFramePr>
          <p:cNvPr id="8" name="Object 4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270866553"/>
              </p:ext>
            </p:extLst>
          </p:nvPr>
        </p:nvGraphicFramePr>
        <p:xfrm>
          <a:off x="1619673" y="4581874"/>
          <a:ext cx="3312368" cy="17750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5" name="Image" r:id="rId3" imgW="2692063" imgH="1332863" progId="Photoshop.Image.7">
                  <p:embed/>
                </p:oleObj>
              </mc:Choice>
              <mc:Fallback>
                <p:oleObj name="Image" r:id="rId3" imgW="2692063" imgH="1332863" progId="Photoshop.Image.7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673" y="4581874"/>
                        <a:ext cx="3312368" cy="17750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13605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/>
          <p:cNvSpPr txBox="1"/>
          <p:nvPr/>
        </p:nvSpPr>
        <p:spPr>
          <a:xfrm>
            <a:off x="683501" y="1234604"/>
            <a:ext cx="74532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b="1" i="1" dirty="0"/>
              <a:t>Fußgesteuerte Schleife - Nichtabweisende Schleife</a:t>
            </a:r>
          </a:p>
          <a:p>
            <a:r>
              <a:rPr lang="de-AT" dirty="0" smtClean="0"/>
              <a:t>Die </a:t>
            </a:r>
            <a:r>
              <a:rPr lang="de-AT" dirty="0">
                <a:solidFill>
                  <a:srgbClr val="CC3300"/>
                </a:solidFill>
              </a:rPr>
              <a:t>&lt;</a:t>
            </a:r>
            <a:r>
              <a:rPr lang="de-AT" i="1" dirty="0">
                <a:solidFill>
                  <a:srgbClr val="CC3300"/>
                </a:solidFill>
              </a:rPr>
              <a:t>Anweisungen&gt;</a:t>
            </a:r>
            <a:r>
              <a:rPr lang="de-AT" dirty="0">
                <a:solidFill>
                  <a:srgbClr val="CC3300"/>
                </a:solidFill>
              </a:rPr>
              <a:t> </a:t>
            </a:r>
            <a:r>
              <a:rPr lang="de-AT" dirty="0"/>
              <a:t>werden ausgeführt, solange eine </a:t>
            </a:r>
            <a:r>
              <a:rPr lang="de-AT" dirty="0">
                <a:solidFill>
                  <a:srgbClr val="FF0000"/>
                </a:solidFill>
              </a:rPr>
              <a:t>&lt;</a:t>
            </a:r>
            <a:r>
              <a:rPr lang="de-AT" i="1" dirty="0">
                <a:solidFill>
                  <a:srgbClr val="FF0000"/>
                </a:solidFill>
              </a:rPr>
              <a:t>Bedingung&gt;</a:t>
            </a:r>
            <a:r>
              <a:rPr lang="de-AT" dirty="0"/>
              <a:t> zutrifft.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while</a:t>
            </a:r>
            <a:r>
              <a:rPr lang="de-AT" dirty="0"/>
              <a:t>-Schleife (fußgesteuert)</a:t>
            </a:r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2204864"/>
            <a:ext cx="4804940" cy="369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834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435280" cy="1143000"/>
          </a:xfrm>
        </p:spPr>
        <p:txBody>
          <a:bodyPr/>
          <a:lstStyle/>
          <a:p>
            <a:r>
              <a:rPr lang="de-AT" dirty="0" smtClean="0"/>
              <a:t>Grafische Elemente für Kontrollstrukturen</a:t>
            </a:r>
            <a:endParaRPr lang="de-AT"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236538" y="908050"/>
            <a:ext cx="4214812" cy="5184775"/>
          </a:xfrm>
          <a:prstGeom prst="rect">
            <a:avLst/>
          </a:prstGeom>
        </p:spPr>
        <p:txBody>
          <a:bodyPr/>
          <a:lstStyle>
            <a:lvl1pPr marL="269875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SzPct val="80000"/>
              <a:buFont typeface="Wingdings" pitchFamily="2" charset="2"/>
              <a:buChar char="§"/>
              <a:defRPr sz="28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895350" indent="-354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Font typeface="Symbol" pitchFamily="18" charset="2"/>
              <a:buChar char="-"/>
              <a:defRPr sz="25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343025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SzPct val="80000"/>
              <a:buFont typeface="Wingdings" pitchFamily="2" charset="2"/>
              <a:buChar char="§"/>
              <a:defRPr sz="22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790700" indent="-354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Font typeface="Symbol" pitchFamily="18" charset="2"/>
              <a:buChar char="-"/>
              <a:defRPr sz="20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de-DE" altLang="de-DE" sz="2000" dirty="0" smtClean="0"/>
              <a:t>Programmbeginn und Ende </a:t>
            </a:r>
          </a:p>
          <a:p>
            <a:pPr lvl="4" eaLnBrk="1" hangingPunct="1"/>
            <a:endParaRPr lang="de-DE" altLang="de-DE" sz="1400" dirty="0" smtClean="0"/>
          </a:p>
          <a:p>
            <a:pPr eaLnBrk="1" hangingPunct="1"/>
            <a:r>
              <a:rPr lang="de-DE" altLang="de-DE" sz="2000" dirty="0" smtClean="0"/>
              <a:t>Anweisungsblock</a:t>
            </a:r>
          </a:p>
          <a:p>
            <a:pPr eaLnBrk="1" hangingPunct="1"/>
            <a:endParaRPr lang="de-DE" altLang="de-DE" sz="2000" dirty="0" smtClean="0"/>
          </a:p>
          <a:p>
            <a:pPr eaLnBrk="1" hangingPunct="1"/>
            <a:endParaRPr lang="de-DE" altLang="de-DE" sz="2000" dirty="0" smtClean="0"/>
          </a:p>
          <a:p>
            <a:pPr lvl="1" eaLnBrk="1" hangingPunct="1"/>
            <a:endParaRPr lang="de-DE" altLang="de-DE" sz="1800" dirty="0" smtClean="0"/>
          </a:p>
          <a:p>
            <a:pPr eaLnBrk="1" hangingPunct="1"/>
            <a:r>
              <a:rPr lang="de-DE" altLang="de-DE" sz="2000" dirty="0" err="1" smtClean="0"/>
              <a:t>if-else</a:t>
            </a:r>
            <a:endParaRPr lang="de-DE" altLang="de-DE" sz="2000" dirty="0" smtClean="0"/>
          </a:p>
          <a:p>
            <a:pPr eaLnBrk="1" hangingPunct="1"/>
            <a:endParaRPr lang="de-DE" altLang="de-DE" sz="2000" dirty="0" smtClean="0"/>
          </a:p>
          <a:p>
            <a:pPr eaLnBrk="1" hangingPunct="1"/>
            <a:endParaRPr lang="de-DE" altLang="de-DE" sz="2000" dirty="0" smtClean="0"/>
          </a:p>
          <a:p>
            <a:pPr eaLnBrk="1" hangingPunct="1"/>
            <a:endParaRPr lang="de-DE" altLang="de-DE" sz="2000" dirty="0" smtClean="0"/>
          </a:p>
          <a:p>
            <a:pPr eaLnBrk="1" hangingPunct="1"/>
            <a:endParaRPr lang="de-DE" altLang="de-DE" sz="2000" dirty="0" smtClean="0"/>
          </a:p>
          <a:p>
            <a:pPr eaLnBrk="1" hangingPunct="1"/>
            <a:r>
              <a:rPr lang="de-DE" altLang="de-DE" sz="2000" dirty="0" err="1" smtClean="0"/>
              <a:t>while</a:t>
            </a:r>
            <a:endParaRPr lang="de-DE" altLang="de-DE" sz="2000" dirty="0" smtClean="0"/>
          </a:p>
          <a:p>
            <a:pPr eaLnBrk="1" hangingPunct="1"/>
            <a:endParaRPr lang="de-DE" altLang="de-DE" sz="2400" dirty="0" smtClean="0"/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8713" y="915988"/>
            <a:ext cx="3344862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3238" y="1454150"/>
            <a:ext cx="2109787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413000"/>
            <a:ext cx="3771900" cy="195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1" name="Object 7"/>
          <p:cNvGraphicFramePr>
            <a:graphicFrameLocks noChangeAspect="1"/>
          </p:cNvGraphicFramePr>
          <p:nvPr/>
        </p:nvGraphicFramePr>
        <p:xfrm>
          <a:off x="4749800" y="4511675"/>
          <a:ext cx="3730625" cy="152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Visio" r:id="rId6" imgW="2551547" imgH="1039509" progId="Visio.Drawing.11">
                  <p:embed/>
                </p:oleObj>
              </mc:Choice>
              <mc:Fallback>
                <p:oleObj name="Visio" r:id="rId6" imgW="2551547" imgH="1039509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9800" y="4511675"/>
                        <a:ext cx="3730625" cy="1520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02659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AT" sz="2800" dirty="0" smtClean="0"/>
              <a:t>Beispiel: Summe von Quadratzahlen &lt;= Grenze</a:t>
            </a:r>
            <a:endParaRPr lang="de-AT" sz="2800" dirty="0"/>
          </a:p>
        </p:txBody>
      </p:sp>
      <p:graphicFrame>
        <p:nvGraphicFramePr>
          <p:cNvPr id="4" name="Object 4"/>
          <p:cNvGraphicFramePr>
            <a:graphicFrameLocks noGrp="1" noChangeAspect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592054098"/>
              </p:ext>
            </p:extLst>
          </p:nvPr>
        </p:nvGraphicFramePr>
        <p:xfrm>
          <a:off x="2085975" y="983704"/>
          <a:ext cx="4883150" cy="518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0" name="Visio" r:id="rId3" imgW="2551547" imgH="2707046" progId="Visio.Drawing.11">
                  <p:embed/>
                </p:oleObj>
              </mc:Choice>
              <mc:Fallback>
                <p:oleObj name="Visio" r:id="rId3" imgW="2551547" imgH="2707046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5975" y="983704"/>
                        <a:ext cx="4883150" cy="518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074509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/>
          <p:cNvSpPr txBox="1"/>
          <p:nvPr/>
        </p:nvSpPr>
        <p:spPr>
          <a:xfrm>
            <a:off x="594600" y="1073147"/>
            <a:ext cx="669674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b="1" i="1" dirty="0" smtClean="0"/>
              <a:t>Kopfgesteuerte Schleife – Zählschleife</a:t>
            </a:r>
          </a:p>
          <a:p>
            <a:r>
              <a:rPr lang="de-AT" dirty="0" smtClean="0"/>
              <a:t>Die </a:t>
            </a:r>
            <a:r>
              <a:rPr lang="de-AT" dirty="0" err="1" smtClean="0"/>
              <a:t>for</a:t>
            </a:r>
            <a:r>
              <a:rPr lang="de-AT" dirty="0" smtClean="0"/>
              <a:t>-Schleife ist eine spezielle kopfgesteuerte Schleife.</a:t>
            </a:r>
          </a:p>
          <a:p>
            <a:r>
              <a:rPr lang="de-AT" dirty="0" smtClean="0"/>
              <a:t>Der Schleifenkopf beinhaltet einen Initialisierungsteil, einen Bedingungsteil und einen </a:t>
            </a:r>
            <a:r>
              <a:rPr lang="de-AT" dirty="0" err="1" smtClean="0"/>
              <a:t>Inkrementierungsteil</a:t>
            </a:r>
            <a:r>
              <a:rPr lang="de-AT" dirty="0" smtClean="0"/>
              <a:t>.</a:t>
            </a:r>
          </a:p>
          <a:p>
            <a:endParaRPr lang="de-AT" dirty="0" smtClean="0"/>
          </a:p>
          <a:p>
            <a:endParaRPr lang="de-AT" dirty="0" smtClean="0"/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 smtClean="0"/>
              <a:t>for</a:t>
            </a:r>
            <a:r>
              <a:rPr lang="de-AT" dirty="0" smtClean="0"/>
              <a:t>-Schleife (Zählschleife)</a:t>
            </a:r>
            <a:endParaRPr lang="de-AT" dirty="0"/>
          </a:p>
        </p:txBody>
      </p:sp>
      <p:pic>
        <p:nvPicPr>
          <p:cNvPr id="16" name="Grafik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792" y="2348880"/>
            <a:ext cx="2971800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879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/>
          <p:cNvSpPr txBox="1"/>
          <p:nvPr/>
        </p:nvSpPr>
        <p:spPr>
          <a:xfrm>
            <a:off x="241295" y="1529494"/>
            <a:ext cx="866141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b="1" i="1" dirty="0"/>
              <a:t>Kopfgesteuerte </a:t>
            </a:r>
            <a:r>
              <a:rPr lang="de-AT" b="1" i="1" dirty="0" smtClean="0"/>
              <a:t>Schleife - Zählschleife</a:t>
            </a:r>
            <a:endParaRPr lang="de-AT" b="1" i="1" dirty="0"/>
          </a:p>
          <a:p>
            <a:r>
              <a:rPr lang="de-AT" dirty="0"/>
              <a:t>Die </a:t>
            </a:r>
            <a:r>
              <a:rPr lang="de-AT" dirty="0">
                <a:solidFill>
                  <a:srgbClr val="CC3300"/>
                </a:solidFill>
              </a:rPr>
              <a:t>&lt;</a:t>
            </a:r>
            <a:r>
              <a:rPr lang="de-AT" i="1" dirty="0">
                <a:solidFill>
                  <a:srgbClr val="CC3300"/>
                </a:solidFill>
              </a:rPr>
              <a:t>Anweisungen&gt;</a:t>
            </a:r>
            <a:r>
              <a:rPr lang="de-AT" dirty="0">
                <a:solidFill>
                  <a:srgbClr val="CC3300"/>
                </a:solidFill>
              </a:rPr>
              <a:t> </a:t>
            </a:r>
            <a:r>
              <a:rPr lang="de-AT" dirty="0"/>
              <a:t>werden ausgeführt, solange eine </a:t>
            </a:r>
            <a:r>
              <a:rPr lang="de-AT" dirty="0">
                <a:solidFill>
                  <a:srgbClr val="FF0000"/>
                </a:solidFill>
              </a:rPr>
              <a:t>&lt;</a:t>
            </a:r>
            <a:r>
              <a:rPr lang="de-AT" i="1" dirty="0">
                <a:solidFill>
                  <a:srgbClr val="FF0000"/>
                </a:solidFill>
              </a:rPr>
              <a:t>Bedingung&gt;</a:t>
            </a:r>
            <a:r>
              <a:rPr lang="de-AT" dirty="0"/>
              <a:t> zutrifft</a:t>
            </a:r>
            <a:r>
              <a:rPr lang="de-AT" dirty="0" smtClean="0"/>
              <a:t>.</a:t>
            </a:r>
          </a:p>
          <a:p>
            <a:r>
              <a:rPr lang="de-AT" dirty="0" smtClean="0"/>
              <a:t>Vor der ersten Prüfung der Schleifenbedingung wird die </a:t>
            </a:r>
            <a:r>
              <a:rPr lang="de-AT" i="1" dirty="0" smtClean="0">
                <a:solidFill>
                  <a:srgbClr val="92D050"/>
                </a:solidFill>
              </a:rPr>
              <a:t>&lt;Anweisung1&gt; </a:t>
            </a:r>
            <a:r>
              <a:rPr lang="de-AT" i="1" dirty="0" smtClean="0"/>
              <a:t>ausgeführt</a:t>
            </a:r>
            <a:r>
              <a:rPr lang="de-AT" dirty="0" smtClean="0"/>
              <a:t>.</a:t>
            </a:r>
          </a:p>
          <a:p>
            <a:r>
              <a:rPr lang="de-AT" dirty="0" smtClean="0"/>
              <a:t>Die Bedingung wird vor jedem Durchlauf des Rumpfes geprüft.</a:t>
            </a:r>
          </a:p>
          <a:p>
            <a:r>
              <a:rPr lang="de-AT" dirty="0"/>
              <a:t>N</a:t>
            </a:r>
            <a:r>
              <a:rPr lang="de-AT" dirty="0" smtClean="0"/>
              <a:t>ach jedem Durchlauf des Schleifenrumpfs wird die </a:t>
            </a:r>
            <a:r>
              <a:rPr lang="de-AT" i="1" dirty="0" smtClean="0">
                <a:solidFill>
                  <a:srgbClr val="92D050"/>
                </a:solidFill>
              </a:rPr>
              <a:t>&lt;Anweisung2&gt;</a:t>
            </a:r>
            <a:r>
              <a:rPr lang="de-AT" dirty="0" smtClean="0"/>
              <a:t> ausgeführt.</a:t>
            </a:r>
            <a:endParaRPr lang="de-AT" dirty="0"/>
          </a:p>
        </p:txBody>
      </p:sp>
      <p:sp>
        <p:nvSpPr>
          <p:cNvPr id="3" name="Textfeld 2"/>
          <p:cNvSpPr txBox="1"/>
          <p:nvPr/>
        </p:nvSpPr>
        <p:spPr>
          <a:xfrm>
            <a:off x="539552" y="4133979"/>
            <a:ext cx="6768753" cy="2031325"/>
          </a:xfrm>
          <a:prstGeom prst="rect">
            <a:avLst/>
          </a:prstGeom>
          <a:noFill/>
          <a:ln w="22225"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de-AT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de-AT" i="1" dirty="0" smtClean="0">
                <a:solidFill>
                  <a:srgbClr val="92D050"/>
                </a:solidFill>
                <a:cs typeface="Courier New" panose="02070309020205020404" pitchFamily="49" charset="0"/>
              </a:rPr>
              <a:t>[&lt;Anweisung1&gt;]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de-AT" i="1" dirty="0" smtClean="0">
                <a:solidFill>
                  <a:srgbClr val="FF0000"/>
                </a:solidFill>
                <a:cs typeface="Courier New" panose="02070309020205020404" pitchFamily="49" charset="0"/>
              </a:rPr>
              <a:t>[&lt;Bedingung&gt;]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de-AT" b="1" i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i="1" dirty="0" smtClean="0">
                <a:solidFill>
                  <a:srgbClr val="92D050"/>
                </a:solidFill>
                <a:cs typeface="Courier New" panose="02070309020205020404" pitchFamily="49" charset="0"/>
              </a:rPr>
              <a:t>[&lt;Anweisung2&gt;]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)</a:t>
            </a:r>
          </a:p>
          <a:p>
            <a:endParaRPr lang="de-AT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de-AT" b="1" i="1" dirty="0" smtClean="0">
                <a:solidFill>
                  <a:srgbClr val="CC33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de-AT" i="1" dirty="0" smtClean="0">
                <a:solidFill>
                  <a:srgbClr val="CC3300"/>
                </a:solidFill>
                <a:cs typeface="Courier New" panose="02070309020205020404" pitchFamily="49" charset="0"/>
              </a:rPr>
              <a:t>Anweisungen&gt;</a:t>
            </a:r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de-AT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Abgerundetes Rechteck 10"/>
          <p:cNvSpPr/>
          <p:nvPr/>
        </p:nvSpPr>
        <p:spPr>
          <a:xfrm>
            <a:off x="539552" y="4273605"/>
            <a:ext cx="8486461" cy="577805"/>
          </a:xfrm>
          <a:prstGeom prst="roundRect">
            <a:avLst/>
          </a:prstGeom>
          <a:solidFill>
            <a:schemeClr val="accent1">
              <a:alpha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de-AT" dirty="0" smtClean="0">
                <a:solidFill>
                  <a:schemeClr val="tx1"/>
                </a:solidFill>
              </a:rPr>
              <a:t>Schleifenkopf</a:t>
            </a:r>
            <a:endParaRPr lang="de-AT" dirty="0">
              <a:solidFill>
                <a:schemeClr val="tx1"/>
              </a:solidFill>
            </a:endParaRPr>
          </a:p>
        </p:txBody>
      </p:sp>
      <p:sp>
        <p:nvSpPr>
          <p:cNvPr id="12" name="Abgerundetes Rechteck 11"/>
          <p:cNvSpPr/>
          <p:nvPr/>
        </p:nvSpPr>
        <p:spPr>
          <a:xfrm>
            <a:off x="539552" y="4949552"/>
            <a:ext cx="8486461" cy="999728"/>
          </a:xfrm>
          <a:prstGeom prst="roundRect">
            <a:avLst/>
          </a:prstGeom>
          <a:solidFill>
            <a:schemeClr val="accent1">
              <a:alpha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de-AT" dirty="0" smtClean="0">
                <a:solidFill>
                  <a:schemeClr val="tx1"/>
                </a:solidFill>
              </a:rPr>
              <a:t>Schleifenrumpf</a:t>
            </a:r>
            <a:endParaRPr lang="de-AT" dirty="0">
              <a:solidFill>
                <a:schemeClr val="tx1"/>
              </a:solidFill>
            </a:endParaRPr>
          </a:p>
        </p:txBody>
      </p:sp>
      <p:sp>
        <p:nvSpPr>
          <p:cNvPr id="10" name="Abgerundetes Rechteck 9"/>
          <p:cNvSpPr/>
          <p:nvPr/>
        </p:nvSpPr>
        <p:spPr>
          <a:xfrm>
            <a:off x="1259632" y="3413899"/>
            <a:ext cx="1801459" cy="1440160"/>
          </a:xfrm>
          <a:prstGeom prst="roundRect">
            <a:avLst/>
          </a:prstGeom>
          <a:solidFill>
            <a:srgbClr val="92D050">
              <a:alpha val="17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smtClean="0">
                <a:solidFill>
                  <a:schemeClr val="tx1"/>
                </a:solidFill>
              </a:rPr>
              <a:t>Initialisierung</a:t>
            </a:r>
          </a:p>
          <a:p>
            <a:pPr algn="ctr"/>
            <a:endParaRPr lang="de-AT" dirty="0" smtClean="0"/>
          </a:p>
          <a:p>
            <a:pPr algn="ctr"/>
            <a:endParaRPr lang="de-AT" dirty="0"/>
          </a:p>
        </p:txBody>
      </p:sp>
      <p:sp>
        <p:nvSpPr>
          <p:cNvPr id="14" name="Abgerundetes Rechteck 13"/>
          <p:cNvSpPr/>
          <p:nvPr/>
        </p:nvSpPr>
        <p:spPr>
          <a:xfrm>
            <a:off x="4860032" y="3356992"/>
            <a:ext cx="2016224" cy="1440160"/>
          </a:xfrm>
          <a:prstGeom prst="roundRect">
            <a:avLst/>
          </a:prstGeom>
          <a:solidFill>
            <a:srgbClr val="92D050">
              <a:alpha val="17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err="1" smtClean="0">
                <a:solidFill>
                  <a:schemeClr val="tx1"/>
                </a:solidFill>
              </a:rPr>
              <a:t>Inkrementierung</a:t>
            </a:r>
            <a:endParaRPr lang="de-AT" dirty="0" smtClean="0">
              <a:solidFill>
                <a:schemeClr val="tx1"/>
              </a:solidFill>
            </a:endParaRPr>
          </a:p>
          <a:p>
            <a:pPr algn="ctr"/>
            <a:endParaRPr lang="de-AT" dirty="0" smtClean="0"/>
          </a:p>
          <a:p>
            <a:pPr algn="ctr"/>
            <a:endParaRPr lang="de-AT" dirty="0"/>
          </a:p>
        </p:txBody>
      </p:sp>
      <p:sp>
        <p:nvSpPr>
          <p:cNvPr id="13" name="Titel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for</a:t>
            </a:r>
            <a:r>
              <a:rPr lang="de-AT" dirty="0"/>
              <a:t>-Schleife (Zählschleife)</a:t>
            </a:r>
          </a:p>
        </p:txBody>
      </p:sp>
      <p:sp>
        <p:nvSpPr>
          <p:cNvPr id="17" name="Abgerundetes Rechteck 16"/>
          <p:cNvSpPr/>
          <p:nvPr/>
        </p:nvSpPr>
        <p:spPr>
          <a:xfrm>
            <a:off x="3082795" y="3384121"/>
            <a:ext cx="1777237" cy="1440160"/>
          </a:xfrm>
          <a:prstGeom prst="roundRect">
            <a:avLst/>
          </a:prstGeom>
          <a:solidFill>
            <a:srgbClr val="92D050">
              <a:alpha val="17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smtClean="0">
                <a:solidFill>
                  <a:schemeClr val="tx1"/>
                </a:solidFill>
              </a:rPr>
              <a:t>Bedingung</a:t>
            </a:r>
          </a:p>
          <a:p>
            <a:pPr algn="ctr"/>
            <a:endParaRPr lang="de-AT" dirty="0" smtClean="0"/>
          </a:p>
          <a:p>
            <a:pPr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549356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0" grpId="0" animBg="1"/>
      <p:bldP spid="14" grpId="0" animBg="1"/>
      <p:bldP spid="1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feld 9"/>
          <p:cNvSpPr txBox="1"/>
          <p:nvPr/>
        </p:nvSpPr>
        <p:spPr>
          <a:xfrm>
            <a:off x="1584400" y="3434887"/>
            <a:ext cx="583685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Console.ReadLine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number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Convert.ToInt32(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de-AT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nt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</a:p>
          <a:p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1; </a:t>
            </a:r>
            <a:r>
              <a:rPr lang="de-AT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&lt;= 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number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de-AT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de-AT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("Reihensumme: " + 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de-AT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1619672" y="1988840"/>
            <a:ext cx="388715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b="1" i="1" dirty="0"/>
              <a:t>Kopfgesteuerte </a:t>
            </a:r>
            <a:r>
              <a:rPr lang="de-AT" b="1" i="1" dirty="0" smtClean="0"/>
              <a:t>Schleife - Zählschleife</a:t>
            </a:r>
          </a:p>
          <a:p>
            <a:endParaRPr lang="de-AT" dirty="0" smtClean="0"/>
          </a:p>
          <a:p>
            <a:r>
              <a:rPr lang="de-AT" dirty="0" smtClean="0"/>
              <a:t>Beispiel: </a:t>
            </a:r>
          </a:p>
          <a:p>
            <a:r>
              <a:rPr lang="de-AT" dirty="0" smtClean="0"/>
              <a:t>    Arithmetische Reihe ( 1 + 2 + 3 + . . . )</a:t>
            </a:r>
          </a:p>
        </p:txBody>
      </p:sp>
      <p:sp>
        <p:nvSpPr>
          <p:cNvPr id="3" name="Abgerundetes Rechteck 2"/>
          <p:cNvSpPr/>
          <p:nvPr/>
        </p:nvSpPr>
        <p:spPr>
          <a:xfrm>
            <a:off x="1619672" y="4589049"/>
            <a:ext cx="7128792" cy="784167"/>
          </a:xfrm>
          <a:prstGeom prst="round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de-AT" sz="1600" dirty="0" smtClean="0">
                <a:solidFill>
                  <a:schemeClr val="tx1"/>
                </a:solidFill>
              </a:rPr>
              <a:t>Die Variable </a:t>
            </a:r>
            <a:r>
              <a:rPr lang="de-AT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de-AT" sz="1600" dirty="0" smtClean="0">
                <a:solidFill>
                  <a:schemeClr val="tx1"/>
                </a:solidFill>
              </a:rPr>
              <a:t> ist nur im</a:t>
            </a:r>
            <a:br>
              <a:rPr lang="de-AT" sz="1600" dirty="0" smtClean="0">
                <a:solidFill>
                  <a:schemeClr val="tx1"/>
                </a:solidFill>
              </a:rPr>
            </a:br>
            <a:r>
              <a:rPr lang="de-AT" sz="1600" dirty="0" smtClean="0">
                <a:solidFill>
                  <a:schemeClr val="tx1"/>
                </a:solidFill>
              </a:rPr>
              <a:t>Schleifenrumpf verfügbar!</a:t>
            </a:r>
            <a:endParaRPr lang="de-AT" sz="1600" dirty="0">
              <a:solidFill>
                <a:schemeClr val="tx1"/>
              </a:solidFill>
            </a:endParaRPr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for</a:t>
            </a:r>
            <a:r>
              <a:rPr lang="de-AT" dirty="0"/>
              <a:t>-Schleife (Zählschleife)</a:t>
            </a:r>
          </a:p>
        </p:txBody>
      </p:sp>
    </p:spTree>
    <p:extLst>
      <p:ext uri="{BB962C8B-B14F-4D97-AF65-F5344CB8AC3E}">
        <p14:creationId xmlns:p14="http://schemas.microsoft.com/office/powerpoint/2010/main" val="1445711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theme/theme1.xml><?xml version="1.0" encoding="utf-8"?>
<a:theme xmlns:a="http://schemas.openxmlformats.org/drawingml/2006/main" name="2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424</Words>
  <Application>Microsoft Office PowerPoint</Application>
  <PresentationFormat>Bildschirmpräsentation (4:3)</PresentationFormat>
  <Paragraphs>93</Paragraphs>
  <Slides>13</Slides>
  <Notes>0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2</vt:i4>
      </vt:variant>
      <vt:variant>
        <vt:lpstr>Folientitel</vt:lpstr>
      </vt:variant>
      <vt:variant>
        <vt:i4>13</vt:i4>
      </vt:variant>
    </vt:vector>
  </HeadingPairs>
  <TitlesOfParts>
    <vt:vector size="22" baseType="lpstr">
      <vt:lpstr>Arial</vt:lpstr>
      <vt:lpstr>Calibri</vt:lpstr>
      <vt:lpstr>Courier New</vt:lpstr>
      <vt:lpstr>Helvetica</vt:lpstr>
      <vt:lpstr>Symbol</vt:lpstr>
      <vt:lpstr>Wingdings</vt:lpstr>
      <vt:lpstr>2_Larissa</vt:lpstr>
      <vt:lpstr>Image</vt:lpstr>
      <vt:lpstr>Visio</vt:lpstr>
      <vt:lpstr>Motivation</vt:lpstr>
      <vt:lpstr>Schleifen (Iterationen)</vt:lpstr>
      <vt:lpstr>Zahlenstatistik - Algorithmus</vt:lpstr>
      <vt:lpstr>while-Schleife (kopfgesteuert)</vt:lpstr>
      <vt:lpstr>while-Schleife (kopfgesteuert)</vt:lpstr>
      <vt:lpstr>do-while-Schleife (fußgesteuert)</vt:lpstr>
      <vt:lpstr>do-while-Schleife (fußgesteuert)</vt:lpstr>
      <vt:lpstr>while-Schleife (fußgesteuert)</vt:lpstr>
      <vt:lpstr>Grafische Elemente für Kontrollstrukturen</vt:lpstr>
      <vt:lpstr>Beispiel: Summe von Quadratzahlen &lt;= Grenze</vt:lpstr>
      <vt:lpstr>for-Schleife (Zählschleife)</vt:lpstr>
      <vt:lpstr>for-Schleife (Zählschleife)</vt:lpstr>
      <vt:lpstr>for-Schleife (Zählschleife)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Michael Bucek</dc:creator>
  <cp:lastModifiedBy>Birgit Schröder</cp:lastModifiedBy>
  <cp:revision>108</cp:revision>
  <dcterms:created xsi:type="dcterms:W3CDTF">2013-05-11T11:25:57Z</dcterms:created>
  <dcterms:modified xsi:type="dcterms:W3CDTF">2015-11-05T17:08:38Z</dcterms:modified>
</cp:coreProperties>
</file>