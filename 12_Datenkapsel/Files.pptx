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89" r:id="rId1"/>
    <p:sldMasterId id="2147483675" r:id="rId2"/>
  </p:sldMasterIdLst>
  <p:notesMasterIdLst>
    <p:notesMasterId r:id="rId15"/>
  </p:notesMasterIdLst>
  <p:handoutMasterIdLst>
    <p:handoutMasterId r:id="rId16"/>
  </p:handoutMasterIdLst>
  <p:sldIdLst>
    <p:sldId id="279" r:id="rId3"/>
    <p:sldId id="273" r:id="rId4"/>
    <p:sldId id="275" r:id="rId5"/>
    <p:sldId id="276" r:id="rId6"/>
    <p:sldId id="277" r:id="rId7"/>
    <p:sldId id="278" r:id="rId8"/>
    <p:sldId id="285" r:id="rId9"/>
    <p:sldId id="281" r:id="rId10"/>
    <p:sldId id="283" r:id="rId11"/>
    <p:sldId id="282" r:id="rId12"/>
    <p:sldId id="284" r:id="rId13"/>
    <p:sldId id="266" r:id="rId14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66CCFF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4629" autoAdjust="0"/>
  </p:normalViewPr>
  <p:slideViewPr>
    <p:cSldViewPr>
      <p:cViewPr varScale="1">
        <p:scale>
          <a:sx n="66" d="100"/>
          <a:sy n="66" d="100"/>
        </p:scale>
        <p:origin x="13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39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CF3B6E9-D642-4ECF-BF3C-B883CAD69D1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404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 smtClean="0"/>
              <a:t>Click </a:t>
            </a:r>
            <a:r>
              <a:rPr lang="de-DE" noProof="0" dirty="0" err="1" smtClean="0"/>
              <a:t>to</a:t>
            </a:r>
            <a:r>
              <a:rPr lang="de-DE" noProof="0" dirty="0" smtClean="0"/>
              <a:t> </a:t>
            </a:r>
            <a:r>
              <a:rPr lang="de-DE" noProof="0" dirty="0" err="1" smtClean="0"/>
              <a:t>edit</a:t>
            </a:r>
            <a:r>
              <a:rPr lang="de-DE" noProof="0" dirty="0" smtClean="0"/>
              <a:t> Master </a:t>
            </a:r>
            <a:r>
              <a:rPr lang="de-DE" noProof="0" dirty="0" err="1" smtClean="0"/>
              <a:t>text</a:t>
            </a:r>
            <a:r>
              <a:rPr lang="de-DE" noProof="0" dirty="0" smtClean="0"/>
              <a:t> </a:t>
            </a:r>
            <a:r>
              <a:rPr lang="de-DE" noProof="0" dirty="0" err="1" smtClean="0"/>
              <a:t>styles</a:t>
            </a:r>
            <a:endParaRPr lang="de-DE" noProof="0" dirty="0" smtClean="0"/>
          </a:p>
          <a:p>
            <a:pPr lvl="1"/>
            <a:r>
              <a:rPr lang="de-DE" noProof="0" dirty="0" smtClean="0"/>
              <a:t>Second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2"/>
            <a:r>
              <a:rPr lang="de-DE" noProof="0" dirty="0" smtClean="0"/>
              <a:t>Third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3"/>
            <a:r>
              <a:rPr lang="de-DE" noProof="0" dirty="0" err="1" smtClean="0"/>
              <a:t>Fourth</a:t>
            </a:r>
            <a:r>
              <a:rPr lang="de-DE" noProof="0" dirty="0" smtClean="0"/>
              <a:t>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4"/>
            <a:r>
              <a:rPr lang="de-DE" noProof="0" dirty="0" err="1" smtClean="0"/>
              <a:t>Fifth</a:t>
            </a:r>
            <a:r>
              <a:rPr lang="de-DE" noProof="0" dirty="0" smtClean="0"/>
              <a:t> </a:t>
            </a:r>
            <a:r>
              <a:rPr lang="de-DE" noProof="0" dirty="0" err="1" smtClean="0"/>
              <a:t>level</a:t>
            </a:r>
            <a:endParaRPr lang="de-DE" noProof="0" dirty="0" smtClean="0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FE98FE1-0A48-4102-B897-052B018683B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03294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2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50005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98433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9763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24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59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3974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smtClean="0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AT" smtClean="0"/>
              <a:t>Mastertextformat bearbeiten</a:t>
            </a:r>
          </a:p>
          <a:p>
            <a:pPr lvl="1"/>
            <a:r>
              <a:rPr lang="de-AT" smtClean="0"/>
              <a:t>Zweite Ebene</a:t>
            </a:r>
          </a:p>
          <a:p>
            <a:pPr lvl="2"/>
            <a:r>
              <a:rPr lang="de-AT" smtClean="0"/>
              <a:t>Dritte Ebene</a:t>
            </a:r>
          </a:p>
          <a:p>
            <a:pPr lvl="3"/>
            <a:r>
              <a:rPr lang="de-AT" smtClean="0"/>
              <a:t>Vierte Ebene</a:t>
            </a:r>
          </a:p>
          <a:p>
            <a:pPr lvl="4"/>
            <a:r>
              <a:rPr lang="de-AT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78ECFA-1B9A-C04F-9B69-EA3AF50DD0EB}" type="datetimeFigureOut">
              <a:rPr lang="de-DE" smtClean="0"/>
              <a:t>07.04.2017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20CC60C-C764-3B49-ACA5-AD11A4CAEA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6622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8" name="Textfeld 7"/>
          <p:cNvSpPr txBox="1"/>
          <p:nvPr userDrawn="1"/>
        </p:nvSpPr>
        <p:spPr>
          <a:xfrm>
            <a:off x="179512" y="6425987"/>
            <a:ext cx="2085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I_POS_14/15, Schröder</a:t>
            </a:r>
            <a:endParaRPr lang="de-AT" sz="2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 descr="https://svs.htl-leonding.ac.at/svswebmodul/images/schullogo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-2861"/>
            <a:ext cx="6619875" cy="62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platzhalt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92697"/>
            <a:ext cx="8229600" cy="996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de-AT" sz="43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5pPr marL="1828800" indent="0" algn="l" defTabSz="914400" rtl="0" eaLnBrk="1" latinLnBrk="0" hangingPunct="1">
              <a:spcBef>
                <a:spcPct val="0"/>
              </a:spcBef>
              <a:buNone/>
              <a:defRPr lang="de-AT" sz="43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AT" dirty="0" smtClean="0"/>
              <a:t>Titel einfügen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094950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8" name="Textfeld 7"/>
          <p:cNvSpPr txBox="1"/>
          <p:nvPr userDrawn="1"/>
        </p:nvSpPr>
        <p:spPr>
          <a:xfrm>
            <a:off x="179512" y="6425987"/>
            <a:ext cx="2085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I_POS_14/15, Schröder</a:t>
            </a:r>
            <a:endParaRPr lang="de-AT" sz="2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 descr="https://svs.htl-leonding.ac.at/svswebmodul/images/schullogo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-2861"/>
            <a:ext cx="6619875" cy="62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platzhalt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92697"/>
            <a:ext cx="8229600" cy="996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de-AT" sz="43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5pPr marL="1828800" indent="0" algn="l" defTabSz="914400" rtl="0" eaLnBrk="1" latinLnBrk="0" hangingPunct="1">
              <a:spcBef>
                <a:spcPct val="0"/>
              </a:spcBef>
              <a:buNone/>
              <a:defRPr lang="de-AT" sz="43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AT" dirty="0" smtClean="0"/>
              <a:t>Titel einfügen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902394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8" name="Textfeld 7"/>
          <p:cNvSpPr txBox="1"/>
          <p:nvPr userDrawn="1"/>
        </p:nvSpPr>
        <p:spPr>
          <a:xfrm>
            <a:off x="179512" y="6425987"/>
            <a:ext cx="2085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I_POS_14/15, Schröder</a:t>
            </a:r>
            <a:endParaRPr lang="de-AT" sz="2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 descr="https://svs.htl-leonding.ac.at/svswebmodul/images/schullogo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-2861"/>
            <a:ext cx="6619875" cy="62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platzhalt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92697"/>
            <a:ext cx="8229600" cy="996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de-AT" sz="43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5pPr marL="1828800" indent="0" algn="l" defTabSz="914400" rtl="0" eaLnBrk="1" latinLnBrk="0" hangingPunct="1">
              <a:spcBef>
                <a:spcPct val="0"/>
              </a:spcBef>
              <a:buNone/>
              <a:defRPr lang="de-AT" sz="43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AT" dirty="0" smtClean="0"/>
              <a:t>Titel einfügen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748736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8" name="Textfeld 7"/>
          <p:cNvSpPr txBox="1"/>
          <p:nvPr userDrawn="1"/>
        </p:nvSpPr>
        <p:spPr>
          <a:xfrm>
            <a:off x="179512" y="6425987"/>
            <a:ext cx="2085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I_POS_14/15, Schröder</a:t>
            </a:r>
            <a:endParaRPr lang="de-AT" sz="2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 descr="https://svs.htl-leonding.ac.at/svswebmodul/images/schullogo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-2861"/>
            <a:ext cx="6619875" cy="62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platzhalt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92697"/>
            <a:ext cx="8229600" cy="996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de-AT" sz="43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5pPr marL="1828800" indent="0" algn="l" defTabSz="914400" rtl="0" eaLnBrk="1" latinLnBrk="0" hangingPunct="1">
              <a:spcBef>
                <a:spcPct val="0"/>
              </a:spcBef>
              <a:buNone/>
              <a:defRPr lang="de-AT" sz="43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AT" dirty="0" smtClean="0"/>
              <a:t>Titel einfügen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41339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8" name="Textfeld 7"/>
          <p:cNvSpPr txBox="1"/>
          <p:nvPr userDrawn="1"/>
        </p:nvSpPr>
        <p:spPr>
          <a:xfrm>
            <a:off x="179512" y="6425987"/>
            <a:ext cx="2085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I_POS_14/15, Schröder</a:t>
            </a:r>
            <a:endParaRPr lang="de-AT" sz="2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 descr="https://svs.htl-leonding.ac.at/svswebmodul/images/schullogo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-2861"/>
            <a:ext cx="6619875" cy="62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platzhalt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92697"/>
            <a:ext cx="8229600" cy="996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de-AT" sz="43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5pPr marL="1828800" indent="0" algn="l" defTabSz="914400" rtl="0" eaLnBrk="1" latinLnBrk="0" hangingPunct="1">
              <a:spcBef>
                <a:spcPct val="0"/>
              </a:spcBef>
              <a:buNone/>
              <a:defRPr lang="de-AT" sz="43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AT" dirty="0" smtClean="0"/>
              <a:t>Titel einfügen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522135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8" name="Textfeld 7"/>
          <p:cNvSpPr txBox="1"/>
          <p:nvPr userDrawn="1"/>
        </p:nvSpPr>
        <p:spPr>
          <a:xfrm>
            <a:off x="179512" y="6425987"/>
            <a:ext cx="2085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I_POS_14/15, Schröder</a:t>
            </a:r>
            <a:endParaRPr lang="de-AT" sz="2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 descr="https://svs.htl-leonding.ac.at/svswebmodul/images/schullogo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-2861"/>
            <a:ext cx="6619875" cy="62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platzhalt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92697"/>
            <a:ext cx="8229600" cy="996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de-AT" sz="43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5pPr marL="1828800" indent="0" algn="l" defTabSz="914400" rtl="0" eaLnBrk="1" latinLnBrk="0" hangingPunct="1">
              <a:spcBef>
                <a:spcPct val="0"/>
              </a:spcBef>
              <a:buNone/>
              <a:defRPr lang="de-AT" sz="43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AT" dirty="0" smtClean="0"/>
              <a:t>Titel einfügen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63513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8" name="Textfeld 7"/>
          <p:cNvSpPr txBox="1"/>
          <p:nvPr userDrawn="1"/>
        </p:nvSpPr>
        <p:spPr>
          <a:xfrm>
            <a:off x="179512" y="6425987"/>
            <a:ext cx="2085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I_POS_14/15, Schröder</a:t>
            </a:r>
            <a:endParaRPr lang="de-AT" sz="2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 descr="https://svs.htl-leonding.ac.at/svswebmodul/images/schullogo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-2861"/>
            <a:ext cx="6619875" cy="62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platzhalt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92697"/>
            <a:ext cx="8229600" cy="996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de-AT" sz="43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5pPr marL="1828800" indent="0" algn="l" defTabSz="914400" rtl="0" eaLnBrk="1" latinLnBrk="0" hangingPunct="1">
              <a:spcBef>
                <a:spcPct val="0"/>
              </a:spcBef>
              <a:buNone/>
              <a:defRPr lang="de-AT" sz="43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AT" dirty="0" smtClean="0"/>
              <a:t>Titel einfügen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3008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5A622-F1C9-471E-A045-917856562A9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4656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30192-98C0-4F7E-8A6C-3464491936D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47875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63292-49DA-4525-9402-623268582AA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204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51968-5547-49E2-8B03-0928F3E4D0F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829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C8015-81C4-4497-B385-CB5052A6A8F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564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A2FB3-8338-4369-991F-FEB1EBA3B08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0652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64E4B-FB0E-4C04-9484-AE12EAAF416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7848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63C3D-F54B-46CA-859D-EE0B596AC3E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875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dirty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D00F0-27DA-4B34-B6A6-708776BF787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2755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71969-BFBC-4D67-8A36-3BF725D43CA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42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883D5-AA45-499B-8E32-7E294E667CB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6752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 userDrawn="1"/>
        </p:nvSpPr>
        <p:spPr bwMode="auto">
          <a:xfrm>
            <a:off x="363538" y="104775"/>
            <a:ext cx="85375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9pPr>
          </a:lstStyle>
          <a:p>
            <a:pPr eaLnBrk="1" hangingPunct="1">
              <a:defRPr/>
            </a:pPr>
            <a:endParaRPr lang="de-AT" sz="320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85720" y="1285860"/>
            <a:ext cx="8572560" cy="503874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006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053" name="Grafik 6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2055" name="Rectangle 10"/>
          <p:cNvSpPr>
            <a:spLocks noChangeArrowheads="1"/>
          </p:cNvSpPr>
          <p:nvPr userDrawn="1"/>
        </p:nvSpPr>
        <p:spPr bwMode="gray">
          <a:xfrm>
            <a:off x="349250" y="6309320"/>
            <a:ext cx="3430662" cy="29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I_POS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2016/17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  <a:sym typeface="Wingdings" pitchFamily="2" charset="2"/>
              </a:rPr>
              <a:t> Files 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Seite </a:t>
            </a:r>
            <a:fld id="{C5A4FFB9-E613-43CD-964A-AE1E9E6225EE}" type="slidenum">
              <a:rPr lang="de-DE" sz="1000" kern="12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S PGothic" pitchFamily="34" charset="-128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7"/>
          <p:cNvGrpSpPr>
            <a:grpSpLocks/>
          </p:cNvGrpSpPr>
          <p:nvPr userDrawn="1"/>
        </p:nvGrpSpPr>
        <p:grpSpPr bwMode="auto">
          <a:xfrm>
            <a:off x="0" y="0"/>
            <a:ext cx="9144000" cy="1125538"/>
            <a:chOff x="0" y="0"/>
            <a:chExt cx="5760" cy="979"/>
          </a:xfrm>
        </p:grpSpPr>
        <p:grpSp>
          <p:nvGrpSpPr>
            <p:cNvPr id="3080" name="Group 8"/>
            <p:cNvGrpSpPr>
              <a:grpSpLocks/>
            </p:cNvGrpSpPr>
            <p:nvPr userDrawn="1"/>
          </p:nvGrpSpPr>
          <p:grpSpPr bwMode="auto">
            <a:xfrm>
              <a:off x="4" y="746"/>
              <a:ext cx="5756" cy="69"/>
              <a:chOff x="0" y="768"/>
              <a:chExt cx="5760" cy="58"/>
            </a:xfrm>
          </p:grpSpPr>
          <p:sp>
            <p:nvSpPr>
              <p:cNvPr id="1036" name="Rectangle 9"/>
              <p:cNvSpPr>
                <a:spLocks noChangeArrowheads="1"/>
              </p:cNvSpPr>
              <p:nvPr/>
            </p:nvSpPr>
            <p:spPr bwMode="auto">
              <a:xfrm flipV="1">
                <a:off x="0" y="778"/>
                <a:ext cx="5760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de-AT" smtClean="0">
                  <a:latin typeface="Calibri" panose="020F0502020204030204" pitchFamily="34" charset="0"/>
                </a:endParaRP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5760" cy="12"/>
              </a:xfrm>
              <a:prstGeom prst="rect">
                <a:avLst/>
              </a:prstGeom>
              <a:gradFill rotWithShape="0">
                <a:gsLst>
                  <a:gs pos="0">
                    <a:schemeClr val="tx2"/>
                  </a:gs>
                  <a:gs pos="100000">
                    <a:schemeClr val="tx2">
                      <a:gamma/>
                      <a:tint val="51765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de-AT" dirty="0">
                  <a:latin typeface="Calibri" pitchFamily="34" charset="0"/>
                  <a:ea typeface="ＭＳ Ｐゴシック" pitchFamily="-44" charset="-128"/>
                </a:endParaRPr>
              </a:p>
            </p:txBody>
          </p:sp>
        </p:grpSp>
        <p:sp>
          <p:nvSpPr>
            <p:cNvPr id="1033" name="Rectangle 14" descr="Horizontal dünn"/>
            <p:cNvSpPr>
              <a:spLocks noChangeArrowheads="1"/>
            </p:cNvSpPr>
            <p:nvPr/>
          </p:nvSpPr>
          <p:spPr bwMode="auto">
            <a:xfrm>
              <a:off x="0" y="0"/>
              <a:ext cx="5760" cy="768"/>
            </a:xfrm>
            <a:prstGeom prst="rect">
              <a:avLst/>
            </a:prstGeom>
            <a:pattFill prst="narHorz">
              <a:fgClr>
                <a:srgbClr val="F0F0F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  <p:sp>
          <p:nvSpPr>
            <p:cNvPr id="1034" name="Rectangle 15"/>
            <p:cNvSpPr>
              <a:spLocks noChangeArrowheads="1"/>
            </p:cNvSpPr>
            <p:nvPr/>
          </p:nvSpPr>
          <p:spPr bwMode="auto">
            <a:xfrm>
              <a:off x="2" y="882"/>
              <a:ext cx="5758" cy="97"/>
            </a:xfrm>
            <a:prstGeom prst="rect">
              <a:avLst/>
            </a:pr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  <p:sp>
          <p:nvSpPr>
            <p:cNvPr id="1035" name="Rectangle 16"/>
            <p:cNvSpPr>
              <a:spLocks noChangeArrowheads="1"/>
            </p:cNvSpPr>
            <p:nvPr/>
          </p:nvSpPr>
          <p:spPr bwMode="auto">
            <a:xfrm>
              <a:off x="3" y="746"/>
              <a:ext cx="5757" cy="47"/>
            </a:xfrm>
            <a:prstGeom prst="rect">
              <a:avLst/>
            </a:prstGeom>
            <a:solidFill>
              <a:srgbClr val="777777">
                <a:alpha val="3098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</p:grp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088" y="100013"/>
            <a:ext cx="7743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das Titelformat zu bearbeiten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die Formate des Vorlagentextes zu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2413" y="6400800"/>
            <a:ext cx="14430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1888" y="6400800"/>
            <a:ext cx="433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34263" y="6400800"/>
            <a:ext cx="14493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3A51FF2-54A1-464E-A4F3-7BAB1C2A15B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9pPr>
    </p:titleStyle>
    <p:bodyStyle>
      <a:lvl1pPr marL="288925" indent="-288925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65175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Calibri" pitchFamily="34" charset="0"/>
        </a:defRPr>
      </a:lvl2pPr>
      <a:lvl3pPr marL="118427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alibri" pitchFamily="34" charset="0"/>
        </a:defRPr>
      </a:lvl3pPr>
      <a:lvl4pPr marL="1603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Calibri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File</a:t>
            </a:r>
            <a:endParaRPr lang="de-AT" dirty="0"/>
          </a:p>
        </p:txBody>
      </p:sp>
      <p:sp>
        <p:nvSpPr>
          <p:cNvPr id="5" name="Inhaltsplatzhalter 1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de-AT" sz="2400" dirty="0" smtClean="0"/>
              <a:t>Namespace: </a:t>
            </a:r>
            <a:r>
              <a:rPr lang="de-AT" sz="2400" dirty="0" smtClean="0"/>
              <a:t>System.IO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AT" sz="2400" dirty="0" smtClean="0"/>
              <a:t>Ähnlich wie </a:t>
            </a:r>
            <a:r>
              <a:rPr lang="de-AT" sz="2400" dirty="0" err="1" smtClean="0"/>
              <a:t>Console</a:t>
            </a:r>
            <a:endParaRPr lang="de-AT" sz="24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de-AT" sz="2100" dirty="0" smtClean="0"/>
              <a:t>Zusätzliche Angabe eines Dateipfades</a:t>
            </a:r>
            <a:endParaRPr lang="de-AT" sz="21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de-AT" sz="2400" dirty="0" smtClean="0"/>
              <a:t>Einfacher Umgang mit Text- oder </a:t>
            </a:r>
            <a:r>
              <a:rPr lang="de-AT" sz="2400" dirty="0" smtClean="0"/>
              <a:t>Binärdateien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sz="2100" dirty="0" err="1" smtClean="0"/>
              <a:t>File.ReadAllLines</a:t>
            </a:r>
            <a:endParaRPr lang="de-AT" sz="21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de-AT" sz="2100" dirty="0" err="1" smtClean="0"/>
              <a:t>File.ReadAllText</a:t>
            </a:r>
            <a:endParaRPr lang="de-AT" sz="21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de-AT" sz="2100" dirty="0" err="1" smtClean="0"/>
              <a:t>File.WriteAllLines</a:t>
            </a:r>
            <a:endParaRPr lang="de-AT" sz="21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de-AT" sz="2100" dirty="0" err="1" smtClean="0"/>
              <a:t>File.WriteAllText</a:t>
            </a:r>
            <a:endParaRPr lang="de-AT" sz="21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de-AT" sz="2100" dirty="0" err="1" smtClean="0"/>
              <a:t>File.Exists</a:t>
            </a:r>
            <a:endParaRPr lang="de-AT" sz="2100" dirty="0" smtClean="0"/>
          </a:p>
          <a:p>
            <a:endParaRPr lang="de-AT" sz="2400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082" y="260648"/>
            <a:ext cx="203835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33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68" y="2060848"/>
            <a:ext cx="8524875" cy="533400"/>
          </a:xfrm>
          <a:prstGeom prst="rect">
            <a:avLst/>
          </a:prstGeom>
        </p:spPr>
      </p:pic>
      <p:grpSp>
        <p:nvGrpSpPr>
          <p:cNvPr id="16" name="Gruppierung 15"/>
          <p:cNvGrpSpPr/>
          <p:nvPr/>
        </p:nvGrpSpPr>
        <p:grpSpPr>
          <a:xfrm>
            <a:off x="3851920" y="857771"/>
            <a:ext cx="3131962" cy="1289016"/>
            <a:chOff x="3851920" y="857771"/>
            <a:chExt cx="3131962" cy="1289016"/>
          </a:xfrm>
        </p:grpSpPr>
        <p:sp>
          <p:nvSpPr>
            <p:cNvPr id="6" name="Pfeil nach unten 5"/>
            <p:cNvSpPr/>
            <p:nvPr/>
          </p:nvSpPr>
          <p:spPr>
            <a:xfrm>
              <a:off x="5012728" y="1436231"/>
              <a:ext cx="423368" cy="710556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/>
          </p:nvSpPr>
          <p:spPr>
            <a:xfrm>
              <a:off x="3851920" y="857771"/>
              <a:ext cx="3131962" cy="77102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2400" dirty="0">
                  <a:solidFill>
                    <a:srgbClr val="000000"/>
                  </a:solidFill>
                </a:rPr>
                <a:t>Die Datei, die </a:t>
              </a:r>
              <a:r>
                <a:rPr lang="de-DE" dirty="0" smtClean="0">
                  <a:solidFill>
                    <a:srgbClr val="000000"/>
                  </a:solidFill>
                </a:rPr>
                <a:t>gelesen werden soll</a:t>
              </a:r>
              <a:r>
                <a:rPr lang="de-DE" sz="2400" dirty="0" smtClean="0">
                  <a:solidFill>
                    <a:srgbClr val="000000"/>
                  </a:solidFill>
                </a:rPr>
                <a:t> </a:t>
              </a:r>
              <a:endParaRPr lang="de-DE" sz="2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7" name="Gruppierung 16"/>
          <p:cNvGrpSpPr/>
          <p:nvPr/>
        </p:nvGrpSpPr>
        <p:grpSpPr>
          <a:xfrm>
            <a:off x="2587648" y="2412814"/>
            <a:ext cx="2056360" cy="1464613"/>
            <a:chOff x="2343646" y="2918369"/>
            <a:chExt cx="2056360" cy="1464613"/>
          </a:xfrm>
        </p:grpSpPr>
        <p:sp>
          <p:nvSpPr>
            <p:cNvPr id="7" name="Pfeil nach unten 6"/>
            <p:cNvSpPr/>
            <p:nvPr/>
          </p:nvSpPr>
          <p:spPr>
            <a:xfrm rot="10800000">
              <a:off x="3160143" y="2918369"/>
              <a:ext cx="423368" cy="711774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/>
            <p:cNvSpPr/>
            <p:nvPr/>
          </p:nvSpPr>
          <p:spPr>
            <a:xfrm>
              <a:off x="2343646" y="3358491"/>
              <a:ext cx="2056360" cy="102449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3200" dirty="0" smtClean="0">
                  <a:solidFill>
                    <a:srgbClr val="000000"/>
                  </a:solidFill>
                </a:rPr>
                <a:t>Methoden</a:t>
              </a:r>
            </a:p>
            <a:p>
              <a:pPr algn="ctr"/>
              <a:r>
                <a:rPr lang="de-DE" sz="3200" dirty="0" smtClean="0">
                  <a:solidFill>
                    <a:srgbClr val="000000"/>
                  </a:solidFill>
                </a:rPr>
                <a:t>Name</a:t>
              </a:r>
              <a:endParaRPr lang="de-DE" sz="32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1" name="Rechteck 10"/>
          <p:cNvSpPr/>
          <p:nvPr/>
        </p:nvSpPr>
        <p:spPr>
          <a:xfrm>
            <a:off x="4499992" y="4221088"/>
            <a:ext cx="3099661" cy="1902566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2400" dirty="0">
                <a:solidFill>
                  <a:schemeClr val="tx1"/>
                </a:solidFill>
                <a:latin typeface="Calibri"/>
                <a:cs typeface="Calibri"/>
              </a:rPr>
              <a:t>Öffnet eine Textdatei, liest </a:t>
            </a:r>
            <a:r>
              <a:rPr lang="de-DE" sz="2400" dirty="0" smtClean="0">
                <a:solidFill>
                  <a:schemeClr val="tx1"/>
                </a:solidFill>
                <a:latin typeface="Calibri"/>
                <a:cs typeface="Calibri"/>
              </a:rPr>
              <a:t>den gesamten Text in einen </a:t>
            </a:r>
            <a:r>
              <a:rPr lang="de-DE" dirty="0" smtClean="0">
                <a:solidFill>
                  <a:schemeClr val="tx1"/>
                </a:solidFill>
                <a:latin typeface="Calibri"/>
                <a:cs typeface="Calibri"/>
              </a:rPr>
              <a:t>String </a:t>
            </a:r>
            <a:r>
              <a:rPr lang="de-DE" sz="2400" dirty="0" smtClean="0">
                <a:solidFill>
                  <a:schemeClr val="tx1"/>
                </a:solidFill>
                <a:latin typeface="Calibri"/>
                <a:cs typeface="Calibri"/>
              </a:rPr>
              <a:t>und </a:t>
            </a:r>
            <a:r>
              <a:rPr lang="de-DE" sz="2400" dirty="0">
                <a:solidFill>
                  <a:schemeClr val="tx1"/>
                </a:solidFill>
                <a:latin typeface="Calibri"/>
                <a:cs typeface="Calibri"/>
              </a:rPr>
              <a:t>schließt dann die Datei</a:t>
            </a:r>
            <a:r>
              <a:rPr lang="de-DE" sz="2400" dirty="0" smtClean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lang="de-DE" sz="2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grpSp>
        <p:nvGrpSpPr>
          <p:cNvPr id="18" name="Gruppierung 17"/>
          <p:cNvGrpSpPr/>
          <p:nvPr/>
        </p:nvGrpSpPr>
        <p:grpSpPr>
          <a:xfrm>
            <a:off x="467544" y="2492896"/>
            <a:ext cx="3431110" cy="2421211"/>
            <a:chOff x="2123728" y="4298251"/>
            <a:chExt cx="3431110" cy="2421211"/>
          </a:xfrm>
        </p:grpSpPr>
        <p:sp>
          <p:nvSpPr>
            <p:cNvPr id="12" name="Pfeil nach unten 11"/>
            <p:cNvSpPr/>
            <p:nvPr/>
          </p:nvSpPr>
          <p:spPr>
            <a:xfrm rot="10800000">
              <a:off x="2852488" y="4298251"/>
              <a:ext cx="423368" cy="1867052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2123728" y="6165304"/>
              <a:ext cx="3431110" cy="55415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3200" dirty="0" smtClean="0">
                  <a:solidFill>
                    <a:srgbClr val="000000"/>
                  </a:solidFill>
                </a:rPr>
                <a:t>Rückgabewert!</a:t>
              </a:r>
              <a:endParaRPr lang="de-DE" sz="3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5" name="Gruppierung 14"/>
          <p:cNvGrpSpPr/>
          <p:nvPr/>
        </p:nvGrpSpPr>
        <p:grpSpPr>
          <a:xfrm>
            <a:off x="1786878" y="836712"/>
            <a:ext cx="1705002" cy="1172270"/>
            <a:chOff x="638644" y="974517"/>
            <a:chExt cx="1281634" cy="1172270"/>
          </a:xfrm>
        </p:grpSpPr>
        <p:sp>
          <p:nvSpPr>
            <p:cNvPr id="4" name="Pfeil nach unten 3"/>
            <p:cNvSpPr/>
            <p:nvPr/>
          </p:nvSpPr>
          <p:spPr>
            <a:xfrm>
              <a:off x="1067777" y="1436231"/>
              <a:ext cx="423368" cy="710556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/>
            <p:cNvSpPr/>
            <p:nvPr/>
          </p:nvSpPr>
          <p:spPr>
            <a:xfrm>
              <a:off x="638644" y="974517"/>
              <a:ext cx="1281634" cy="46988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3200" dirty="0" smtClean="0">
                  <a:solidFill>
                    <a:srgbClr val="000000"/>
                  </a:solidFill>
                </a:rPr>
                <a:t>Klasse</a:t>
              </a:r>
              <a:endParaRPr lang="de-DE" sz="32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9" name="Titel 1"/>
          <p:cNvSpPr txBox="1">
            <a:spLocks/>
          </p:cNvSpPr>
          <p:nvPr/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de-DE" altLang="de-DE" dirty="0" err="1" smtClean="0"/>
              <a:t>ReadAllText</a:t>
            </a:r>
            <a:r>
              <a:rPr lang="de-DE" altLang="de-DE" dirty="0" smtClean="0"/>
              <a:t>: Text </a:t>
            </a:r>
            <a:r>
              <a:rPr lang="de-DE" altLang="de-DE" dirty="0" smtClean="0"/>
              <a:t>aus einer Datei lesen</a:t>
            </a:r>
            <a:endParaRPr lang="de-DE" dirty="0"/>
          </a:p>
        </p:txBody>
      </p:sp>
      <p:grpSp>
        <p:nvGrpSpPr>
          <p:cNvPr id="21" name="Gruppierung 16"/>
          <p:cNvGrpSpPr/>
          <p:nvPr/>
        </p:nvGrpSpPr>
        <p:grpSpPr>
          <a:xfrm>
            <a:off x="5940152" y="2420888"/>
            <a:ext cx="2448272" cy="1456539"/>
            <a:chOff x="1951734" y="2918369"/>
            <a:chExt cx="2448272" cy="1456539"/>
          </a:xfrm>
        </p:grpSpPr>
        <p:sp>
          <p:nvSpPr>
            <p:cNvPr id="22" name="Pfeil nach unten 21"/>
            <p:cNvSpPr/>
            <p:nvPr/>
          </p:nvSpPr>
          <p:spPr>
            <a:xfrm rot="10800000">
              <a:off x="3688606" y="2918369"/>
              <a:ext cx="423368" cy="711774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/>
            <p:cNvSpPr/>
            <p:nvPr/>
          </p:nvSpPr>
          <p:spPr>
            <a:xfrm>
              <a:off x="1951734" y="3350417"/>
              <a:ext cx="2448272" cy="102449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800" dirty="0" smtClean="0">
                  <a:solidFill>
                    <a:srgbClr val="000000"/>
                  </a:solidFill>
                </a:rPr>
                <a:t>Richtige Kodierung von Umlauten und Sonderzeichen</a:t>
              </a:r>
              <a:endParaRPr lang="de-DE" sz="18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0965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Beispiel: </a:t>
            </a:r>
            <a:r>
              <a:rPr lang="de-AT" dirty="0" err="1" smtClean="0"/>
              <a:t>ReadAllText</a:t>
            </a:r>
            <a:endParaRPr lang="de-AT" dirty="0"/>
          </a:p>
        </p:txBody>
      </p:sp>
      <p:pic>
        <p:nvPicPr>
          <p:cNvPr id="5" name="Inhaltsplatzhalt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3321823"/>
            <a:ext cx="8229600" cy="611233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91" y="1052058"/>
            <a:ext cx="6352381" cy="2107496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1" y="4369192"/>
            <a:ext cx="6949405" cy="1868120"/>
          </a:xfrm>
          <a:prstGeom prst="rect">
            <a:avLst/>
          </a:prstGeom>
        </p:spPr>
      </p:pic>
      <p:sp>
        <p:nvSpPr>
          <p:cNvPr id="8" name="Textfeld 7"/>
          <p:cNvSpPr txBox="1"/>
          <p:nvPr/>
        </p:nvSpPr>
        <p:spPr>
          <a:xfrm>
            <a:off x="611560" y="3942861"/>
            <a:ext cx="669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smtClean="0"/>
              <a:t>Vergleiche – Anzeige aller Zeichen: 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1732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2060079"/>
            <a:ext cx="8420100" cy="504825"/>
          </a:xfrm>
          <a:prstGeom prst="rect">
            <a:avLst/>
          </a:prstGeom>
        </p:spPr>
      </p:pic>
      <p:grpSp>
        <p:nvGrpSpPr>
          <p:cNvPr id="16" name="Gruppierung 15"/>
          <p:cNvGrpSpPr/>
          <p:nvPr/>
        </p:nvGrpSpPr>
        <p:grpSpPr>
          <a:xfrm>
            <a:off x="3851920" y="857771"/>
            <a:ext cx="3131962" cy="1289016"/>
            <a:chOff x="3851920" y="857771"/>
            <a:chExt cx="3131962" cy="1289016"/>
          </a:xfrm>
        </p:grpSpPr>
        <p:sp>
          <p:nvSpPr>
            <p:cNvPr id="6" name="Pfeil nach unten 5"/>
            <p:cNvSpPr/>
            <p:nvPr/>
          </p:nvSpPr>
          <p:spPr>
            <a:xfrm>
              <a:off x="5012728" y="1436231"/>
              <a:ext cx="423368" cy="710556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/>
          </p:nvSpPr>
          <p:spPr>
            <a:xfrm>
              <a:off x="3851920" y="857771"/>
              <a:ext cx="3131962" cy="77102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2400" dirty="0">
                  <a:solidFill>
                    <a:srgbClr val="000000"/>
                  </a:solidFill>
                </a:rPr>
                <a:t>Die Datei, die </a:t>
              </a:r>
              <a:r>
                <a:rPr lang="de-DE" dirty="0" smtClean="0">
                  <a:solidFill>
                    <a:srgbClr val="000000"/>
                  </a:solidFill>
                </a:rPr>
                <a:t>gelesen werden soll</a:t>
              </a:r>
              <a:r>
                <a:rPr lang="de-DE" sz="2400" dirty="0" smtClean="0">
                  <a:solidFill>
                    <a:srgbClr val="000000"/>
                  </a:solidFill>
                </a:rPr>
                <a:t> </a:t>
              </a:r>
              <a:endParaRPr lang="de-DE" sz="2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7" name="Gruppierung 16"/>
          <p:cNvGrpSpPr/>
          <p:nvPr/>
        </p:nvGrpSpPr>
        <p:grpSpPr>
          <a:xfrm>
            <a:off x="2587648" y="2412814"/>
            <a:ext cx="2056360" cy="1464613"/>
            <a:chOff x="2343646" y="2918369"/>
            <a:chExt cx="2056360" cy="1464613"/>
          </a:xfrm>
        </p:grpSpPr>
        <p:sp>
          <p:nvSpPr>
            <p:cNvPr id="7" name="Pfeil nach unten 6"/>
            <p:cNvSpPr/>
            <p:nvPr/>
          </p:nvSpPr>
          <p:spPr>
            <a:xfrm rot="10800000">
              <a:off x="3160143" y="2918369"/>
              <a:ext cx="423368" cy="711774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/>
            <p:cNvSpPr/>
            <p:nvPr/>
          </p:nvSpPr>
          <p:spPr>
            <a:xfrm>
              <a:off x="2343646" y="3358491"/>
              <a:ext cx="2056360" cy="102449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3200" dirty="0" smtClean="0">
                  <a:solidFill>
                    <a:srgbClr val="000000"/>
                  </a:solidFill>
                </a:rPr>
                <a:t>Methoden</a:t>
              </a:r>
            </a:p>
            <a:p>
              <a:pPr algn="ctr"/>
              <a:r>
                <a:rPr lang="de-DE" sz="3200" dirty="0" smtClean="0">
                  <a:solidFill>
                    <a:srgbClr val="000000"/>
                  </a:solidFill>
                </a:rPr>
                <a:t>Name</a:t>
              </a:r>
              <a:endParaRPr lang="de-DE" sz="32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1" name="Rechteck 10"/>
          <p:cNvSpPr/>
          <p:nvPr/>
        </p:nvSpPr>
        <p:spPr>
          <a:xfrm>
            <a:off x="4499992" y="4221088"/>
            <a:ext cx="3099661" cy="1902566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2400" dirty="0">
                <a:solidFill>
                  <a:schemeClr val="tx1"/>
                </a:solidFill>
                <a:latin typeface="Calibri"/>
                <a:cs typeface="Calibri"/>
              </a:rPr>
              <a:t>Öffnet eine Textdatei, liest </a:t>
            </a:r>
            <a:r>
              <a:rPr lang="de-DE" sz="2400" dirty="0" smtClean="0">
                <a:solidFill>
                  <a:schemeClr val="tx1"/>
                </a:solidFill>
                <a:latin typeface="Calibri"/>
                <a:cs typeface="Calibri"/>
              </a:rPr>
              <a:t>alle Zeilen in ein String-Array und </a:t>
            </a:r>
            <a:r>
              <a:rPr lang="de-DE" sz="2400" dirty="0">
                <a:solidFill>
                  <a:schemeClr val="tx1"/>
                </a:solidFill>
                <a:latin typeface="Calibri"/>
                <a:cs typeface="Calibri"/>
              </a:rPr>
              <a:t>schließt dann die Datei</a:t>
            </a:r>
            <a:r>
              <a:rPr lang="de-DE" sz="2400" dirty="0" smtClean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lang="de-DE" sz="2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grpSp>
        <p:nvGrpSpPr>
          <p:cNvPr id="18" name="Gruppierung 17"/>
          <p:cNvGrpSpPr/>
          <p:nvPr/>
        </p:nvGrpSpPr>
        <p:grpSpPr>
          <a:xfrm>
            <a:off x="467544" y="2492896"/>
            <a:ext cx="3431110" cy="2421211"/>
            <a:chOff x="2123728" y="4298251"/>
            <a:chExt cx="3431110" cy="2421211"/>
          </a:xfrm>
        </p:grpSpPr>
        <p:sp>
          <p:nvSpPr>
            <p:cNvPr id="12" name="Pfeil nach unten 11"/>
            <p:cNvSpPr/>
            <p:nvPr/>
          </p:nvSpPr>
          <p:spPr>
            <a:xfrm rot="10800000">
              <a:off x="2852488" y="4298251"/>
              <a:ext cx="423368" cy="1867052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2123728" y="6165304"/>
              <a:ext cx="3431110" cy="55415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3200" dirty="0" smtClean="0">
                  <a:solidFill>
                    <a:srgbClr val="000000"/>
                  </a:solidFill>
                </a:rPr>
                <a:t>Rückgabewert!</a:t>
              </a:r>
              <a:endParaRPr lang="de-DE" sz="3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5" name="Gruppierung 14"/>
          <p:cNvGrpSpPr/>
          <p:nvPr/>
        </p:nvGrpSpPr>
        <p:grpSpPr>
          <a:xfrm>
            <a:off x="1786878" y="836712"/>
            <a:ext cx="1705002" cy="1172270"/>
            <a:chOff x="638644" y="974517"/>
            <a:chExt cx="1281634" cy="1172270"/>
          </a:xfrm>
        </p:grpSpPr>
        <p:sp>
          <p:nvSpPr>
            <p:cNvPr id="4" name="Pfeil nach unten 3"/>
            <p:cNvSpPr/>
            <p:nvPr/>
          </p:nvSpPr>
          <p:spPr>
            <a:xfrm>
              <a:off x="1067777" y="1436231"/>
              <a:ext cx="423368" cy="710556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/>
            <p:cNvSpPr/>
            <p:nvPr/>
          </p:nvSpPr>
          <p:spPr>
            <a:xfrm>
              <a:off x="638644" y="974517"/>
              <a:ext cx="1281634" cy="46988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3200" dirty="0" smtClean="0">
                  <a:solidFill>
                    <a:srgbClr val="000000"/>
                  </a:solidFill>
                </a:rPr>
                <a:t>Klasse</a:t>
              </a:r>
              <a:endParaRPr lang="de-DE" sz="32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9" name="Titel 1"/>
          <p:cNvSpPr txBox="1">
            <a:spLocks/>
          </p:cNvSpPr>
          <p:nvPr/>
        </p:nvSpPr>
        <p:spPr>
          <a:xfrm>
            <a:off x="179512" y="125413"/>
            <a:ext cx="8507288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de-DE" altLang="de-DE" dirty="0" err="1" smtClean="0"/>
              <a:t>ReadAllLines</a:t>
            </a:r>
            <a:r>
              <a:rPr lang="de-DE" altLang="de-DE" dirty="0" smtClean="0"/>
              <a:t>: Alle </a:t>
            </a:r>
            <a:r>
              <a:rPr lang="de-DE" altLang="de-DE" dirty="0" smtClean="0"/>
              <a:t>Zeilen einer Datei lesen</a:t>
            </a:r>
            <a:endParaRPr lang="de-DE" dirty="0"/>
          </a:p>
        </p:txBody>
      </p:sp>
      <p:grpSp>
        <p:nvGrpSpPr>
          <p:cNvPr id="21" name="Gruppierung 16"/>
          <p:cNvGrpSpPr/>
          <p:nvPr/>
        </p:nvGrpSpPr>
        <p:grpSpPr>
          <a:xfrm>
            <a:off x="5940152" y="2420888"/>
            <a:ext cx="2448272" cy="1456539"/>
            <a:chOff x="1951734" y="2918369"/>
            <a:chExt cx="2448272" cy="1456539"/>
          </a:xfrm>
        </p:grpSpPr>
        <p:sp>
          <p:nvSpPr>
            <p:cNvPr id="22" name="Pfeil nach unten 21"/>
            <p:cNvSpPr/>
            <p:nvPr/>
          </p:nvSpPr>
          <p:spPr>
            <a:xfrm rot="10800000">
              <a:off x="3688606" y="2918369"/>
              <a:ext cx="423368" cy="711774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/>
            <p:cNvSpPr/>
            <p:nvPr/>
          </p:nvSpPr>
          <p:spPr>
            <a:xfrm>
              <a:off x="1951734" y="3350417"/>
              <a:ext cx="2448272" cy="102449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1800" dirty="0" smtClean="0">
                  <a:solidFill>
                    <a:srgbClr val="000000"/>
                  </a:solidFill>
                </a:rPr>
                <a:t>Richtige Kodierung von Umlauten und Sonderzeichen</a:t>
              </a:r>
              <a:endParaRPr lang="de-DE" sz="18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118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Beispiel: </a:t>
            </a:r>
            <a:r>
              <a:rPr lang="de-AT" dirty="0" err="1" smtClean="0"/>
              <a:t>ReadAllLines</a:t>
            </a:r>
            <a:endParaRPr lang="de-AT" dirty="0"/>
          </a:p>
        </p:txBody>
      </p:sp>
      <p:sp>
        <p:nvSpPr>
          <p:cNvPr id="8" name="Textfeld 7"/>
          <p:cNvSpPr txBox="1"/>
          <p:nvPr/>
        </p:nvSpPr>
        <p:spPr>
          <a:xfrm>
            <a:off x="611560" y="3942861"/>
            <a:ext cx="669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smtClean="0"/>
              <a:t>Vergleiche – Anzeige aller Zeichen: 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" y="1552575"/>
            <a:ext cx="837247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6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WriteAllText</a:t>
            </a:r>
            <a:r>
              <a:rPr lang="de-AT" dirty="0" smtClean="0"/>
              <a:t>, </a:t>
            </a:r>
            <a:r>
              <a:rPr lang="de-AT" dirty="0" err="1" smtClean="0"/>
              <a:t>WriteAllLines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2394348"/>
          </a:xfrm>
        </p:spPr>
        <p:txBody>
          <a:bodyPr/>
          <a:lstStyle/>
          <a:p>
            <a:r>
              <a:rPr lang="de-AT" dirty="0" smtClean="0"/>
              <a:t>Überschreiben der Datei mit einem </a:t>
            </a:r>
            <a:r>
              <a:rPr lang="de-AT" dirty="0" err="1" smtClean="0"/>
              <a:t>string</a:t>
            </a:r>
            <a:r>
              <a:rPr lang="de-AT" dirty="0" smtClean="0"/>
              <a:t>:</a:t>
            </a:r>
            <a:br>
              <a:rPr lang="de-AT" dirty="0" smtClean="0"/>
            </a:br>
            <a:r>
              <a:rPr lang="de-AT" dirty="0" smtClean="0"/>
              <a:t/>
            </a:r>
            <a:br>
              <a:rPr lang="de-AT" dirty="0" smtClean="0"/>
            </a:br>
            <a:endParaRPr lang="de-AT" dirty="0"/>
          </a:p>
          <a:p>
            <a:r>
              <a:rPr lang="de-AT" dirty="0" smtClean="0"/>
              <a:t>Überschreiben der Datei mit einem </a:t>
            </a:r>
            <a:r>
              <a:rPr lang="de-AT" dirty="0" err="1" smtClean="0"/>
              <a:t>string</a:t>
            </a:r>
            <a:r>
              <a:rPr lang="de-AT" dirty="0" smtClean="0"/>
              <a:t>-Array:</a:t>
            </a:r>
          </a:p>
          <a:p>
            <a:pPr lvl="1"/>
            <a:r>
              <a:rPr lang="de-AT" dirty="0" smtClean="0"/>
              <a:t>Beispiel: Reversieren der Zeilen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CC60C-C764-3B49-ACA5-AD11A4CAEAD6}" type="slidenum">
              <a:rPr lang="de-DE" smtClean="0"/>
              <a:t>6</a:t>
            </a:fld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" y="3753197"/>
            <a:ext cx="7286625" cy="2124075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2" y="1690514"/>
            <a:ext cx="73818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87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Textdateien: Encodings</a:t>
            </a:r>
            <a:endParaRPr lang="de-AT" dirty="0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457200" y="3129524"/>
            <a:ext cx="8229600" cy="2996639"/>
          </a:xfrm>
        </p:spPr>
        <p:txBody>
          <a:bodyPr>
            <a:normAutofit/>
          </a:bodyPr>
          <a:lstStyle/>
          <a:p>
            <a:r>
              <a:rPr lang="de-AT" dirty="0" smtClean="0"/>
              <a:t>Default Encoding = </a:t>
            </a:r>
            <a:r>
              <a:rPr lang="de-AT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System.Text.Encoding.</a:t>
            </a:r>
            <a:r>
              <a:rPr lang="de-AT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WindowsCodePage</a:t>
            </a:r>
            <a:endParaRPr lang="de-AT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dirty="0" smtClean="0"/>
              <a:t>Allgemeinere Encodings:</a:t>
            </a:r>
          </a:p>
          <a:p>
            <a:pPr lvl="1"/>
            <a:r>
              <a:rPr lang="de-AT" dirty="0" err="1" smtClean="0"/>
              <a:t>Encoding.ASCII</a:t>
            </a:r>
            <a:endParaRPr lang="de-AT" dirty="0" smtClean="0"/>
          </a:p>
          <a:p>
            <a:pPr lvl="1"/>
            <a:r>
              <a:rPr lang="de-AT" dirty="0" err="1" smtClean="0"/>
              <a:t>Encoding.Unicode</a:t>
            </a:r>
            <a:endParaRPr lang="de-AT" dirty="0" smtClean="0"/>
          </a:p>
          <a:p>
            <a:pPr lvl="1"/>
            <a:r>
              <a:rPr lang="de-AT" dirty="0" smtClean="0"/>
              <a:t>Encoding.UTF8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916832"/>
            <a:ext cx="8861052" cy="456400"/>
          </a:xfrm>
          <a:prstGeom prst="rect">
            <a:avLst/>
          </a:prstGeom>
        </p:spPr>
      </p:pic>
      <p:sp>
        <p:nvSpPr>
          <p:cNvPr id="6" name="Ellipse 5"/>
          <p:cNvSpPr/>
          <p:nvPr/>
        </p:nvSpPr>
        <p:spPr>
          <a:xfrm>
            <a:off x="6228184" y="1689017"/>
            <a:ext cx="2771800" cy="101990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422" y="260648"/>
            <a:ext cx="230505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57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Dateipfade</a:t>
            </a:r>
            <a:endParaRPr lang="de-AT" dirty="0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/>
          </a:bodyPr>
          <a:lstStyle/>
          <a:p>
            <a:r>
              <a:rPr lang="de-AT" sz="2800" dirty="0" smtClean="0"/>
              <a:t>Wie kann ich Dateipfade im C#-Quelltext angeben? Der </a:t>
            </a:r>
            <a:r>
              <a:rPr lang="de-AT" sz="2800" dirty="0" err="1" smtClean="0"/>
              <a:t>Backslash</a:t>
            </a:r>
            <a:r>
              <a:rPr lang="de-AT" sz="2800" dirty="0" smtClean="0"/>
              <a:t> \ wird ja für Escape-Sequenzen verwendet …</a:t>
            </a:r>
          </a:p>
          <a:p>
            <a:pPr lvl="1"/>
            <a:r>
              <a:rPr lang="de-AT" sz="2400" b="1" dirty="0" smtClean="0"/>
              <a:t>Maskierung</a:t>
            </a:r>
            <a:r>
              <a:rPr lang="de-AT" sz="2400" dirty="0" smtClean="0"/>
              <a:t>: Hierzu muss dem Sonderzeichen ein </a:t>
            </a:r>
            <a:r>
              <a:rPr lang="de-AT" sz="2400" dirty="0" err="1" smtClean="0"/>
              <a:t>Backslash</a:t>
            </a:r>
            <a:r>
              <a:rPr lang="de-AT" sz="2400" dirty="0" smtClean="0"/>
              <a:t> vorangestellt werden</a:t>
            </a:r>
            <a:br>
              <a:rPr lang="de-AT" sz="2400" dirty="0" smtClean="0"/>
            </a:br>
            <a:r>
              <a:rPr lang="de-AT" sz="2400" dirty="0" smtClean="0"/>
              <a:t/>
            </a:r>
            <a:br>
              <a:rPr lang="de-AT" sz="2400" dirty="0" smtClean="0"/>
            </a:br>
            <a:endParaRPr lang="de-AT" sz="2400" b="1" dirty="0" smtClean="0"/>
          </a:p>
          <a:p>
            <a:pPr lvl="1"/>
            <a:r>
              <a:rPr lang="de-AT" sz="2400" b="1" dirty="0" smtClean="0"/>
              <a:t>Unterdrückung der </a:t>
            </a:r>
            <a:r>
              <a:rPr lang="de-AT" sz="2400" b="1" dirty="0" err="1" smtClean="0"/>
              <a:t>Escapesequenzen</a:t>
            </a:r>
            <a:r>
              <a:rPr lang="de-AT" sz="2400" b="1" dirty="0" smtClean="0"/>
              <a:t> </a:t>
            </a:r>
            <a:r>
              <a:rPr lang="de-AT" sz="2400" dirty="0" smtClean="0"/>
              <a:t>durch Voranstellen von „@“</a:t>
            </a:r>
          </a:p>
          <a:p>
            <a:pPr marL="457200" lvl="1" indent="0">
              <a:buNone/>
            </a:pPr>
            <a:endParaRPr lang="de-AT" sz="2400" dirty="0" smtClean="0"/>
          </a:p>
          <a:p>
            <a:pPr lvl="1"/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833" y="44624"/>
            <a:ext cx="5212639" cy="670744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5373216"/>
            <a:ext cx="7141391" cy="67855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393" y="3789040"/>
            <a:ext cx="7814071" cy="74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5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Working Directory (Arbeitsverzeichnis)</a:t>
            </a:r>
            <a:endParaRPr lang="de-AT" dirty="0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457200" y="1268414"/>
            <a:ext cx="8229600" cy="4857750"/>
          </a:xfrm>
        </p:spPr>
        <p:txBody>
          <a:bodyPr/>
          <a:lstStyle/>
          <a:p>
            <a:r>
              <a:rPr lang="de-AT" dirty="0" smtClean="0"/>
              <a:t>Working Directory = Arbeitsverzeichnis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sz="2000" dirty="0"/>
              <a:t>D</a:t>
            </a:r>
            <a:r>
              <a:rPr lang="de-AT" sz="2000" dirty="0" smtClean="0"/>
              <a:t>as Ausführungsverzeichnis der Anwendung (= dort wo die .exe-Datei liegt)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sz="2000" dirty="0" smtClean="0"/>
              <a:t>Wird nur ein Dateiname (ohne Pfad) angegeben, sucht Windows die Datei im Working Directory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sz="2000" dirty="0" smtClean="0"/>
              <a:t>Das </a:t>
            </a:r>
            <a:r>
              <a:rPr lang="de-AT" sz="2000" dirty="0" err="1" smtClean="0"/>
              <a:t>working</a:t>
            </a:r>
            <a:r>
              <a:rPr lang="de-AT" sz="2000" dirty="0" smtClean="0"/>
              <a:t> </a:t>
            </a:r>
            <a:r>
              <a:rPr lang="de-AT" sz="2000" dirty="0" err="1" smtClean="0"/>
              <a:t>directory</a:t>
            </a:r>
            <a:r>
              <a:rPr lang="de-AT" sz="2000" dirty="0" smtClean="0"/>
              <a:t> </a:t>
            </a:r>
            <a:r>
              <a:rPr lang="de-AT" sz="2000" dirty="0" smtClean="0"/>
              <a:t>bei einer C#-Applikation, die aus Visual Studio gestartet wurde, ist </a:t>
            </a:r>
            <a:r>
              <a:rPr lang="de-AT" sz="2000" dirty="0" err="1" smtClean="0"/>
              <a:t>by</a:t>
            </a:r>
            <a:r>
              <a:rPr lang="de-AT" sz="2000" dirty="0" smtClean="0"/>
              <a:t> </a:t>
            </a:r>
            <a:r>
              <a:rPr lang="de-AT" sz="2000" dirty="0" err="1" smtClean="0"/>
              <a:t>default</a:t>
            </a:r>
            <a:r>
              <a:rPr lang="de-AT" sz="2000" dirty="0" smtClean="0"/>
              <a:t> „</a:t>
            </a:r>
            <a:r>
              <a:rPr lang="de-AT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solution</a:t>
            </a:r>
            <a:r>
              <a:rPr lang="de-AT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&gt;\bin\</a:t>
            </a:r>
            <a:r>
              <a:rPr lang="de-AT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Debug</a:t>
            </a:r>
            <a:r>
              <a:rPr lang="de-AT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endParaRPr lang="de-AT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19" y="3933056"/>
            <a:ext cx="7319963" cy="104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5048969"/>
            <a:ext cx="212407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9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Directory</a:t>
            </a:r>
            <a:endParaRPr lang="de-AT" dirty="0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dirty="0" smtClean="0"/>
              <a:t>Namespace: System.IO</a:t>
            </a:r>
          </a:p>
          <a:p>
            <a:r>
              <a:rPr lang="de-AT" dirty="0" smtClean="0"/>
              <a:t>Einfacher Umgang mit Verzeichnissen</a:t>
            </a:r>
            <a:endParaRPr lang="de-AT" dirty="0"/>
          </a:p>
        </p:txBody>
      </p:sp>
      <p:pic>
        <p:nvPicPr>
          <p:cNvPr id="4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284984"/>
            <a:ext cx="7798419" cy="290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6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Directory: Beispiele</a:t>
            </a:r>
            <a:endParaRPr lang="de-AT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162708"/>
            <a:ext cx="8308032" cy="3858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373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B915E2-C089-44DB-B4C7-F64937B77163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12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pPr eaLnBrk="1" hangingPunct="1"/>
            <a:r>
              <a:rPr lang="de-DE" altLang="de-DE" smtClean="0"/>
              <a:t>Fehler bei Filehandling </a:t>
            </a:r>
            <a:r>
              <a:rPr lang="de-DE" altLang="de-DE" smtClean="0">
                <a:sym typeface="Wingdings" panose="05000000000000000000" pitchFamily="2" charset="2"/>
              </a:rPr>
              <a:t> Exceptions</a:t>
            </a:r>
            <a:endParaRPr lang="de-DE" altLang="de-DE" smtClean="0"/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6538" y="908050"/>
            <a:ext cx="8667750" cy="5184775"/>
          </a:xfrm>
        </p:spPr>
        <p:txBody>
          <a:bodyPr/>
          <a:lstStyle/>
          <a:p>
            <a:pPr eaLnBrk="1" hangingPunct="1"/>
            <a:r>
              <a:rPr lang="de-DE" altLang="de-DE" sz="2400" smtClean="0"/>
              <a:t>Verschiedene Fehler können auftreten</a:t>
            </a:r>
          </a:p>
          <a:p>
            <a:pPr lvl="1" eaLnBrk="1" hangingPunct="1"/>
            <a:r>
              <a:rPr lang="de-DE" altLang="de-DE" sz="2000" smtClean="0"/>
              <a:t>Datei nicht vorhanden</a:t>
            </a:r>
          </a:p>
          <a:p>
            <a:pPr lvl="1" eaLnBrk="1" hangingPunct="1"/>
            <a:r>
              <a:rPr lang="de-DE" altLang="de-DE" sz="2000" smtClean="0"/>
              <a:t>Zugriff auf Datei nicht erlaubt</a:t>
            </a:r>
          </a:p>
          <a:p>
            <a:pPr lvl="1" eaLnBrk="1" hangingPunct="1"/>
            <a:r>
              <a:rPr lang="de-DE" altLang="de-DE" sz="2000" smtClean="0"/>
              <a:t>Datei bereits geöffnet</a:t>
            </a:r>
          </a:p>
          <a:p>
            <a:pPr lvl="1" eaLnBrk="1" hangingPunct="1"/>
            <a:endParaRPr lang="de-DE" altLang="de-DE" sz="2000" smtClean="0"/>
          </a:p>
        </p:txBody>
      </p:sp>
      <p:pic>
        <p:nvPicPr>
          <p:cNvPr id="1536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0" y="2592388"/>
            <a:ext cx="4756150" cy="347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7" name="Rectangle 5"/>
          <p:cNvSpPr>
            <a:spLocks noChangeArrowheads="1"/>
          </p:cNvSpPr>
          <p:nvPr/>
        </p:nvSpPr>
        <p:spPr bwMode="auto">
          <a:xfrm>
            <a:off x="6345238" y="2557463"/>
            <a:ext cx="1811337" cy="204787"/>
          </a:xfrm>
          <a:prstGeom prst="rect">
            <a:avLst/>
          </a:prstGeom>
          <a:solidFill>
            <a:srgbClr val="FFFF00">
              <a:alpha val="3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de-AT" altLang="de-DE"/>
          </a:p>
        </p:txBody>
      </p:sp>
    </p:spTree>
    <p:extLst>
      <p:ext uri="{BB962C8B-B14F-4D97-AF65-F5344CB8AC3E}">
        <p14:creationId xmlns:p14="http://schemas.microsoft.com/office/powerpoint/2010/main" val="3639019225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Benutzerdefiniert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1F497D"/>
      </a:accent2>
      <a:accent3>
        <a:srgbClr val="C6D9F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271</Words>
  <Application>Microsoft Office PowerPoint</Application>
  <PresentationFormat>Bildschirmpräsentation (4:3)</PresentationFormat>
  <Paragraphs>60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12</vt:i4>
      </vt:variant>
    </vt:vector>
  </HeadingPairs>
  <TitlesOfParts>
    <vt:vector size="22" baseType="lpstr">
      <vt:lpstr>ＭＳ Ｐゴシック</vt:lpstr>
      <vt:lpstr>ＭＳ Ｐゴシック</vt:lpstr>
      <vt:lpstr>Arial</vt:lpstr>
      <vt:lpstr>Calibri</vt:lpstr>
      <vt:lpstr>Courier New</vt:lpstr>
      <vt:lpstr>Symbol</vt:lpstr>
      <vt:lpstr>Times New Roman</vt:lpstr>
      <vt:lpstr>Wingdings</vt:lpstr>
      <vt:lpstr>2_Larissa</vt:lpstr>
      <vt:lpstr>1_Standarddesign</vt:lpstr>
      <vt:lpstr>File</vt:lpstr>
      <vt:lpstr>PowerPoint-Präsentation</vt:lpstr>
      <vt:lpstr>Beispiel: ReadAllText</vt:lpstr>
      <vt:lpstr>PowerPoint-Präsentation</vt:lpstr>
      <vt:lpstr>Beispiel: ReadAllLines</vt:lpstr>
      <vt:lpstr>WriteAllText, WriteAllLines</vt:lpstr>
      <vt:lpstr>Textdateien: Encodings</vt:lpstr>
      <vt:lpstr>Dateipfade</vt:lpstr>
      <vt:lpstr>Working Directory (Arbeitsverzeichnis)</vt:lpstr>
      <vt:lpstr>Directory</vt:lpstr>
      <vt:lpstr>Directory: Beispiele</vt:lpstr>
      <vt:lpstr>Fehler bei Filehandling  Exceptions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die Programmierung</dc:title>
  <dc:subject>Methoden</dc:subject>
  <dc:creator>GeGe</dc:creator>
  <cp:lastModifiedBy>Birgit Schröder</cp:lastModifiedBy>
  <cp:revision>186</cp:revision>
  <dcterms:created xsi:type="dcterms:W3CDTF">2006-01-13T20:54:04Z</dcterms:created>
  <dcterms:modified xsi:type="dcterms:W3CDTF">2017-04-07T15:02:53Z</dcterms:modified>
</cp:coreProperties>
</file>