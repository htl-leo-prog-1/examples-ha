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13"/>
  </p:notesMasterIdLst>
  <p:handoutMasterIdLst>
    <p:handoutMasterId r:id="rId14"/>
  </p:handoutMasterIdLst>
  <p:sldIdLst>
    <p:sldId id="306" r:id="rId3"/>
    <p:sldId id="310" r:id="rId4"/>
    <p:sldId id="311" r:id="rId5"/>
    <p:sldId id="312" r:id="rId6"/>
    <p:sldId id="313" r:id="rId7"/>
    <p:sldId id="315" r:id="rId8"/>
    <p:sldId id="320" r:id="rId9"/>
    <p:sldId id="321" r:id="rId10"/>
    <p:sldId id="322" r:id="rId11"/>
    <p:sldId id="323" r:id="rId12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0000"/>
    <a:srgbClr val="CCECFF"/>
    <a:srgbClr val="6699FF"/>
    <a:srgbClr val="66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29" autoAdjust="0"/>
  </p:normalViewPr>
  <p:slideViewPr>
    <p:cSldViewPr>
      <p:cViewPr varScale="1">
        <p:scale>
          <a:sx n="64" d="100"/>
          <a:sy n="64" d="100"/>
        </p:scale>
        <p:origin x="135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 smtClean="0"/>
              <a:t>Click </a:t>
            </a:r>
            <a:r>
              <a:rPr lang="de-DE" noProof="0" dirty="0" err="1" smtClean="0"/>
              <a:t>to</a:t>
            </a:r>
            <a:r>
              <a:rPr lang="de-DE" noProof="0" dirty="0" smtClean="0"/>
              <a:t> </a:t>
            </a:r>
            <a:r>
              <a:rPr lang="de-DE" noProof="0" dirty="0" err="1" smtClean="0"/>
              <a:t>edit</a:t>
            </a:r>
            <a:r>
              <a:rPr lang="de-DE" noProof="0" dirty="0" smtClean="0"/>
              <a:t> Master </a:t>
            </a:r>
            <a:r>
              <a:rPr lang="de-DE" noProof="0" dirty="0" err="1" smtClean="0"/>
              <a:t>text</a:t>
            </a:r>
            <a:r>
              <a:rPr lang="de-DE" noProof="0" dirty="0" smtClean="0"/>
              <a:t> </a:t>
            </a:r>
            <a:r>
              <a:rPr lang="de-DE" noProof="0" dirty="0" err="1" smtClean="0"/>
              <a:t>styles</a:t>
            </a:r>
            <a:endParaRPr lang="de-DE" noProof="0" dirty="0" smtClean="0"/>
          </a:p>
          <a:p>
            <a:pPr lvl="1"/>
            <a:r>
              <a:rPr lang="de-DE" noProof="0" dirty="0" smtClean="0"/>
              <a:t>Second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2"/>
            <a:r>
              <a:rPr lang="de-DE" noProof="0" dirty="0" smtClean="0"/>
              <a:t>Third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3"/>
            <a:r>
              <a:rPr lang="de-DE" noProof="0" dirty="0" err="1" smtClean="0"/>
              <a:t>Fourth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4"/>
            <a:r>
              <a:rPr lang="de-DE" noProof="0" dirty="0" err="1" smtClean="0"/>
              <a:t>Fifth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E98FE1-0A48-4102-B897-052B018683B5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721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2015/16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Hauptspeicherverwaltung 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 smtClean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Daten im Hauptspeicher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1"/>
          </p:nvPr>
        </p:nvSpPr>
        <p:spPr>
          <a:xfrm>
            <a:off x="3131840" y="1268760"/>
            <a:ext cx="5544616" cy="53285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AT" b="1" dirty="0" smtClean="0"/>
              <a:t>Data + BSS: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Enthalten globale und statische Programmvariablen, aufgeteilt in einen </a:t>
            </a:r>
            <a:r>
              <a:rPr lang="de-AT" i="1" dirty="0" err="1" smtClean="0"/>
              <a:t>read-only</a:t>
            </a:r>
            <a:r>
              <a:rPr lang="de-AT" dirty="0" smtClean="0"/>
              <a:t> und einen</a:t>
            </a:r>
            <a:r>
              <a:rPr lang="de-AT" i="1" dirty="0" smtClean="0"/>
              <a:t> </a:t>
            </a:r>
            <a:r>
              <a:rPr lang="de-AT" i="1" dirty="0" err="1" smtClean="0"/>
              <a:t>read-write</a:t>
            </a:r>
            <a:r>
              <a:rPr lang="de-AT" i="1" dirty="0" smtClean="0"/>
              <a:t> </a:t>
            </a:r>
            <a:r>
              <a:rPr lang="de-AT" dirty="0" smtClean="0"/>
              <a:t>Abschnitt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Größe ändert sich zur Laufzeit nicht</a:t>
            </a:r>
          </a:p>
          <a:p>
            <a:pPr marL="0" indent="0">
              <a:buNone/>
            </a:pPr>
            <a:r>
              <a:rPr lang="de-AT" b="1" dirty="0" smtClean="0"/>
              <a:t>Stack: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Enthält lokale und temporäre Daten von aufgerufenen Methoden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Wächst und schrumpft mit der Anzahl der aufgerufenen Methoden</a:t>
            </a:r>
          </a:p>
          <a:p>
            <a:pPr marL="0" indent="0">
              <a:buNone/>
            </a:pPr>
            <a:r>
              <a:rPr lang="de-AT" b="1" dirty="0" smtClean="0"/>
              <a:t>Heap: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Dynamischer Speicher, der für die Anwendungsprogrammierung zur Verfügung steht (Arrays, Bilddaten, Objektinstanzen, …)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Schlüsselwort </a:t>
            </a:r>
            <a:r>
              <a:rPr lang="de-AT" dirty="0" smtClean="0"/>
              <a:t>„</a:t>
            </a:r>
            <a:r>
              <a:rPr lang="de-AT" b="1" i="1" dirty="0" err="1" smtClean="0"/>
              <a:t>new</a:t>
            </a:r>
            <a:r>
              <a:rPr lang="de-AT" dirty="0" smtClean="0"/>
              <a:t>“ (C/C++ auch „</a:t>
            </a:r>
            <a:r>
              <a:rPr lang="de-AT" i="1" dirty="0" err="1" smtClean="0"/>
              <a:t>delete</a:t>
            </a:r>
            <a:r>
              <a:rPr lang="de-AT" dirty="0" smtClean="0"/>
              <a:t>“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058775"/>
            <a:ext cx="27432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Stack-Beispiel: Aufrufkette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1"/>
          </p:nvPr>
        </p:nvSpPr>
        <p:spPr>
          <a:xfrm>
            <a:off x="4283968" y="1268761"/>
            <a:ext cx="4392488" cy="468052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AT" dirty="0" smtClean="0"/>
              <a:t>Das Betriebssystem startet die Main-Funktion eines Programms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Methode „func1“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„func2“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„func2“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„func3“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„func3“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„func1“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„func4“ wird aufgerufen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„func4“ wird beendet</a:t>
            </a:r>
          </a:p>
          <a:p>
            <a:pPr marL="514350" indent="-514350">
              <a:buFont typeface="+mj-lt"/>
              <a:buAutoNum type="arabicPeriod"/>
            </a:pPr>
            <a:r>
              <a:rPr lang="de-AT" dirty="0" smtClean="0"/>
              <a:t>Main wird beendet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4837"/>
            <a:ext cx="347662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4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Methodenaufrufe: Stack Frames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17" y="1865021"/>
            <a:ext cx="8389565" cy="399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5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Methodenaufruf und -rückkehr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96752"/>
            <a:ext cx="86106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3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Stack: Programmende</a:t>
            </a:r>
            <a:endParaRPr lang="de-AT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844824"/>
            <a:ext cx="88677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8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Heap: Dynamischer Speicher</a:t>
            </a:r>
            <a:endParaRPr lang="de-AT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1"/>
          </p:nvPr>
        </p:nvSpPr>
        <p:spPr>
          <a:xfrm>
            <a:off x="467544" y="1268760"/>
            <a:ext cx="8208912" cy="52565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AT" dirty="0" smtClean="0"/>
              <a:t>Ein Programm fordert Heap-Speicher </a:t>
            </a:r>
            <a:r>
              <a:rPr lang="de-AT" dirty="0" smtClean="0"/>
              <a:t>beliebiger Größe an </a:t>
            </a:r>
            <a:r>
              <a:rPr lang="de-AT" dirty="0" smtClean="0"/>
              <a:t>(Dynamische Speicheranforderung):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Speicher allokieren: </a:t>
            </a:r>
            <a:r>
              <a:rPr lang="de-AT" sz="2200" b="1" dirty="0" err="1" smtClean="0"/>
              <a:t>malloc</a:t>
            </a:r>
            <a:r>
              <a:rPr lang="de-AT" sz="2200" dirty="0" smtClean="0"/>
              <a:t>-Funktion  </a:t>
            </a:r>
            <a:r>
              <a:rPr lang="de-AT" dirty="0" smtClean="0"/>
              <a:t>(C#,C++, Java: „</a:t>
            </a:r>
            <a:r>
              <a:rPr lang="de-AT" b="1" dirty="0" err="1" smtClean="0"/>
              <a:t>new</a:t>
            </a:r>
            <a:r>
              <a:rPr lang="de-AT" dirty="0" smtClean="0"/>
              <a:t>“)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Speicher freigeben: </a:t>
            </a:r>
            <a:r>
              <a:rPr lang="de-AT" sz="2200" b="1" dirty="0" err="1"/>
              <a:t>free</a:t>
            </a:r>
            <a:r>
              <a:rPr lang="de-AT" sz="2200" b="1" dirty="0"/>
              <a:t>-</a:t>
            </a:r>
            <a:r>
              <a:rPr lang="de-AT" sz="2200" dirty="0"/>
              <a:t>Funktion</a:t>
            </a:r>
            <a:r>
              <a:rPr lang="de-AT" sz="2900" dirty="0"/>
              <a:t> </a:t>
            </a:r>
            <a:r>
              <a:rPr lang="de-AT" sz="2900" dirty="0" smtClean="0"/>
              <a:t>(</a:t>
            </a:r>
            <a:r>
              <a:rPr lang="de-AT" dirty="0"/>
              <a:t>C++: </a:t>
            </a:r>
            <a:r>
              <a:rPr lang="de-AT" sz="2900" dirty="0" smtClean="0"/>
              <a:t>„</a:t>
            </a:r>
            <a:r>
              <a:rPr lang="de-AT" sz="2400" b="1" dirty="0" err="1" smtClean="0"/>
              <a:t>delete</a:t>
            </a:r>
            <a:r>
              <a:rPr lang="de-AT" sz="2900" dirty="0" smtClean="0"/>
              <a:t>“)</a:t>
            </a:r>
            <a:endParaRPr lang="de-AT" sz="2900" dirty="0"/>
          </a:p>
          <a:p>
            <a:pPr marL="0" indent="0">
              <a:buNone/>
            </a:pPr>
            <a:r>
              <a:rPr lang="de-AT" b="1" dirty="0" smtClean="0"/>
              <a:t>Automatische Speicherbereinigung</a:t>
            </a:r>
            <a:endParaRPr lang="de-AT" dirty="0" smtClean="0"/>
          </a:p>
          <a:p>
            <a:pPr marL="941387" lvl="1">
              <a:buFont typeface="Arial" panose="020B0604020202020204" pitchFamily="34" charset="0"/>
              <a:buChar char="•"/>
            </a:pPr>
            <a:r>
              <a:rPr lang="de-AT" dirty="0" smtClean="0"/>
              <a:t>Programmiersprachen </a:t>
            </a:r>
            <a:r>
              <a:rPr lang="de-AT" dirty="0" smtClean="0"/>
              <a:t>wie C# und Java enthalten einen </a:t>
            </a:r>
            <a:r>
              <a:rPr lang="de-AT" b="1" i="1" dirty="0" err="1" smtClean="0"/>
              <a:t>Garbage</a:t>
            </a:r>
            <a:r>
              <a:rPr lang="de-AT" b="1" i="1" dirty="0" smtClean="0"/>
              <a:t> </a:t>
            </a:r>
            <a:r>
              <a:rPr lang="de-AT" b="1" i="1" dirty="0" err="1" smtClean="0"/>
              <a:t>Collector</a:t>
            </a:r>
            <a:r>
              <a:rPr lang="de-AT" dirty="0" smtClean="0"/>
              <a:t>, der dynamischen Speicher, der nicht mehr benötigt wird, regelmäßig wieder freigibt (=&gt; ans Betriebssystem zurückgibt)</a:t>
            </a:r>
          </a:p>
          <a:p>
            <a:pPr marL="0" indent="0">
              <a:buNone/>
            </a:pPr>
            <a:r>
              <a:rPr lang="de-AT" b="1" dirty="0" smtClean="0"/>
              <a:t>Manuelle </a:t>
            </a:r>
            <a:r>
              <a:rPr lang="de-AT" b="1" dirty="0" smtClean="0"/>
              <a:t>Speicherverwaltung</a:t>
            </a:r>
            <a:endParaRPr lang="de-AT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/>
              <a:t>Das Anwendungsprogramm ist </a:t>
            </a:r>
            <a:r>
              <a:rPr lang="de-AT" dirty="0" smtClean="0"/>
              <a:t>selbst verantwortlich</a:t>
            </a:r>
            <a:r>
              <a:rPr lang="de-AT" dirty="0"/>
              <a:t>, dass allokierter Speicher auch wieder freigegeben </a:t>
            </a:r>
            <a:r>
              <a:rPr lang="de-AT" dirty="0" smtClean="0"/>
              <a:t>wird</a:t>
            </a:r>
            <a:endParaRPr lang="de-AT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e-AT" dirty="0" smtClean="0"/>
              <a:t>Fehlende Freigaben: Häufige </a:t>
            </a:r>
            <a:r>
              <a:rPr lang="de-AT" dirty="0" smtClean="0"/>
              <a:t>Fehlerursache in Sprachen wie C/C++!</a:t>
            </a:r>
          </a:p>
        </p:txBody>
      </p:sp>
    </p:spTree>
    <p:extLst>
      <p:ext uri="{BB962C8B-B14F-4D97-AF65-F5344CB8AC3E}">
        <p14:creationId xmlns:p14="http://schemas.microsoft.com/office/powerpoint/2010/main" val="355242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Stack oder Heap?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dirty="0" smtClean="0"/>
              <a:t>Große Mengen an Daten werden am Heap allokiert: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539552" y="1844824"/>
            <a:ext cx="237626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Stack</a:t>
            </a:r>
            <a:endParaRPr lang="de-AT" dirty="0"/>
          </a:p>
        </p:txBody>
      </p:sp>
      <p:sp>
        <p:nvSpPr>
          <p:cNvPr id="5" name="Rechteck 4"/>
          <p:cNvSpPr/>
          <p:nvPr/>
        </p:nvSpPr>
        <p:spPr>
          <a:xfrm>
            <a:off x="5580112" y="1844824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Heap</a:t>
            </a:r>
            <a:endParaRPr lang="de-AT" dirty="0"/>
          </a:p>
        </p:txBody>
      </p:sp>
      <p:sp>
        <p:nvSpPr>
          <p:cNvPr id="6" name="Rechteck 5"/>
          <p:cNvSpPr/>
          <p:nvPr/>
        </p:nvSpPr>
        <p:spPr>
          <a:xfrm>
            <a:off x="539552" y="2564904"/>
            <a:ext cx="237626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/>
          <p:cNvSpPr/>
          <p:nvPr/>
        </p:nvSpPr>
        <p:spPr>
          <a:xfrm>
            <a:off x="5580112" y="2564904"/>
            <a:ext cx="309634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/>
          <p:cNvSpPr txBox="1"/>
          <p:nvPr/>
        </p:nvSpPr>
        <p:spPr>
          <a:xfrm>
            <a:off x="611560" y="2780928"/>
            <a:ext cx="20162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x;</a:t>
            </a:r>
          </a:p>
          <a:p>
            <a:r>
              <a:rPr lang="de-AT" dirty="0" err="1"/>
              <a:t>b</a:t>
            </a:r>
            <a:r>
              <a:rPr lang="de-AT" dirty="0" err="1" smtClean="0"/>
              <a:t>ool</a:t>
            </a:r>
            <a:r>
              <a:rPr lang="de-AT" dirty="0" smtClean="0"/>
              <a:t> </a:t>
            </a:r>
            <a:r>
              <a:rPr lang="de-AT" dirty="0" err="1" smtClean="0"/>
              <a:t>isValid</a:t>
            </a:r>
            <a:r>
              <a:rPr lang="de-AT" dirty="0" smtClean="0"/>
              <a:t>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 f;</a:t>
            </a:r>
          </a:p>
          <a:p>
            <a:r>
              <a:rPr lang="de-AT" dirty="0" smtClean="0"/>
              <a:t>…</a:t>
            </a:r>
          </a:p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[] b;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[] c;</a:t>
            </a:r>
          </a:p>
          <a:p>
            <a:r>
              <a:rPr lang="de-AT" dirty="0" err="1"/>
              <a:t>s</a:t>
            </a:r>
            <a:r>
              <a:rPr lang="de-AT" dirty="0" err="1" smtClean="0"/>
              <a:t>tring</a:t>
            </a:r>
            <a:r>
              <a:rPr lang="de-AT" dirty="0" smtClean="0"/>
              <a:t>[] s;</a:t>
            </a:r>
          </a:p>
          <a:p>
            <a:endParaRPr lang="de-AT" dirty="0" smtClean="0"/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</p:txBody>
      </p:sp>
      <p:sp>
        <p:nvSpPr>
          <p:cNvPr id="10" name="Textfeld 9"/>
          <p:cNvSpPr txBox="1"/>
          <p:nvPr/>
        </p:nvSpPr>
        <p:spPr>
          <a:xfrm>
            <a:off x="5652120" y="2852936"/>
            <a:ext cx="31683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{4.2, 1.8, 3.4, 5.9, 10.27}</a:t>
            </a:r>
          </a:p>
          <a:p>
            <a:r>
              <a:rPr lang="de-AT" sz="2000" dirty="0" smtClean="0"/>
              <a:t> </a:t>
            </a:r>
          </a:p>
          <a:p>
            <a:r>
              <a:rPr lang="de-AT" sz="2000" dirty="0" smtClean="0"/>
              <a:t>{„Franz“, „Susi“, „Hugo“, „Gretl“} </a:t>
            </a:r>
          </a:p>
          <a:p>
            <a:endParaRPr lang="de-AT" sz="2000" dirty="0" smtClean="0"/>
          </a:p>
          <a:p>
            <a:r>
              <a:rPr lang="de-AT" sz="2000" dirty="0" smtClean="0"/>
              <a:t>{42, 17, 93, 85}</a:t>
            </a:r>
            <a:endParaRPr lang="de-AT" sz="2000" dirty="0"/>
          </a:p>
        </p:txBody>
      </p:sp>
      <p:cxnSp>
        <p:nvCxnSpPr>
          <p:cNvPr id="12" name="Gerade Verbindung mit Pfeil 11"/>
          <p:cNvCxnSpPr/>
          <p:nvPr/>
        </p:nvCxnSpPr>
        <p:spPr>
          <a:xfrm>
            <a:off x="1619672" y="4509120"/>
            <a:ext cx="4104456" cy="7200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1835696" y="3068960"/>
            <a:ext cx="3888432" cy="18002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/>
          <p:nvPr/>
        </p:nvCxnSpPr>
        <p:spPr>
          <a:xfrm flipV="1">
            <a:off x="2051720" y="3645024"/>
            <a:ext cx="3682752" cy="158417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131840" y="4841865"/>
            <a:ext cx="2376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000" dirty="0" smtClean="0">
                <a:solidFill>
                  <a:srgbClr val="0070C0"/>
                </a:solidFill>
              </a:rPr>
              <a:t>Am Stack liegen nur „Referenzen“ (Zeiger) auf die Daten im Heap</a:t>
            </a:r>
            <a:endParaRPr lang="de-AT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96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Heap: Speicherallokation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908720"/>
            <a:ext cx="8208912" cy="5040561"/>
          </a:xfrm>
        </p:spPr>
        <p:txBody>
          <a:bodyPr/>
          <a:lstStyle/>
          <a:p>
            <a:pPr marL="0" indent="0">
              <a:buNone/>
            </a:pPr>
            <a:r>
              <a:rPr lang="de-AT" dirty="0" smtClean="0"/>
              <a:t>Einer Array-Referenz muss mit „</a:t>
            </a:r>
            <a:r>
              <a:rPr lang="de-AT" b="1" dirty="0" err="1" smtClean="0"/>
              <a:t>new</a:t>
            </a:r>
            <a:r>
              <a:rPr lang="de-AT" dirty="0" smtClean="0"/>
              <a:t>“ Heap-Speicher zugewiesen werden: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539552" y="1844824"/>
            <a:ext cx="237626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Stack</a:t>
            </a:r>
            <a:endParaRPr lang="de-AT" dirty="0"/>
          </a:p>
        </p:txBody>
      </p:sp>
      <p:sp>
        <p:nvSpPr>
          <p:cNvPr id="5" name="Rechteck 4"/>
          <p:cNvSpPr/>
          <p:nvPr/>
        </p:nvSpPr>
        <p:spPr>
          <a:xfrm>
            <a:off x="5580112" y="1844824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Heap</a:t>
            </a:r>
            <a:endParaRPr lang="de-AT" dirty="0"/>
          </a:p>
        </p:txBody>
      </p:sp>
      <p:sp>
        <p:nvSpPr>
          <p:cNvPr id="6" name="Rechteck 5"/>
          <p:cNvSpPr/>
          <p:nvPr/>
        </p:nvSpPr>
        <p:spPr>
          <a:xfrm>
            <a:off x="539552" y="2564904"/>
            <a:ext cx="237626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/>
          <p:cNvSpPr/>
          <p:nvPr/>
        </p:nvSpPr>
        <p:spPr>
          <a:xfrm>
            <a:off x="5580112" y="2564904"/>
            <a:ext cx="309634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/>
          <p:cNvSpPr txBox="1"/>
          <p:nvPr/>
        </p:nvSpPr>
        <p:spPr>
          <a:xfrm>
            <a:off x="611560" y="2780928"/>
            <a:ext cx="20162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x;</a:t>
            </a:r>
          </a:p>
          <a:p>
            <a:r>
              <a:rPr lang="de-AT" dirty="0" err="1"/>
              <a:t>b</a:t>
            </a:r>
            <a:r>
              <a:rPr lang="de-AT" dirty="0" err="1" smtClean="0"/>
              <a:t>ool</a:t>
            </a:r>
            <a:r>
              <a:rPr lang="de-AT" dirty="0" smtClean="0"/>
              <a:t> </a:t>
            </a:r>
            <a:r>
              <a:rPr lang="de-AT" dirty="0" err="1" smtClean="0"/>
              <a:t>isValid</a:t>
            </a:r>
            <a:r>
              <a:rPr lang="de-AT" dirty="0" smtClean="0"/>
              <a:t>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 f;</a:t>
            </a:r>
          </a:p>
          <a:p>
            <a:r>
              <a:rPr lang="de-AT" dirty="0" smtClean="0"/>
              <a:t>…</a:t>
            </a:r>
          </a:p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[] b;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[] c;</a:t>
            </a:r>
          </a:p>
          <a:p>
            <a:r>
              <a:rPr lang="de-AT" dirty="0" err="1"/>
              <a:t>s</a:t>
            </a:r>
            <a:r>
              <a:rPr lang="de-AT" dirty="0" err="1" smtClean="0"/>
              <a:t>tring</a:t>
            </a:r>
            <a:r>
              <a:rPr lang="de-AT" dirty="0" smtClean="0"/>
              <a:t>[] s;</a:t>
            </a:r>
          </a:p>
          <a:p>
            <a:endParaRPr lang="de-AT" dirty="0" smtClean="0"/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</p:txBody>
      </p:sp>
      <p:sp>
        <p:nvSpPr>
          <p:cNvPr id="10" name="Textfeld 9"/>
          <p:cNvSpPr txBox="1"/>
          <p:nvPr/>
        </p:nvSpPr>
        <p:spPr>
          <a:xfrm>
            <a:off x="5652120" y="2852936"/>
            <a:ext cx="31683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{0.0, 0.0, 0.0, 0.0, 0.0}</a:t>
            </a:r>
          </a:p>
          <a:p>
            <a:r>
              <a:rPr lang="de-AT" sz="2000" dirty="0" smtClean="0"/>
              <a:t> </a:t>
            </a:r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{null, null, null, null} </a:t>
            </a:r>
          </a:p>
          <a:p>
            <a:endParaRPr lang="de-AT" sz="2000" dirty="0" smtClean="0"/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{0, 0, 0, 0, 0, 0}</a:t>
            </a:r>
            <a:endParaRPr lang="de-AT" sz="2000" dirty="0"/>
          </a:p>
        </p:txBody>
      </p:sp>
      <p:cxnSp>
        <p:nvCxnSpPr>
          <p:cNvPr id="12" name="Gerade Verbindung mit Pfeil 11"/>
          <p:cNvCxnSpPr/>
          <p:nvPr/>
        </p:nvCxnSpPr>
        <p:spPr>
          <a:xfrm>
            <a:off x="1619672" y="4509120"/>
            <a:ext cx="4114800" cy="1008112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1835696" y="3068960"/>
            <a:ext cx="3888432" cy="18002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>
            <a:endCxn id="10" idx="1"/>
          </p:cNvCxnSpPr>
          <p:nvPr/>
        </p:nvCxnSpPr>
        <p:spPr>
          <a:xfrm flipV="1">
            <a:off x="2051720" y="4284097"/>
            <a:ext cx="3600400" cy="945103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 rot="834870">
            <a:off x="3478431" y="5121698"/>
            <a:ext cx="1807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= </a:t>
            </a:r>
            <a:r>
              <a:rPr lang="de-AT" sz="2000" dirty="0" err="1" smtClean="0"/>
              <a:t>new</a:t>
            </a:r>
            <a:r>
              <a:rPr lang="de-AT" sz="2000" dirty="0" smtClean="0"/>
              <a:t> </a:t>
            </a:r>
            <a:r>
              <a:rPr lang="de-AT" sz="2000" dirty="0" err="1" smtClean="0"/>
              <a:t>int</a:t>
            </a:r>
            <a:r>
              <a:rPr lang="de-AT" sz="2000" dirty="0" smtClean="0"/>
              <a:t>[6];</a:t>
            </a:r>
          </a:p>
        </p:txBody>
      </p:sp>
      <p:sp>
        <p:nvSpPr>
          <p:cNvPr id="17" name="Textfeld 16"/>
          <p:cNvSpPr txBox="1"/>
          <p:nvPr/>
        </p:nvSpPr>
        <p:spPr>
          <a:xfrm rot="20107908">
            <a:off x="3212232" y="3259480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= </a:t>
            </a:r>
            <a:r>
              <a:rPr lang="de-AT" sz="2000" dirty="0" err="1" smtClean="0"/>
              <a:t>new</a:t>
            </a:r>
            <a:r>
              <a:rPr lang="de-AT" sz="2000" dirty="0" smtClean="0"/>
              <a:t> </a:t>
            </a:r>
            <a:r>
              <a:rPr lang="de-AT" sz="2000" dirty="0" err="1" smtClean="0"/>
              <a:t>float</a:t>
            </a:r>
            <a:r>
              <a:rPr lang="de-AT" sz="2000" dirty="0" smtClean="0"/>
              <a:t>[5];</a:t>
            </a:r>
          </a:p>
        </p:txBody>
      </p:sp>
      <p:sp>
        <p:nvSpPr>
          <p:cNvPr id="18" name="Textfeld 17"/>
          <p:cNvSpPr txBox="1"/>
          <p:nvPr/>
        </p:nvSpPr>
        <p:spPr>
          <a:xfrm rot="20618507">
            <a:off x="3364632" y="4162801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= </a:t>
            </a:r>
            <a:r>
              <a:rPr lang="de-AT" sz="2000" dirty="0" err="1" smtClean="0"/>
              <a:t>new</a:t>
            </a:r>
            <a:r>
              <a:rPr lang="de-AT" sz="2000" dirty="0" smtClean="0"/>
              <a:t> </a:t>
            </a:r>
            <a:r>
              <a:rPr lang="de-AT" sz="2000" dirty="0" err="1" smtClean="0"/>
              <a:t>string</a:t>
            </a:r>
            <a:r>
              <a:rPr lang="de-AT" sz="2000" dirty="0" smtClean="0"/>
              <a:t>[4];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2926160" y="1844824"/>
            <a:ext cx="2643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000" dirty="0" smtClean="0">
                <a:solidFill>
                  <a:srgbClr val="0070C0"/>
                </a:solidFill>
              </a:rPr>
              <a:t>Anzahl der Elemente muss angegeben werden!</a:t>
            </a:r>
            <a:endParaRPr lang="de-AT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2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Heap: Allokation durch Initialisierung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908720"/>
            <a:ext cx="8208912" cy="5040561"/>
          </a:xfrm>
        </p:spPr>
        <p:txBody>
          <a:bodyPr/>
          <a:lstStyle/>
          <a:p>
            <a:pPr marL="0" indent="0">
              <a:buNone/>
            </a:pPr>
            <a:r>
              <a:rPr lang="de-AT" sz="2400" dirty="0" smtClean="0"/>
              <a:t>Einer Array-Referenz kann auch bei der Initialisierung schon fertig befüllter Speicherbereich zugewiesen werden:</a:t>
            </a:r>
            <a:endParaRPr lang="de-AT" sz="2400" dirty="0"/>
          </a:p>
        </p:txBody>
      </p:sp>
      <p:sp>
        <p:nvSpPr>
          <p:cNvPr id="4" name="Rechteck 3"/>
          <p:cNvSpPr/>
          <p:nvPr/>
        </p:nvSpPr>
        <p:spPr>
          <a:xfrm>
            <a:off x="539552" y="1844824"/>
            <a:ext cx="237626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Stack</a:t>
            </a:r>
            <a:endParaRPr lang="de-AT" dirty="0"/>
          </a:p>
        </p:txBody>
      </p:sp>
      <p:sp>
        <p:nvSpPr>
          <p:cNvPr id="5" name="Rechteck 4"/>
          <p:cNvSpPr/>
          <p:nvPr/>
        </p:nvSpPr>
        <p:spPr>
          <a:xfrm>
            <a:off x="5580112" y="1844824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/>
              <a:t>Heap</a:t>
            </a:r>
            <a:endParaRPr lang="de-AT" dirty="0"/>
          </a:p>
        </p:txBody>
      </p:sp>
      <p:sp>
        <p:nvSpPr>
          <p:cNvPr id="6" name="Rechteck 5"/>
          <p:cNvSpPr/>
          <p:nvPr/>
        </p:nvSpPr>
        <p:spPr>
          <a:xfrm>
            <a:off x="539552" y="2564904"/>
            <a:ext cx="237626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 7"/>
          <p:cNvSpPr/>
          <p:nvPr/>
        </p:nvSpPr>
        <p:spPr>
          <a:xfrm>
            <a:off x="5580112" y="2564904"/>
            <a:ext cx="3096344" cy="3312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/>
          <p:cNvSpPr txBox="1"/>
          <p:nvPr/>
        </p:nvSpPr>
        <p:spPr>
          <a:xfrm>
            <a:off x="611560" y="2780928"/>
            <a:ext cx="20162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x;</a:t>
            </a:r>
          </a:p>
          <a:p>
            <a:r>
              <a:rPr lang="de-AT" dirty="0" err="1"/>
              <a:t>b</a:t>
            </a:r>
            <a:r>
              <a:rPr lang="de-AT" dirty="0" err="1" smtClean="0"/>
              <a:t>ool</a:t>
            </a:r>
            <a:r>
              <a:rPr lang="de-AT" dirty="0" smtClean="0"/>
              <a:t> </a:t>
            </a:r>
            <a:r>
              <a:rPr lang="de-AT" dirty="0" err="1" smtClean="0"/>
              <a:t>isValid</a:t>
            </a:r>
            <a:r>
              <a:rPr lang="de-AT" dirty="0" smtClean="0"/>
              <a:t>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 f;</a:t>
            </a:r>
          </a:p>
          <a:p>
            <a:r>
              <a:rPr lang="de-AT" dirty="0" smtClean="0"/>
              <a:t>…</a:t>
            </a:r>
          </a:p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[] b;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[] c;</a:t>
            </a:r>
          </a:p>
          <a:p>
            <a:r>
              <a:rPr lang="de-AT" dirty="0" err="1"/>
              <a:t>s</a:t>
            </a:r>
            <a:r>
              <a:rPr lang="de-AT" dirty="0" err="1" smtClean="0"/>
              <a:t>tring</a:t>
            </a:r>
            <a:r>
              <a:rPr lang="de-AT" dirty="0" smtClean="0"/>
              <a:t>[] s;</a:t>
            </a:r>
          </a:p>
          <a:p>
            <a:endParaRPr lang="de-AT" dirty="0" smtClean="0"/>
          </a:p>
          <a:p>
            <a:endParaRPr lang="de-AT" dirty="0"/>
          </a:p>
          <a:p>
            <a:endParaRPr lang="de-AT" dirty="0" smtClean="0"/>
          </a:p>
          <a:p>
            <a:endParaRPr lang="de-AT" dirty="0"/>
          </a:p>
        </p:txBody>
      </p:sp>
      <p:sp>
        <p:nvSpPr>
          <p:cNvPr id="10" name="Textfeld 9"/>
          <p:cNvSpPr txBox="1"/>
          <p:nvPr/>
        </p:nvSpPr>
        <p:spPr>
          <a:xfrm>
            <a:off x="5652120" y="2743177"/>
            <a:ext cx="31683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 smtClean="0"/>
              <a:t>{</a:t>
            </a:r>
            <a:r>
              <a:rPr lang="de-AT" sz="2000" dirty="0"/>
              <a:t>4.2, 1.8, 3.4, 5.9, 10.27</a:t>
            </a:r>
            <a:r>
              <a:rPr lang="de-AT" sz="2000" dirty="0" smtClean="0"/>
              <a:t>}</a:t>
            </a:r>
          </a:p>
          <a:p>
            <a:r>
              <a:rPr lang="de-AT" sz="2000" dirty="0" smtClean="0"/>
              <a:t> </a:t>
            </a:r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{„</a:t>
            </a:r>
            <a:r>
              <a:rPr lang="de-AT" sz="2000" dirty="0"/>
              <a:t>Franz“, „Susi“, „Hugo“, „</a:t>
            </a:r>
            <a:r>
              <a:rPr lang="de-AT" sz="2000" dirty="0" smtClean="0"/>
              <a:t>Gretl“} </a:t>
            </a:r>
          </a:p>
          <a:p>
            <a:endParaRPr lang="de-AT" sz="2000" dirty="0" smtClean="0"/>
          </a:p>
          <a:p>
            <a:endParaRPr lang="de-AT" sz="2000" dirty="0"/>
          </a:p>
          <a:p>
            <a:endParaRPr lang="de-AT" sz="2000" dirty="0" smtClean="0"/>
          </a:p>
          <a:p>
            <a:r>
              <a:rPr lang="de-AT" sz="2000" dirty="0" smtClean="0"/>
              <a:t>{</a:t>
            </a:r>
            <a:r>
              <a:rPr lang="de-AT" sz="2000" dirty="0"/>
              <a:t>42, 17, 93, 85</a:t>
            </a:r>
            <a:r>
              <a:rPr lang="de-AT" sz="2000" dirty="0" smtClean="0"/>
              <a:t>}</a:t>
            </a:r>
            <a:endParaRPr lang="de-AT" sz="2000" dirty="0"/>
          </a:p>
        </p:txBody>
      </p:sp>
      <p:cxnSp>
        <p:nvCxnSpPr>
          <p:cNvPr id="12" name="Gerade Verbindung mit Pfeil 11"/>
          <p:cNvCxnSpPr/>
          <p:nvPr/>
        </p:nvCxnSpPr>
        <p:spPr>
          <a:xfrm>
            <a:off x="1619672" y="4543377"/>
            <a:ext cx="4114800" cy="1008112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1835696" y="3068960"/>
            <a:ext cx="3888432" cy="18002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/>
          <p:cNvCxnSpPr>
            <a:endCxn id="10" idx="1"/>
          </p:cNvCxnSpPr>
          <p:nvPr/>
        </p:nvCxnSpPr>
        <p:spPr>
          <a:xfrm flipV="1">
            <a:off x="2051720" y="4328227"/>
            <a:ext cx="3600400" cy="791215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 rot="834870">
            <a:off x="3098051" y="5124926"/>
            <a:ext cx="219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 dirty="0" smtClean="0"/>
              <a:t>= </a:t>
            </a:r>
            <a:r>
              <a:rPr lang="de-AT" sz="1800" dirty="0"/>
              <a:t>{42, 17, 93, 85</a:t>
            </a:r>
            <a:r>
              <a:rPr lang="de-AT" sz="1800" dirty="0" smtClean="0"/>
              <a:t>};</a:t>
            </a:r>
            <a:endParaRPr lang="de-AT" dirty="0" smtClean="0"/>
          </a:p>
        </p:txBody>
      </p:sp>
      <p:sp>
        <p:nvSpPr>
          <p:cNvPr id="17" name="Textfeld 16"/>
          <p:cNvSpPr txBox="1"/>
          <p:nvPr/>
        </p:nvSpPr>
        <p:spPr>
          <a:xfrm rot="20107908">
            <a:off x="2779023" y="3333641"/>
            <a:ext cx="3147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800" dirty="0" smtClean="0"/>
              <a:t>= </a:t>
            </a:r>
            <a:r>
              <a:rPr lang="de-AT" sz="1800" dirty="0"/>
              <a:t>{4.2, 1.8, 3.4, 5.9, 10.27</a:t>
            </a:r>
            <a:r>
              <a:rPr lang="de-AT" sz="1800" dirty="0" smtClean="0"/>
              <a:t>};</a:t>
            </a:r>
          </a:p>
        </p:txBody>
      </p:sp>
      <p:sp>
        <p:nvSpPr>
          <p:cNvPr id="18" name="Textfeld 17"/>
          <p:cNvSpPr txBox="1"/>
          <p:nvPr/>
        </p:nvSpPr>
        <p:spPr>
          <a:xfrm rot="20836092">
            <a:off x="2397657" y="4247532"/>
            <a:ext cx="38404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 smtClean="0"/>
              <a:t>= </a:t>
            </a:r>
            <a:r>
              <a:rPr lang="de-AT" sz="1600" dirty="0"/>
              <a:t>{„Franz“, „Susi“, „Hugo“, „Gretl</a:t>
            </a:r>
            <a:r>
              <a:rPr lang="de-AT" sz="1600" dirty="0" smtClean="0"/>
              <a:t>“};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2926160" y="2276872"/>
            <a:ext cx="2437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000" dirty="0" smtClean="0">
                <a:solidFill>
                  <a:srgbClr val="0070C0"/>
                </a:solidFill>
              </a:rPr>
              <a:t>Im Hintergrund wird „</a:t>
            </a:r>
            <a:r>
              <a:rPr lang="de-AT" sz="2000" dirty="0" err="1" smtClean="0">
                <a:solidFill>
                  <a:srgbClr val="0070C0"/>
                </a:solidFill>
              </a:rPr>
              <a:t>new</a:t>
            </a:r>
            <a:r>
              <a:rPr lang="de-AT" sz="2000" dirty="0" smtClean="0">
                <a:solidFill>
                  <a:srgbClr val="0070C0"/>
                </a:solidFill>
              </a:rPr>
              <a:t>“ durchgeführt</a:t>
            </a:r>
            <a:endParaRPr lang="de-AT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60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  <p:bldP spid="18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/>
          <p:cNvSpPr/>
          <p:nvPr/>
        </p:nvSpPr>
        <p:spPr>
          <a:xfrm>
            <a:off x="323528" y="3501008"/>
            <a:ext cx="2376264" cy="1728192"/>
          </a:xfrm>
          <a:prstGeom prst="rect">
            <a:avLst/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Rechteck 5"/>
          <p:cNvSpPr/>
          <p:nvPr/>
        </p:nvSpPr>
        <p:spPr>
          <a:xfrm>
            <a:off x="323528" y="1052736"/>
            <a:ext cx="2376264" cy="1728192"/>
          </a:xfrm>
          <a:prstGeom prst="rect">
            <a:avLst/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7" name="Abgerundete rechteckige Legende 16"/>
          <p:cNvSpPr/>
          <p:nvPr/>
        </p:nvSpPr>
        <p:spPr>
          <a:xfrm>
            <a:off x="2977480" y="3140968"/>
            <a:ext cx="5626968" cy="3096344"/>
          </a:xfrm>
          <a:prstGeom prst="wedgeRoundRectCallout">
            <a:avLst>
              <a:gd name="adj1" fmla="val -64816"/>
              <a:gd name="adj2" fmla="val -21936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Abgerundete rechteckige Legende 14"/>
          <p:cNvSpPr/>
          <p:nvPr/>
        </p:nvSpPr>
        <p:spPr>
          <a:xfrm>
            <a:off x="3059832" y="908720"/>
            <a:ext cx="5544616" cy="2016224"/>
          </a:xfrm>
          <a:prstGeom prst="wedgeRoundRectCallout">
            <a:avLst>
              <a:gd name="adj1" fmla="val -65289"/>
              <a:gd name="adj2" fmla="val -17853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Werttyp</a:t>
            </a:r>
            <a:r>
              <a:rPr lang="de-AT" dirty="0" smtClean="0"/>
              <a:t> - Referenztyp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3203848" y="908720"/>
            <a:ext cx="5472608" cy="5472608"/>
          </a:xfrm>
        </p:spPr>
        <p:txBody>
          <a:bodyPr/>
          <a:lstStyle/>
          <a:p>
            <a:pPr marL="0" indent="0">
              <a:buNone/>
            </a:pPr>
            <a:r>
              <a:rPr lang="de-AT" dirty="0" err="1" smtClean="0"/>
              <a:t>Werttyp</a:t>
            </a:r>
            <a:r>
              <a:rPr lang="de-AT" dirty="0" smtClean="0"/>
              <a:t> (</a:t>
            </a:r>
            <a:r>
              <a:rPr lang="de-AT" i="1" dirty="0" err="1" smtClean="0"/>
              <a:t>value</a:t>
            </a:r>
            <a:r>
              <a:rPr lang="de-AT" i="1" dirty="0" smtClean="0"/>
              <a:t> type</a:t>
            </a:r>
            <a:r>
              <a:rPr lang="de-AT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sz="1800" b="1" dirty="0" smtClean="0"/>
              <a:t>Primitive Datentypen </a:t>
            </a:r>
            <a:r>
              <a:rPr lang="de-AT" sz="1800" dirty="0" smtClean="0"/>
              <a:t>(z.B. </a:t>
            </a:r>
            <a:r>
              <a:rPr lang="de-AT" sz="1800" dirty="0" err="1" smtClean="0"/>
              <a:t>bool</a:t>
            </a:r>
            <a:r>
              <a:rPr lang="de-AT" sz="1800" dirty="0" smtClean="0"/>
              <a:t>, </a:t>
            </a:r>
            <a:r>
              <a:rPr lang="de-AT" sz="1800" dirty="0" err="1" smtClean="0"/>
              <a:t>char</a:t>
            </a:r>
            <a:r>
              <a:rPr lang="de-AT" sz="1800" dirty="0" smtClean="0"/>
              <a:t>, </a:t>
            </a:r>
            <a:r>
              <a:rPr lang="de-AT" sz="1800" dirty="0" err="1" smtClean="0"/>
              <a:t>int</a:t>
            </a:r>
            <a:r>
              <a:rPr lang="de-AT" sz="1800" dirty="0" smtClean="0"/>
              <a:t>, double) sind Werttypen, weil die notwendige Speichergröße zur Übersetzungszeit bekannt ist und die Variable direkt den Wert enthält.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sz="1800" dirty="0" smtClean="0"/>
              <a:t>Werttyp-Variablen liegen vollständig im Stack.</a:t>
            </a:r>
            <a:br>
              <a:rPr lang="de-AT" sz="1800" dirty="0" smtClean="0"/>
            </a:br>
            <a:endParaRPr lang="de-AT" sz="1800" dirty="0" smtClean="0"/>
          </a:p>
          <a:p>
            <a:pPr marL="0" indent="0">
              <a:buNone/>
            </a:pPr>
            <a:r>
              <a:rPr lang="de-AT" dirty="0" smtClean="0"/>
              <a:t>Referenztyp (</a:t>
            </a:r>
            <a:r>
              <a:rPr lang="de-AT" i="1" dirty="0" err="1" smtClean="0"/>
              <a:t>reference</a:t>
            </a:r>
            <a:r>
              <a:rPr lang="de-AT" i="1" dirty="0" smtClean="0"/>
              <a:t> type</a:t>
            </a:r>
            <a:r>
              <a:rPr lang="de-AT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sz="1800" b="1" dirty="0" smtClean="0"/>
              <a:t>Komplexe Datentypen </a:t>
            </a:r>
            <a:r>
              <a:rPr lang="de-AT" sz="1800" dirty="0" smtClean="0"/>
              <a:t>(z.B. Strings, Arrays, Objektinstanzen) sind Referenztypen, weil die Nutzdaten erst zur Laufzeit am Heap allokiert werden. Die Größe eines Arrays ist zur Übersetzungszeit nicht (immer) bekannt.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sz="1800" dirty="0" smtClean="0"/>
              <a:t>Die Variable enthält nur eine Heap-Referenz.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sz="1800" dirty="0" smtClean="0"/>
              <a:t>Referenztypen kann der Wert „</a:t>
            </a:r>
            <a:r>
              <a:rPr lang="de-AT" sz="1800" b="1" dirty="0" smtClean="0"/>
              <a:t>null</a:t>
            </a:r>
            <a:r>
              <a:rPr lang="de-AT" sz="1800" dirty="0" smtClean="0"/>
              <a:t>“ zugewiesen werden. (Hier können daher auch </a:t>
            </a:r>
            <a:r>
              <a:rPr lang="de-AT" sz="1800" b="1" i="1" dirty="0" err="1" smtClean="0"/>
              <a:t>NullReferenceExceptions</a:t>
            </a:r>
            <a:r>
              <a:rPr lang="de-AT" sz="1800" dirty="0" smtClean="0"/>
              <a:t> passieren)</a:t>
            </a:r>
          </a:p>
          <a:p>
            <a:pPr marL="0" indent="0">
              <a:buNone/>
            </a:pPr>
            <a:endParaRPr lang="de-AT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 smtClean="0"/>
          </a:p>
          <a:p>
            <a:endParaRPr lang="de-AT" dirty="0"/>
          </a:p>
        </p:txBody>
      </p:sp>
      <p:sp>
        <p:nvSpPr>
          <p:cNvPr id="13" name="Textfeld 12"/>
          <p:cNvSpPr txBox="1"/>
          <p:nvPr/>
        </p:nvSpPr>
        <p:spPr>
          <a:xfrm>
            <a:off x="395536" y="1124744"/>
            <a:ext cx="20162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</a:t>
            </a:r>
            <a:r>
              <a:rPr lang="de-AT" dirty="0" err="1" smtClean="0"/>
              <a:t>nt</a:t>
            </a:r>
            <a:r>
              <a:rPr lang="de-AT" dirty="0" smtClean="0"/>
              <a:t> x;</a:t>
            </a:r>
          </a:p>
          <a:p>
            <a:r>
              <a:rPr lang="de-AT" dirty="0" err="1"/>
              <a:t>b</a:t>
            </a:r>
            <a:r>
              <a:rPr lang="de-AT" dirty="0" err="1" smtClean="0"/>
              <a:t>ool</a:t>
            </a:r>
            <a:r>
              <a:rPr lang="de-AT" dirty="0" smtClean="0"/>
              <a:t> </a:t>
            </a:r>
            <a:r>
              <a:rPr lang="de-AT" dirty="0" err="1" smtClean="0"/>
              <a:t>isValid</a:t>
            </a:r>
            <a:r>
              <a:rPr lang="de-AT" dirty="0" smtClean="0"/>
              <a:t>;</a:t>
            </a:r>
          </a:p>
          <a:p>
            <a:r>
              <a:rPr lang="de-AT" dirty="0" err="1"/>
              <a:t>f</a:t>
            </a:r>
            <a:r>
              <a:rPr lang="de-AT" dirty="0" err="1" smtClean="0"/>
              <a:t>loat</a:t>
            </a:r>
            <a:r>
              <a:rPr lang="de-AT" dirty="0" smtClean="0"/>
              <a:t> f</a:t>
            </a:r>
            <a:r>
              <a:rPr lang="de-AT" dirty="0" smtClean="0"/>
              <a:t>;</a:t>
            </a:r>
          </a:p>
          <a:p>
            <a:r>
              <a:rPr lang="de-AT" dirty="0" err="1" smtClean="0"/>
              <a:t>char</a:t>
            </a:r>
            <a:r>
              <a:rPr lang="de-AT" dirty="0" smtClean="0"/>
              <a:t> c;</a:t>
            </a:r>
            <a:endParaRPr lang="de-AT" dirty="0" smtClean="0"/>
          </a:p>
        </p:txBody>
      </p:sp>
      <p:sp>
        <p:nvSpPr>
          <p:cNvPr id="19" name="Textfeld 18"/>
          <p:cNvSpPr txBox="1"/>
          <p:nvPr/>
        </p:nvSpPr>
        <p:spPr>
          <a:xfrm>
            <a:off x="457200" y="3573016"/>
            <a:ext cx="18105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int</a:t>
            </a:r>
            <a:r>
              <a:rPr lang="de-AT" dirty="0"/>
              <a:t>[] b;</a:t>
            </a:r>
          </a:p>
          <a:p>
            <a:r>
              <a:rPr lang="de-AT" dirty="0" err="1"/>
              <a:t>float</a:t>
            </a:r>
            <a:r>
              <a:rPr lang="de-AT" dirty="0"/>
              <a:t>[] c;</a:t>
            </a:r>
          </a:p>
          <a:p>
            <a:r>
              <a:rPr lang="de-AT" dirty="0" err="1"/>
              <a:t>string</a:t>
            </a:r>
            <a:r>
              <a:rPr lang="de-AT" dirty="0"/>
              <a:t>[] s;</a:t>
            </a:r>
          </a:p>
          <a:p>
            <a:r>
              <a:rPr lang="de-AT" dirty="0" err="1"/>
              <a:t>string</a:t>
            </a:r>
            <a:r>
              <a:rPr lang="de-AT" dirty="0"/>
              <a:t> t;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797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605</Words>
  <Application>Microsoft Office PowerPoint</Application>
  <PresentationFormat>Bildschirmpräsentation (4:3)</PresentationFormat>
  <Paragraphs>122</Paragraphs>
  <Slides>10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10</vt:i4>
      </vt:variant>
    </vt:vector>
  </HeadingPairs>
  <TitlesOfParts>
    <vt:vector size="19" baseType="lpstr">
      <vt:lpstr>MS PGothic</vt:lpstr>
      <vt:lpstr>MS PGothic</vt:lpstr>
      <vt:lpstr>Arial</vt:lpstr>
      <vt:lpstr>Calibri</vt:lpstr>
      <vt:lpstr>Symbol</vt:lpstr>
      <vt:lpstr>Times New Roman</vt:lpstr>
      <vt:lpstr>Wingdings</vt:lpstr>
      <vt:lpstr>2_Larissa</vt:lpstr>
      <vt:lpstr>1_Standarddesign</vt:lpstr>
      <vt:lpstr>Daten im Hauptspeicher</vt:lpstr>
      <vt:lpstr>Stack-Beispiel: Aufrufkette</vt:lpstr>
      <vt:lpstr>Methodenaufrufe: Stack Frames</vt:lpstr>
      <vt:lpstr>Methodenaufruf und -rückkehr</vt:lpstr>
      <vt:lpstr>Stack: Programmende</vt:lpstr>
      <vt:lpstr>Heap: Dynamischer Speicher</vt:lpstr>
      <vt:lpstr>Stack oder Heap?</vt:lpstr>
      <vt:lpstr>Heap: Speicherallokation</vt:lpstr>
      <vt:lpstr>Heap: Allokation durch Initialisierung</vt:lpstr>
      <vt:lpstr>Werttyp - Referenztyp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Birgit Schröder</cp:lastModifiedBy>
  <cp:revision>210</cp:revision>
  <dcterms:created xsi:type="dcterms:W3CDTF">2006-01-13T20:54:04Z</dcterms:created>
  <dcterms:modified xsi:type="dcterms:W3CDTF">2016-05-11T15:14:45Z</dcterms:modified>
</cp:coreProperties>
</file>