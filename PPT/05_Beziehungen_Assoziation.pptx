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2" r:id="rId1"/>
    <p:sldMasterId id="2147483884" r:id="rId2"/>
  </p:sldMasterIdLst>
  <p:notesMasterIdLst>
    <p:notesMasterId r:id="rId20"/>
  </p:notesMasterIdLst>
  <p:handoutMasterIdLst>
    <p:handoutMasterId r:id="rId21"/>
  </p:handoutMasterIdLst>
  <p:sldIdLst>
    <p:sldId id="270" r:id="rId3"/>
    <p:sldId id="495" r:id="rId4"/>
    <p:sldId id="494" r:id="rId5"/>
    <p:sldId id="496" r:id="rId6"/>
    <p:sldId id="497" r:id="rId7"/>
    <p:sldId id="498" r:id="rId8"/>
    <p:sldId id="499" r:id="rId9"/>
    <p:sldId id="500" r:id="rId10"/>
    <p:sldId id="501" r:id="rId11"/>
    <p:sldId id="502" r:id="rId12"/>
    <p:sldId id="504" r:id="rId13"/>
    <p:sldId id="508" r:id="rId14"/>
    <p:sldId id="503" r:id="rId15"/>
    <p:sldId id="509" r:id="rId16"/>
    <p:sldId id="506" r:id="rId17"/>
    <p:sldId id="510" r:id="rId18"/>
    <p:sldId id="258" r:id="rId19"/>
  </p:sldIdLst>
  <p:sldSz cx="9144000" cy="6858000" type="screen4x3"/>
  <p:notesSz cx="6858000" cy="9144000"/>
  <p:defaultTextStyle>
    <a:defPPr>
      <a:defRPr lang="de-DE"/>
    </a:defPPr>
    <a:lvl1pPr algn="l" rtl="0" fontAlgn="base">
      <a:spcBef>
        <a:spcPct val="0"/>
      </a:spcBef>
      <a:spcAft>
        <a:spcPct val="0"/>
      </a:spcAft>
      <a:defRPr sz="800" kern="1200">
        <a:solidFill>
          <a:schemeClr val="tx1"/>
        </a:solidFill>
        <a:latin typeface="Arial" charset="0"/>
        <a:ea typeface="+mn-ea"/>
        <a:cs typeface="+mn-cs"/>
      </a:defRPr>
    </a:lvl1pPr>
    <a:lvl2pPr marL="457200" algn="l" rtl="0" fontAlgn="base">
      <a:spcBef>
        <a:spcPct val="0"/>
      </a:spcBef>
      <a:spcAft>
        <a:spcPct val="0"/>
      </a:spcAft>
      <a:defRPr sz="800" kern="1200">
        <a:solidFill>
          <a:schemeClr val="tx1"/>
        </a:solidFill>
        <a:latin typeface="Arial" charset="0"/>
        <a:ea typeface="+mn-ea"/>
        <a:cs typeface="+mn-cs"/>
      </a:defRPr>
    </a:lvl2pPr>
    <a:lvl3pPr marL="914400" algn="l" rtl="0" fontAlgn="base">
      <a:spcBef>
        <a:spcPct val="0"/>
      </a:spcBef>
      <a:spcAft>
        <a:spcPct val="0"/>
      </a:spcAft>
      <a:defRPr sz="800" kern="1200">
        <a:solidFill>
          <a:schemeClr val="tx1"/>
        </a:solidFill>
        <a:latin typeface="Arial" charset="0"/>
        <a:ea typeface="+mn-ea"/>
        <a:cs typeface="+mn-cs"/>
      </a:defRPr>
    </a:lvl3pPr>
    <a:lvl4pPr marL="1371600" algn="l" rtl="0" fontAlgn="base">
      <a:spcBef>
        <a:spcPct val="0"/>
      </a:spcBef>
      <a:spcAft>
        <a:spcPct val="0"/>
      </a:spcAft>
      <a:defRPr sz="800" kern="1200">
        <a:solidFill>
          <a:schemeClr val="tx1"/>
        </a:solidFill>
        <a:latin typeface="Arial" charset="0"/>
        <a:ea typeface="+mn-ea"/>
        <a:cs typeface="+mn-cs"/>
      </a:defRPr>
    </a:lvl4pPr>
    <a:lvl5pPr marL="1828800" algn="l" rtl="0" fontAlgn="base">
      <a:spcBef>
        <a:spcPct val="0"/>
      </a:spcBef>
      <a:spcAft>
        <a:spcPct val="0"/>
      </a:spcAft>
      <a:defRPr sz="800" kern="1200">
        <a:solidFill>
          <a:schemeClr val="tx1"/>
        </a:solidFill>
        <a:latin typeface="Arial" charset="0"/>
        <a:ea typeface="+mn-ea"/>
        <a:cs typeface="+mn-cs"/>
      </a:defRPr>
    </a:lvl5pPr>
    <a:lvl6pPr marL="2286000" algn="l" defTabSz="914400" rtl="0" eaLnBrk="1" latinLnBrk="0" hangingPunct="1">
      <a:defRPr sz="800" kern="1200">
        <a:solidFill>
          <a:schemeClr val="tx1"/>
        </a:solidFill>
        <a:latin typeface="Arial" charset="0"/>
        <a:ea typeface="+mn-ea"/>
        <a:cs typeface="+mn-cs"/>
      </a:defRPr>
    </a:lvl6pPr>
    <a:lvl7pPr marL="2743200" algn="l" defTabSz="914400" rtl="0" eaLnBrk="1" latinLnBrk="0" hangingPunct="1">
      <a:defRPr sz="800" kern="1200">
        <a:solidFill>
          <a:schemeClr val="tx1"/>
        </a:solidFill>
        <a:latin typeface="Arial" charset="0"/>
        <a:ea typeface="+mn-ea"/>
        <a:cs typeface="+mn-cs"/>
      </a:defRPr>
    </a:lvl7pPr>
    <a:lvl8pPr marL="3200400" algn="l" defTabSz="914400" rtl="0" eaLnBrk="1" latinLnBrk="0" hangingPunct="1">
      <a:defRPr sz="800" kern="1200">
        <a:solidFill>
          <a:schemeClr val="tx1"/>
        </a:solidFill>
        <a:latin typeface="Arial" charset="0"/>
        <a:ea typeface="+mn-ea"/>
        <a:cs typeface="+mn-cs"/>
      </a:defRPr>
    </a:lvl8pPr>
    <a:lvl9pPr marL="3657600" algn="l" defTabSz="914400" rtl="0" eaLnBrk="1" latinLnBrk="0" hangingPunct="1">
      <a:defRPr sz="8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75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99"/>
    <a:srgbClr val="000080"/>
    <a:srgbClr val="0160B0"/>
    <a:srgbClr val="E4D3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54" autoAdjust="0"/>
    <p:restoredTop sz="94660"/>
  </p:normalViewPr>
  <p:slideViewPr>
    <p:cSldViewPr snapToGrid="0">
      <p:cViewPr varScale="1">
        <p:scale>
          <a:sx n="110" d="100"/>
          <a:sy n="110" d="100"/>
        </p:scale>
        <p:origin x="1938" y="108"/>
      </p:cViewPr>
      <p:guideLst>
        <p:guide orient="horz" pos="75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CDBC143-268C-4992-B6C5-A4BE98E96A29}" type="datetimeFigureOut">
              <a:rPr lang="de-AT" smtClean="0"/>
              <a:pPr/>
              <a:t>14.10.2019</a:t>
            </a:fld>
            <a:endParaRPr lang="de-AT"/>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8532A22-D064-4EBD-BF89-0BE41C360D3A}" type="slidenum">
              <a:rPr lang="de-AT" smtClean="0"/>
              <a:pPr/>
              <a:t>‹Nr.›</a:t>
            </a:fld>
            <a:endParaRPr lang="de-AT"/>
          </a:p>
        </p:txBody>
      </p:sp>
    </p:spTree>
    <p:extLst>
      <p:ext uri="{BB962C8B-B14F-4D97-AF65-F5344CB8AC3E}">
        <p14:creationId xmlns:p14="http://schemas.microsoft.com/office/powerpoint/2010/main" val="3444736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smtClean="0"/>
              <a:t>Textmasterformate durch Klicken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C2FDBC-503D-4D64-8965-9F0B83E3DCA8}" type="slidenum">
              <a:rPr lang="de-DE"/>
              <a:pPr>
                <a:defRPr/>
              </a:pPr>
              <a:t>‹Nr.›</a:t>
            </a:fld>
            <a:endParaRPr lang="de-DE"/>
          </a:p>
        </p:txBody>
      </p:sp>
    </p:spTree>
    <p:extLst>
      <p:ext uri="{BB962C8B-B14F-4D97-AF65-F5344CB8AC3E}">
        <p14:creationId xmlns:p14="http://schemas.microsoft.com/office/powerpoint/2010/main" val="34373152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2" name="Grafik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74688"/>
            <a:ext cx="9421813" cy="70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hteck 2"/>
          <p:cNvSpPr/>
          <p:nvPr userDrawn="1"/>
        </p:nvSpPr>
        <p:spPr>
          <a:xfrm>
            <a:off x="-180975" y="4437063"/>
            <a:ext cx="9648825" cy="2520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4" name="Rechteck 3"/>
          <p:cNvSpPr/>
          <p:nvPr userDrawn="1"/>
        </p:nvSpPr>
        <p:spPr>
          <a:xfrm>
            <a:off x="4859338" y="0"/>
            <a:ext cx="3816350" cy="908050"/>
          </a:xfrm>
          <a:prstGeom prst="rect">
            <a:avLst/>
          </a:prstGeom>
          <a:solidFill>
            <a:schemeClr val="bg1"/>
          </a:solidFill>
          <a:ln>
            <a:noFill/>
          </a:ln>
          <a:effectLst>
            <a:outerShdw blurRad="1651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5" name="Grafik 1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59363" y="260350"/>
            <a:ext cx="34004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7"/>
          <p:cNvSpPr txBox="1">
            <a:spLocks noChangeArrowheads="1"/>
          </p:cNvSpPr>
          <p:nvPr userDrawn="1"/>
        </p:nvSpPr>
        <p:spPr>
          <a:xfrm>
            <a:off x="469900" y="1700213"/>
            <a:ext cx="7485063" cy="1081087"/>
          </a:xfrm>
          <a:prstGeom prst="rect">
            <a:avLst/>
          </a:prstGeom>
        </p:spPr>
        <p:txBody>
          <a:bodyPr/>
          <a:lstStyle>
            <a:lvl1pPr algn="l" defTabSz="914400" rtl="0" eaLnBrk="1" latinLnBrk="0" hangingPunct="1">
              <a:spcBef>
                <a:spcPct val="0"/>
              </a:spcBef>
              <a:buNone/>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stStyle>
          <a:p>
            <a:pPr fontAlgn="auto">
              <a:spcAft>
                <a:spcPts val="0"/>
              </a:spcAft>
              <a:defRPr/>
            </a:pPr>
            <a:r>
              <a:rPr lang="de-DE" sz="3800" b="1" kern="1200" dirty="0" smtClean="0">
                <a:solidFill>
                  <a:schemeClr val="tx1">
                    <a:lumMod val="85000"/>
                    <a:lumOff val="15000"/>
                  </a:schemeClr>
                </a:solidFill>
                <a:effectLst/>
                <a:latin typeface="Arial" pitchFamily="34" charset="0"/>
                <a:ea typeface="+mj-ea"/>
                <a:cs typeface="Arial" pitchFamily="34" charset="0"/>
              </a:rPr>
              <a:t>Beziehungen zwischen Klassen</a:t>
            </a:r>
            <a:endParaRPr lang="de-DE" sz="3800" b="1" kern="1200" dirty="0">
              <a:solidFill>
                <a:schemeClr val="tx1">
                  <a:lumMod val="85000"/>
                  <a:lumOff val="15000"/>
                </a:schemeClr>
              </a:solidFill>
              <a:effectLst/>
              <a:latin typeface="Arial" pitchFamily="34" charset="0"/>
              <a:ea typeface="+mj-ea"/>
              <a:cs typeface="Arial" pitchFamily="34" charset="0"/>
            </a:endParaRPr>
          </a:p>
        </p:txBody>
      </p:sp>
      <p:sp>
        <p:nvSpPr>
          <p:cNvPr id="7" name="Rectangle 28"/>
          <p:cNvSpPr txBox="1">
            <a:spLocks noChangeArrowheads="1"/>
          </p:cNvSpPr>
          <p:nvPr userDrawn="1"/>
        </p:nvSpPr>
        <p:spPr>
          <a:xfrm>
            <a:off x="469900" y="3062288"/>
            <a:ext cx="7510463" cy="584200"/>
          </a:xfrm>
          <a:prstGeom prst="rect">
            <a:avLst/>
          </a:prstGeom>
        </p:spPr>
        <p:txBody>
          <a:bodyPr/>
          <a:lstStyle>
            <a:lvl1pPr marL="269875" indent="-269875" algn="l" defTabSz="914400" rtl="0" eaLnBrk="1" latinLnBrk="0" hangingPunct="1">
              <a:spcBef>
                <a:spcPct val="20000"/>
              </a:spcBef>
              <a:buSzPct val="65000"/>
              <a:buFont typeface="Wingdings" pitchFamily="2" charset="2"/>
              <a:buChar char="§"/>
              <a:defRPr sz="2800" kern="1200">
                <a:solidFill>
                  <a:schemeClr val="tx1">
                    <a:lumMod val="75000"/>
                    <a:lumOff val="25000"/>
                  </a:schemeClr>
                </a:solidFill>
                <a:latin typeface="Arial" pitchFamily="34" charset="0"/>
                <a:ea typeface="+mn-ea"/>
                <a:cs typeface="Arial" pitchFamily="34" charset="0"/>
              </a:defRPr>
            </a:lvl1pPr>
            <a:lvl2pPr marL="895350" indent="-354013" algn="l" defTabSz="914400" rtl="0" eaLnBrk="1" latinLnBrk="0" hangingPunct="1">
              <a:spcBef>
                <a:spcPct val="20000"/>
              </a:spcBef>
              <a:buFont typeface="Symbol" pitchFamily="18" charset="2"/>
              <a:buChar char="-"/>
              <a:defRPr sz="2500" kern="1200">
                <a:solidFill>
                  <a:schemeClr val="tx1">
                    <a:lumMod val="75000"/>
                    <a:lumOff val="25000"/>
                  </a:schemeClr>
                </a:solidFill>
                <a:latin typeface="Arial" pitchFamily="34" charset="0"/>
                <a:ea typeface="+mn-ea"/>
                <a:cs typeface="Arial" pitchFamily="34" charset="0"/>
              </a:defRPr>
            </a:lvl2pPr>
            <a:lvl3pPr marL="1343025" indent="-269875" algn="l" defTabSz="914400" rtl="0" eaLnBrk="1" latinLnBrk="0" hangingPunct="1">
              <a:spcBef>
                <a:spcPct val="20000"/>
              </a:spcBef>
              <a:buSzPct val="65000"/>
              <a:buFont typeface="Wingdings" pitchFamily="2" charset="2"/>
              <a:buChar char="§"/>
              <a:defRPr sz="2200" kern="1200">
                <a:solidFill>
                  <a:schemeClr val="tx1">
                    <a:lumMod val="75000"/>
                    <a:lumOff val="25000"/>
                  </a:schemeClr>
                </a:solidFill>
                <a:latin typeface="Arial" pitchFamily="34" charset="0"/>
                <a:ea typeface="+mn-ea"/>
                <a:cs typeface="Arial" pitchFamily="34" charset="0"/>
              </a:defRPr>
            </a:lvl3pPr>
            <a:lvl4pPr marL="1790700" indent="-354013" algn="l" defTabSz="914400" rtl="0" eaLnBrk="1" latinLnBrk="0" hangingPunct="1">
              <a:spcBef>
                <a:spcPct val="20000"/>
              </a:spcBef>
              <a:buFont typeface="Arial" pitchFamily="34" charset="0"/>
              <a:buChar char="–"/>
              <a:defRPr sz="2000" kern="1200">
                <a:solidFill>
                  <a:schemeClr val="tx1">
                    <a:lumMod val="75000"/>
                    <a:lumOff val="2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Wingdings" pitchFamily="2" charset="2"/>
              <a:buNone/>
              <a:defRPr/>
            </a:pPr>
            <a:endParaRPr lang="de-DE" sz="2400" dirty="0"/>
          </a:p>
        </p:txBody>
      </p:sp>
      <p:pic>
        <p:nvPicPr>
          <p:cNvPr id="8" name="Grafik 15"/>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95288" y="4837113"/>
            <a:ext cx="655320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7643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a:t>Textmasterformate durch Klicken bearbeiten</a:t>
            </a:r>
          </a:p>
        </p:txBody>
      </p:sp>
    </p:spTree>
    <p:extLst>
      <p:ext uri="{BB962C8B-B14F-4D97-AF65-F5344CB8AC3E}">
        <p14:creationId xmlns:p14="http://schemas.microsoft.com/office/powerpoint/2010/main" val="25072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a:p>
            <a:pPr lvl="4"/>
            <a:r>
              <a:rPr lang="en-US" dirty="0"/>
              <a:t>Fünfte Ebene</a:t>
            </a:r>
            <a:endParaRPr lang="de-DE" dirty="0"/>
          </a:p>
        </p:txBody>
      </p:sp>
    </p:spTree>
    <p:extLst>
      <p:ext uri="{BB962C8B-B14F-4D97-AF65-F5344CB8AC3E}">
        <p14:creationId xmlns:p14="http://schemas.microsoft.com/office/powerpoint/2010/main" val="172889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3541053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a:t>Titelmasterformat durch Klicken bearbeiten</a:t>
            </a:r>
            <a:endParaRPr lang="de-AT" dirty="0"/>
          </a:p>
        </p:txBody>
      </p:sp>
    </p:spTree>
    <p:extLst>
      <p:ext uri="{BB962C8B-B14F-4D97-AF65-F5344CB8AC3E}">
        <p14:creationId xmlns:p14="http://schemas.microsoft.com/office/powerpoint/2010/main" val="2849478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p>
            <a:r>
              <a:rPr lang="de-DE"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772128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694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de-AT"/>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AT"/>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1" hangingPunct="1">
              <a:defRPr/>
            </a:lvl1pPr>
          </a:lstStyle>
          <a:p>
            <a:pPr>
              <a:defRPr/>
            </a:pPr>
            <a:fld id="{8590B3C7-77DC-422C-A398-53D9F722C5A8}" type="datetimeFigureOut">
              <a:rPr lang="de-AT"/>
              <a:pPr>
                <a:defRPr/>
              </a:pPr>
              <a:t>14.10.2019</a:t>
            </a:fld>
            <a:endParaRPr lang="de-AT"/>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hangingPunct="1">
              <a:defRPr/>
            </a:lvl1pPr>
          </a:lstStyle>
          <a:p>
            <a:pPr>
              <a:defRPr/>
            </a:pPr>
            <a:endParaRPr lang="de-AT"/>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eaLnBrk="1" hangingPunct="1">
              <a:defRPr/>
            </a:lvl1pPr>
          </a:lstStyle>
          <a:p>
            <a:pPr>
              <a:defRPr/>
            </a:pPr>
            <a:fld id="{B9C02002-69DC-4ED5-A348-D833419B9515}" type="slidenum">
              <a:rPr lang="de-AT"/>
              <a:pPr>
                <a:defRPr/>
              </a:pPr>
              <a:t>‹Nr.›</a:t>
            </a:fld>
            <a:endParaRPr lang="de-AT"/>
          </a:p>
        </p:txBody>
      </p:sp>
    </p:spTree>
    <p:extLst>
      <p:ext uri="{BB962C8B-B14F-4D97-AF65-F5344CB8AC3E}">
        <p14:creationId xmlns:p14="http://schemas.microsoft.com/office/powerpoint/2010/main" val="29951887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AT"/>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1" hangingPunct="1">
              <a:defRPr/>
            </a:lvl1pPr>
          </a:lstStyle>
          <a:p>
            <a:pPr>
              <a:defRPr/>
            </a:pPr>
            <a:fld id="{6CC97D03-6F13-49E7-80F3-F5DA92B352C8}" type="datetimeFigureOut">
              <a:rPr lang="de-AT"/>
              <a:pPr>
                <a:defRPr/>
              </a:pPr>
              <a:t>14.10.2019</a:t>
            </a:fld>
            <a:endParaRPr lang="de-AT"/>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hangingPunct="1">
              <a:defRPr/>
            </a:lvl1pPr>
          </a:lstStyle>
          <a:p>
            <a:pPr>
              <a:defRPr/>
            </a:pPr>
            <a:endParaRPr lang="de-AT"/>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eaLnBrk="1" hangingPunct="1">
              <a:defRPr/>
            </a:lvl1pPr>
          </a:lstStyle>
          <a:p>
            <a:pPr>
              <a:defRPr/>
            </a:pPr>
            <a:fld id="{B5BD658F-45B7-43AA-8C1E-879DCB30605E}" type="slidenum">
              <a:rPr lang="de-AT"/>
              <a:pPr>
                <a:defRPr/>
              </a:pPr>
              <a:t>‹Nr.›</a:t>
            </a:fld>
            <a:endParaRPr lang="de-AT"/>
          </a:p>
        </p:txBody>
      </p:sp>
    </p:spTree>
    <p:extLst>
      <p:ext uri="{BB962C8B-B14F-4D97-AF65-F5344CB8AC3E}">
        <p14:creationId xmlns:p14="http://schemas.microsoft.com/office/powerpoint/2010/main" val="50109884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426879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1_Titelfolie">
    <p:spTree>
      <p:nvGrpSpPr>
        <p:cNvPr id="1" name=""/>
        <p:cNvGrpSpPr/>
        <p:nvPr/>
      </p:nvGrpSpPr>
      <p:grpSpPr>
        <a:xfrm>
          <a:off x="0" y="0"/>
          <a:ext cx="0" cy="0"/>
          <a:chOff x="0" y="0"/>
          <a:chExt cx="0" cy="0"/>
        </a:xfrm>
      </p:grpSpPr>
      <p:sp>
        <p:nvSpPr>
          <p:cNvPr id="5122" name="Rectangle 2"/>
          <p:cNvSpPr>
            <a:spLocks noGrp="1" noChangeArrowheads="1"/>
          </p:cNvSpPr>
          <p:nvPr>
            <p:ph type="subTitle" idx="1"/>
          </p:nvPr>
        </p:nvSpPr>
        <p:spPr>
          <a:xfrm>
            <a:off x="1403350" y="2565400"/>
            <a:ext cx="6400800" cy="1752600"/>
          </a:xfrm>
          <a:prstGeom prst="rect">
            <a:avLst/>
          </a:prstGeom>
        </p:spPr>
        <p:txBody>
          <a:bodyPr/>
          <a:lstStyle>
            <a:lvl1pPr marL="0" indent="0" algn="ctr">
              <a:buFont typeface="Wingdings" pitchFamily="2" charset="2"/>
              <a:buNone/>
              <a:defRPr/>
            </a:lvl1pPr>
          </a:lstStyle>
          <a:p>
            <a:r>
              <a:rPr lang="de-DE"/>
              <a:t>Formatvorlage des Untertitelmasters durch Klicken bearbeiten</a:t>
            </a:r>
          </a:p>
        </p:txBody>
      </p:sp>
      <p:sp>
        <p:nvSpPr>
          <p:cNvPr id="11" name="Rectangle 23"/>
          <p:cNvSpPr>
            <a:spLocks noGrp="1" noChangeArrowheads="1"/>
          </p:cNvSpPr>
          <p:nvPr>
            <p:ph type="dt" sz="half" idx="10"/>
          </p:nvPr>
        </p:nvSpPr>
        <p:spPr>
          <a:xfrm>
            <a:off x="3905250" y="6356350"/>
            <a:ext cx="2160588" cy="287338"/>
          </a:xfrm>
          <a:prstGeom prst="rect">
            <a:avLst/>
          </a:prstGeom>
        </p:spPr>
        <p:txBody>
          <a:bodyPr/>
          <a:lstStyle>
            <a:lvl1pPr>
              <a:defRPr/>
            </a:lvl1pPr>
          </a:lstStyle>
          <a:p>
            <a:pPr>
              <a:defRPr/>
            </a:pPr>
            <a:fld id="{F16F176C-022C-4E58-98A7-3BAE4E3AEBC5}" type="datetime1">
              <a:rPr lang="de-DE"/>
              <a:pPr>
                <a:defRPr/>
              </a:pPr>
              <a:t>14.10.2019</a:t>
            </a:fld>
            <a:endParaRPr lang="de-DE"/>
          </a:p>
        </p:txBody>
      </p:sp>
      <p:sp>
        <p:nvSpPr>
          <p:cNvPr id="12" name="Rectangle 24"/>
          <p:cNvSpPr>
            <a:spLocks noGrp="1" noChangeArrowheads="1"/>
          </p:cNvSpPr>
          <p:nvPr>
            <p:ph type="sldNum" sz="quarter" idx="11"/>
          </p:nvPr>
        </p:nvSpPr>
        <p:spPr>
          <a:xfrm>
            <a:off x="6640513" y="6342063"/>
            <a:ext cx="2195512" cy="341312"/>
          </a:xfrm>
          <a:prstGeom prst="rect">
            <a:avLst/>
          </a:prstGeom>
        </p:spPr>
        <p:txBody>
          <a:bodyPr/>
          <a:lstStyle>
            <a:lvl1pPr>
              <a:defRPr/>
            </a:lvl1pPr>
          </a:lstStyle>
          <a:p>
            <a:pPr>
              <a:defRPr/>
            </a:pPr>
            <a:fld id="{6E173D46-AED0-45AD-AC68-7448DDE0D556}" type="slidenum">
              <a:rPr lang="de-DE"/>
              <a:pPr>
                <a:defRPr/>
              </a:pPr>
              <a:t>‹Nr.›</a:t>
            </a:fld>
            <a:endParaRPr lang="de-DE"/>
          </a:p>
        </p:txBody>
      </p:sp>
    </p:spTree>
    <p:extLst>
      <p:ext uri="{BB962C8B-B14F-4D97-AF65-F5344CB8AC3E}">
        <p14:creationId xmlns:p14="http://schemas.microsoft.com/office/powerpoint/2010/main" val="3782372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a:t>Textmasterformate durch Klicken bearbeiten</a:t>
            </a:r>
          </a:p>
        </p:txBody>
      </p:sp>
    </p:spTree>
    <p:extLst>
      <p:ext uri="{BB962C8B-B14F-4D97-AF65-F5344CB8AC3E}">
        <p14:creationId xmlns:p14="http://schemas.microsoft.com/office/powerpoint/2010/main" val="2084925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a:p>
            <a:pPr lvl="4"/>
            <a:r>
              <a:rPr lang="en-US" dirty="0"/>
              <a:t>Fünfte Ebene</a:t>
            </a:r>
            <a:endParaRPr lang="de-DE" dirty="0"/>
          </a:p>
        </p:txBody>
      </p:sp>
    </p:spTree>
    <p:extLst>
      <p:ext uri="{BB962C8B-B14F-4D97-AF65-F5344CB8AC3E}">
        <p14:creationId xmlns:p14="http://schemas.microsoft.com/office/powerpoint/2010/main" val="2045699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877998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a:t>Titelmasterformat durch Klicken bearbeiten</a:t>
            </a:r>
            <a:endParaRPr lang="de-AT" dirty="0"/>
          </a:p>
        </p:txBody>
      </p:sp>
    </p:spTree>
    <p:extLst>
      <p:ext uri="{BB962C8B-B14F-4D97-AF65-F5344CB8AC3E}">
        <p14:creationId xmlns:p14="http://schemas.microsoft.com/office/powerpoint/2010/main" val="18843370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789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413"/>
            <a:ext cx="8229600" cy="1143000"/>
          </a:xfrm>
        </p:spPr>
        <p:txBody>
          <a:bodyPr/>
          <a:lstStyle/>
          <a:p>
            <a:r>
              <a:rPr lang="en-US"/>
              <a:t>Titelmasterformat durch Klicken bearbeiten</a:t>
            </a:r>
            <a:endParaRPr lang="de-DE"/>
          </a:p>
        </p:txBody>
      </p:sp>
      <p:sp>
        <p:nvSpPr>
          <p:cNvPr id="3" name="Inhaltsplatzhalter 2"/>
          <p:cNvSpPr>
            <a:spLocks noGrp="1"/>
          </p:cNvSpPr>
          <p:nvPr>
            <p:ph idx="1"/>
          </p:nvPr>
        </p:nvSpPr>
        <p:spPr>
          <a:xfrm>
            <a:off x="457200" y="1600200"/>
            <a:ext cx="8229600" cy="4525963"/>
          </a:xfrm>
          <a:prstGeom prst="rect">
            <a:avLst/>
          </a:prstGeom>
        </p:spPr>
        <p:txBody>
          <a:body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extLst>
      <p:ext uri="{BB962C8B-B14F-4D97-AF65-F5344CB8AC3E}">
        <p14:creationId xmlns:p14="http://schemas.microsoft.com/office/powerpoint/2010/main" val="3528406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endParaRPr lang="de-AT"/>
          </a:p>
        </p:txBody>
      </p:sp>
      <p:sp>
        <p:nvSpPr>
          <p:cNvPr id="3" name="Untertitel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endParaRPr lang="de-AT"/>
          </a:p>
        </p:txBody>
      </p:sp>
    </p:spTree>
    <p:extLst>
      <p:ext uri="{BB962C8B-B14F-4D97-AF65-F5344CB8AC3E}">
        <p14:creationId xmlns:p14="http://schemas.microsoft.com/office/powerpoint/2010/main" val="886785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2.jpeg"/><Relationship Id="rId4" Type="http://schemas.openxmlformats.org/officeDocument/2006/relationships/slideLayout" Target="../slideLayouts/slideLayout15.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 name="Rechteck 7"/>
          <p:cNvSpPr/>
          <p:nvPr userDrawn="1"/>
        </p:nvSpPr>
        <p:spPr>
          <a:xfrm>
            <a:off x="-7455" y="-12449"/>
            <a:ext cx="9252520" cy="849161"/>
          </a:xfrm>
          <a:prstGeom prst="rect">
            <a:avLst/>
          </a:prstGeom>
          <a:gradFill flip="none" rotWithShape="1">
            <a:gsLst>
              <a:gs pos="20000">
                <a:schemeClr val="bg1">
                  <a:lumMod val="65000"/>
                </a:schemeClr>
              </a:gs>
              <a:gs pos="0">
                <a:schemeClr val="tx1">
                  <a:lumMod val="61000"/>
                  <a:lumOff val="39000"/>
                </a:schemeClr>
              </a:gs>
              <a:gs pos="50000">
                <a:schemeClr val="bg1">
                  <a:lumMod val="75000"/>
                </a:schemeClr>
              </a:gs>
              <a:gs pos="100000">
                <a:schemeClr val="tx1">
                  <a:lumMod val="50000"/>
                  <a:lumOff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1029" name="Grafik 6"/>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516688" y="6259513"/>
            <a:ext cx="2281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hteck 8"/>
          <p:cNvSpPr/>
          <p:nvPr userDrawn="1"/>
        </p:nvSpPr>
        <p:spPr>
          <a:xfrm>
            <a:off x="-7938" y="-26988"/>
            <a:ext cx="9253538" cy="8096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a:t>Masterfolie</a:t>
            </a:r>
            <a:endParaRPr lang="de-AT" dirty="0"/>
          </a:p>
        </p:txBody>
      </p:sp>
      <p:sp>
        <p:nvSpPr>
          <p:cNvPr id="2056" name="Rectangle 10"/>
          <p:cNvSpPr>
            <a:spLocks noChangeArrowheads="1"/>
          </p:cNvSpPr>
          <p:nvPr userDrawn="1"/>
        </p:nvSpPr>
        <p:spPr bwMode="gray">
          <a:xfrm>
            <a:off x="349250" y="6361113"/>
            <a:ext cx="1343025" cy="247650"/>
          </a:xfrm>
          <a:prstGeom prst="rect">
            <a:avLst/>
          </a:prstGeom>
          <a:noFill/>
          <a:ln>
            <a:noFill/>
          </a:ln>
        </p:spPr>
        <p:txBody>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defRPr/>
            </a:pPr>
            <a:r>
              <a:rPr lang="de-DE" altLang="de-DE">
                <a:solidFill>
                  <a:srgbClr val="7F7F7F"/>
                </a:solidFill>
                <a:cs typeface="Arial" panose="020B0604020202020204" pitchFamily="34" charset="0"/>
              </a:rPr>
              <a:t>Seite </a:t>
            </a:r>
            <a:r>
              <a:rPr lang="de-DE" altLang="de-DE">
                <a:solidFill>
                  <a:srgbClr val="7F7F7F"/>
                </a:solidFill>
                <a:cs typeface="Arial" panose="020B0604020202020204" pitchFamily="34" charset="0"/>
                <a:sym typeface="Wingdings" panose="05000000000000000000" pitchFamily="2" charset="2"/>
              </a:rPr>
              <a:t></a:t>
            </a:r>
            <a:r>
              <a:rPr lang="de-DE" altLang="de-DE">
                <a:solidFill>
                  <a:srgbClr val="7F7F7F"/>
                </a:solidFill>
                <a:cs typeface="Arial" panose="020B0604020202020204" pitchFamily="34" charset="0"/>
              </a:rPr>
              <a:t> </a:t>
            </a:r>
            <a:fld id="{AF312613-A776-411E-9E45-D607DF1A6102}" type="slidenum">
              <a:rPr lang="de-DE" altLang="de-DE" smtClean="0">
                <a:solidFill>
                  <a:srgbClr val="7F7F7F"/>
                </a:solidFill>
                <a:cs typeface="Arial" panose="020B0604020202020204" pitchFamily="34" charset="0"/>
              </a:rPr>
              <a:pPr eaLnBrk="1" hangingPunct="1">
                <a:defRPr/>
              </a:pPr>
              <a:t>‹Nr.›</a:t>
            </a:fld>
            <a:endParaRPr lang="de-DE" altLang="de-DE">
              <a:solidFill>
                <a:srgbClr val="7F7F7F"/>
              </a:solidFill>
              <a:cs typeface="Arial" panose="020B0604020202020204" pitchFamily="34" charset="0"/>
            </a:endParaRPr>
          </a:p>
        </p:txBody>
      </p:sp>
    </p:spTree>
    <p:extLst>
      <p:ext uri="{BB962C8B-B14F-4D97-AF65-F5344CB8AC3E}">
        <p14:creationId xmlns:p14="http://schemas.microsoft.com/office/powerpoint/2010/main" val="31609139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anose="05000000000000000000"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anose="05050102010706020507"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anose="05000000000000000000"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anose="05050102010706020507"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10" name="Rechteck 9"/>
          <p:cNvSpPr/>
          <p:nvPr userDrawn="1"/>
        </p:nvSpPr>
        <p:spPr>
          <a:xfrm>
            <a:off x="-7455" y="-12449"/>
            <a:ext cx="9252520" cy="849161"/>
          </a:xfrm>
          <a:prstGeom prst="rect">
            <a:avLst/>
          </a:prstGeom>
          <a:gradFill flip="none" rotWithShape="1">
            <a:gsLst>
              <a:gs pos="27000">
                <a:srgbClr val="4879B4"/>
              </a:gs>
              <a:gs pos="0">
                <a:schemeClr val="tx2"/>
              </a:gs>
              <a:gs pos="50000">
                <a:schemeClr val="accent1"/>
              </a:gs>
              <a:gs pos="100000">
                <a:schemeClr val="tx2"/>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12" name="Rechteck 11"/>
          <p:cNvSpPr/>
          <p:nvPr userDrawn="1"/>
        </p:nvSpPr>
        <p:spPr>
          <a:xfrm>
            <a:off x="-7938" y="-26988"/>
            <a:ext cx="9253538" cy="809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2054" name="Grafik 6"/>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16688" y="6259513"/>
            <a:ext cx="2281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a:t>Masterfolie</a:t>
            </a:r>
            <a:endParaRPr lang="de-AT" dirty="0"/>
          </a:p>
        </p:txBody>
      </p:sp>
      <p:sp>
        <p:nvSpPr>
          <p:cNvPr id="3080" name="Rectangle 10"/>
          <p:cNvSpPr>
            <a:spLocks noChangeArrowheads="1"/>
          </p:cNvSpPr>
          <p:nvPr userDrawn="1"/>
        </p:nvSpPr>
        <p:spPr bwMode="gray">
          <a:xfrm>
            <a:off x="349250" y="6361113"/>
            <a:ext cx="1343025" cy="247650"/>
          </a:xfrm>
          <a:prstGeom prst="rect">
            <a:avLst/>
          </a:prstGeom>
          <a:noFill/>
          <a:ln>
            <a:noFill/>
          </a:ln>
        </p:spPr>
        <p:txBody>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defRPr/>
            </a:pPr>
            <a:r>
              <a:rPr lang="de-DE" altLang="de-DE">
                <a:solidFill>
                  <a:srgbClr val="7F7F7F"/>
                </a:solidFill>
                <a:cs typeface="Arial" panose="020B0604020202020204" pitchFamily="34" charset="0"/>
              </a:rPr>
              <a:t>Seite </a:t>
            </a:r>
            <a:r>
              <a:rPr lang="de-DE" altLang="de-DE">
                <a:solidFill>
                  <a:srgbClr val="7F7F7F"/>
                </a:solidFill>
                <a:cs typeface="Arial" panose="020B0604020202020204" pitchFamily="34" charset="0"/>
                <a:sym typeface="Wingdings" panose="05000000000000000000" pitchFamily="2" charset="2"/>
              </a:rPr>
              <a:t></a:t>
            </a:r>
            <a:r>
              <a:rPr lang="de-DE" altLang="de-DE">
                <a:solidFill>
                  <a:srgbClr val="7F7F7F"/>
                </a:solidFill>
                <a:cs typeface="Arial" panose="020B0604020202020204" pitchFamily="34" charset="0"/>
              </a:rPr>
              <a:t> </a:t>
            </a:r>
            <a:fld id="{7D21079D-4B91-42D0-A234-BBFB239E26B4}" type="slidenum">
              <a:rPr lang="de-DE" altLang="de-DE" smtClean="0">
                <a:solidFill>
                  <a:srgbClr val="7F7F7F"/>
                </a:solidFill>
                <a:cs typeface="Arial" panose="020B0604020202020204" pitchFamily="34" charset="0"/>
              </a:rPr>
              <a:pPr eaLnBrk="1" hangingPunct="1">
                <a:defRPr/>
              </a:pPr>
              <a:t>‹Nr.›</a:t>
            </a:fld>
            <a:endParaRPr lang="de-DE" altLang="de-DE">
              <a:solidFill>
                <a:srgbClr val="7F7F7F"/>
              </a:solidFill>
              <a:cs typeface="Arial" panose="020B0604020202020204" pitchFamily="34" charset="0"/>
            </a:endParaRPr>
          </a:p>
        </p:txBody>
      </p:sp>
    </p:spTree>
    <p:extLst>
      <p:ext uri="{BB962C8B-B14F-4D97-AF65-F5344CB8AC3E}">
        <p14:creationId xmlns:p14="http://schemas.microsoft.com/office/powerpoint/2010/main" val="1257763012"/>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Lst>
  <p:timing>
    <p:tnLst>
      <p:par>
        <p:cTn id="1" dur="indefinite" restart="never" nodeType="tmRoot"/>
      </p:par>
    </p:tnLst>
  </p:timing>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anose="05000000000000000000"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anose="05050102010706020507"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anose="05000000000000000000"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anose="05050102010706020507"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Bildung von Hierarchien</a:t>
            </a:r>
          </a:p>
        </p:txBody>
      </p:sp>
      <p:sp>
        <p:nvSpPr>
          <p:cNvPr id="13315" name="Inhaltsplatzhalter 2"/>
          <p:cNvSpPr>
            <a:spLocks noGrp="1"/>
          </p:cNvSpPr>
          <p:nvPr>
            <p:ph sz="quarter" idx="11"/>
          </p:nvPr>
        </p:nvSpPr>
        <p:spPr/>
        <p:txBody>
          <a:bodyPr/>
          <a:lstStyle/>
          <a:p>
            <a:pPr>
              <a:buNone/>
            </a:pPr>
            <a:r>
              <a:rPr lang="de-DE" sz="2400" dirty="0" smtClean="0"/>
              <a:t>Klassen und Objekte existieren typischerweise nicht isoliert, sondern stehen in Beziehung zueinander.</a:t>
            </a:r>
            <a:endParaRPr lang="de-AT" sz="2400" dirty="0" smtClean="0"/>
          </a:p>
          <a:p>
            <a:endParaRPr lang="de-AT" sz="2400" dirty="0" smtClean="0"/>
          </a:p>
          <a:p>
            <a:pPr>
              <a:buNone/>
            </a:pPr>
            <a:r>
              <a:rPr lang="de-DE" sz="2400" i="1" dirty="0" smtClean="0"/>
              <a:t>Beispiel:</a:t>
            </a:r>
            <a:endParaRPr lang="de-AT" sz="2400" i="1" dirty="0" smtClean="0"/>
          </a:p>
          <a:p>
            <a:r>
              <a:rPr lang="de-DE" sz="2400" i="1" dirty="0" smtClean="0"/>
              <a:t>Sowohl ein Motorrad, als auch ein Auto und ein Lastwagen sind 	Straßenfahrzeuge.</a:t>
            </a:r>
            <a:endParaRPr lang="de-AT" sz="2400" i="1" dirty="0" smtClean="0"/>
          </a:p>
          <a:p>
            <a:r>
              <a:rPr lang="de-DE" sz="2400" i="1" dirty="0" smtClean="0"/>
              <a:t>Ein Auftrag wird von einem Kunden in Auftrag gegeben.</a:t>
            </a:r>
            <a:endParaRPr lang="de-AT" sz="2400" i="1" dirty="0" smtClean="0"/>
          </a:p>
          <a:p>
            <a:r>
              <a:rPr lang="de-DE" sz="2400" i="1" dirty="0" smtClean="0"/>
              <a:t>Ein Schüler wird von mehreren Lehrern unterrichtet.</a:t>
            </a:r>
            <a:endParaRPr lang="de-AT" sz="2400" i="1"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2</a:t>
            </a:fld>
            <a:endParaRPr lang="de-DE"/>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Arten von Beziehungen</a:t>
            </a:r>
          </a:p>
        </p:txBody>
      </p:sp>
      <p:sp>
        <p:nvSpPr>
          <p:cNvPr id="13315" name="Inhaltsplatzhalter 2"/>
          <p:cNvSpPr>
            <a:spLocks noGrp="1"/>
          </p:cNvSpPr>
          <p:nvPr>
            <p:ph sz="quarter" idx="11"/>
          </p:nvPr>
        </p:nvSpPr>
        <p:spPr/>
        <p:txBody>
          <a:bodyPr/>
          <a:lstStyle/>
          <a:p>
            <a:pPr>
              <a:buNone/>
            </a:pPr>
            <a:endParaRPr lang="de-DE" sz="2400" dirty="0" smtClean="0"/>
          </a:p>
          <a:p>
            <a:pPr>
              <a:buNone/>
            </a:pPr>
            <a:endParaRPr lang="de-DE" sz="2400" dirty="0" smtClean="0"/>
          </a:p>
          <a:p>
            <a:pPr>
              <a:buNone/>
            </a:pPr>
            <a:endParaRPr lang="de-DE" sz="2400" dirty="0" smtClean="0"/>
          </a:p>
          <a:p>
            <a:r>
              <a:rPr lang="de-DE" sz="2400" b="1" dirty="0" smtClean="0"/>
              <a:t>Vererbung</a:t>
            </a:r>
            <a:r>
              <a:rPr lang="de-DE" sz="2400" dirty="0" smtClean="0"/>
              <a:t>: Generalisierung und Spezialisierung (“</a:t>
            </a:r>
            <a:r>
              <a:rPr lang="de-DE" sz="2400" dirty="0" err="1" smtClean="0"/>
              <a:t>is</a:t>
            </a:r>
            <a:r>
              <a:rPr lang="de-DE" sz="2400" dirty="0" smtClean="0"/>
              <a:t>-a”-Beziehungen)</a:t>
            </a:r>
            <a:endParaRPr lang="de-AT" sz="2400" dirty="0" smtClean="0"/>
          </a:p>
          <a:p>
            <a:pPr>
              <a:buNone/>
            </a:pPr>
            <a:endParaRPr lang="de-DE" sz="2400" dirty="0" smtClean="0"/>
          </a:p>
          <a:p>
            <a:r>
              <a:rPr lang="de-DE" sz="2400" b="1" dirty="0" smtClean="0"/>
              <a:t>Assoziation</a:t>
            </a:r>
            <a:r>
              <a:rPr lang="de-DE" sz="2400" dirty="0" smtClean="0"/>
              <a:t> (Verwendungs- und Aufrufbeziehungen)</a:t>
            </a:r>
          </a:p>
          <a:p>
            <a:pPr>
              <a:buNone/>
            </a:pPr>
            <a:endParaRPr lang="de-AT" sz="2400" dirty="0" smtClean="0"/>
          </a:p>
          <a:p>
            <a:r>
              <a:rPr lang="de-DE" sz="2400" b="1" dirty="0" smtClean="0"/>
              <a:t>Aggregation</a:t>
            </a:r>
            <a:r>
              <a:rPr lang="de-DE" sz="2400" dirty="0" smtClean="0"/>
              <a:t> bzw. Komposition (“</a:t>
            </a:r>
            <a:r>
              <a:rPr lang="de-DE" sz="2400" dirty="0" err="1" smtClean="0"/>
              <a:t>part-of</a:t>
            </a:r>
            <a:r>
              <a:rPr lang="de-DE" sz="2400" dirty="0" smtClean="0"/>
              <a:t>”-Beziehungen)</a:t>
            </a:r>
            <a:endParaRPr lang="de-AT" sz="2400" dirty="0" smtClean="0"/>
          </a:p>
          <a:p>
            <a:endParaRPr lang="de-AT" sz="2400"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3</a:t>
            </a:fld>
            <a:endParaRPr lang="de-DE"/>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Vererbung</a:t>
            </a:r>
          </a:p>
        </p:txBody>
      </p:sp>
      <p:sp>
        <p:nvSpPr>
          <p:cNvPr id="13315" name="Inhaltsplatzhalter 2"/>
          <p:cNvSpPr>
            <a:spLocks noGrp="1"/>
          </p:cNvSpPr>
          <p:nvPr>
            <p:ph sz="quarter" idx="11"/>
          </p:nvPr>
        </p:nvSpPr>
        <p:spPr/>
        <p:txBody>
          <a:bodyPr/>
          <a:lstStyle/>
          <a:p>
            <a:pPr>
              <a:buNone/>
            </a:pPr>
            <a:r>
              <a:rPr lang="de-DE" sz="2400" dirty="0" smtClean="0"/>
              <a:t>Eine Vererbung (auch “</a:t>
            </a:r>
            <a:r>
              <a:rPr lang="de-DE" sz="2400" dirty="0" err="1" smtClean="0"/>
              <a:t>is</a:t>
            </a:r>
            <a:r>
              <a:rPr lang="de-DE" sz="2400" dirty="0" smtClean="0"/>
              <a:t>-a”-Beziehung) zwischen zwei Klassen A (z.B. Straßenfahrzeug) und B (Motorrad) sagt aus, dass “B ein A ist” (ein Motorrad ist ein Straßenfahrzeug), also B alle Eigenschaften von A besitzt.</a:t>
            </a:r>
          </a:p>
          <a:p>
            <a:pPr>
              <a:buNone/>
            </a:pPr>
            <a:endParaRPr lang="de-AT" sz="2400" dirty="0" smtClean="0"/>
          </a:p>
          <a:p>
            <a:pPr>
              <a:buNone/>
            </a:pPr>
            <a:r>
              <a:rPr lang="de-DE" sz="2400" dirty="0" smtClean="0"/>
              <a:t>Die speziellere Klasse (auch: abgeleitete Klasse) erbt alle Eigenschaften und Methoden der allgemeineren Klasse (auch: Vaterklasse oder Basisklasse). Eigene Eigenschaften und Methoden können nach Belieben hinzugefügt werden.</a:t>
            </a:r>
            <a:endParaRPr lang="de-AT" sz="2400"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4</a:t>
            </a:fld>
            <a:endParaRPr lang="de-D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Vererbung</a:t>
            </a:r>
          </a:p>
        </p:txBody>
      </p:sp>
      <p:sp>
        <p:nvSpPr>
          <p:cNvPr id="13315" name="Inhaltsplatzhalter 2"/>
          <p:cNvSpPr>
            <a:spLocks noGrp="1"/>
          </p:cNvSpPr>
          <p:nvPr>
            <p:ph sz="quarter" idx="11"/>
          </p:nvPr>
        </p:nvSpPr>
        <p:spPr/>
        <p:txBody>
          <a:bodyPr/>
          <a:lstStyle/>
          <a:p>
            <a:pPr>
              <a:buNone/>
            </a:pPr>
            <a:r>
              <a:rPr lang="de-DE" sz="2400" dirty="0" err="1" smtClean="0"/>
              <a:t>Vererbungen</a:t>
            </a:r>
            <a:r>
              <a:rPr lang="de-DE" sz="2400" dirty="0" smtClean="0"/>
              <a:t> können mehrstufig sein, d.h. eine abgeleitete Klasse kann wiederum Vaterklasse für andere abgeleitete Klassen sein. Dann spricht man von Vererbungshierarchien.</a:t>
            </a: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5</a:t>
            </a:fld>
            <a:endParaRPr lang="de-DE"/>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Vererbung</a:t>
            </a:r>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6</a:t>
            </a:fld>
            <a:endParaRPr lang="de-DE"/>
          </a:p>
        </p:txBody>
      </p:sp>
      <p:grpSp>
        <p:nvGrpSpPr>
          <p:cNvPr id="7" name="Group 6"/>
          <p:cNvGrpSpPr/>
          <p:nvPr/>
        </p:nvGrpSpPr>
        <p:grpSpPr>
          <a:xfrm>
            <a:off x="508739" y="1521936"/>
            <a:ext cx="8173416" cy="3345205"/>
            <a:chOff x="539552" y="848369"/>
            <a:chExt cx="8173416" cy="3345205"/>
          </a:xfrm>
        </p:grpSpPr>
        <p:sp>
          <p:nvSpPr>
            <p:cNvPr id="8" name="TextBox 3"/>
            <p:cNvSpPr txBox="1"/>
            <p:nvPr/>
          </p:nvSpPr>
          <p:spPr>
            <a:xfrm>
              <a:off x="2915816" y="848369"/>
              <a:ext cx="2088232"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Transportmittel</a:t>
              </a:r>
              <a:endParaRPr lang="de-AT" dirty="0"/>
            </a:p>
          </p:txBody>
        </p:sp>
        <p:sp>
          <p:nvSpPr>
            <p:cNvPr id="9" name="TextBox 6"/>
            <p:cNvSpPr txBox="1"/>
            <p:nvPr/>
          </p:nvSpPr>
          <p:spPr>
            <a:xfrm>
              <a:off x="539552" y="2240066"/>
              <a:ext cx="2088232"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Fährschiff</a:t>
              </a:r>
            </a:p>
          </p:txBody>
        </p:sp>
        <p:sp>
          <p:nvSpPr>
            <p:cNvPr id="10" name="TextBox 7"/>
            <p:cNvSpPr txBox="1"/>
            <p:nvPr/>
          </p:nvSpPr>
          <p:spPr>
            <a:xfrm>
              <a:off x="2915816" y="2240066"/>
              <a:ext cx="2088232"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Güterzug</a:t>
              </a:r>
              <a:endParaRPr lang="de-AT" dirty="0"/>
            </a:p>
          </p:txBody>
        </p:sp>
        <p:sp>
          <p:nvSpPr>
            <p:cNvPr id="11" name="TextBox 8"/>
            <p:cNvSpPr txBox="1"/>
            <p:nvPr/>
          </p:nvSpPr>
          <p:spPr>
            <a:xfrm>
              <a:off x="5292080" y="2240066"/>
              <a:ext cx="2088232"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Straßenfahrzeug</a:t>
              </a:r>
              <a:endParaRPr lang="de-AT" dirty="0"/>
            </a:p>
          </p:txBody>
        </p:sp>
        <p:sp>
          <p:nvSpPr>
            <p:cNvPr id="12" name="TextBox 9"/>
            <p:cNvSpPr txBox="1"/>
            <p:nvPr/>
          </p:nvSpPr>
          <p:spPr>
            <a:xfrm>
              <a:off x="3887416" y="3824242"/>
              <a:ext cx="1620688"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Lastwagen</a:t>
              </a:r>
            </a:p>
          </p:txBody>
        </p:sp>
        <p:sp>
          <p:nvSpPr>
            <p:cNvPr id="13" name="TextBox 10"/>
            <p:cNvSpPr txBox="1"/>
            <p:nvPr/>
          </p:nvSpPr>
          <p:spPr>
            <a:xfrm>
              <a:off x="5652120" y="3824242"/>
              <a:ext cx="1404664"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Auto</a:t>
              </a:r>
              <a:endParaRPr lang="de-AT" dirty="0"/>
            </a:p>
          </p:txBody>
        </p:sp>
        <p:sp>
          <p:nvSpPr>
            <p:cNvPr id="14" name="TextBox 11"/>
            <p:cNvSpPr txBox="1"/>
            <p:nvPr/>
          </p:nvSpPr>
          <p:spPr>
            <a:xfrm>
              <a:off x="7164288" y="3824242"/>
              <a:ext cx="1548680" cy="369332"/>
            </a:xfrm>
            <a:prstGeom prst="rect">
              <a:avLst/>
            </a:prstGeom>
            <a:noFill/>
            <a:ln>
              <a:solidFill>
                <a:schemeClr val="accent1"/>
              </a:solidFill>
            </a:ln>
          </p:spPr>
          <p:txBody>
            <a:bodyPr wrap="squar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dirty="0" smtClean="0"/>
                <a:t>Motorrad</a:t>
              </a:r>
              <a:endParaRPr lang="de-AT" dirty="0"/>
            </a:p>
          </p:txBody>
        </p:sp>
        <p:cxnSp>
          <p:nvCxnSpPr>
            <p:cNvPr id="15" name="Elbow Connector 14"/>
            <p:cNvCxnSpPr>
              <a:stCxn id="9" idx="0"/>
              <a:endCxn id="11" idx="0"/>
            </p:cNvCxnSpPr>
            <p:nvPr/>
          </p:nvCxnSpPr>
          <p:spPr>
            <a:xfrm rot="5400000" flipH="1" flipV="1">
              <a:off x="3959932" y="-136198"/>
              <a:ext cx="12700" cy="4752528"/>
            </a:xfrm>
            <a:prstGeom prst="bentConnector3">
              <a:avLst>
                <a:gd name="adj1" fmla="val 4384616"/>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0"/>
              <a:endCxn id="8" idx="2"/>
            </p:cNvCxnSpPr>
            <p:nvPr/>
          </p:nvCxnSpPr>
          <p:spPr>
            <a:xfrm flipV="1">
              <a:off x="3959932" y="1217701"/>
              <a:ext cx="0" cy="10223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3" idx="0"/>
              <a:endCxn id="11" idx="2"/>
            </p:cNvCxnSpPr>
            <p:nvPr/>
          </p:nvCxnSpPr>
          <p:spPr>
            <a:xfrm flipH="1" flipV="1">
              <a:off x="6336196" y="2609398"/>
              <a:ext cx="18256" cy="12148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12" idx="0"/>
              <a:endCxn id="14" idx="0"/>
            </p:cNvCxnSpPr>
            <p:nvPr/>
          </p:nvCxnSpPr>
          <p:spPr>
            <a:xfrm rot="5400000" flipH="1" flipV="1">
              <a:off x="6318194" y="2203808"/>
              <a:ext cx="12700" cy="3240868"/>
            </a:xfrm>
            <a:prstGeom prst="bentConnector3">
              <a:avLst>
                <a:gd name="adj1" fmla="val 447693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Vererbung</a:t>
            </a:r>
          </a:p>
        </p:txBody>
      </p:sp>
      <p:sp>
        <p:nvSpPr>
          <p:cNvPr id="13315" name="Inhaltsplatzhalter 2"/>
          <p:cNvSpPr>
            <a:spLocks noGrp="1"/>
          </p:cNvSpPr>
          <p:nvPr>
            <p:ph sz="quarter" idx="11"/>
          </p:nvPr>
        </p:nvSpPr>
        <p:spPr/>
        <p:txBody>
          <a:bodyPr/>
          <a:lstStyle/>
          <a:p>
            <a:pPr>
              <a:buNone/>
            </a:pPr>
            <a:r>
              <a:rPr lang="de-DE" sz="2400" dirty="0" smtClean="0"/>
              <a:t>Eine Vererbung (auch “</a:t>
            </a:r>
            <a:r>
              <a:rPr lang="de-DE" sz="2400" dirty="0" err="1" smtClean="0"/>
              <a:t>is</a:t>
            </a:r>
            <a:r>
              <a:rPr lang="de-DE" sz="2400" dirty="0" smtClean="0"/>
              <a:t>-a”-Beziehung) zwischen zwei Klassen A (z.B. Straßenfahrzeug) und B (Motorrad) sagt aus, dass “B ein A ist” (ein Motorrad ist ein Straßenfahrzeug), also B alle Eigenschaften von A besitzt.</a:t>
            </a:r>
          </a:p>
          <a:p>
            <a:pPr>
              <a:buNone/>
            </a:pPr>
            <a:endParaRPr lang="de-AT" sz="2400" dirty="0" smtClean="0"/>
          </a:p>
          <a:p>
            <a:pPr>
              <a:buNone/>
            </a:pPr>
            <a:r>
              <a:rPr lang="de-DE" sz="2400" dirty="0" smtClean="0"/>
              <a:t>Die speziellere Klasse (auch: abgeleitete Klasse) erbt alle Eigenschaften und Methoden der allgemeineren Klasse (auch: Vaterklasse oder Basisklasse). Eigene Eigenschaften und Methoden können nach Belieben hinzugefügt werden.</a:t>
            </a:r>
            <a:endParaRPr lang="de-AT" sz="2400"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7</a:t>
            </a:fld>
            <a:endParaRPr lang="de-DE"/>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Assoziation</a:t>
            </a:r>
            <a:endParaRPr lang="de-AT" dirty="0" smtClean="0"/>
          </a:p>
        </p:txBody>
      </p:sp>
      <p:sp>
        <p:nvSpPr>
          <p:cNvPr id="13315" name="Inhaltsplatzhalter 2"/>
          <p:cNvSpPr>
            <a:spLocks noGrp="1"/>
          </p:cNvSpPr>
          <p:nvPr>
            <p:ph sz="quarter" idx="11"/>
          </p:nvPr>
        </p:nvSpPr>
        <p:spPr>
          <a:xfrm>
            <a:off x="467544" y="2769325"/>
            <a:ext cx="8208912" cy="3179955"/>
          </a:xfrm>
        </p:spPr>
        <p:txBody>
          <a:bodyPr/>
          <a:lstStyle/>
          <a:p>
            <a:pPr>
              <a:buNone/>
            </a:pPr>
            <a:r>
              <a:rPr lang="de-DE" sz="2400" i="1" dirty="0" smtClean="0"/>
              <a:t>Beispiel: Ein Kunde kann einen, mehrere oder keinen Auftrag erteilt </a:t>
            </a:r>
            <a:r>
              <a:rPr lang="de-DE" sz="2400" i="1" dirty="0" smtClean="0"/>
              <a:t>haben. Ein Auftrag gehört immer zu genau einem Kunden:</a:t>
            </a:r>
            <a:endParaRPr lang="de-DE" sz="2400" i="1" dirty="0" smtClean="0"/>
          </a:p>
          <a:p>
            <a:pPr>
              <a:buNone/>
            </a:pPr>
            <a:endParaRPr lang="de-DE" sz="2400" i="1" dirty="0" smtClean="0"/>
          </a:p>
          <a:p>
            <a:pPr>
              <a:buNone/>
            </a:pPr>
            <a:endParaRPr lang="de-AT" sz="2400" dirty="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8</a:t>
            </a:fld>
            <a:endParaRPr lang="de-DE"/>
          </a:p>
        </p:txBody>
      </p:sp>
      <p:grpSp>
        <p:nvGrpSpPr>
          <p:cNvPr id="6" name="Group 5"/>
          <p:cNvGrpSpPr/>
          <p:nvPr/>
        </p:nvGrpSpPr>
        <p:grpSpPr>
          <a:xfrm>
            <a:off x="1802032" y="3963358"/>
            <a:ext cx="5400600" cy="1201999"/>
            <a:chOff x="1403648" y="1700808"/>
            <a:chExt cx="5400600" cy="1201999"/>
          </a:xfrm>
        </p:grpSpPr>
        <p:grpSp>
          <p:nvGrpSpPr>
            <p:cNvPr id="7" name="Group 6"/>
            <p:cNvGrpSpPr/>
            <p:nvPr/>
          </p:nvGrpSpPr>
          <p:grpSpPr>
            <a:xfrm>
              <a:off x="1403648" y="1700808"/>
              <a:ext cx="1728192" cy="1200329"/>
              <a:chOff x="1403648" y="1700808"/>
              <a:chExt cx="1728192" cy="1200329"/>
            </a:xfrm>
          </p:grpSpPr>
          <p:sp>
            <p:nvSpPr>
              <p:cNvPr id="15" name="TextBox 4"/>
              <p:cNvSpPr txBox="1"/>
              <p:nvPr/>
            </p:nvSpPr>
            <p:spPr>
              <a:xfrm>
                <a:off x="1403648" y="1700808"/>
                <a:ext cx="172819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de-AT" dirty="0" smtClean="0"/>
                  <a:t>Kunde</a:t>
                </a:r>
              </a:p>
              <a:p>
                <a:pPr algn="ctr"/>
                <a:endParaRPr lang="de-AT" dirty="0"/>
              </a:p>
              <a:p>
                <a:pPr algn="ctr"/>
                <a:endParaRPr lang="de-AT" dirty="0" smtClean="0"/>
              </a:p>
              <a:p>
                <a:pPr algn="ctr"/>
                <a:endParaRPr lang="de-AT" dirty="0"/>
              </a:p>
            </p:txBody>
          </p:sp>
          <p:cxnSp>
            <p:nvCxnSpPr>
              <p:cNvPr id="16" name="Straight Connector 15"/>
              <p:cNvCxnSpPr/>
              <p:nvPr/>
            </p:nvCxnSpPr>
            <p:spPr>
              <a:xfrm>
                <a:off x="1403648" y="2060848"/>
                <a:ext cx="1728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403648" y="2469450"/>
                <a:ext cx="1728192"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 name="Group 7"/>
            <p:cNvGrpSpPr/>
            <p:nvPr/>
          </p:nvGrpSpPr>
          <p:grpSpPr>
            <a:xfrm>
              <a:off x="5076056" y="1702478"/>
              <a:ext cx="1728192" cy="1200329"/>
              <a:chOff x="1403648" y="1700808"/>
              <a:chExt cx="1728192" cy="1200329"/>
            </a:xfrm>
          </p:grpSpPr>
          <p:sp>
            <p:nvSpPr>
              <p:cNvPr id="12" name="TextBox 10"/>
              <p:cNvSpPr txBox="1"/>
              <p:nvPr/>
            </p:nvSpPr>
            <p:spPr>
              <a:xfrm>
                <a:off x="1403648" y="1700808"/>
                <a:ext cx="172819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de-AT" dirty="0" smtClean="0"/>
                  <a:t>Auftrag</a:t>
                </a:r>
                <a:endParaRPr lang="de-AT" dirty="0"/>
              </a:p>
              <a:p>
                <a:pPr algn="ctr"/>
                <a:endParaRPr lang="de-AT" dirty="0" smtClean="0"/>
              </a:p>
              <a:p>
                <a:pPr algn="ctr"/>
                <a:endParaRPr lang="de-AT" dirty="0" smtClean="0"/>
              </a:p>
              <a:p>
                <a:pPr algn="ctr"/>
                <a:endParaRPr lang="de-AT" dirty="0"/>
              </a:p>
            </p:txBody>
          </p:sp>
          <p:cxnSp>
            <p:nvCxnSpPr>
              <p:cNvPr id="13" name="Straight Connector 12"/>
              <p:cNvCxnSpPr/>
              <p:nvPr/>
            </p:nvCxnSpPr>
            <p:spPr>
              <a:xfrm>
                <a:off x="1403648" y="2060848"/>
                <a:ext cx="1728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403648" y="2469450"/>
                <a:ext cx="172819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TextBox 15"/>
            <p:cNvSpPr txBox="1"/>
            <p:nvPr/>
          </p:nvSpPr>
          <p:spPr>
            <a:xfrm>
              <a:off x="3203848" y="2420888"/>
              <a:ext cx="301686"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smtClean="0"/>
                <a:t>1</a:t>
              </a:r>
            </a:p>
          </p:txBody>
        </p:sp>
        <p:sp>
          <p:nvSpPr>
            <p:cNvPr id="10" name="TextBox 16"/>
            <p:cNvSpPr txBox="1"/>
            <p:nvPr/>
          </p:nvSpPr>
          <p:spPr>
            <a:xfrm>
              <a:off x="4427984" y="2410835"/>
              <a:ext cx="532518"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smtClean="0"/>
                <a:t>0..*</a:t>
              </a:r>
            </a:p>
          </p:txBody>
        </p:sp>
        <p:cxnSp>
          <p:nvCxnSpPr>
            <p:cNvPr id="11" name="Straight Connector 10"/>
            <p:cNvCxnSpPr>
              <a:stCxn id="15" idx="3"/>
              <a:endCxn id="12" idx="1"/>
            </p:cNvCxnSpPr>
            <p:nvPr/>
          </p:nvCxnSpPr>
          <p:spPr>
            <a:xfrm>
              <a:off x="3131840" y="2300973"/>
              <a:ext cx="1944216" cy="167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8" name="Inhaltsplatzhalter 2"/>
          <p:cNvSpPr txBox="1">
            <a:spLocks/>
          </p:cNvSpPr>
          <p:nvPr/>
        </p:nvSpPr>
        <p:spPr bwMode="auto">
          <a:xfrm>
            <a:off x="103188" y="871155"/>
            <a:ext cx="8583612" cy="16124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Ø"/>
              <a:tabLst/>
              <a:defRPr/>
            </a:pPr>
            <a:r>
              <a:rPr kumimoji="0" lang="de-DE" sz="2400" b="0" i="0" u="none" strike="noStrike" kern="0" cap="none" spc="0" normalizeH="0" baseline="0" noProof="0" dirty="0" smtClean="0">
                <a:ln>
                  <a:noFill/>
                </a:ln>
                <a:solidFill>
                  <a:srgbClr val="000080"/>
                </a:solidFill>
                <a:effectLst/>
                <a:uLnTx/>
                <a:uFillTx/>
                <a:latin typeface="+mn-lt"/>
                <a:ea typeface="+mn-ea"/>
                <a:cs typeface="+mn-cs"/>
              </a:rPr>
              <a:t>Eine Assoziation beschreibt eine Beziehung zwischen Klassen (z.B. Auftrag wird von einem Kunden erteilt, Lehrer unterrichtet Fach).</a:t>
            </a:r>
            <a:endParaRPr kumimoji="0" lang="de-AT" sz="2400" b="0" i="0" u="none" strike="noStrike" kern="0" cap="none" spc="0" normalizeH="0" baseline="0" noProof="0" dirty="0" smtClean="0">
              <a:ln>
                <a:noFill/>
              </a:ln>
              <a:solidFill>
                <a:srgbClr val="00008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Navigierbarkeit</a:t>
            </a:r>
          </a:p>
        </p:txBody>
      </p:sp>
      <p:sp>
        <p:nvSpPr>
          <p:cNvPr id="13315" name="Inhaltsplatzhalter 2"/>
          <p:cNvSpPr>
            <a:spLocks noGrp="1"/>
          </p:cNvSpPr>
          <p:nvPr>
            <p:ph sz="quarter" idx="11"/>
          </p:nvPr>
        </p:nvSpPr>
        <p:spPr/>
        <p:txBody>
          <a:bodyPr/>
          <a:lstStyle/>
          <a:p>
            <a:pPr>
              <a:buNone/>
            </a:pPr>
            <a:r>
              <a:rPr lang="de-DE" sz="2400" dirty="0" smtClean="0"/>
              <a:t>Eine speziell geforderte </a:t>
            </a:r>
            <a:r>
              <a:rPr lang="de-DE" sz="2400" b="1" dirty="0" smtClean="0"/>
              <a:t>Navigierbarkeit</a:t>
            </a:r>
            <a:r>
              <a:rPr lang="de-DE" sz="2400" dirty="0" smtClean="0"/>
              <a:t>, d.h. von welcher Klasse aus muss auf die andere verwiesen werden, kann durch </a:t>
            </a:r>
            <a:r>
              <a:rPr lang="de-DE" sz="2400" b="1" dirty="0" smtClean="0"/>
              <a:t>Pfeile</a:t>
            </a:r>
            <a:r>
              <a:rPr lang="de-DE" sz="2400" dirty="0" smtClean="0"/>
              <a:t> im Diagramm dargestellt sein.</a:t>
            </a: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9</a:t>
            </a:fld>
            <a:endParaRPr lang="de-DE"/>
          </a:p>
        </p:txBody>
      </p:sp>
      <p:grpSp>
        <p:nvGrpSpPr>
          <p:cNvPr id="6" name="Group 5"/>
          <p:cNvGrpSpPr/>
          <p:nvPr/>
        </p:nvGrpSpPr>
        <p:grpSpPr>
          <a:xfrm>
            <a:off x="1871700" y="2828000"/>
            <a:ext cx="5400600" cy="1201999"/>
            <a:chOff x="1403648" y="1700808"/>
            <a:chExt cx="5400600" cy="1201999"/>
          </a:xfrm>
        </p:grpSpPr>
        <p:grpSp>
          <p:nvGrpSpPr>
            <p:cNvPr id="7" name="Group 6"/>
            <p:cNvGrpSpPr/>
            <p:nvPr/>
          </p:nvGrpSpPr>
          <p:grpSpPr>
            <a:xfrm>
              <a:off x="1403648" y="1700808"/>
              <a:ext cx="1728192" cy="1200329"/>
              <a:chOff x="1403648" y="1700808"/>
              <a:chExt cx="1728192" cy="1200329"/>
            </a:xfrm>
          </p:grpSpPr>
          <p:sp>
            <p:nvSpPr>
              <p:cNvPr id="15" name="TextBox 4"/>
              <p:cNvSpPr txBox="1"/>
              <p:nvPr/>
            </p:nvSpPr>
            <p:spPr>
              <a:xfrm>
                <a:off x="1403648" y="1700808"/>
                <a:ext cx="172819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de-AT" dirty="0" smtClean="0"/>
                  <a:t>Auftrag</a:t>
                </a:r>
              </a:p>
              <a:p>
                <a:pPr algn="ctr"/>
                <a:endParaRPr lang="de-AT" dirty="0"/>
              </a:p>
              <a:p>
                <a:pPr algn="ctr"/>
                <a:endParaRPr lang="de-AT" dirty="0" smtClean="0"/>
              </a:p>
              <a:p>
                <a:pPr algn="ctr"/>
                <a:endParaRPr lang="de-AT" dirty="0"/>
              </a:p>
            </p:txBody>
          </p:sp>
          <p:cxnSp>
            <p:nvCxnSpPr>
              <p:cNvPr id="16" name="Straight Connector 15"/>
              <p:cNvCxnSpPr/>
              <p:nvPr/>
            </p:nvCxnSpPr>
            <p:spPr>
              <a:xfrm>
                <a:off x="1403648" y="2060848"/>
                <a:ext cx="1728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403648" y="2469450"/>
                <a:ext cx="1728192"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 name="Group 7"/>
            <p:cNvGrpSpPr/>
            <p:nvPr/>
          </p:nvGrpSpPr>
          <p:grpSpPr>
            <a:xfrm>
              <a:off x="5076056" y="1702478"/>
              <a:ext cx="1728192" cy="1200329"/>
              <a:chOff x="1403648" y="1700808"/>
              <a:chExt cx="1728192" cy="1200329"/>
            </a:xfrm>
          </p:grpSpPr>
          <p:sp>
            <p:nvSpPr>
              <p:cNvPr id="12" name="TextBox 10"/>
              <p:cNvSpPr txBox="1"/>
              <p:nvPr/>
            </p:nvSpPr>
            <p:spPr>
              <a:xfrm>
                <a:off x="1403648" y="1700808"/>
                <a:ext cx="1728192"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de-AT" dirty="0" smtClean="0"/>
                  <a:t>Artikel</a:t>
                </a:r>
                <a:endParaRPr lang="de-AT" dirty="0"/>
              </a:p>
              <a:p>
                <a:pPr algn="ctr"/>
                <a:endParaRPr lang="de-AT" dirty="0" smtClean="0"/>
              </a:p>
              <a:p>
                <a:pPr algn="ctr"/>
                <a:endParaRPr lang="de-AT" dirty="0" smtClean="0"/>
              </a:p>
              <a:p>
                <a:pPr algn="ctr"/>
                <a:endParaRPr lang="de-AT" dirty="0"/>
              </a:p>
            </p:txBody>
          </p:sp>
          <p:cxnSp>
            <p:nvCxnSpPr>
              <p:cNvPr id="13" name="Straight Connector 12"/>
              <p:cNvCxnSpPr/>
              <p:nvPr/>
            </p:nvCxnSpPr>
            <p:spPr>
              <a:xfrm>
                <a:off x="1403648" y="2060848"/>
                <a:ext cx="1728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403648" y="2469450"/>
                <a:ext cx="1728192"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9" name="Straight Arrow Connector 8"/>
            <p:cNvCxnSpPr>
              <a:stCxn id="15" idx="3"/>
              <a:endCxn id="12" idx="1"/>
            </p:cNvCxnSpPr>
            <p:nvPr/>
          </p:nvCxnSpPr>
          <p:spPr>
            <a:xfrm>
              <a:off x="3131840" y="2300973"/>
              <a:ext cx="1944216" cy="167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0" name="TextBox 15"/>
            <p:cNvSpPr txBox="1"/>
            <p:nvPr/>
          </p:nvSpPr>
          <p:spPr>
            <a:xfrm>
              <a:off x="3203848" y="2420888"/>
              <a:ext cx="538930"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smtClean="0"/>
                <a:t>0..*</a:t>
              </a:r>
            </a:p>
          </p:txBody>
        </p:sp>
        <p:sp>
          <p:nvSpPr>
            <p:cNvPr id="11" name="TextBox 16"/>
            <p:cNvSpPr txBox="1"/>
            <p:nvPr/>
          </p:nvSpPr>
          <p:spPr>
            <a:xfrm>
              <a:off x="4427984" y="2410835"/>
              <a:ext cx="538930"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smtClean="0"/>
                <a:t>0..*</a:t>
              </a:r>
            </a:p>
          </p:txBody>
        </p:sp>
      </p:grpSp>
      <p:sp>
        <p:nvSpPr>
          <p:cNvPr id="18" name="Rectangle 17"/>
          <p:cNvSpPr/>
          <p:nvPr/>
        </p:nvSpPr>
        <p:spPr>
          <a:xfrm>
            <a:off x="731367" y="4329463"/>
            <a:ext cx="8449493" cy="1569660"/>
          </a:xfrm>
          <a:prstGeom prst="rect">
            <a:avLst/>
          </a:prstGeom>
        </p:spPr>
        <p:txBody>
          <a:bodyPr wrap="none">
            <a:spAutoFit/>
          </a:bodyPr>
          <a:lstStyle/>
          <a:p>
            <a:r>
              <a:rPr lang="de-DE" sz="1600" dirty="0" smtClean="0"/>
              <a:t>Bsp.: Ein Auftrag beinhaltet 0,1 oder mehrere Artikel und ein Artikel kommt in 0,1 oder</a:t>
            </a:r>
          </a:p>
          <a:p>
            <a:r>
              <a:rPr lang="de-DE" sz="1600" dirty="0"/>
              <a:t>m</a:t>
            </a:r>
            <a:r>
              <a:rPr lang="de-DE" sz="1600" dirty="0" smtClean="0"/>
              <a:t>ehreren Aufträgen vor. </a:t>
            </a:r>
          </a:p>
          <a:p>
            <a:r>
              <a:rPr lang="de-DE" sz="1600" dirty="0" smtClean="0"/>
              <a:t>Mit dem Pfeil wird </a:t>
            </a:r>
            <a:r>
              <a:rPr lang="de-DE" sz="1600" dirty="0" smtClean="0"/>
              <a:t>angezeigt dass in der Auftragsklasse die zugehörigen Artikel gespeichert</a:t>
            </a:r>
          </a:p>
          <a:p>
            <a:r>
              <a:rPr lang="de-DE" sz="1600" dirty="0" smtClean="0"/>
              <a:t>werden sollen.</a:t>
            </a:r>
          </a:p>
          <a:p>
            <a:r>
              <a:rPr lang="de-DE" sz="1600" dirty="0" smtClean="0"/>
              <a:t>D.h. bei der Modellierung muss in der Klasse </a:t>
            </a:r>
            <a:r>
              <a:rPr lang="de-DE" sz="1600" dirty="0" smtClean="0"/>
              <a:t>Auftrag eine </a:t>
            </a:r>
            <a:r>
              <a:rPr lang="de-DE" sz="1600" dirty="0" smtClean="0"/>
              <a:t>Liste bzw. ein Array von</a:t>
            </a:r>
          </a:p>
          <a:p>
            <a:r>
              <a:rPr lang="de-DE" sz="1600" dirty="0" smtClean="0"/>
              <a:t>Artikel </a:t>
            </a:r>
            <a:r>
              <a:rPr lang="de-DE" sz="1600" dirty="0" smtClean="0"/>
              <a:t>vorgesehen werden.</a:t>
            </a:r>
            <a:endParaRPr lang="de-AT"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Aggregation u. Komposition („</a:t>
            </a:r>
            <a:r>
              <a:rPr lang="de-DE" dirty="0" err="1" smtClean="0"/>
              <a:t>part</a:t>
            </a:r>
            <a:r>
              <a:rPr lang="de-DE" dirty="0" smtClean="0"/>
              <a:t>-off“)</a:t>
            </a:r>
            <a:endParaRPr lang="de-AT" dirty="0" smtClean="0"/>
          </a:p>
        </p:txBody>
      </p:sp>
      <p:sp>
        <p:nvSpPr>
          <p:cNvPr id="13315" name="Inhaltsplatzhalter 2"/>
          <p:cNvSpPr>
            <a:spLocks noGrp="1"/>
          </p:cNvSpPr>
          <p:nvPr>
            <p:ph sz="quarter" idx="11"/>
          </p:nvPr>
        </p:nvSpPr>
        <p:spPr/>
        <p:txBody>
          <a:bodyPr/>
          <a:lstStyle/>
          <a:p>
            <a:pPr>
              <a:buNone/>
            </a:pPr>
            <a:r>
              <a:rPr lang="de-DE" sz="2400" dirty="0" smtClean="0"/>
              <a:t>Aggregation ist der Sonderfall einer Assoziation. Sie drückt ein starkes semantisches Verhältnis von zwei an sich selbständigen Objekten aus, von denen eines Teil des anderen ist</a:t>
            </a:r>
            <a:r>
              <a:rPr lang="de-DE" sz="2400" i="1" dirty="0" smtClean="0"/>
              <a:t> ('IS-PART-OF')</a:t>
            </a:r>
            <a:r>
              <a:rPr lang="de-DE" sz="2400" dirty="0" smtClean="0"/>
              <a:t>.</a:t>
            </a:r>
            <a:endParaRPr lang="de-AT" sz="2400" dirty="0" smtClean="0"/>
          </a:p>
          <a:p>
            <a:pPr>
              <a:buNone/>
            </a:pPr>
            <a:endParaRPr lang="de-AT" sz="2400" dirty="0" smtClean="0"/>
          </a:p>
          <a:p>
            <a:pPr>
              <a:buNone/>
            </a:pPr>
            <a:r>
              <a:rPr lang="de-DE" sz="2400" dirty="0" smtClean="0"/>
              <a:t>Eine “</a:t>
            </a:r>
            <a:r>
              <a:rPr lang="de-DE" sz="2400" dirty="0" err="1" smtClean="0"/>
              <a:t>part-of</a:t>
            </a:r>
            <a:r>
              <a:rPr lang="de-DE" sz="2400" dirty="0" smtClean="0"/>
              <a:t>”-Beziehung beschreibt die Zusammensetzung eines Objekts aus anderen Objekten. Sie wird auch als Referenz oder Nutzungsbeziehung bezeichnet.</a:t>
            </a:r>
            <a:endParaRPr lang="de-AT" sz="2400"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10</a:t>
            </a:fld>
            <a:endParaRPr lang="de-DE"/>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Aggregation</a:t>
            </a:r>
            <a:endParaRPr lang="de-AT" dirty="0" smtClean="0"/>
          </a:p>
        </p:txBody>
      </p:sp>
      <p:sp>
        <p:nvSpPr>
          <p:cNvPr id="13315" name="Inhaltsplatzhalter 2"/>
          <p:cNvSpPr>
            <a:spLocks noGrp="1"/>
          </p:cNvSpPr>
          <p:nvPr>
            <p:ph sz="quarter" idx="11"/>
          </p:nvPr>
        </p:nvSpPr>
        <p:spPr/>
        <p:txBody>
          <a:bodyPr/>
          <a:lstStyle/>
          <a:p>
            <a:pPr>
              <a:buNone/>
            </a:pPr>
            <a:r>
              <a:rPr lang="de-DE" sz="2400" dirty="0" smtClean="0"/>
              <a:t>Aggregation : Die Zusammensetzung ist nicht essentiell für die Existenz des zusammengesetzten Objekts.</a:t>
            </a:r>
          </a:p>
          <a:p>
            <a:pPr>
              <a:buNone/>
            </a:pPr>
            <a:endParaRPr lang="de-AT" sz="2400" dirty="0" smtClean="0"/>
          </a:p>
          <a:p>
            <a:pPr>
              <a:buNone/>
            </a:pPr>
            <a:r>
              <a:rPr lang="de-AT" sz="2400" i="1" dirty="0" smtClean="0"/>
              <a:t>Beispiel:</a:t>
            </a:r>
          </a:p>
          <a:p>
            <a:pPr>
              <a:buNone/>
            </a:pPr>
            <a:r>
              <a:rPr lang="de-DE" sz="2400" i="1" dirty="0" smtClean="0"/>
              <a:t>	Ein Auto besteht aus einem Motor. Man könnte den Motor jedoch ausbauen und in einem anderen Auto einbauen. Das Auto wäre auch ohne Motor noch ein Auto.</a:t>
            </a:r>
            <a:endParaRPr lang="de-AT" sz="2400" i="1" dirty="0" smtClean="0"/>
          </a:p>
          <a:p>
            <a:pPr>
              <a:buNone/>
            </a:pPr>
            <a:endParaRPr lang="de-AT" sz="2400" i="1"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11</a:t>
            </a:fld>
            <a:endParaRPr lang="de-DE"/>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Aggregation</a:t>
            </a:r>
            <a:endParaRPr lang="de-AT" dirty="0" smtClean="0"/>
          </a:p>
        </p:txBody>
      </p:sp>
      <p:sp>
        <p:nvSpPr>
          <p:cNvPr id="13315" name="Inhaltsplatzhalter 2"/>
          <p:cNvSpPr>
            <a:spLocks noGrp="1"/>
          </p:cNvSpPr>
          <p:nvPr>
            <p:ph sz="quarter" idx="11"/>
          </p:nvPr>
        </p:nvSpPr>
        <p:spPr/>
        <p:txBody>
          <a:bodyPr/>
          <a:lstStyle/>
          <a:p>
            <a:pPr>
              <a:buNone/>
            </a:pPr>
            <a:r>
              <a:rPr lang="de-AT" sz="2400" dirty="0"/>
              <a:t>Eine Aggregation wird im Klassendiagramm mithilfe einer durchgezogenen Linie dargestellt. Am Ende, wo das Ganze dargestellt wird, wird eine offene Raute gezeichnet. An diesem Ende ist die </a:t>
            </a:r>
            <a:r>
              <a:rPr lang="de-AT" sz="2400" dirty="0" err="1"/>
              <a:t>Multiplizität</a:t>
            </a:r>
            <a:r>
              <a:rPr lang="de-AT" sz="2400" dirty="0"/>
              <a:t> </a:t>
            </a:r>
            <a:r>
              <a:rPr lang="de-AT" sz="2400" dirty="0" err="1"/>
              <a:t>entwender</a:t>
            </a:r>
            <a:r>
              <a:rPr lang="de-AT" sz="2400" dirty="0"/>
              <a:t> 0 oder 1. Am anderen Ende (da wo keine Raute ist) können auch höhere </a:t>
            </a:r>
            <a:r>
              <a:rPr lang="de-AT" sz="2400" dirty="0" err="1"/>
              <a:t>Multiplizitäten</a:t>
            </a:r>
            <a:r>
              <a:rPr lang="de-AT" sz="2400" dirty="0"/>
              <a:t> vorliegen.</a:t>
            </a:r>
            <a:endParaRPr lang="de-AT" sz="2400" i="1"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12</a:t>
            </a:fld>
            <a:endParaRPr lang="de-DE"/>
          </a:p>
        </p:txBody>
      </p:sp>
      <p:pic>
        <p:nvPicPr>
          <p:cNvPr id="53250" name="Picture 2" descr="Klassendiagramm Aggreg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957" y="3205397"/>
            <a:ext cx="3457598" cy="2633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4217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Komposition</a:t>
            </a:r>
            <a:endParaRPr lang="de-AT" dirty="0" smtClean="0"/>
          </a:p>
        </p:txBody>
      </p:sp>
      <p:sp>
        <p:nvSpPr>
          <p:cNvPr id="13315" name="Inhaltsplatzhalter 2"/>
          <p:cNvSpPr>
            <a:spLocks noGrp="1"/>
          </p:cNvSpPr>
          <p:nvPr>
            <p:ph sz="quarter" idx="11"/>
          </p:nvPr>
        </p:nvSpPr>
        <p:spPr/>
        <p:txBody>
          <a:bodyPr/>
          <a:lstStyle/>
          <a:p>
            <a:pPr>
              <a:buNone/>
            </a:pPr>
            <a:r>
              <a:rPr lang="de-DE" sz="2400" dirty="0" smtClean="0"/>
              <a:t>Komposition: Die Zusammensetzung ist essentiell für die Existenz des zusammengesetzten Objekts.</a:t>
            </a:r>
          </a:p>
          <a:p>
            <a:pPr>
              <a:buNone/>
            </a:pPr>
            <a:endParaRPr lang="de-AT" sz="2400" dirty="0" smtClean="0"/>
          </a:p>
          <a:p>
            <a:pPr>
              <a:buNone/>
            </a:pPr>
            <a:r>
              <a:rPr lang="de-AT" sz="2400" i="1" dirty="0" smtClean="0"/>
              <a:t>Beispiel:</a:t>
            </a:r>
          </a:p>
          <a:p>
            <a:pPr>
              <a:buNone/>
            </a:pPr>
            <a:r>
              <a:rPr lang="de-DE" sz="2400" i="1" dirty="0" smtClean="0"/>
              <a:t>	Ein Auto besteht aus einer Karosserie. Wird das Auto verschrottet, so wird auch die Karosserie verschrottet. Man geht davon aus, dass die Karosserie nicht für ein anderes Auto verwendet werden kann. Genauso besteht ein Gebäude immer aus mindestens einem Raum und ein Raum ist immer in einem Gebäude.</a:t>
            </a:r>
            <a:endParaRPr lang="de-AT" sz="2400" i="1"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13</a:t>
            </a:fld>
            <a:endParaRPr lang="de-DE"/>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Komposition</a:t>
            </a:r>
            <a:endParaRPr lang="de-AT" dirty="0" smtClean="0"/>
          </a:p>
        </p:txBody>
      </p:sp>
      <p:sp>
        <p:nvSpPr>
          <p:cNvPr id="13315" name="Inhaltsplatzhalter 2"/>
          <p:cNvSpPr>
            <a:spLocks noGrp="1"/>
          </p:cNvSpPr>
          <p:nvPr>
            <p:ph sz="quarter" idx="11"/>
          </p:nvPr>
        </p:nvSpPr>
        <p:spPr/>
        <p:txBody>
          <a:bodyPr/>
          <a:lstStyle/>
          <a:p>
            <a:pPr>
              <a:buNone/>
            </a:pPr>
            <a:r>
              <a:rPr lang="de-AT" sz="2400" dirty="0"/>
              <a:t>Die Darstellung erfolgt ähnlich wie die der Aggregation, nur dass die Raute ausgefüllt wird und am Teil des Ganzen implizit die </a:t>
            </a:r>
            <a:r>
              <a:rPr lang="de-AT" sz="2400" dirty="0" err="1"/>
              <a:t>Multiplizität</a:t>
            </a:r>
            <a:r>
              <a:rPr lang="de-AT" sz="2400" dirty="0"/>
              <a:t> 1 angenommen wird.</a:t>
            </a:r>
            <a:endParaRPr lang="de-AT" sz="2400" i="1"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14</a:t>
            </a:fld>
            <a:endParaRPr lang="de-DE"/>
          </a:p>
        </p:txBody>
      </p:sp>
      <p:pic>
        <p:nvPicPr>
          <p:cNvPr id="54274" name="Picture 2" descr="Klassendiagramm Komposi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559" y="2737537"/>
            <a:ext cx="3966369" cy="2801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8929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UML Klassendiagramm</a:t>
            </a:r>
            <a:endParaRPr lang="de-AT" dirty="0" smtClean="0"/>
          </a:p>
        </p:txBody>
      </p:sp>
      <p:sp>
        <p:nvSpPr>
          <p:cNvPr id="2" name="Inhaltsplatzhalter 1"/>
          <p:cNvSpPr>
            <a:spLocks noGrp="1"/>
          </p:cNvSpPr>
          <p:nvPr>
            <p:ph sz="quarter" idx="11"/>
          </p:nvPr>
        </p:nvSpPr>
        <p:spPr/>
        <p:txBody>
          <a:bodyPr/>
          <a:lstStyle/>
          <a:p>
            <a:endParaRPr lang="de-AT"/>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15</a:t>
            </a:fld>
            <a:endParaRPr lang="de-DE"/>
          </a:p>
        </p:txBody>
      </p:sp>
      <p:pic>
        <p:nvPicPr>
          <p:cNvPr id="52226" name="Picture 2" descr="http://www.mystm32.de/lib/exe/fetch.php?w=&amp;h=&amp;cache=cache&amp;media=uml:kurzuebersichtk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46605"/>
            <a:ext cx="6136509" cy="2874470"/>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7082956" y="1825773"/>
            <a:ext cx="1375569" cy="338554"/>
          </a:xfrm>
          <a:prstGeom prst="rect">
            <a:avLst/>
          </a:prstGeom>
          <a:noFill/>
        </p:spPr>
        <p:txBody>
          <a:bodyPr wrap="none" rtlCol="0">
            <a:spAutoFit/>
          </a:bodyPr>
          <a:lstStyle/>
          <a:p>
            <a:r>
              <a:rPr lang="de-AT" sz="1600" b="1" dirty="0" smtClean="0"/>
              <a:t>= Vererbung</a:t>
            </a:r>
            <a:endParaRPr lang="de-AT" sz="1600" b="1" dirty="0"/>
          </a:p>
        </p:txBody>
      </p:sp>
      <p:sp>
        <p:nvSpPr>
          <p:cNvPr id="9" name="Textfeld 8"/>
          <p:cNvSpPr txBox="1"/>
          <p:nvPr/>
        </p:nvSpPr>
        <p:spPr>
          <a:xfrm>
            <a:off x="7082956" y="2164327"/>
            <a:ext cx="1218603" cy="338554"/>
          </a:xfrm>
          <a:prstGeom prst="rect">
            <a:avLst/>
          </a:prstGeom>
          <a:noFill/>
        </p:spPr>
        <p:txBody>
          <a:bodyPr wrap="none" rtlCol="0">
            <a:spAutoFit/>
          </a:bodyPr>
          <a:lstStyle/>
          <a:p>
            <a:r>
              <a:rPr lang="de-AT" sz="1600" b="1" dirty="0" smtClean="0"/>
              <a:t>= Interface</a:t>
            </a:r>
            <a:endParaRPr lang="de-AT" sz="1600" b="1" dirty="0"/>
          </a:p>
        </p:txBody>
      </p:sp>
    </p:spTree>
    <p:extLst>
      <p:ext uri="{BB962C8B-B14F-4D97-AF65-F5344CB8AC3E}">
        <p14:creationId xmlns:p14="http://schemas.microsoft.com/office/powerpoint/2010/main" val="16534042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DE" dirty="0" smtClean="0"/>
              <a:t>Klassendiagram in Visual Studio</a:t>
            </a:r>
            <a:endParaRPr lang="de-AT" dirty="0" smtClean="0"/>
          </a:p>
        </p:txBody>
      </p:sp>
      <p:sp>
        <p:nvSpPr>
          <p:cNvPr id="2" name="Inhaltsplatzhalter 1"/>
          <p:cNvSpPr>
            <a:spLocks noGrp="1"/>
          </p:cNvSpPr>
          <p:nvPr>
            <p:ph sz="quarter" idx="11"/>
          </p:nvPr>
        </p:nvSpPr>
        <p:spPr/>
        <p:txBody>
          <a:bodyPr/>
          <a:lstStyle/>
          <a:p>
            <a:endParaRPr lang="de-AT"/>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16</a:t>
            </a:fld>
            <a:endParaRPr lang="de-DE"/>
          </a:p>
        </p:txBody>
      </p:sp>
      <p:pic>
        <p:nvPicPr>
          <p:cNvPr id="6" name="Grafik 5"/>
          <p:cNvPicPr>
            <a:picLocks noChangeAspect="1"/>
          </p:cNvPicPr>
          <p:nvPr/>
        </p:nvPicPr>
        <p:blipFill>
          <a:blip r:embed="rId2"/>
          <a:stretch>
            <a:fillRect/>
          </a:stretch>
        </p:blipFill>
        <p:spPr>
          <a:xfrm>
            <a:off x="1304925" y="1043256"/>
            <a:ext cx="5870976" cy="4365871"/>
          </a:xfrm>
          <a:prstGeom prst="rect">
            <a:avLst/>
          </a:prstGeom>
        </p:spPr>
      </p:pic>
    </p:spTree>
    <p:extLst>
      <p:ext uri="{BB962C8B-B14F-4D97-AF65-F5344CB8AC3E}">
        <p14:creationId xmlns:p14="http://schemas.microsoft.com/office/powerpoint/2010/main" val="8150520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8"/>
          <p:cNvGraphicFramePr>
            <a:graphicFrameLocks noChangeAspect="1"/>
          </p:cNvGraphicFramePr>
          <p:nvPr/>
        </p:nvGraphicFramePr>
        <p:xfrm>
          <a:off x="0" y="6307138"/>
          <a:ext cx="2916238" cy="433387"/>
        </p:xfrm>
        <a:graphic>
          <a:graphicData uri="http://schemas.openxmlformats.org/presentationml/2006/ole">
            <mc:AlternateContent xmlns:mc="http://schemas.openxmlformats.org/markup-compatibility/2006">
              <mc:Choice xmlns:v="urn:schemas-microsoft-com:vml" Requires="v">
                <p:oleObj spid="_x0000_s3091" name="Image" r:id="rId3" imgW="126716" imgH="126716" progId="">
                  <p:embed/>
                </p:oleObj>
              </mc:Choice>
              <mc:Fallback>
                <p:oleObj name="Image" r:id="rId3" imgW="126716" imgH="126716"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307138"/>
                        <a:ext cx="291623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75" name="Picture 9" descr="Logo mit Slogan"/>
          <p:cNvPicPr>
            <a:picLocks noChangeAspect="1" noChangeArrowheads="1"/>
          </p:cNvPicPr>
          <p:nvPr/>
        </p:nvPicPr>
        <p:blipFill>
          <a:blip r:embed="rId5" cstate="print"/>
          <a:srcRect/>
          <a:stretch>
            <a:fillRect/>
          </a:stretch>
        </p:blipFill>
        <p:spPr bwMode="auto">
          <a:xfrm>
            <a:off x="592138" y="2667000"/>
            <a:ext cx="7959725" cy="1524000"/>
          </a:xfrm>
          <a:prstGeom prst="rect">
            <a:avLst/>
          </a:prstGeom>
          <a:noFill/>
          <a:ln w="9525">
            <a:noFill/>
            <a:miter lim="800000"/>
            <a:headEnd/>
            <a:tailEnd/>
          </a:ln>
        </p:spPr>
      </p:pic>
      <p:sp>
        <p:nvSpPr>
          <p:cNvPr id="2" name="Titel 1"/>
          <p:cNvSpPr>
            <a:spLocks noGrp="1"/>
          </p:cNvSpPr>
          <p:nvPr>
            <p:ph type="title"/>
          </p:nvPr>
        </p:nvSpPr>
        <p:spPr/>
        <p:txBody>
          <a:bodyPr/>
          <a:lstStyle/>
          <a:p>
            <a:endParaRPr lang="de-AT"/>
          </a:p>
        </p:txBody>
      </p:sp>
      <p:sp>
        <p:nvSpPr>
          <p:cNvPr id="3" name="Inhaltsplatzhalter 2"/>
          <p:cNvSpPr>
            <a:spLocks noGrp="1"/>
          </p:cNvSpPr>
          <p:nvPr>
            <p:ph sz="quarter" idx="11"/>
          </p:nvPr>
        </p:nvSpPr>
        <p:spPr/>
        <p:txBody>
          <a:bodyPr/>
          <a:lstStyle/>
          <a:p>
            <a:endParaRPr lang="de-AT"/>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615</Words>
  <Application>Microsoft Office PowerPoint</Application>
  <PresentationFormat>Bildschirmpräsentation (4:3)</PresentationFormat>
  <Paragraphs>109</Paragraphs>
  <Slides>17</Slides>
  <Notes>0</Notes>
  <HiddenSlides>0</HiddenSlides>
  <MMClips>0</MMClips>
  <ScaleCrop>false</ScaleCrop>
  <HeadingPairs>
    <vt:vector size="8" baseType="variant">
      <vt:variant>
        <vt:lpstr>Verwendete Schriftarten</vt:lpstr>
      </vt:variant>
      <vt:variant>
        <vt:i4>3</vt:i4>
      </vt:variant>
      <vt:variant>
        <vt:lpstr>Design</vt:lpstr>
      </vt:variant>
      <vt:variant>
        <vt:i4>2</vt:i4>
      </vt:variant>
      <vt:variant>
        <vt:lpstr>Eingebettete OLE-Server</vt:lpstr>
      </vt:variant>
      <vt:variant>
        <vt:i4>1</vt:i4>
      </vt:variant>
      <vt:variant>
        <vt:lpstr>Folientitel</vt:lpstr>
      </vt:variant>
      <vt:variant>
        <vt:i4>17</vt:i4>
      </vt:variant>
    </vt:vector>
  </HeadingPairs>
  <TitlesOfParts>
    <vt:vector size="23" baseType="lpstr">
      <vt:lpstr>Arial</vt:lpstr>
      <vt:lpstr>Symbol</vt:lpstr>
      <vt:lpstr>Wingdings</vt:lpstr>
      <vt:lpstr>1_Larissa</vt:lpstr>
      <vt:lpstr>2_Larissa</vt:lpstr>
      <vt:lpstr>Image</vt:lpstr>
      <vt:lpstr>PowerPoint-Präsentation</vt:lpstr>
      <vt:lpstr>Bildung von Hierarchien</vt:lpstr>
      <vt:lpstr>Arten von Beziehungen</vt:lpstr>
      <vt:lpstr>Vererbung</vt:lpstr>
      <vt:lpstr>Vererbung</vt:lpstr>
      <vt:lpstr>Vererbung</vt:lpstr>
      <vt:lpstr>Vererbung</vt:lpstr>
      <vt:lpstr>Assoziation</vt:lpstr>
      <vt:lpstr>Navigierbarkeit</vt:lpstr>
      <vt:lpstr>Aggregation u. Komposition („part-off“)</vt:lpstr>
      <vt:lpstr>Aggregation</vt:lpstr>
      <vt:lpstr>Aggregation</vt:lpstr>
      <vt:lpstr>Komposition</vt:lpstr>
      <vt:lpstr>Komposition</vt:lpstr>
      <vt:lpstr>UML Klassendiagramm</vt:lpstr>
      <vt:lpstr>Klassendiagram in Visual Studio</vt:lpstr>
      <vt:lpstr>PowerPoint-Präsentation</vt:lpstr>
    </vt:vector>
  </TitlesOfParts>
  <Company>Privat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und Datenbanken</dc:title>
  <dc:creator>Gerald Köck;Michael Bucek</dc:creator>
  <cp:lastModifiedBy>Michael Bucek</cp:lastModifiedBy>
  <cp:revision>282</cp:revision>
  <dcterms:created xsi:type="dcterms:W3CDTF">2003-12-22T18:36:36Z</dcterms:created>
  <dcterms:modified xsi:type="dcterms:W3CDTF">2019-10-14T14:30:24Z</dcterms:modified>
</cp:coreProperties>
</file>