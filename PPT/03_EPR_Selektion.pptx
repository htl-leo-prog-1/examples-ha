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1" r:id="rId2"/>
  </p:sldMasterIdLst>
  <p:notesMasterIdLst>
    <p:notesMasterId r:id="rId16"/>
  </p:notesMasterIdLst>
  <p:sldIdLst>
    <p:sldId id="263" r:id="rId3"/>
    <p:sldId id="264" r:id="rId4"/>
    <p:sldId id="267" r:id="rId5"/>
    <p:sldId id="268" r:id="rId6"/>
    <p:sldId id="269" r:id="rId7"/>
    <p:sldId id="270" r:id="rId8"/>
    <p:sldId id="271" r:id="rId9"/>
    <p:sldId id="274" r:id="rId10"/>
    <p:sldId id="272" r:id="rId11"/>
    <p:sldId id="273" r:id="rId12"/>
    <p:sldId id="275" r:id="rId13"/>
    <p:sldId id="277" r:id="rId14"/>
    <p:sldId id="278" r:id="rId1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1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03.10.2017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 smtClean="0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3980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8200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278493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421950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7785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54822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82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03.10.2017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0224973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03.10.2017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0438485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80135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51500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446120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70985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19938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44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2027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59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42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757169" y="1261240"/>
            <a:ext cx="7453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Einseitige Verzweigung</a:t>
            </a:r>
          </a:p>
          <a:p>
            <a:r>
              <a:rPr lang="de-AT" dirty="0" smtClean="0"/>
              <a:t>Trifft eine </a:t>
            </a:r>
            <a:r>
              <a:rPr lang="de-AT" dirty="0" smtClean="0">
                <a:solidFill>
                  <a:srgbClr val="FF0000"/>
                </a:solidFill>
              </a:rPr>
              <a:t>&lt;</a:t>
            </a:r>
            <a:r>
              <a:rPr lang="de-AT" i="1" dirty="0" smtClean="0">
                <a:solidFill>
                  <a:srgbClr val="FF0000"/>
                </a:solidFill>
              </a:rPr>
              <a:t>Bedingung&gt;</a:t>
            </a:r>
            <a:r>
              <a:rPr lang="de-AT" dirty="0" smtClean="0"/>
              <a:t> zu, so werden bestimmte </a:t>
            </a:r>
            <a:r>
              <a:rPr lang="de-AT" dirty="0" smtClean="0">
                <a:solidFill>
                  <a:srgbClr val="CC3300"/>
                </a:solidFill>
              </a:rPr>
              <a:t>&lt;</a:t>
            </a:r>
            <a:r>
              <a:rPr lang="de-AT" i="1" dirty="0" smtClean="0">
                <a:solidFill>
                  <a:srgbClr val="CC3300"/>
                </a:solidFill>
              </a:rPr>
              <a:t>Anweisungen&gt;</a:t>
            </a:r>
            <a:r>
              <a:rPr lang="de-AT" dirty="0" smtClean="0">
                <a:solidFill>
                  <a:srgbClr val="CC3300"/>
                </a:solidFill>
              </a:rPr>
              <a:t> </a:t>
            </a:r>
            <a:r>
              <a:rPr lang="de-AT" dirty="0" smtClean="0"/>
              <a:t>ausgeführt.</a:t>
            </a:r>
            <a:endParaRPr lang="de-AT" dirty="0"/>
          </a:p>
        </p:txBody>
      </p:sp>
      <p:sp>
        <p:nvSpPr>
          <p:cNvPr id="12" name="Flussdiagramm: Verzweigung 11"/>
          <p:cNvSpPr/>
          <p:nvPr/>
        </p:nvSpPr>
        <p:spPr>
          <a:xfrm>
            <a:off x="2735796" y="2701400"/>
            <a:ext cx="3348371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FF0000"/>
                </a:solidFill>
              </a:rPr>
              <a:t>&lt;Bedingung&gt;</a:t>
            </a:r>
            <a:endParaRPr lang="de-AT" i="1" dirty="0">
              <a:solidFill>
                <a:srgbClr val="FF0000"/>
              </a:solidFill>
            </a:endParaRPr>
          </a:p>
        </p:txBody>
      </p:sp>
      <p:cxnSp>
        <p:nvCxnSpPr>
          <p:cNvPr id="14" name="Gerade Verbindung mit Pfeil 13"/>
          <p:cNvCxnSpPr>
            <a:endCxn id="12" idx="0"/>
          </p:cNvCxnSpPr>
          <p:nvPr/>
        </p:nvCxnSpPr>
        <p:spPr>
          <a:xfrm flipH="1">
            <a:off x="4409982" y="2197344"/>
            <a:ext cx="1592" cy="504056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winkelte Verbindung 16"/>
          <p:cNvCxnSpPr>
            <a:stCxn id="12" idx="3"/>
          </p:cNvCxnSpPr>
          <p:nvPr/>
        </p:nvCxnSpPr>
        <p:spPr>
          <a:xfrm>
            <a:off x="6084167" y="3079442"/>
            <a:ext cx="289626" cy="1494165"/>
          </a:xfrm>
          <a:prstGeom prst="bentConnector2">
            <a:avLst/>
          </a:prstGeom>
          <a:ln w="22225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winkelte Verbindung 18"/>
          <p:cNvCxnSpPr>
            <a:stCxn id="12" idx="1"/>
            <a:endCxn id="20" idx="0"/>
          </p:cNvCxnSpPr>
          <p:nvPr/>
        </p:nvCxnSpPr>
        <p:spPr>
          <a:xfrm rot="10800000" flipV="1">
            <a:off x="2447764" y="3079442"/>
            <a:ext cx="288032" cy="630070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ssdiagramm: Prozess 19"/>
          <p:cNvSpPr/>
          <p:nvPr/>
        </p:nvSpPr>
        <p:spPr>
          <a:xfrm>
            <a:off x="1403018" y="3709512"/>
            <a:ext cx="2089491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CC3300"/>
                </a:solidFill>
              </a:rPr>
              <a:t>&lt;Anweisungen&gt;</a:t>
            </a:r>
            <a:endParaRPr lang="de-AT" i="1" dirty="0">
              <a:solidFill>
                <a:srgbClr val="CC3300"/>
              </a:solidFill>
            </a:endParaRPr>
          </a:p>
        </p:txBody>
      </p:sp>
      <p:cxnSp>
        <p:nvCxnSpPr>
          <p:cNvPr id="1025" name="Gewinkelte Verbindung 1024"/>
          <p:cNvCxnSpPr>
            <a:stCxn id="20" idx="2"/>
          </p:cNvCxnSpPr>
          <p:nvPr/>
        </p:nvCxnSpPr>
        <p:spPr>
          <a:xfrm rot="16200000" flipH="1">
            <a:off x="4230759" y="2430573"/>
            <a:ext cx="360039" cy="3926028"/>
          </a:xfrm>
          <a:prstGeom prst="bentConnector2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Gerade Verbindung mit Pfeil 1028"/>
          <p:cNvCxnSpPr/>
          <p:nvPr/>
        </p:nvCxnSpPr>
        <p:spPr>
          <a:xfrm>
            <a:off x="4428613" y="4573608"/>
            <a:ext cx="0" cy="648072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/>
          <p:cNvSpPr txBox="1"/>
          <p:nvPr/>
        </p:nvSpPr>
        <p:spPr>
          <a:xfrm>
            <a:off x="2341345" y="2764116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True</a:t>
            </a:r>
            <a:endParaRPr lang="de-AT" dirty="0"/>
          </a:p>
        </p:txBody>
      </p:sp>
      <p:sp>
        <p:nvSpPr>
          <p:cNvPr id="18" name="Textfeld 17"/>
          <p:cNvSpPr txBox="1"/>
          <p:nvPr/>
        </p:nvSpPr>
        <p:spPr>
          <a:xfrm>
            <a:off x="5773821" y="2764116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False</a:t>
            </a:r>
            <a:endParaRPr lang="de-AT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Verzweigung - Selektion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6689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223628" y="1088740"/>
            <a:ext cx="736618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Eine </a:t>
            </a:r>
            <a:r>
              <a:rPr lang="de-AT" dirty="0" smtClean="0">
                <a:solidFill>
                  <a:srgbClr val="FF0000"/>
                </a:solidFill>
              </a:rPr>
              <a:t>Bedingung </a:t>
            </a:r>
            <a:r>
              <a:rPr lang="de-AT" dirty="0" smtClean="0"/>
              <a:t>ist ein logischer Ausdruck.</a:t>
            </a:r>
          </a:p>
          <a:p>
            <a:r>
              <a:rPr lang="de-AT" dirty="0" smtClean="0"/>
              <a:t>Ein logischer Ausdruck besteht aus </a:t>
            </a:r>
            <a:r>
              <a:rPr lang="de-AT" i="1" dirty="0" smtClean="0">
                <a:solidFill>
                  <a:srgbClr val="FF0000"/>
                </a:solidFill>
              </a:rPr>
              <a:t>relationalen Operatoren, logischen</a:t>
            </a:r>
          </a:p>
          <a:p>
            <a:r>
              <a:rPr lang="de-AT" i="1" dirty="0" smtClean="0">
                <a:solidFill>
                  <a:srgbClr val="FF0000"/>
                </a:solidFill>
              </a:rPr>
              <a:t>Operatoren oder anderen logischen Ausdrucken.</a:t>
            </a:r>
          </a:p>
          <a:p>
            <a:endParaRPr lang="de-AT" i="1" dirty="0" smtClean="0">
              <a:solidFill>
                <a:srgbClr val="FF0000"/>
              </a:solidFill>
            </a:endParaRPr>
          </a:p>
          <a:p>
            <a:r>
              <a:rPr lang="de-AT" i="1" dirty="0" smtClean="0">
                <a:solidFill>
                  <a:srgbClr val="FF0000"/>
                </a:solidFill>
              </a:rPr>
              <a:t>Details unter Foliensatz </a:t>
            </a:r>
            <a:r>
              <a:rPr lang="de-AT" b="1" i="1" dirty="0" smtClean="0">
                <a:solidFill>
                  <a:srgbClr val="FF0000"/>
                </a:solidFill>
              </a:rPr>
              <a:t>Operatoren</a:t>
            </a:r>
          </a:p>
          <a:p>
            <a:endParaRPr lang="de-AT" i="1" dirty="0" smtClean="0">
              <a:solidFill>
                <a:srgbClr val="FF0000"/>
              </a:solidFill>
            </a:endParaRPr>
          </a:p>
          <a:p>
            <a:r>
              <a:rPr lang="de-AT" i="1" dirty="0" smtClean="0"/>
              <a:t>Vergleichsoperatoren (relationale Operatoren):</a:t>
            </a:r>
          </a:p>
          <a:p>
            <a:endParaRPr lang="de-AT" dirty="0"/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 smtClean="0"/>
              <a:t>		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 smtClean="0"/>
              <a:t> ist gleich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r>
              <a:rPr lang="de-AT" dirty="0" smtClean="0"/>
              <a:t>		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 smtClean="0"/>
              <a:t> ist nicht gleich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	 </a:t>
            </a:r>
            <a:r>
              <a:rPr lang="de-AT" dirty="0" smtClean="0"/>
              <a:t>	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 smtClean="0"/>
              <a:t> ist größer als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größer </a:t>
            </a:r>
            <a:r>
              <a:rPr lang="de-AT" dirty="0" smtClean="0"/>
              <a:t>oder gleich als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</a:t>
            </a:r>
            <a:r>
              <a:rPr lang="de-AT" dirty="0" smtClean="0"/>
              <a:t>kleiner als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a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	</a:t>
            </a:r>
            <a:r>
              <a:rPr lang="de-AT" dirty="0"/>
              <a:t>	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de-AT" dirty="0"/>
              <a:t> ist </a:t>
            </a:r>
            <a:r>
              <a:rPr lang="de-AT" dirty="0" smtClean="0"/>
              <a:t>kleiner oder gleich als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Bedingung / logischer Ausdruck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97097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597521" y="1412776"/>
            <a:ext cx="7453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Einseitige Verzweigung</a:t>
            </a:r>
          </a:p>
          <a:p>
            <a:r>
              <a:rPr lang="de-AT" dirty="0" smtClean="0"/>
              <a:t>Trifft eine </a:t>
            </a:r>
            <a:r>
              <a:rPr lang="de-AT" dirty="0" smtClean="0">
                <a:solidFill>
                  <a:srgbClr val="FF0000"/>
                </a:solidFill>
              </a:rPr>
              <a:t>&lt;</a:t>
            </a:r>
            <a:r>
              <a:rPr lang="de-AT" i="1" dirty="0" smtClean="0">
                <a:solidFill>
                  <a:srgbClr val="FF0000"/>
                </a:solidFill>
              </a:rPr>
              <a:t>Bedingung&gt;</a:t>
            </a:r>
            <a:r>
              <a:rPr lang="de-AT" dirty="0" smtClean="0"/>
              <a:t> zu, so werden bestimmte </a:t>
            </a:r>
            <a:r>
              <a:rPr lang="de-AT" dirty="0" smtClean="0">
                <a:solidFill>
                  <a:srgbClr val="CC3300"/>
                </a:solidFill>
              </a:rPr>
              <a:t>&lt;</a:t>
            </a:r>
            <a:r>
              <a:rPr lang="de-AT" i="1" dirty="0" smtClean="0">
                <a:solidFill>
                  <a:srgbClr val="CC3300"/>
                </a:solidFill>
              </a:rPr>
              <a:t>Anweisungen&gt;</a:t>
            </a:r>
            <a:r>
              <a:rPr lang="de-AT" dirty="0" smtClean="0">
                <a:solidFill>
                  <a:srgbClr val="CC3300"/>
                </a:solidFill>
              </a:rPr>
              <a:t> </a:t>
            </a:r>
            <a:r>
              <a:rPr lang="de-AT" dirty="0" smtClean="0"/>
              <a:t>ausgeführt.</a:t>
            </a:r>
            <a:endParaRPr lang="de-AT" dirty="0"/>
          </a:p>
        </p:txBody>
      </p:sp>
      <p:sp>
        <p:nvSpPr>
          <p:cNvPr id="3" name="Textfeld 2"/>
          <p:cNvSpPr txBox="1"/>
          <p:nvPr/>
        </p:nvSpPr>
        <p:spPr>
          <a:xfrm>
            <a:off x="2409616" y="2276872"/>
            <a:ext cx="2401619" cy="1200329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Bedingung&gt;</a:t>
            </a:r>
            <a:r>
              <a:rPr lang="de-AT" b="1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i="1" dirty="0" smtClean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Anweisungen&gt;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458337" y="3967896"/>
            <a:ext cx="73532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mark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Convert.ToInt32(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mark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&gt; 5 )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("Die Note ist nicht möglich.");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Einseitige Verzweigung (</a:t>
            </a:r>
            <a:r>
              <a:rPr lang="de-AT" dirty="0" err="1" smtClean="0"/>
              <a:t>if</a:t>
            </a:r>
            <a:r>
              <a:rPr lang="de-AT" dirty="0" smtClean="0"/>
              <a:t>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4935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954612" y="818128"/>
            <a:ext cx="67506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Zweiseitige Verzweigung</a:t>
            </a:r>
          </a:p>
          <a:p>
            <a:r>
              <a:rPr lang="de-AT" dirty="0" smtClean="0"/>
              <a:t>Trifft eine </a:t>
            </a:r>
            <a:r>
              <a:rPr lang="de-AT" i="1" dirty="0" smtClean="0">
                <a:solidFill>
                  <a:srgbClr val="FF0000"/>
                </a:solidFill>
              </a:rPr>
              <a:t>Bedingung</a:t>
            </a:r>
            <a:r>
              <a:rPr lang="de-AT" dirty="0" smtClean="0"/>
              <a:t> zu, so werden </a:t>
            </a:r>
            <a:r>
              <a:rPr lang="de-AT" i="1" dirty="0" err="1" smtClean="0">
                <a:solidFill>
                  <a:srgbClr val="CC3300"/>
                </a:solidFill>
              </a:rPr>
              <a:t>Anweisungen_A</a:t>
            </a:r>
            <a:r>
              <a:rPr lang="de-AT" dirty="0" smtClean="0">
                <a:solidFill>
                  <a:srgbClr val="CC3300"/>
                </a:solidFill>
              </a:rPr>
              <a:t> </a:t>
            </a:r>
            <a:r>
              <a:rPr lang="de-AT" dirty="0" smtClean="0"/>
              <a:t>ausgeführt,</a:t>
            </a:r>
            <a:br>
              <a:rPr lang="de-AT" dirty="0" smtClean="0"/>
            </a:br>
            <a:r>
              <a:rPr lang="de-AT" dirty="0" smtClean="0"/>
              <a:t>trifft sie nicht zu, so </a:t>
            </a:r>
            <a:r>
              <a:rPr lang="de-AT" dirty="0"/>
              <a:t>werden </a:t>
            </a:r>
            <a:r>
              <a:rPr lang="de-AT" i="1" dirty="0" err="1" smtClean="0">
                <a:solidFill>
                  <a:srgbClr val="CC3300"/>
                </a:solidFill>
              </a:rPr>
              <a:t>Anweisungen_B</a:t>
            </a:r>
            <a:r>
              <a:rPr lang="de-AT" dirty="0" smtClean="0">
                <a:solidFill>
                  <a:srgbClr val="CC3300"/>
                </a:solidFill>
              </a:rPr>
              <a:t> </a:t>
            </a:r>
            <a:r>
              <a:rPr lang="de-AT" dirty="0"/>
              <a:t>ausgeführt</a:t>
            </a:r>
            <a:r>
              <a:rPr lang="de-AT" dirty="0" smtClean="0"/>
              <a:t>.</a:t>
            </a:r>
          </a:p>
          <a:p>
            <a:endParaRPr lang="de-AT" dirty="0"/>
          </a:p>
          <a:p>
            <a:r>
              <a:rPr lang="de-AT" dirty="0" smtClean="0"/>
              <a:t>Programmablaufplan (PAP):</a:t>
            </a:r>
            <a:endParaRPr lang="de-AT" dirty="0"/>
          </a:p>
        </p:txBody>
      </p:sp>
      <p:sp>
        <p:nvSpPr>
          <p:cNvPr id="12" name="Flussdiagramm: Verzweigung 11"/>
          <p:cNvSpPr/>
          <p:nvPr/>
        </p:nvSpPr>
        <p:spPr>
          <a:xfrm>
            <a:off x="2663788" y="2872573"/>
            <a:ext cx="3240360" cy="728642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FF0000"/>
                </a:solidFill>
              </a:rPr>
              <a:t>&lt;Bedingung&gt;</a:t>
            </a:r>
            <a:endParaRPr lang="de-AT" i="1" dirty="0">
              <a:solidFill>
                <a:srgbClr val="FF0000"/>
              </a:solidFill>
            </a:endParaRPr>
          </a:p>
        </p:txBody>
      </p:sp>
      <p:cxnSp>
        <p:nvCxnSpPr>
          <p:cNvPr id="14" name="Gerade Verbindung mit Pfeil 13"/>
          <p:cNvCxnSpPr>
            <a:endCxn id="12" idx="0"/>
          </p:cNvCxnSpPr>
          <p:nvPr/>
        </p:nvCxnSpPr>
        <p:spPr>
          <a:xfrm flipH="1">
            <a:off x="4283968" y="2328301"/>
            <a:ext cx="1114" cy="544272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winkelte Verbindung 18"/>
          <p:cNvCxnSpPr>
            <a:stCxn id="12" idx="1"/>
            <a:endCxn id="20" idx="0"/>
          </p:cNvCxnSpPr>
          <p:nvPr/>
        </p:nvCxnSpPr>
        <p:spPr>
          <a:xfrm rot="10800000" flipV="1">
            <a:off x="2357440" y="3236893"/>
            <a:ext cx="306348" cy="616349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ssdiagramm: Prozess 19"/>
          <p:cNvSpPr/>
          <p:nvPr/>
        </p:nvSpPr>
        <p:spPr>
          <a:xfrm>
            <a:off x="1222999" y="3853243"/>
            <a:ext cx="2268881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CC3300"/>
                </a:solidFill>
              </a:rPr>
              <a:t>&lt;</a:t>
            </a:r>
            <a:r>
              <a:rPr lang="de-AT" i="1" dirty="0" err="1" smtClean="0">
                <a:solidFill>
                  <a:srgbClr val="CC3300"/>
                </a:solidFill>
              </a:rPr>
              <a:t>Anweisungen_A</a:t>
            </a:r>
            <a:r>
              <a:rPr lang="de-AT" i="1" dirty="0" smtClean="0">
                <a:solidFill>
                  <a:srgbClr val="CC3300"/>
                </a:solidFill>
              </a:rPr>
              <a:t>&gt;</a:t>
            </a:r>
            <a:endParaRPr lang="de-AT" i="1" dirty="0">
              <a:solidFill>
                <a:srgbClr val="CC3300"/>
              </a:solidFill>
            </a:endParaRPr>
          </a:p>
        </p:txBody>
      </p:sp>
      <p:cxnSp>
        <p:nvCxnSpPr>
          <p:cNvPr id="1025" name="Gewinkelte Verbindung 1024"/>
          <p:cNvCxnSpPr>
            <a:stCxn id="20" idx="2"/>
          </p:cNvCxnSpPr>
          <p:nvPr/>
        </p:nvCxnSpPr>
        <p:spPr>
          <a:xfrm rot="16200000" flipH="1">
            <a:off x="4149908" y="2564831"/>
            <a:ext cx="360040" cy="3944976"/>
          </a:xfrm>
          <a:prstGeom prst="bentConnector2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Gerade Verbindung mit Pfeil 1028"/>
          <p:cNvCxnSpPr/>
          <p:nvPr/>
        </p:nvCxnSpPr>
        <p:spPr>
          <a:xfrm>
            <a:off x="4248594" y="4717339"/>
            <a:ext cx="0" cy="648072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winkelte Verbindung 17"/>
          <p:cNvCxnSpPr>
            <a:stCxn id="12" idx="3"/>
            <a:endCxn id="21" idx="0"/>
          </p:cNvCxnSpPr>
          <p:nvPr/>
        </p:nvCxnSpPr>
        <p:spPr>
          <a:xfrm>
            <a:off x="5904148" y="3236894"/>
            <a:ext cx="396044" cy="551204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ussdiagramm: Prozess 20"/>
          <p:cNvSpPr/>
          <p:nvPr/>
        </p:nvSpPr>
        <p:spPr>
          <a:xfrm>
            <a:off x="5076056" y="3788098"/>
            <a:ext cx="244827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CC3300"/>
                </a:solidFill>
              </a:rPr>
              <a:t>&lt;</a:t>
            </a:r>
            <a:r>
              <a:rPr lang="de-AT" i="1" dirty="0" err="1" smtClean="0">
                <a:solidFill>
                  <a:srgbClr val="CC3300"/>
                </a:solidFill>
              </a:rPr>
              <a:t>Anweisungen_B</a:t>
            </a:r>
            <a:r>
              <a:rPr lang="de-AT" i="1" dirty="0" smtClean="0">
                <a:solidFill>
                  <a:srgbClr val="CC3300"/>
                </a:solidFill>
              </a:rPr>
              <a:t>&gt;</a:t>
            </a:r>
            <a:endParaRPr lang="de-AT" i="1" dirty="0">
              <a:solidFill>
                <a:srgbClr val="CC3300"/>
              </a:solidFill>
            </a:endParaRPr>
          </a:p>
        </p:txBody>
      </p:sp>
      <p:cxnSp>
        <p:nvCxnSpPr>
          <p:cNvPr id="28" name="Gerade Verbindung 27"/>
          <p:cNvCxnSpPr>
            <a:stCxn id="21" idx="2"/>
          </p:cNvCxnSpPr>
          <p:nvPr/>
        </p:nvCxnSpPr>
        <p:spPr>
          <a:xfrm>
            <a:off x="6300192" y="4292154"/>
            <a:ext cx="2226" cy="425184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2159103" y="2907847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True</a:t>
            </a:r>
            <a:endParaRPr lang="de-AT" dirty="0"/>
          </a:p>
        </p:txBody>
      </p:sp>
      <p:sp>
        <p:nvSpPr>
          <p:cNvPr id="23" name="Textfeld 22"/>
          <p:cNvSpPr txBox="1"/>
          <p:nvPr/>
        </p:nvSpPr>
        <p:spPr>
          <a:xfrm>
            <a:off x="5702542" y="2907847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False</a:t>
            </a:r>
            <a:endParaRPr lang="de-AT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Zweiseitige Verzweigung (</a:t>
            </a:r>
            <a:r>
              <a:rPr lang="de-AT" dirty="0" err="1" smtClean="0"/>
              <a:t>if</a:t>
            </a:r>
            <a:r>
              <a:rPr lang="de-AT" dirty="0" smtClean="0"/>
              <a:t>..</a:t>
            </a:r>
            <a:r>
              <a:rPr lang="de-AT" dirty="0" err="1" smtClean="0"/>
              <a:t>else</a:t>
            </a:r>
            <a:r>
              <a:rPr lang="de-AT" dirty="0" smtClean="0"/>
              <a:t>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04635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079612" y="1484784"/>
            <a:ext cx="61764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Zweiseitige Verzweigung</a:t>
            </a:r>
          </a:p>
          <a:p>
            <a:r>
              <a:rPr lang="de-AT" dirty="0" smtClean="0"/>
              <a:t>Trifft eine </a:t>
            </a:r>
            <a:r>
              <a:rPr lang="de-AT" i="1" dirty="0" smtClean="0">
                <a:solidFill>
                  <a:srgbClr val="FF0000"/>
                </a:solidFill>
              </a:rPr>
              <a:t>Bedingung</a:t>
            </a:r>
            <a:r>
              <a:rPr lang="de-AT" dirty="0" smtClean="0"/>
              <a:t> zu, so werden </a:t>
            </a:r>
            <a:r>
              <a:rPr lang="de-AT" i="1" dirty="0" err="1" smtClean="0">
                <a:solidFill>
                  <a:srgbClr val="CC3300"/>
                </a:solidFill>
              </a:rPr>
              <a:t>Anweisungen_A</a:t>
            </a:r>
            <a:r>
              <a:rPr lang="de-AT" dirty="0" smtClean="0">
                <a:solidFill>
                  <a:srgbClr val="CC3300"/>
                </a:solidFill>
              </a:rPr>
              <a:t> </a:t>
            </a:r>
            <a:r>
              <a:rPr lang="de-AT" dirty="0" smtClean="0"/>
              <a:t>ausgeführt,</a:t>
            </a:r>
            <a:br>
              <a:rPr lang="de-AT" dirty="0" smtClean="0"/>
            </a:br>
            <a:r>
              <a:rPr lang="de-AT" dirty="0" smtClean="0"/>
              <a:t>trifft sie nicht zu, so </a:t>
            </a:r>
            <a:r>
              <a:rPr lang="de-AT" dirty="0"/>
              <a:t>werden </a:t>
            </a:r>
            <a:r>
              <a:rPr lang="de-AT" i="1" dirty="0" err="1" smtClean="0">
                <a:solidFill>
                  <a:srgbClr val="CC3300"/>
                </a:solidFill>
              </a:rPr>
              <a:t>Anweisungen_B</a:t>
            </a:r>
            <a:r>
              <a:rPr lang="de-AT" dirty="0" smtClean="0">
                <a:solidFill>
                  <a:srgbClr val="CC3300"/>
                </a:solidFill>
              </a:rPr>
              <a:t> </a:t>
            </a:r>
            <a:r>
              <a:rPr lang="de-AT" dirty="0"/>
              <a:t>ausgeführt</a:t>
            </a:r>
            <a:r>
              <a:rPr lang="de-AT" dirty="0" smtClean="0"/>
              <a:t>.</a:t>
            </a:r>
            <a:endParaRPr lang="de-AT" dirty="0"/>
          </a:p>
        </p:txBody>
      </p:sp>
      <p:sp>
        <p:nvSpPr>
          <p:cNvPr id="22" name="Textfeld 21"/>
          <p:cNvSpPr txBox="1"/>
          <p:nvPr/>
        </p:nvSpPr>
        <p:spPr>
          <a:xfrm>
            <a:off x="2447764" y="2804735"/>
            <a:ext cx="3312367" cy="2308324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Bedingung&gt;</a:t>
            </a:r>
            <a:r>
              <a:rPr lang="de-AT" b="1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AT" b="1" i="1" dirty="0" smtClean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err="1" smtClean="0">
                <a:solidFill>
                  <a:srgbClr val="CC3300"/>
                </a:solidFill>
                <a:cs typeface="Courier New" panose="02070309020205020404" pitchFamily="49" charset="0"/>
              </a:rPr>
              <a:t>Anweisungen_A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&gt;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err="1" smtClean="0">
                <a:solidFill>
                  <a:srgbClr val="CC3300"/>
                </a:solidFill>
                <a:cs typeface="Courier New" panose="02070309020205020404" pitchFamily="49" charset="0"/>
              </a:rPr>
              <a:t>Anweisungen_B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&gt;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Zweiseitige Verzweigung (</a:t>
            </a:r>
            <a:r>
              <a:rPr lang="de-AT" dirty="0" err="1" smtClean="0"/>
              <a:t>if</a:t>
            </a:r>
            <a:r>
              <a:rPr lang="de-AT" dirty="0" smtClean="0"/>
              <a:t>..</a:t>
            </a:r>
            <a:r>
              <a:rPr lang="de-AT" dirty="0" err="1" smtClean="0"/>
              <a:t>else</a:t>
            </a:r>
            <a:r>
              <a:rPr lang="de-AT" dirty="0" smtClean="0"/>
              <a:t>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4857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457200" y="1960377"/>
            <a:ext cx="8686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tring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choice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choice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“A“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(“Es wurde A gewählt!“);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lse</a:t>
            </a:r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(“Es wurde etwas Anderes als A gewählt!“);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Zweiseitige Verzweigung - Beispiel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5784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ussdiagramm: Verzweigung 11"/>
          <p:cNvSpPr/>
          <p:nvPr/>
        </p:nvSpPr>
        <p:spPr>
          <a:xfrm>
            <a:off x="4163117" y="2757698"/>
            <a:ext cx="2807052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FF0000"/>
                </a:solidFill>
              </a:rPr>
              <a:t>&lt;</a:t>
            </a:r>
            <a:r>
              <a:rPr lang="de-AT" i="1" dirty="0" err="1" smtClean="0">
                <a:solidFill>
                  <a:srgbClr val="FF0000"/>
                </a:solidFill>
              </a:rPr>
              <a:t>Bed_A</a:t>
            </a:r>
            <a:r>
              <a:rPr lang="de-AT" i="1" dirty="0" smtClean="0">
                <a:solidFill>
                  <a:srgbClr val="FF0000"/>
                </a:solidFill>
              </a:rPr>
              <a:t>&gt;</a:t>
            </a:r>
            <a:endParaRPr lang="de-AT" i="1" dirty="0">
              <a:solidFill>
                <a:srgbClr val="FF0000"/>
              </a:solidFill>
            </a:endParaRPr>
          </a:p>
        </p:txBody>
      </p:sp>
      <p:cxnSp>
        <p:nvCxnSpPr>
          <p:cNvPr id="14" name="Gerade Verbindung mit Pfeil 13"/>
          <p:cNvCxnSpPr>
            <a:endCxn id="12" idx="0"/>
          </p:cNvCxnSpPr>
          <p:nvPr/>
        </p:nvCxnSpPr>
        <p:spPr>
          <a:xfrm>
            <a:off x="5566643" y="2456892"/>
            <a:ext cx="0" cy="300806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winkelte Verbindung 18"/>
          <p:cNvCxnSpPr>
            <a:stCxn id="12" idx="1"/>
            <a:endCxn id="24" idx="0"/>
          </p:cNvCxnSpPr>
          <p:nvPr/>
        </p:nvCxnSpPr>
        <p:spPr>
          <a:xfrm rot="10800000" flipV="1">
            <a:off x="3503755" y="3135739"/>
            <a:ext cx="659362" cy="530673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ssdiagramm: Prozess 19"/>
          <p:cNvSpPr/>
          <p:nvPr/>
        </p:nvSpPr>
        <p:spPr>
          <a:xfrm>
            <a:off x="862018" y="4617132"/>
            <a:ext cx="119799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CC3300"/>
                </a:solidFill>
              </a:rPr>
              <a:t>&lt;</a:t>
            </a:r>
            <a:r>
              <a:rPr lang="de-AT" i="1" dirty="0" err="1" smtClean="0">
                <a:solidFill>
                  <a:srgbClr val="CC3300"/>
                </a:solidFill>
              </a:rPr>
              <a:t>Anw_A</a:t>
            </a:r>
            <a:r>
              <a:rPr lang="de-AT" i="1" dirty="0" smtClean="0">
                <a:solidFill>
                  <a:srgbClr val="CC3300"/>
                </a:solidFill>
              </a:rPr>
              <a:t>&gt;</a:t>
            </a:r>
            <a:endParaRPr lang="de-AT" i="1" dirty="0">
              <a:solidFill>
                <a:srgbClr val="CC3300"/>
              </a:solidFill>
            </a:endParaRPr>
          </a:p>
        </p:txBody>
      </p:sp>
      <p:cxnSp>
        <p:nvCxnSpPr>
          <p:cNvPr id="1025" name="Gewinkelte Verbindung 1024"/>
          <p:cNvCxnSpPr>
            <a:stCxn id="20" idx="2"/>
          </p:cNvCxnSpPr>
          <p:nvPr/>
        </p:nvCxnSpPr>
        <p:spPr>
          <a:xfrm rot="16200000" flipH="1">
            <a:off x="4305917" y="2276285"/>
            <a:ext cx="360040" cy="6049846"/>
          </a:xfrm>
          <a:prstGeom prst="bentConnector2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Gerade Verbindung mit Pfeil 1028"/>
          <p:cNvCxnSpPr/>
          <p:nvPr/>
        </p:nvCxnSpPr>
        <p:spPr>
          <a:xfrm>
            <a:off x="4499992" y="5481228"/>
            <a:ext cx="0" cy="360040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winkelte Verbindung 17"/>
          <p:cNvCxnSpPr>
            <a:stCxn id="12" idx="3"/>
            <a:endCxn id="46" idx="0"/>
          </p:cNvCxnSpPr>
          <p:nvPr/>
        </p:nvCxnSpPr>
        <p:spPr>
          <a:xfrm>
            <a:off x="6970169" y="3135740"/>
            <a:ext cx="531227" cy="1409384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/>
          <p:nvPr/>
        </p:nvCxnSpPr>
        <p:spPr>
          <a:xfrm>
            <a:off x="7510860" y="5049180"/>
            <a:ext cx="0" cy="425184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3367547" y="2820414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True</a:t>
            </a:r>
            <a:endParaRPr lang="de-AT" dirty="0"/>
          </a:p>
        </p:txBody>
      </p:sp>
      <p:sp>
        <p:nvSpPr>
          <p:cNvPr id="23" name="Textfeld 22"/>
          <p:cNvSpPr txBox="1"/>
          <p:nvPr/>
        </p:nvSpPr>
        <p:spPr>
          <a:xfrm>
            <a:off x="6910986" y="2820414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False</a:t>
            </a:r>
            <a:endParaRPr lang="de-AT" dirty="0"/>
          </a:p>
        </p:txBody>
      </p:sp>
      <p:sp>
        <p:nvSpPr>
          <p:cNvPr id="24" name="Flussdiagramm: Verzweigung 23"/>
          <p:cNvSpPr/>
          <p:nvPr/>
        </p:nvSpPr>
        <p:spPr>
          <a:xfrm>
            <a:off x="2074885" y="3666413"/>
            <a:ext cx="2857739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FF0000"/>
                </a:solidFill>
              </a:rPr>
              <a:t>&lt;</a:t>
            </a:r>
            <a:r>
              <a:rPr lang="de-AT" i="1" dirty="0" err="1" smtClean="0">
                <a:solidFill>
                  <a:srgbClr val="FF0000"/>
                </a:solidFill>
              </a:rPr>
              <a:t>Bed_AA</a:t>
            </a:r>
            <a:r>
              <a:rPr lang="de-AT" i="1" dirty="0" smtClean="0">
                <a:solidFill>
                  <a:srgbClr val="FF0000"/>
                </a:solidFill>
              </a:rPr>
              <a:t>&gt;</a:t>
            </a:r>
            <a:endParaRPr lang="de-AT" i="1" dirty="0">
              <a:solidFill>
                <a:srgbClr val="FF0000"/>
              </a:solidFill>
            </a:endParaRPr>
          </a:p>
        </p:txBody>
      </p:sp>
      <p:cxnSp>
        <p:nvCxnSpPr>
          <p:cNvPr id="25" name="Gewinkelte Verbindung 24"/>
          <p:cNvCxnSpPr>
            <a:stCxn id="24" idx="1"/>
            <a:endCxn id="20" idx="0"/>
          </p:cNvCxnSpPr>
          <p:nvPr/>
        </p:nvCxnSpPr>
        <p:spPr>
          <a:xfrm rot="10800000" flipV="1">
            <a:off x="1461015" y="4044454"/>
            <a:ext cx="613871" cy="572677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1424590" y="3729130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True</a:t>
            </a:r>
            <a:endParaRPr lang="de-AT" dirty="0"/>
          </a:p>
        </p:txBody>
      </p:sp>
      <p:cxnSp>
        <p:nvCxnSpPr>
          <p:cNvPr id="42" name="Gewinkelte Verbindung 41"/>
          <p:cNvCxnSpPr>
            <a:stCxn id="24" idx="3"/>
            <a:endCxn id="47" idx="0"/>
          </p:cNvCxnSpPr>
          <p:nvPr/>
        </p:nvCxnSpPr>
        <p:spPr>
          <a:xfrm>
            <a:off x="4932624" y="4044455"/>
            <a:ext cx="564942" cy="500669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4860032" y="3743744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False</a:t>
            </a:r>
            <a:endParaRPr lang="de-AT" dirty="0"/>
          </a:p>
        </p:txBody>
      </p:sp>
      <p:sp>
        <p:nvSpPr>
          <p:cNvPr id="46" name="Flussdiagramm: Prozess 45"/>
          <p:cNvSpPr/>
          <p:nvPr/>
        </p:nvSpPr>
        <p:spPr>
          <a:xfrm>
            <a:off x="6902400" y="4545124"/>
            <a:ext cx="119799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CC3300"/>
                </a:solidFill>
              </a:rPr>
              <a:t>&lt;</a:t>
            </a:r>
            <a:r>
              <a:rPr lang="de-AT" i="1" dirty="0" err="1" smtClean="0">
                <a:solidFill>
                  <a:srgbClr val="CC3300"/>
                </a:solidFill>
              </a:rPr>
              <a:t>Anw_C</a:t>
            </a:r>
            <a:r>
              <a:rPr lang="de-AT" i="1" dirty="0" smtClean="0">
                <a:solidFill>
                  <a:srgbClr val="CC3300"/>
                </a:solidFill>
              </a:rPr>
              <a:t>&gt;</a:t>
            </a:r>
            <a:endParaRPr lang="de-AT" i="1" dirty="0">
              <a:solidFill>
                <a:srgbClr val="CC3300"/>
              </a:solidFill>
            </a:endParaRPr>
          </a:p>
        </p:txBody>
      </p:sp>
      <p:sp>
        <p:nvSpPr>
          <p:cNvPr id="47" name="Flussdiagramm: Prozess 46"/>
          <p:cNvSpPr/>
          <p:nvPr/>
        </p:nvSpPr>
        <p:spPr>
          <a:xfrm>
            <a:off x="4898570" y="4545124"/>
            <a:ext cx="119799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CC3300"/>
                </a:solidFill>
              </a:rPr>
              <a:t>&lt;</a:t>
            </a:r>
            <a:r>
              <a:rPr lang="de-AT" i="1" dirty="0" err="1" smtClean="0">
                <a:solidFill>
                  <a:srgbClr val="CC3300"/>
                </a:solidFill>
              </a:rPr>
              <a:t>Anw_B</a:t>
            </a:r>
            <a:r>
              <a:rPr lang="de-AT" i="1" dirty="0" smtClean="0">
                <a:solidFill>
                  <a:srgbClr val="CC3300"/>
                </a:solidFill>
              </a:rPr>
              <a:t>&gt;</a:t>
            </a:r>
            <a:endParaRPr lang="de-AT" i="1" dirty="0">
              <a:solidFill>
                <a:srgbClr val="CC3300"/>
              </a:solidFill>
            </a:endParaRPr>
          </a:p>
        </p:txBody>
      </p:sp>
      <p:cxnSp>
        <p:nvCxnSpPr>
          <p:cNvPr id="61" name="Gerade Verbindung 60"/>
          <p:cNvCxnSpPr/>
          <p:nvPr/>
        </p:nvCxnSpPr>
        <p:spPr>
          <a:xfrm>
            <a:off x="5508104" y="5049180"/>
            <a:ext cx="0" cy="425184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/>
          <p:cNvSpPr txBox="1"/>
          <p:nvPr/>
        </p:nvSpPr>
        <p:spPr>
          <a:xfrm>
            <a:off x="971600" y="1376772"/>
            <a:ext cx="60864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Einschränkung</a:t>
            </a:r>
          </a:p>
          <a:p>
            <a:r>
              <a:rPr lang="de-AT" dirty="0" smtClean="0"/>
              <a:t>Eine Bedingung </a:t>
            </a:r>
            <a:r>
              <a:rPr lang="de-AT" dirty="0" smtClean="0">
                <a:solidFill>
                  <a:srgbClr val="FF0000"/>
                </a:solidFill>
              </a:rPr>
              <a:t>&lt;</a:t>
            </a:r>
            <a:r>
              <a:rPr lang="de-AT" dirty="0" err="1" smtClean="0">
                <a:solidFill>
                  <a:srgbClr val="FF0000"/>
                </a:solidFill>
              </a:rPr>
              <a:t>Bed_A</a:t>
            </a:r>
            <a:r>
              <a:rPr lang="de-AT" dirty="0" smtClean="0">
                <a:solidFill>
                  <a:srgbClr val="FF0000"/>
                </a:solidFill>
              </a:rPr>
              <a:t>&gt;</a:t>
            </a:r>
            <a:r>
              <a:rPr lang="de-AT" dirty="0" smtClean="0"/>
              <a:t> wird noch einmal genauer durch eine </a:t>
            </a:r>
            <a:br>
              <a:rPr lang="de-AT" dirty="0" smtClean="0"/>
            </a:br>
            <a:r>
              <a:rPr lang="de-AT" dirty="0" smtClean="0"/>
              <a:t>Bedingung </a:t>
            </a:r>
            <a:r>
              <a:rPr lang="de-AT" dirty="0" smtClean="0">
                <a:solidFill>
                  <a:srgbClr val="FF0000"/>
                </a:solidFill>
              </a:rPr>
              <a:t>&lt;</a:t>
            </a:r>
            <a:r>
              <a:rPr lang="de-AT" dirty="0" err="1" smtClean="0">
                <a:solidFill>
                  <a:srgbClr val="FF0000"/>
                </a:solidFill>
              </a:rPr>
              <a:t>Bed_AA</a:t>
            </a:r>
            <a:r>
              <a:rPr lang="de-AT" dirty="0" smtClean="0">
                <a:solidFill>
                  <a:srgbClr val="FF0000"/>
                </a:solidFill>
              </a:rPr>
              <a:t>&gt;</a:t>
            </a:r>
            <a:r>
              <a:rPr lang="de-AT" dirty="0" smtClean="0"/>
              <a:t> geprüft.</a:t>
            </a:r>
            <a:endParaRPr lang="de-AT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Verschachtelung von Verzweigungen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9671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feld 61"/>
          <p:cNvSpPr txBox="1"/>
          <p:nvPr/>
        </p:nvSpPr>
        <p:spPr>
          <a:xfrm>
            <a:off x="991375" y="126876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Beispiel</a:t>
            </a:r>
          </a:p>
        </p:txBody>
      </p:sp>
      <p:sp>
        <p:nvSpPr>
          <p:cNvPr id="29" name="Rechteck 28"/>
          <p:cNvSpPr/>
          <p:nvPr/>
        </p:nvSpPr>
        <p:spPr>
          <a:xfrm>
            <a:off x="1007604" y="1756964"/>
            <a:ext cx="73448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choice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choice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“H“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(“Hauptschule! Alter?“);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=Convert.ToInt32(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 7 )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(“1. Klasse Hauptschule“);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. . .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. . .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Verschachtelung von Verzweigungen 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6850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ussdiagramm: Verzweigung 11"/>
          <p:cNvSpPr/>
          <p:nvPr/>
        </p:nvSpPr>
        <p:spPr>
          <a:xfrm>
            <a:off x="2483768" y="2706299"/>
            <a:ext cx="2807052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FF0000"/>
                </a:solidFill>
              </a:rPr>
              <a:t>&lt;</a:t>
            </a:r>
            <a:r>
              <a:rPr lang="de-AT" i="1" dirty="0" err="1" smtClean="0">
                <a:solidFill>
                  <a:srgbClr val="FF0000"/>
                </a:solidFill>
              </a:rPr>
              <a:t>Bed_A</a:t>
            </a:r>
            <a:r>
              <a:rPr lang="de-AT" i="1" dirty="0" smtClean="0">
                <a:solidFill>
                  <a:srgbClr val="FF0000"/>
                </a:solidFill>
              </a:rPr>
              <a:t>&gt;</a:t>
            </a:r>
            <a:endParaRPr lang="de-AT" i="1" dirty="0">
              <a:solidFill>
                <a:srgbClr val="FF0000"/>
              </a:solidFill>
            </a:endParaRPr>
          </a:p>
        </p:txBody>
      </p:sp>
      <p:cxnSp>
        <p:nvCxnSpPr>
          <p:cNvPr id="14" name="Gerade Verbindung mit Pfeil 13"/>
          <p:cNvCxnSpPr>
            <a:endCxn id="12" idx="0"/>
          </p:cNvCxnSpPr>
          <p:nvPr/>
        </p:nvCxnSpPr>
        <p:spPr>
          <a:xfrm>
            <a:off x="3887294" y="2333485"/>
            <a:ext cx="0" cy="372814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winkelte Verbindung 18"/>
          <p:cNvCxnSpPr>
            <a:stCxn id="12" idx="1"/>
            <a:endCxn id="20" idx="0"/>
          </p:cNvCxnSpPr>
          <p:nvPr/>
        </p:nvCxnSpPr>
        <p:spPr>
          <a:xfrm rot="10800000" flipV="1">
            <a:off x="1869898" y="3084341"/>
            <a:ext cx="613871" cy="1481392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ssdiagramm: Prozess 19"/>
          <p:cNvSpPr/>
          <p:nvPr/>
        </p:nvSpPr>
        <p:spPr>
          <a:xfrm>
            <a:off x="1270901" y="4565733"/>
            <a:ext cx="119799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CC3300"/>
                </a:solidFill>
              </a:rPr>
              <a:t>&lt;</a:t>
            </a:r>
            <a:r>
              <a:rPr lang="de-AT" i="1" dirty="0" err="1" smtClean="0">
                <a:solidFill>
                  <a:srgbClr val="CC3300"/>
                </a:solidFill>
              </a:rPr>
              <a:t>Anw_A</a:t>
            </a:r>
            <a:r>
              <a:rPr lang="de-AT" i="1" dirty="0" smtClean="0">
                <a:solidFill>
                  <a:srgbClr val="CC3300"/>
                </a:solidFill>
              </a:rPr>
              <a:t>&gt;</a:t>
            </a:r>
            <a:endParaRPr lang="de-AT" i="1" dirty="0">
              <a:solidFill>
                <a:srgbClr val="CC3300"/>
              </a:solidFill>
            </a:endParaRPr>
          </a:p>
        </p:txBody>
      </p:sp>
      <p:cxnSp>
        <p:nvCxnSpPr>
          <p:cNvPr id="1025" name="Gewinkelte Verbindung 1024"/>
          <p:cNvCxnSpPr>
            <a:stCxn id="20" idx="2"/>
          </p:cNvCxnSpPr>
          <p:nvPr/>
        </p:nvCxnSpPr>
        <p:spPr>
          <a:xfrm rot="16200000" flipH="1">
            <a:off x="4649643" y="2290042"/>
            <a:ext cx="360042" cy="5919535"/>
          </a:xfrm>
          <a:prstGeom prst="bentConnector2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Gerade Verbindung mit Pfeil 1028"/>
          <p:cNvCxnSpPr/>
          <p:nvPr/>
        </p:nvCxnSpPr>
        <p:spPr>
          <a:xfrm>
            <a:off x="5004048" y="5429829"/>
            <a:ext cx="0" cy="432048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winkelte Verbindung 17"/>
          <p:cNvCxnSpPr>
            <a:stCxn id="12" idx="3"/>
            <a:endCxn id="24" idx="0"/>
          </p:cNvCxnSpPr>
          <p:nvPr/>
        </p:nvCxnSpPr>
        <p:spPr>
          <a:xfrm>
            <a:off x="5290820" y="3084341"/>
            <a:ext cx="660623" cy="530673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>
            <a:stCxn id="47" idx="2"/>
          </p:cNvCxnSpPr>
          <p:nvPr/>
        </p:nvCxnSpPr>
        <p:spPr>
          <a:xfrm>
            <a:off x="7789428" y="5069789"/>
            <a:ext cx="4" cy="36004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1907704" y="2769015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True</a:t>
            </a:r>
            <a:endParaRPr lang="de-AT" dirty="0"/>
          </a:p>
        </p:txBody>
      </p:sp>
      <p:sp>
        <p:nvSpPr>
          <p:cNvPr id="23" name="Textfeld 22"/>
          <p:cNvSpPr txBox="1"/>
          <p:nvPr/>
        </p:nvSpPr>
        <p:spPr>
          <a:xfrm>
            <a:off x="5220072" y="2769015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False</a:t>
            </a:r>
            <a:endParaRPr lang="de-AT" dirty="0"/>
          </a:p>
        </p:txBody>
      </p:sp>
      <p:sp>
        <p:nvSpPr>
          <p:cNvPr id="24" name="Flussdiagramm: Verzweigung 23"/>
          <p:cNvSpPr/>
          <p:nvPr/>
        </p:nvSpPr>
        <p:spPr>
          <a:xfrm>
            <a:off x="4522573" y="3615014"/>
            <a:ext cx="2857739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FF0000"/>
                </a:solidFill>
              </a:rPr>
              <a:t>&lt;</a:t>
            </a:r>
            <a:r>
              <a:rPr lang="de-AT" i="1" dirty="0" err="1" smtClean="0">
                <a:solidFill>
                  <a:srgbClr val="FF0000"/>
                </a:solidFill>
              </a:rPr>
              <a:t>Bed_B</a:t>
            </a:r>
            <a:r>
              <a:rPr lang="de-AT" i="1" dirty="0" smtClean="0">
                <a:solidFill>
                  <a:srgbClr val="FF0000"/>
                </a:solidFill>
              </a:rPr>
              <a:t>&gt;</a:t>
            </a:r>
            <a:endParaRPr lang="de-AT" i="1" dirty="0">
              <a:solidFill>
                <a:srgbClr val="FF0000"/>
              </a:solidFill>
            </a:endParaRPr>
          </a:p>
        </p:txBody>
      </p:sp>
      <p:cxnSp>
        <p:nvCxnSpPr>
          <p:cNvPr id="25" name="Gewinkelte Verbindung 24"/>
          <p:cNvCxnSpPr>
            <a:stCxn id="24" idx="1"/>
            <a:endCxn id="46" idx="0"/>
          </p:cNvCxnSpPr>
          <p:nvPr/>
        </p:nvCxnSpPr>
        <p:spPr>
          <a:xfrm rot="10800000" flipV="1">
            <a:off x="3982235" y="3993055"/>
            <a:ext cx="540339" cy="572677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3923928" y="3677731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True</a:t>
            </a:r>
            <a:endParaRPr lang="de-AT" dirty="0"/>
          </a:p>
        </p:txBody>
      </p:sp>
      <p:cxnSp>
        <p:nvCxnSpPr>
          <p:cNvPr id="42" name="Gewinkelte Verbindung 41"/>
          <p:cNvCxnSpPr>
            <a:endCxn id="47" idx="0"/>
          </p:cNvCxnSpPr>
          <p:nvPr/>
        </p:nvCxnSpPr>
        <p:spPr>
          <a:xfrm>
            <a:off x="7380312" y="3993056"/>
            <a:ext cx="409116" cy="572677"/>
          </a:xfrm>
          <a:prstGeom prst="bentConnector2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7236296" y="3692345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False</a:t>
            </a:r>
            <a:endParaRPr lang="de-AT" dirty="0"/>
          </a:p>
        </p:txBody>
      </p:sp>
      <p:sp>
        <p:nvSpPr>
          <p:cNvPr id="46" name="Flussdiagramm: Prozess 45"/>
          <p:cNvSpPr/>
          <p:nvPr/>
        </p:nvSpPr>
        <p:spPr>
          <a:xfrm>
            <a:off x="3383238" y="4565733"/>
            <a:ext cx="119799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CC3300"/>
                </a:solidFill>
              </a:rPr>
              <a:t>&lt;</a:t>
            </a:r>
            <a:r>
              <a:rPr lang="de-AT" i="1" dirty="0" err="1" smtClean="0">
                <a:solidFill>
                  <a:srgbClr val="CC3300"/>
                </a:solidFill>
              </a:rPr>
              <a:t>Anw_B</a:t>
            </a:r>
            <a:r>
              <a:rPr lang="de-AT" i="1" dirty="0" smtClean="0">
                <a:solidFill>
                  <a:srgbClr val="CC3300"/>
                </a:solidFill>
              </a:rPr>
              <a:t>&gt;</a:t>
            </a:r>
            <a:endParaRPr lang="de-AT" i="1" dirty="0">
              <a:solidFill>
                <a:srgbClr val="CC3300"/>
              </a:solidFill>
            </a:endParaRPr>
          </a:p>
        </p:txBody>
      </p:sp>
      <p:sp>
        <p:nvSpPr>
          <p:cNvPr id="47" name="Flussdiagramm: Prozess 46"/>
          <p:cNvSpPr/>
          <p:nvPr/>
        </p:nvSpPr>
        <p:spPr>
          <a:xfrm>
            <a:off x="7190432" y="4565733"/>
            <a:ext cx="1197992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CC3300"/>
                </a:solidFill>
              </a:rPr>
              <a:t>&lt;</a:t>
            </a:r>
            <a:r>
              <a:rPr lang="de-AT" i="1" dirty="0" err="1" smtClean="0">
                <a:solidFill>
                  <a:srgbClr val="CC3300"/>
                </a:solidFill>
              </a:rPr>
              <a:t>Anw_C</a:t>
            </a:r>
            <a:r>
              <a:rPr lang="de-AT" i="1" dirty="0" smtClean="0">
                <a:solidFill>
                  <a:srgbClr val="CC3300"/>
                </a:solidFill>
              </a:rPr>
              <a:t>&gt;</a:t>
            </a:r>
            <a:endParaRPr lang="de-AT" i="1" dirty="0">
              <a:solidFill>
                <a:srgbClr val="CC3300"/>
              </a:solidFill>
            </a:endParaRPr>
          </a:p>
        </p:txBody>
      </p:sp>
      <p:cxnSp>
        <p:nvCxnSpPr>
          <p:cNvPr id="41" name="Gerade Verbindung 40"/>
          <p:cNvCxnSpPr>
            <a:stCxn id="46" idx="2"/>
          </p:cNvCxnSpPr>
          <p:nvPr/>
        </p:nvCxnSpPr>
        <p:spPr>
          <a:xfrm>
            <a:off x="3982234" y="5069789"/>
            <a:ext cx="0" cy="36004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/>
          <p:cNvSpPr txBox="1"/>
          <p:nvPr/>
        </p:nvSpPr>
        <p:spPr>
          <a:xfrm>
            <a:off x="1331640" y="1397381"/>
            <a:ext cx="5897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Alternative (</a:t>
            </a:r>
            <a:r>
              <a:rPr lang="de-AT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de-AT" b="1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lse-if</a:t>
            </a:r>
            <a:r>
              <a:rPr lang="de-AT" b="1" i="1" dirty="0" smtClean="0"/>
              <a:t> Kette</a:t>
            </a:r>
            <a:r>
              <a:rPr lang="de-AT" dirty="0" smtClean="0"/>
              <a:t>)</a:t>
            </a:r>
          </a:p>
          <a:p>
            <a:r>
              <a:rPr lang="de-AT" dirty="0" smtClean="0"/>
              <a:t>Es gibt mehr als zwei Alternativen zur Programmausführung .</a:t>
            </a:r>
            <a:endParaRPr lang="de-AT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Verschachtelung von Verzweigungen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4841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feld 48"/>
          <p:cNvSpPr txBox="1"/>
          <p:nvPr/>
        </p:nvSpPr>
        <p:spPr>
          <a:xfrm>
            <a:off x="1138023" y="1084094"/>
            <a:ext cx="2975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Alternative (</a:t>
            </a:r>
            <a:r>
              <a:rPr lang="de-AT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de-AT" b="1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lse-if</a:t>
            </a:r>
            <a:r>
              <a:rPr lang="de-AT" b="1" i="1" dirty="0" smtClean="0"/>
              <a:t> Kette</a:t>
            </a:r>
            <a:r>
              <a:rPr lang="de-AT" dirty="0" smtClean="0"/>
              <a:t>)</a:t>
            </a:r>
          </a:p>
        </p:txBody>
      </p:sp>
      <p:sp>
        <p:nvSpPr>
          <p:cNvPr id="29" name="Rechteck 28"/>
          <p:cNvSpPr/>
          <p:nvPr/>
        </p:nvSpPr>
        <p:spPr>
          <a:xfrm>
            <a:off x="1155165" y="1456571"/>
            <a:ext cx="774086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tring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choice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choice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“A“ ) 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("AHS");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choice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“B“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Hauptschule");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choice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“C“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Neue Mittelschule");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ungültige Eingabe");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Beispiel </a:t>
            </a:r>
            <a:r>
              <a:rPr lang="de-AT" dirty="0" err="1" smtClean="0"/>
              <a:t>else-if</a:t>
            </a:r>
            <a:r>
              <a:rPr lang="de-AT" dirty="0" smtClean="0"/>
              <a:t> Kette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5321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ussdiagramm: Verzweigung 11"/>
          <p:cNvSpPr/>
          <p:nvPr/>
        </p:nvSpPr>
        <p:spPr>
          <a:xfrm>
            <a:off x="1080242" y="2103654"/>
            <a:ext cx="2952328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FF0000"/>
                </a:solidFill>
              </a:rPr>
              <a:t>= &lt;Wert_1&gt;</a:t>
            </a:r>
            <a:endParaRPr lang="de-AT" i="1" dirty="0">
              <a:solidFill>
                <a:srgbClr val="FF0000"/>
              </a:solidFill>
            </a:endParaRPr>
          </a:p>
        </p:txBody>
      </p:sp>
      <p:cxnSp>
        <p:nvCxnSpPr>
          <p:cNvPr id="14" name="Gerade Verbindung mit Pfeil 13"/>
          <p:cNvCxnSpPr>
            <a:stCxn id="24" idx="2"/>
            <a:endCxn id="12" idx="0"/>
          </p:cNvCxnSpPr>
          <p:nvPr/>
        </p:nvCxnSpPr>
        <p:spPr>
          <a:xfrm>
            <a:off x="2556406" y="1772816"/>
            <a:ext cx="0" cy="330838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Gerade Verbindung mit Pfeil 1028"/>
          <p:cNvCxnSpPr>
            <a:stCxn id="12" idx="2"/>
            <a:endCxn id="47" idx="0"/>
          </p:cNvCxnSpPr>
          <p:nvPr/>
        </p:nvCxnSpPr>
        <p:spPr>
          <a:xfrm>
            <a:off x="2556406" y="2859738"/>
            <a:ext cx="2816" cy="325203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ussdiagramm: Prozess 20"/>
          <p:cNvSpPr/>
          <p:nvPr/>
        </p:nvSpPr>
        <p:spPr>
          <a:xfrm>
            <a:off x="4734810" y="2191115"/>
            <a:ext cx="2089491" cy="624219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CC3300"/>
                </a:solidFill>
              </a:rPr>
              <a:t>&lt;Anweisungen_1&gt;</a:t>
            </a:r>
          </a:p>
          <a:p>
            <a:pPr algn="ctr"/>
            <a:r>
              <a:rPr lang="de-AT" i="1" dirty="0" smtClean="0">
                <a:solidFill>
                  <a:srgbClr val="00B050"/>
                </a:solidFill>
              </a:rPr>
              <a:t>[ break ]</a:t>
            </a:r>
            <a:endParaRPr lang="de-AT" i="1" dirty="0">
              <a:solidFill>
                <a:srgbClr val="00B050"/>
              </a:solidFill>
            </a:endParaRPr>
          </a:p>
        </p:txBody>
      </p:sp>
      <p:cxnSp>
        <p:nvCxnSpPr>
          <p:cNvPr id="28" name="Gerade Verbindung 27"/>
          <p:cNvCxnSpPr>
            <a:stCxn id="21" idx="2"/>
            <a:endCxn id="49" idx="0"/>
          </p:cNvCxnSpPr>
          <p:nvPr/>
        </p:nvCxnSpPr>
        <p:spPr>
          <a:xfrm>
            <a:off x="5779556" y="2815334"/>
            <a:ext cx="2816" cy="458785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3870937" y="2042880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True</a:t>
            </a:r>
            <a:endParaRPr lang="de-AT" dirty="0"/>
          </a:p>
        </p:txBody>
      </p:sp>
      <p:sp>
        <p:nvSpPr>
          <p:cNvPr id="23" name="Textfeld 22"/>
          <p:cNvSpPr txBox="1"/>
          <p:nvPr/>
        </p:nvSpPr>
        <p:spPr>
          <a:xfrm>
            <a:off x="2575124" y="2809375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False</a:t>
            </a:r>
            <a:endParaRPr lang="de-AT" dirty="0"/>
          </a:p>
        </p:txBody>
      </p:sp>
      <p:sp>
        <p:nvSpPr>
          <p:cNvPr id="24" name="Flussdiagramm: Prozess 23"/>
          <p:cNvSpPr/>
          <p:nvPr/>
        </p:nvSpPr>
        <p:spPr>
          <a:xfrm>
            <a:off x="1511660" y="1268760"/>
            <a:ext cx="2089491" cy="50405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FF0000"/>
                </a:solidFill>
              </a:rPr>
              <a:t>&lt;Ausdruck&gt;</a:t>
            </a:r>
            <a:endParaRPr lang="de-AT" i="1" dirty="0">
              <a:solidFill>
                <a:srgbClr val="FF0000"/>
              </a:solidFill>
            </a:endParaRPr>
          </a:p>
        </p:txBody>
      </p:sp>
      <p:cxnSp>
        <p:nvCxnSpPr>
          <p:cNvPr id="44" name="Gerade Verbindung mit Pfeil 43"/>
          <p:cNvCxnSpPr>
            <a:stCxn id="12" idx="3"/>
            <a:endCxn id="21" idx="1"/>
          </p:cNvCxnSpPr>
          <p:nvPr/>
        </p:nvCxnSpPr>
        <p:spPr>
          <a:xfrm>
            <a:off x="4032570" y="2481696"/>
            <a:ext cx="702240" cy="21529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ussdiagramm: Verzweigung 46"/>
          <p:cNvSpPr/>
          <p:nvPr/>
        </p:nvSpPr>
        <p:spPr>
          <a:xfrm>
            <a:off x="1083058" y="3184941"/>
            <a:ext cx="2952328" cy="756084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FF0000"/>
                </a:solidFill>
              </a:rPr>
              <a:t>= &lt;Wert_2&gt;</a:t>
            </a:r>
            <a:endParaRPr lang="de-AT" i="1" dirty="0">
              <a:solidFill>
                <a:srgbClr val="FF0000"/>
              </a:solidFill>
            </a:endParaRPr>
          </a:p>
        </p:txBody>
      </p:sp>
      <p:cxnSp>
        <p:nvCxnSpPr>
          <p:cNvPr id="48" name="Gerade Verbindung mit Pfeil 47"/>
          <p:cNvCxnSpPr>
            <a:stCxn id="47" idx="2"/>
            <a:endCxn id="32" idx="0"/>
          </p:cNvCxnSpPr>
          <p:nvPr/>
        </p:nvCxnSpPr>
        <p:spPr>
          <a:xfrm>
            <a:off x="2559222" y="3941025"/>
            <a:ext cx="457" cy="296755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ussdiagramm: Prozess 48"/>
          <p:cNvSpPr/>
          <p:nvPr/>
        </p:nvSpPr>
        <p:spPr>
          <a:xfrm>
            <a:off x="4737626" y="3274119"/>
            <a:ext cx="2089491" cy="574796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CC3300"/>
                </a:solidFill>
              </a:rPr>
              <a:t>&lt;Anweisungen_2&gt;</a:t>
            </a:r>
          </a:p>
          <a:p>
            <a:pPr algn="ctr"/>
            <a:r>
              <a:rPr lang="de-AT" i="1" dirty="0" smtClean="0">
                <a:solidFill>
                  <a:srgbClr val="00B050"/>
                </a:solidFill>
              </a:rPr>
              <a:t> [ break ]</a:t>
            </a:r>
            <a:endParaRPr lang="de-AT" i="1" dirty="0">
              <a:solidFill>
                <a:srgbClr val="CC3300"/>
              </a:solidFill>
            </a:endParaRPr>
          </a:p>
        </p:txBody>
      </p:sp>
      <p:sp>
        <p:nvSpPr>
          <p:cNvPr id="51" name="Textfeld 50"/>
          <p:cNvSpPr txBox="1"/>
          <p:nvPr/>
        </p:nvSpPr>
        <p:spPr>
          <a:xfrm>
            <a:off x="3921459" y="3068510"/>
            <a:ext cx="59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True</a:t>
            </a:r>
            <a:endParaRPr lang="de-AT" dirty="0"/>
          </a:p>
        </p:txBody>
      </p:sp>
      <p:cxnSp>
        <p:nvCxnSpPr>
          <p:cNvPr id="52" name="Gerade Verbindung mit Pfeil 51"/>
          <p:cNvCxnSpPr>
            <a:stCxn id="47" idx="3"/>
            <a:endCxn id="49" idx="1"/>
          </p:cNvCxnSpPr>
          <p:nvPr/>
        </p:nvCxnSpPr>
        <p:spPr>
          <a:xfrm flipV="1">
            <a:off x="4035386" y="3561517"/>
            <a:ext cx="702240" cy="1466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lussdiagramm: Prozess 54"/>
          <p:cNvSpPr/>
          <p:nvPr/>
        </p:nvSpPr>
        <p:spPr>
          <a:xfrm>
            <a:off x="4738084" y="4571723"/>
            <a:ext cx="2089491" cy="624219"/>
          </a:xfrm>
          <a:prstGeom prst="flowChartProcess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i="1" dirty="0" smtClean="0">
                <a:solidFill>
                  <a:srgbClr val="CC3300"/>
                </a:solidFill>
              </a:rPr>
              <a:t>[ &lt;Standard-Anweisungen&gt; ]</a:t>
            </a:r>
            <a:endParaRPr lang="de-AT" i="1" dirty="0">
              <a:solidFill>
                <a:srgbClr val="CC3300"/>
              </a:solidFill>
            </a:endParaRPr>
          </a:p>
        </p:txBody>
      </p:sp>
      <p:cxnSp>
        <p:nvCxnSpPr>
          <p:cNvPr id="63" name="Gerade Verbindung 62"/>
          <p:cNvCxnSpPr>
            <a:stCxn id="49" idx="2"/>
            <a:endCxn id="55" idx="0"/>
          </p:cNvCxnSpPr>
          <p:nvPr/>
        </p:nvCxnSpPr>
        <p:spPr>
          <a:xfrm>
            <a:off x="5782372" y="3848915"/>
            <a:ext cx="458" cy="722808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/>
          <p:cNvCxnSpPr>
            <a:stCxn id="49" idx="3"/>
          </p:cNvCxnSpPr>
          <p:nvPr/>
        </p:nvCxnSpPr>
        <p:spPr>
          <a:xfrm>
            <a:off x="6827117" y="3561517"/>
            <a:ext cx="680645" cy="0"/>
          </a:xfrm>
          <a:prstGeom prst="straightConnector1">
            <a:avLst/>
          </a:prstGeom>
          <a:ln w="2222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/>
          <p:cNvSpPr txBox="1"/>
          <p:nvPr/>
        </p:nvSpPr>
        <p:spPr>
          <a:xfrm>
            <a:off x="2258090" y="4237780"/>
            <a:ext cx="603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u</a:t>
            </a:r>
            <a:r>
              <a:rPr lang="de-AT" dirty="0" smtClean="0"/>
              <a:t>sw.</a:t>
            </a:r>
            <a:endParaRPr lang="de-AT" dirty="0"/>
          </a:p>
        </p:txBody>
      </p:sp>
      <p:cxnSp>
        <p:nvCxnSpPr>
          <p:cNvPr id="81" name="Gewinkelte Verbindung 80"/>
          <p:cNvCxnSpPr>
            <a:stCxn id="32" idx="2"/>
            <a:endCxn id="55" idx="1"/>
          </p:cNvCxnSpPr>
          <p:nvPr/>
        </p:nvCxnSpPr>
        <p:spPr>
          <a:xfrm rot="16200000" flipH="1">
            <a:off x="3510521" y="3656269"/>
            <a:ext cx="276721" cy="2178405"/>
          </a:xfrm>
          <a:prstGeom prst="bentConnector2">
            <a:avLst/>
          </a:prstGeom>
          <a:ln w="2222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winkelte Verbindung 37"/>
          <p:cNvCxnSpPr>
            <a:stCxn id="21" idx="3"/>
          </p:cNvCxnSpPr>
          <p:nvPr/>
        </p:nvCxnSpPr>
        <p:spPr>
          <a:xfrm>
            <a:off x="6824301" y="2503225"/>
            <a:ext cx="683461" cy="2380608"/>
          </a:xfrm>
          <a:prstGeom prst="bentConnector2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winkelte Verbindung 41"/>
          <p:cNvCxnSpPr>
            <a:stCxn id="55" idx="3"/>
          </p:cNvCxnSpPr>
          <p:nvPr/>
        </p:nvCxnSpPr>
        <p:spPr>
          <a:xfrm>
            <a:off x="6827575" y="4883833"/>
            <a:ext cx="680187" cy="618733"/>
          </a:xfrm>
          <a:prstGeom prst="bentConnector3">
            <a:avLst>
              <a:gd name="adj1" fmla="val 100267"/>
            </a:avLst>
          </a:prstGeom>
          <a:ln w="22225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feld 96"/>
          <p:cNvSpPr txBox="1"/>
          <p:nvPr/>
        </p:nvSpPr>
        <p:spPr>
          <a:xfrm>
            <a:off x="2624161" y="3836385"/>
            <a:ext cx="65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 smtClean="0"/>
              <a:t>False</a:t>
            </a:r>
            <a:endParaRPr lang="de-AT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Mehrfachverzweigung (</a:t>
            </a:r>
            <a:r>
              <a:rPr lang="de-AT" dirty="0" err="1" smtClean="0"/>
              <a:t>switch</a:t>
            </a:r>
            <a:r>
              <a:rPr lang="de-AT" dirty="0" smtClean="0"/>
              <a:t>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36038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755576" y="1268760"/>
            <a:ext cx="821571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Ergibt die Auswertung von </a:t>
            </a:r>
            <a:r>
              <a:rPr lang="de-AT" i="1" dirty="0" smtClean="0">
                <a:solidFill>
                  <a:srgbClr val="FF0000"/>
                </a:solidFill>
              </a:rPr>
              <a:t>Ausdruck</a:t>
            </a:r>
            <a:r>
              <a:rPr lang="de-AT" dirty="0" smtClean="0"/>
              <a:t> den Wert </a:t>
            </a:r>
            <a:r>
              <a:rPr lang="de-AT" i="1" dirty="0" err="1" smtClean="0">
                <a:solidFill>
                  <a:srgbClr val="CC3300"/>
                </a:solidFill>
                <a:cs typeface="Courier New" panose="02070309020205020404" pitchFamily="49" charset="0"/>
              </a:rPr>
              <a:t>Wert_N</a:t>
            </a:r>
            <a:r>
              <a:rPr lang="de-AT" dirty="0" smtClean="0"/>
              <a:t>,  </a:t>
            </a:r>
            <a:br>
              <a:rPr lang="de-AT" dirty="0" smtClean="0"/>
            </a:br>
            <a:r>
              <a:rPr lang="de-AT" dirty="0" smtClean="0"/>
              <a:t>so werden </a:t>
            </a:r>
            <a:r>
              <a:rPr lang="de-AT" i="1" dirty="0" err="1" smtClean="0">
                <a:solidFill>
                  <a:srgbClr val="CC3300"/>
                </a:solidFill>
              </a:rPr>
              <a:t>Anweisungen_N</a:t>
            </a:r>
            <a:r>
              <a:rPr lang="de-AT" dirty="0" smtClean="0">
                <a:solidFill>
                  <a:srgbClr val="CC3300"/>
                </a:solidFill>
              </a:rPr>
              <a:t> </a:t>
            </a:r>
            <a:r>
              <a:rPr lang="de-AT" dirty="0" smtClean="0"/>
              <a:t>ausgeführt.</a:t>
            </a:r>
            <a:br>
              <a:rPr lang="de-AT" dirty="0" smtClean="0"/>
            </a:br>
            <a:r>
              <a:rPr lang="de-AT" dirty="0" smtClean="0"/>
              <a:t>Wird keine Übereinstimmung gefunden, so werden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err="1">
                <a:solidFill>
                  <a:srgbClr val="CC3300"/>
                </a:solidFill>
                <a:cs typeface="Courier New" panose="02070309020205020404" pitchFamily="49" charset="0"/>
              </a:rPr>
              <a:t>Standard_Anweisungen</a:t>
            </a:r>
            <a:r>
              <a:rPr lang="de-AT" b="1" i="1" dirty="0">
                <a:solidFill>
                  <a:srgbClr val="CC3300"/>
                </a:solidFill>
                <a:cs typeface="Courier New" panose="02070309020205020404" pitchFamily="49" charset="0"/>
              </a:rPr>
              <a:t>&gt; </a:t>
            </a:r>
            <a:r>
              <a:rPr lang="de-AT" b="1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/>
            </a:r>
            <a:br>
              <a:rPr lang="de-AT" b="1" i="1" dirty="0" smtClean="0">
                <a:solidFill>
                  <a:srgbClr val="CC3300"/>
                </a:solidFill>
                <a:cs typeface="Courier New" panose="02070309020205020404" pitchFamily="49" charset="0"/>
              </a:rPr>
            </a:br>
            <a:r>
              <a:rPr lang="de-AT" dirty="0" smtClean="0"/>
              <a:t>ausgeführt, wenn das Schlüsselwort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de-AT" dirty="0" smtClean="0"/>
              <a:t> angegeben wird.</a:t>
            </a:r>
          </a:p>
          <a:p>
            <a:endParaRPr lang="de-AT" dirty="0"/>
          </a:p>
          <a:p>
            <a:r>
              <a:rPr lang="de-AT" dirty="0" smtClean="0"/>
              <a:t>Ein </a:t>
            </a:r>
            <a:r>
              <a:rPr lang="de-AT" b="1" dirty="0" smtClean="0"/>
              <a:t>break</a:t>
            </a:r>
            <a:r>
              <a:rPr lang="de-AT" dirty="0" smtClean="0"/>
              <a:t> muss nach jedem </a:t>
            </a:r>
            <a:r>
              <a:rPr lang="de-AT" dirty="0" err="1" smtClean="0"/>
              <a:t>case</a:t>
            </a:r>
            <a:r>
              <a:rPr lang="de-AT" dirty="0" smtClean="0"/>
              <a:t>-Fall und am Ende des </a:t>
            </a:r>
            <a:r>
              <a:rPr lang="de-AT" dirty="0" err="1" smtClean="0"/>
              <a:t>default</a:t>
            </a:r>
            <a:r>
              <a:rPr lang="de-AT" dirty="0" smtClean="0"/>
              <a:t>-Falles</a:t>
            </a:r>
          </a:p>
          <a:p>
            <a:r>
              <a:rPr lang="de-AT" dirty="0" smtClean="0"/>
              <a:t>angeführt werden!</a:t>
            </a:r>
            <a:endParaRPr lang="de-AT" dirty="0"/>
          </a:p>
        </p:txBody>
      </p:sp>
      <p:sp>
        <p:nvSpPr>
          <p:cNvPr id="22" name="Textfeld 21"/>
          <p:cNvSpPr txBox="1"/>
          <p:nvPr/>
        </p:nvSpPr>
        <p:spPr>
          <a:xfrm>
            <a:off x="770160" y="3465004"/>
            <a:ext cx="6588732" cy="2862322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Ausdruck</a:t>
            </a:r>
            <a:r>
              <a:rPr lang="de-AT" b="1" i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&gt;</a:t>
            </a:r>
            <a:r>
              <a:rPr lang="de-AT" b="1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i="1" dirty="0" smtClean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Wert_1</a:t>
            </a:r>
            <a:r>
              <a:rPr lang="de-AT" b="1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&gt;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Anweisungen_1</a:t>
            </a:r>
            <a:r>
              <a:rPr lang="de-AT" b="1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&gt;</a:t>
            </a:r>
          </a:p>
          <a:p>
            <a:r>
              <a:rPr lang="de-AT" b="1" i="1" dirty="0">
                <a:solidFill>
                  <a:srgbClr val="CC3300"/>
                </a:solidFill>
                <a:cs typeface="Courier New" panose="02070309020205020404" pitchFamily="49" charset="0"/>
              </a:rPr>
              <a:t> </a:t>
            </a:r>
            <a:r>
              <a:rPr lang="de-AT" b="1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                                                 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break; </a:t>
            </a:r>
            <a:endParaRPr lang="de-AT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Wert_2</a:t>
            </a:r>
            <a:r>
              <a:rPr lang="de-AT" b="1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&gt;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AT" b="1" i="1" dirty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Anweisungen_2</a:t>
            </a:r>
            <a:r>
              <a:rPr lang="de-AT" b="1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&gt;</a:t>
            </a:r>
            <a:endParaRPr lang="de-AT" b="1" i="1" dirty="0">
              <a:solidFill>
                <a:srgbClr val="CC3300"/>
              </a:solidFill>
              <a:cs typeface="Courier New" panose="02070309020205020404" pitchFamily="49" charset="0"/>
            </a:endParaRPr>
          </a:p>
          <a:p>
            <a:r>
              <a:rPr lang="de-AT" b="1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                                                  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break; </a:t>
            </a:r>
            <a:endParaRPr lang="de-AT" b="1" dirty="0" smtClean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. . .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AT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de-AT" b="1" i="1" dirty="0" smtClean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err="1" smtClean="0">
                <a:solidFill>
                  <a:srgbClr val="CC3300"/>
                </a:solidFill>
                <a:cs typeface="Courier New" panose="02070309020205020404" pitchFamily="49" charset="0"/>
              </a:rPr>
              <a:t>Standard_Anweisungen</a:t>
            </a:r>
            <a:r>
              <a:rPr lang="de-AT" b="1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&gt;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de-AT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    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     </a:t>
            </a:r>
            <a:r>
              <a:rPr lang="de-AT" b="1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de-AT" b="1" i="1" dirty="0" smtClean="0">
              <a:solidFill>
                <a:srgbClr val="00B050"/>
              </a:solidFill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itel 2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AT" dirty="0" smtClean="0"/>
              <a:t>Mehrfachverzweigung (</a:t>
            </a:r>
            <a:r>
              <a:rPr lang="de-AT" dirty="0" err="1" smtClean="0"/>
              <a:t>switch</a:t>
            </a:r>
            <a:r>
              <a:rPr lang="de-AT" dirty="0" smtClean="0"/>
              <a:t>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5855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499"/>
          <a:stretch/>
        </p:blipFill>
        <p:spPr>
          <a:xfrm>
            <a:off x="7164288" y="6453336"/>
            <a:ext cx="1861725" cy="280428"/>
          </a:xfrm>
          <a:prstGeom prst="rect">
            <a:avLst/>
          </a:prstGeom>
        </p:spPr>
      </p:pic>
      <p:sp>
        <p:nvSpPr>
          <p:cNvPr id="12" name="Rechteck 11"/>
          <p:cNvSpPr/>
          <p:nvPr/>
        </p:nvSpPr>
        <p:spPr>
          <a:xfrm>
            <a:off x="1326398" y="1556792"/>
            <a:ext cx="67687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witch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dayofweek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0: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("Montag");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break;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1: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Dienstag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break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. . .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6: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Sonntag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break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("?");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Mehrfachverzweigung (Beispiel)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0436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Microsoft Office PowerPoint</Application>
  <PresentationFormat>Bildschirmpräsentation (4:3)</PresentationFormat>
  <Paragraphs>172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Symbol</vt:lpstr>
      <vt:lpstr>Wingdings</vt:lpstr>
      <vt:lpstr>1_Larissa</vt:lpstr>
      <vt:lpstr>2_Larissa</vt:lpstr>
      <vt:lpstr>Verzweigung - Selektion</vt:lpstr>
      <vt:lpstr>Bedingung / logischer Ausdruck</vt:lpstr>
      <vt:lpstr>Einseitige Verzweigung (if)</vt:lpstr>
      <vt:lpstr>Zweiseitige Verzweigung (if..else)</vt:lpstr>
      <vt:lpstr>Zweiseitige Verzweigung (if..else)</vt:lpstr>
      <vt:lpstr>Zweiseitige Verzweigung - Beispiel</vt:lpstr>
      <vt:lpstr>Verschachtelung von Verzweigungen</vt:lpstr>
      <vt:lpstr>Verschachtelung von Verzweigungen </vt:lpstr>
      <vt:lpstr>Verschachtelung von Verzweigungen</vt:lpstr>
      <vt:lpstr>Beispiel else-if Kette</vt:lpstr>
      <vt:lpstr>Mehrfachverzweigung (switch)</vt:lpstr>
      <vt:lpstr>Mehrfachverzweigung (switch)</vt:lpstr>
      <vt:lpstr>Mehrfachverzweigung (Beispiel)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Michael Bucek</cp:lastModifiedBy>
  <cp:revision>74</cp:revision>
  <dcterms:created xsi:type="dcterms:W3CDTF">2013-05-11T11:25:57Z</dcterms:created>
  <dcterms:modified xsi:type="dcterms:W3CDTF">2017-10-03T17:25:06Z</dcterms:modified>
</cp:coreProperties>
</file>