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3686" r:id="rId2"/>
    <p:sldMasterId id="2147483693" r:id="rId3"/>
    <p:sldMasterId id="2147483698" r:id="rId4"/>
    <p:sldMasterId id="2147483675" r:id="rId5"/>
  </p:sldMasterIdLst>
  <p:notesMasterIdLst>
    <p:notesMasterId r:id="rId28"/>
  </p:notesMasterIdLst>
  <p:handoutMasterIdLst>
    <p:handoutMasterId r:id="rId29"/>
  </p:handoutMasterIdLst>
  <p:sldIdLst>
    <p:sldId id="271" r:id="rId6"/>
    <p:sldId id="257" r:id="rId7"/>
    <p:sldId id="285" r:id="rId8"/>
    <p:sldId id="286" r:id="rId9"/>
    <p:sldId id="287" r:id="rId10"/>
    <p:sldId id="274" r:id="rId11"/>
    <p:sldId id="265" r:id="rId12"/>
    <p:sldId id="268" r:id="rId13"/>
    <p:sldId id="269" r:id="rId14"/>
    <p:sldId id="281" r:id="rId15"/>
    <p:sldId id="288" r:id="rId16"/>
    <p:sldId id="272" r:id="rId17"/>
    <p:sldId id="273" r:id="rId18"/>
    <p:sldId id="266" r:id="rId19"/>
    <p:sldId id="275" r:id="rId20"/>
    <p:sldId id="276" r:id="rId21"/>
    <p:sldId id="277" r:id="rId22"/>
    <p:sldId id="278" r:id="rId23"/>
    <p:sldId id="279" r:id="rId24"/>
    <p:sldId id="280" r:id="rId25"/>
    <p:sldId id="282" r:id="rId26"/>
    <p:sldId id="284" r:id="rId27"/>
  </p:sldIdLst>
  <p:sldSz cx="9144000" cy="6858000" type="screen4x3"/>
  <p:notesSz cx="6858000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50" autoAdjust="0"/>
  </p:normalViewPr>
  <p:slideViewPr>
    <p:cSldViewPr>
      <p:cViewPr varScale="1">
        <p:scale>
          <a:sx n="82" d="100"/>
          <a:sy n="82" d="100"/>
        </p:scale>
        <p:origin x="150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presProps" Target="presProp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Bucek" userId="0ad021fa34fc794b" providerId="LiveId" clId="{95266061-0DE3-4078-8060-FF2CD449E4F1}"/>
    <pc:docChg chg="undo custSel modSld">
      <pc:chgData name="Michael Bucek" userId="0ad021fa34fc794b" providerId="LiveId" clId="{95266061-0DE3-4078-8060-FF2CD449E4F1}" dt="2018-10-02T07:24:39.251" v="487" actId="20577"/>
      <pc:docMkLst>
        <pc:docMk/>
      </pc:docMkLst>
      <pc:sldChg chg="modSp">
        <pc:chgData name="Michael Bucek" userId="0ad021fa34fc794b" providerId="LiveId" clId="{95266061-0DE3-4078-8060-FF2CD449E4F1}" dt="2018-09-20T06:50:02.236" v="3" actId="20577"/>
        <pc:sldMkLst>
          <pc:docMk/>
          <pc:sldMk cId="1916199141" sldId="257"/>
        </pc:sldMkLst>
        <pc:spChg chg="mod">
          <ac:chgData name="Michael Bucek" userId="0ad021fa34fc794b" providerId="LiveId" clId="{95266061-0DE3-4078-8060-FF2CD449E4F1}" dt="2018-09-20T06:50:02.236" v="3" actId="20577"/>
          <ac:spMkLst>
            <pc:docMk/>
            <pc:sldMk cId="1916199141" sldId="257"/>
            <ac:spMk id="83" creationId="{00000000-0000-0000-0000-000000000000}"/>
          </ac:spMkLst>
        </pc:spChg>
        <pc:cxnChg chg="mod">
          <ac:chgData name="Michael Bucek" userId="0ad021fa34fc794b" providerId="LiveId" clId="{95266061-0DE3-4078-8060-FF2CD449E4F1}" dt="2018-09-20T06:50:02.236" v="3" actId="20577"/>
          <ac:cxnSpMkLst>
            <pc:docMk/>
            <pc:sldMk cId="1916199141" sldId="257"/>
            <ac:cxnSpMk id="86" creationId="{00000000-0000-0000-0000-000000000000}"/>
          </ac:cxnSpMkLst>
        </pc:cxnChg>
      </pc:sldChg>
      <pc:sldChg chg="modSp">
        <pc:chgData name="Michael Bucek" userId="0ad021fa34fc794b" providerId="LiveId" clId="{95266061-0DE3-4078-8060-FF2CD449E4F1}" dt="2018-09-20T07:11:12.592" v="112" actId="20577"/>
        <pc:sldMkLst>
          <pc:docMk/>
          <pc:sldMk cId="457283232" sldId="271"/>
        </pc:sldMkLst>
        <pc:spChg chg="mod">
          <ac:chgData name="Michael Bucek" userId="0ad021fa34fc794b" providerId="LiveId" clId="{95266061-0DE3-4078-8060-FF2CD449E4F1}" dt="2018-09-20T07:11:12.592" v="112" actId="20577"/>
          <ac:spMkLst>
            <pc:docMk/>
            <pc:sldMk cId="457283232" sldId="271"/>
            <ac:spMk id="20483" creationId="{00000000-0000-0000-0000-000000000000}"/>
          </ac:spMkLst>
        </pc:spChg>
      </pc:sldChg>
      <pc:sldChg chg="modSp">
        <pc:chgData name="Michael Bucek" userId="0ad021fa34fc794b" providerId="LiveId" clId="{95266061-0DE3-4078-8060-FF2CD449E4F1}" dt="2018-10-02T07:12:13.144" v="123" actId="1076"/>
        <pc:sldMkLst>
          <pc:docMk/>
          <pc:sldMk cId="3796496147" sldId="275"/>
        </pc:sldMkLst>
        <pc:spChg chg="mod">
          <ac:chgData name="Michael Bucek" userId="0ad021fa34fc794b" providerId="LiveId" clId="{95266061-0DE3-4078-8060-FF2CD449E4F1}" dt="2018-10-02T07:12:06.795" v="122" actId="20577"/>
          <ac:spMkLst>
            <pc:docMk/>
            <pc:sldMk cId="3796496147" sldId="275"/>
            <ac:spMk id="5" creationId="{00000000-0000-0000-0000-000000000000}"/>
          </ac:spMkLst>
        </pc:spChg>
        <pc:grpChg chg="mod">
          <ac:chgData name="Michael Bucek" userId="0ad021fa34fc794b" providerId="LiveId" clId="{95266061-0DE3-4078-8060-FF2CD449E4F1}" dt="2018-10-02T07:12:13.144" v="123" actId="1076"/>
          <ac:grpSpMkLst>
            <pc:docMk/>
            <pc:sldMk cId="3796496147" sldId="275"/>
            <ac:grpSpMk id="6" creationId="{00000000-0000-0000-0000-000000000000}"/>
          </ac:grpSpMkLst>
        </pc:grpChg>
      </pc:sldChg>
      <pc:sldChg chg="addSp modSp">
        <pc:chgData name="Michael Bucek" userId="0ad021fa34fc794b" providerId="LiveId" clId="{95266061-0DE3-4078-8060-FF2CD449E4F1}" dt="2018-10-02T07:20:22.019" v="333" actId="1076"/>
        <pc:sldMkLst>
          <pc:docMk/>
          <pc:sldMk cId="3102715514" sldId="278"/>
        </pc:sldMkLst>
        <pc:spChg chg="mod">
          <ac:chgData name="Michael Bucek" userId="0ad021fa34fc794b" providerId="LiveId" clId="{95266061-0DE3-4078-8060-FF2CD449E4F1}" dt="2018-10-02T07:17:25.507" v="327" actId="404"/>
          <ac:spMkLst>
            <pc:docMk/>
            <pc:sldMk cId="3102715514" sldId="278"/>
            <ac:spMk id="7" creationId="{00000000-0000-0000-0000-000000000000}"/>
          </ac:spMkLst>
        </pc:spChg>
        <pc:spChg chg="mod">
          <ac:chgData name="Michael Bucek" userId="0ad021fa34fc794b" providerId="LiveId" clId="{95266061-0DE3-4078-8060-FF2CD449E4F1}" dt="2018-10-02T07:17:35.932" v="329" actId="14100"/>
          <ac:spMkLst>
            <pc:docMk/>
            <pc:sldMk cId="3102715514" sldId="278"/>
            <ac:spMk id="8" creationId="{00000000-0000-0000-0000-000000000000}"/>
          </ac:spMkLst>
        </pc:spChg>
        <pc:picChg chg="add mod">
          <ac:chgData name="Michael Bucek" userId="0ad021fa34fc794b" providerId="LiveId" clId="{95266061-0DE3-4078-8060-FF2CD449E4F1}" dt="2018-10-02T07:20:02.547" v="331" actId="1076"/>
          <ac:picMkLst>
            <pc:docMk/>
            <pc:sldMk cId="3102715514" sldId="278"/>
            <ac:picMk id="4" creationId="{90E52D2B-75E3-4C12-A0D1-433623697A18}"/>
          </ac:picMkLst>
        </pc:picChg>
        <pc:picChg chg="add mod">
          <ac:chgData name="Michael Bucek" userId="0ad021fa34fc794b" providerId="LiveId" clId="{95266061-0DE3-4078-8060-FF2CD449E4F1}" dt="2018-10-02T07:20:22.019" v="333" actId="1076"/>
          <ac:picMkLst>
            <pc:docMk/>
            <pc:sldMk cId="3102715514" sldId="278"/>
            <ac:picMk id="9" creationId="{0DAD7032-3079-4E55-A3EC-5FC569984CD1}"/>
          </ac:picMkLst>
        </pc:picChg>
      </pc:sldChg>
      <pc:sldChg chg="addSp modSp modAnim">
        <pc:chgData name="Michael Bucek" userId="0ad021fa34fc794b" providerId="LiveId" clId="{95266061-0DE3-4078-8060-FF2CD449E4F1}" dt="2018-10-02T07:24:39.251" v="487" actId="20577"/>
        <pc:sldMkLst>
          <pc:docMk/>
          <pc:sldMk cId="1114003389" sldId="280"/>
        </pc:sldMkLst>
        <pc:spChg chg="mod">
          <ac:chgData name="Michael Bucek" userId="0ad021fa34fc794b" providerId="LiveId" clId="{95266061-0DE3-4078-8060-FF2CD449E4F1}" dt="2018-10-02T07:24:13.546" v="426" actId="1076"/>
          <ac:spMkLst>
            <pc:docMk/>
            <pc:sldMk cId="1114003389" sldId="280"/>
            <ac:spMk id="2" creationId="{00000000-0000-0000-0000-000000000000}"/>
          </ac:spMkLst>
        </pc:spChg>
        <pc:spChg chg="mod">
          <ac:chgData name="Michael Bucek" userId="0ad021fa34fc794b" providerId="LiveId" clId="{95266061-0DE3-4078-8060-FF2CD449E4F1}" dt="2018-10-02T07:24:39.251" v="487" actId="20577"/>
          <ac:spMkLst>
            <pc:docMk/>
            <pc:sldMk cId="1114003389" sldId="280"/>
            <ac:spMk id="4" creationId="{00000000-0000-0000-0000-000000000000}"/>
          </ac:spMkLst>
        </pc:spChg>
        <pc:spChg chg="mod">
          <ac:chgData name="Michael Bucek" userId="0ad021fa34fc794b" providerId="LiveId" clId="{95266061-0DE3-4078-8060-FF2CD449E4F1}" dt="2018-10-02T07:24:19.507" v="427" actId="1076"/>
          <ac:spMkLst>
            <pc:docMk/>
            <pc:sldMk cId="1114003389" sldId="280"/>
            <ac:spMk id="5" creationId="{00000000-0000-0000-0000-000000000000}"/>
          </ac:spMkLst>
        </pc:spChg>
        <pc:spChg chg="mod">
          <ac:chgData name="Michael Bucek" userId="0ad021fa34fc794b" providerId="LiveId" clId="{95266061-0DE3-4078-8060-FF2CD449E4F1}" dt="2018-10-02T07:24:19.507" v="427" actId="1076"/>
          <ac:spMkLst>
            <pc:docMk/>
            <pc:sldMk cId="1114003389" sldId="280"/>
            <ac:spMk id="6" creationId="{00000000-0000-0000-0000-000000000000}"/>
          </ac:spMkLst>
        </pc:spChg>
        <pc:spChg chg="mod">
          <ac:chgData name="Michael Bucek" userId="0ad021fa34fc794b" providerId="LiveId" clId="{95266061-0DE3-4078-8060-FF2CD449E4F1}" dt="2018-10-02T07:24:19.507" v="427" actId="1076"/>
          <ac:spMkLst>
            <pc:docMk/>
            <pc:sldMk cId="1114003389" sldId="280"/>
            <ac:spMk id="7" creationId="{00000000-0000-0000-0000-000000000000}"/>
          </ac:spMkLst>
        </pc:spChg>
        <pc:spChg chg="mod">
          <ac:chgData name="Michael Bucek" userId="0ad021fa34fc794b" providerId="LiveId" clId="{95266061-0DE3-4078-8060-FF2CD449E4F1}" dt="2018-10-02T07:24:19.507" v="427" actId="1076"/>
          <ac:spMkLst>
            <pc:docMk/>
            <pc:sldMk cId="1114003389" sldId="280"/>
            <ac:spMk id="8" creationId="{00000000-0000-0000-0000-000000000000}"/>
          </ac:spMkLst>
        </pc:spChg>
        <pc:spChg chg="add mod">
          <ac:chgData name="Michael Bucek" userId="0ad021fa34fc794b" providerId="LiveId" clId="{95266061-0DE3-4078-8060-FF2CD449E4F1}" dt="2018-10-02T07:24:19.507" v="427" actId="1076"/>
          <ac:spMkLst>
            <pc:docMk/>
            <pc:sldMk cId="1114003389" sldId="280"/>
            <ac:spMk id="9" creationId="{30BA716A-B1DC-4F6B-82E7-85C25CE1345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24.09.2019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24.09.2019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480" y="4714876"/>
            <a:ext cx="5487041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6EAC6C9-0F3A-40E0-896B-88DE66496CB5}" type="slidenum">
              <a:rPr lang="de-AT" smtClean="0"/>
              <a:pPr>
                <a:defRPr/>
              </a:pPr>
              <a:t>17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76132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80975" y="-674688"/>
            <a:ext cx="9421813" cy="706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hteck 2"/>
          <p:cNvSpPr/>
          <p:nvPr userDrawn="1"/>
        </p:nvSpPr>
        <p:spPr>
          <a:xfrm>
            <a:off x="-180975" y="4437063"/>
            <a:ext cx="9648825" cy="2520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4" name="Rechteck 3"/>
          <p:cNvSpPr/>
          <p:nvPr userDrawn="1"/>
        </p:nvSpPr>
        <p:spPr>
          <a:xfrm>
            <a:off x="4859338" y="0"/>
            <a:ext cx="3816350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59363" y="260350"/>
            <a:ext cx="34004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7"/>
          <p:cNvSpPr txBox="1">
            <a:spLocks noChangeArrowheads="1"/>
          </p:cNvSpPr>
          <p:nvPr userDrawn="1"/>
        </p:nvSpPr>
        <p:spPr>
          <a:xfrm>
            <a:off x="469900" y="1700213"/>
            <a:ext cx="7485063" cy="10810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Hier fügen Sie den </a:t>
            </a:r>
            <a:b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Titel der Präsentation ein.</a:t>
            </a:r>
            <a:endParaRPr lang="de-DE" sz="38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7" name="Rectangle 28"/>
          <p:cNvSpPr txBox="1">
            <a:spLocks noChangeArrowheads="1"/>
          </p:cNvSpPr>
          <p:nvPr userDrawn="1"/>
        </p:nvSpPr>
        <p:spPr>
          <a:xfrm>
            <a:off x="469900" y="3062288"/>
            <a:ext cx="7510463" cy="584200"/>
          </a:xfrm>
          <a:prstGeom prst="rect">
            <a:avLst/>
          </a:prstGeom>
        </p:spPr>
        <p:txBody>
          <a:bodyPr/>
          <a:lstStyle>
            <a:lvl1pPr marL="26987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5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de-DE" sz="2400" noProof="1"/>
              <a:t>Fügen Sie hier den Untertitel ein.</a:t>
            </a:r>
            <a:endParaRPr lang="de-DE" sz="2400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4837113"/>
            <a:ext cx="6553200" cy="154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24.09.2019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24.09.2019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‹#›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spc="0">
                <a:solidFill>
                  <a:srgbClr val="000000"/>
                </a:solidFill>
              </a:defRPr>
            </a:pPr>
            <a:r>
              <a:rPr sz="4500" spc="-90">
                <a:solidFill>
                  <a:srgbClr val="314864"/>
                </a:solidFill>
              </a:rPr>
              <a:t>Title Text</a:t>
            </a:r>
          </a:p>
        </p:txBody>
      </p:sp>
      <p:sp>
        <p:nvSpPr>
          <p:cNvPr id="15" name="Shape 15"/>
          <p:cNvSpPr>
            <a:spLocks noGrp="1"/>
          </p:cNvSpPr>
          <p:nvPr>
            <p:ph type="body" idx="1"/>
          </p:nvPr>
        </p:nvSpPr>
        <p:spPr>
          <a:xfrm>
            <a:off x="250031" y="2098477"/>
            <a:ext cx="8643938" cy="4446984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109"/>
              <a:t>Body Level One</a:t>
            </a:r>
          </a:p>
          <a:p>
            <a:pPr lvl="1">
              <a:defRPr sz="1800"/>
            </a:pPr>
            <a:r>
              <a:rPr sz="2109"/>
              <a:t>Body Level Two</a:t>
            </a:r>
          </a:p>
          <a:p>
            <a:pPr lvl="2">
              <a:defRPr sz="1800"/>
            </a:pPr>
            <a:r>
              <a:rPr sz="2109"/>
              <a:t>Body Level Three</a:t>
            </a:r>
          </a:p>
          <a:p>
            <a:pPr lvl="3">
              <a:defRPr sz="1800"/>
            </a:pPr>
            <a:r>
              <a:rPr sz="2109"/>
              <a:t>Body Level Four</a:t>
            </a:r>
          </a:p>
          <a:p>
            <a:pPr lvl="4">
              <a:defRPr sz="1800"/>
            </a:pPr>
            <a:r>
              <a:rPr sz="2109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145901747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de-AT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9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0000">
                <a:schemeClr val="bg1">
                  <a:lumMod val="65000"/>
                </a:schemeClr>
              </a:gs>
              <a:gs pos="0">
                <a:schemeClr val="tx1">
                  <a:lumMod val="61000"/>
                  <a:lumOff val="39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90117" name="Grafik 6"/>
          <p:cNvPicPr>
            <a:picLocks noChangeAspect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558454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2015/16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D1B3A30B-827A-41C3-9327-D27E88FC99E1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41" r:id="rId8"/>
    <p:sldLayoutId id="2147483742" r:id="rId9"/>
    <p:sldLayoutId id="2147483740" r:id="rId1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702470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2015/16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44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C00000"/>
              </a:gs>
              <a:gs pos="0">
                <a:srgbClr val="A40000">
                  <a:lumMod val="100000"/>
                </a:srgbClr>
              </a:gs>
              <a:gs pos="50000">
                <a:srgbClr val="D60000"/>
              </a:gs>
              <a:gs pos="100000">
                <a:srgbClr val="A80000">
                  <a:lumMod val="9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7414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6DD54E4-5D87-4DDA-86A7-5D3265BB197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43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4582" name="Grafik 6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E0A7362-2F94-4D89-A5F0-263D764F0B24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30726" name="Grafik 6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268413"/>
            <a:ext cx="8229600" cy="478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046146C9-533C-4473-A975-7739642B77B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s://msdn.microsoft.com/de-de/library/x53a06bb(v=vs.120).aspx" TargetMode="Externa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de.wikipedia.org/wiki/Clean_Code" TargetMode="Externa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AT" altLang="de-DE"/>
              <a:t>Unsere ersten Anweisungen</a:t>
            </a:r>
          </a:p>
        </p:txBody>
      </p:sp>
      <p:sp>
        <p:nvSpPr>
          <p:cNvPr id="20483" name="Inhaltsplatzhalt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/>
          <a:lstStyle/>
          <a:p>
            <a:pPr eaLnBrk="1" hangingPunct="1"/>
            <a:r>
              <a:rPr lang="de-AT" altLang="de-DE" sz="2400" dirty="0"/>
              <a:t>Kommunikation mit dem Benutzer über die Konsole</a:t>
            </a:r>
          </a:p>
          <a:p>
            <a:pPr lvl="1" eaLnBrk="1" hangingPunct="1"/>
            <a:r>
              <a:rPr lang="de-AT" altLang="de-DE" sz="2000" dirty="0"/>
              <a:t>User Interface</a:t>
            </a:r>
          </a:p>
          <a:p>
            <a:pPr eaLnBrk="1" hangingPunct="1"/>
            <a:r>
              <a:rPr lang="de-AT" altLang="de-DE" sz="2400" dirty="0"/>
              <a:t>Ausgabe</a:t>
            </a:r>
          </a:p>
          <a:p>
            <a:pPr marL="541337" lvl="1" indent="0" eaLnBrk="1" hangingPunct="1">
              <a:buNone/>
            </a:pP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(“Hello World“);</a:t>
            </a:r>
          </a:p>
          <a:p>
            <a:pPr lvl="2" eaLnBrk="1" hangingPunct="1"/>
            <a:r>
              <a:rPr lang="de-AT" altLang="de-DE" sz="1700" dirty="0"/>
              <a:t>Gibt den Text „Hello World“ auf den Bildschirm aus und positioniert Cursor an den Beginn der nächsten Zeile (Zeilenvorschub) </a:t>
            </a:r>
          </a:p>
          <a:p>
            <a:pPr marL="541337" lvl="1" indent="0" eaLnBrk="1" hangingPunct="1">
              <a:buNone/>
            </a:pP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(“Hello World“); </a:t>
            </a:r>
          </a:p>
          <a:p>
            <a:pPr lvl="2" eaLnBrk="1" hangingPunct="1"/>
            <a:r>
              <a:rPr lang="de-AT" altLang="de-DE" sz="1700" dirty="0"/>
              <a:t>Gibt den Text „Hello World“ auf den Bildschirm aus und positioniert Cursor an das Ende der ausgegebenen Zeile</a:t>
            </a:r>
          </a:p>
          <a:p>
            <a:pPr eaLnBrk="1" hangingPunct="1"/>
            <a:r>
              <a:rPr lang="de-AT" altLang="de-DE" sz="2400" dirty="0"/>
              <a:t>Eingabe von Texten</a:t>
            </a:r>
          </a:p>
          <a:p>
            <a:pPr marL="541337" lvl="1" indent="0" eaLnBrk="1" hangingPunct="1">
              <a:buNone/>
            </a:pP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de-AT" altLang="de-DE" sz="2200" dirty="0"/>
            </a:b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Console.ReadLine</a:t>
            </a:r>
            <a:r>
              <a:rPr lang="de-AT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2" eaLnBrk="1" hangingPunct="1"/>
            <a:r>
              <a:rPr lang="de-AT" altLang="de-DE" sz="1800" dirty="0"/>
              <a:t>Liest eine Zeile (bis zum Drücken der Enter-Taste) ein  und speichert den Text in der Stringvariablen </a:t>
            </a:r>
            <a:r>
              <a:rPr lang="de-AT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endParaRPr lang="de-AT" altLang="de-DE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eaLnBrk="1" hangingPunct="1"/>
            <a:endParaRPr lang="de-AT" altLang="de-DE" sz="1800" dirty="0"/>
          </a:p>
        </p:txBody>
      </p:sp>
      <p:sp>
        <p:nvSpPr>
          <p:cNvPr id="2048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sz="3200">
                <a:solidFill>
                  <a:srgbClr val="00008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rgbClr val="00008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5984EE-1764-48B5-913E-9D322EBF5635}" type="slidenum">
              <a:rPr lang="de-DE" altLang="de-DE" sz="1400" smtClean="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de-DE" altLang="de-DE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283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Variablen</a:t>
            </a:r>
            <a:br>
              <a:rPr lang="de-AT" dirty="0"/>
            </a:br>
            <a:endParaRPr lang="de-DE" dirty="0"/>
          </a:p>
        </p:txBody>
      </p:sp>
      <p:sp>
        <p:nvSpPr>
          <p:cNvPr id="6" name="Rechteck 5"/>
          <p:cNvSpPr/>
          <p:nvPr/>
        </p:nvSpPr>
        <p:spPr>
          <a:xfrm>
            <a:off x="1190937" y="2070140"/>
            <a:ext cx="3600400" cy="42484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Rechteck 6"/>
          <p:cNvSpPr/>
          <p:nvPr/>
        </p:nvSpPr>
        <p:spPr>
          <a:xfrm>
            <a:off x="1262945" y="212682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8" name="Rechteck 7"/>
          <p:cNvSpPr/>
          <p:nvPr/>
        </p:nvSpPr>
        <p:spPr>
          <a:xfrm>
            <a:off x="2127041" y="212682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9" name="Rechteck 8"/>
          <p:cNvSpPr/>
          <p:nvPr/>
        </p:nvSpPr>
        <p:spPr>
          <a:xfrm>
            <a:off x="2991137" y="212682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10" name="Rechteck 9"/>
          <p:cNvSpPr/>
          <p:nvPr/>
        </p:nvSpPr>
        <p:spPr>
          <a:xfrm>
            <a:off x="3855233" y="212682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11" name="Rechteck 10"/>
          <p:cNvSpPr/>
          <p:nvPr/>
        </p:nvSpPr>
        <p:spPr>
          <a:xfrm>
            <a:off x="1262945" y="234284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12" name="Rechteck 11"/>
          <p:cNvSpPr/>
          <p:nvPr/>
        </p:nvSpPr>
        <p:spPr>
          <a:xfrm>
            <a:off x="2127041" y="234284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13" name="Rechteck 12"/>
          <p:cNvSpPr/>
          <p:nvPr/>
        </p:nvSpPr>
        <p:spPr>
          <a:xfrm>
            <a:off x="2991137" y="234284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14" name="Rechteck 13"/>
          <p:cNvSpPr/>
          <p:nvPr/>
        </p:nvSpPr>
        <p:spPr>
          <a:xfrm>
            <a:off x="3855233" y="234284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15" name="Rechteck 14"/>
          <p:cNvSpPr/>
          <p:nvPr/>
        </p:nvSpPr>
        <p:spPr>
          <a:xfrm>
            <a:off x="1262945" y="255887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16" name="Rechteck 15"/>
          <p:cNvSpPr/>
          <p:nvPr/>
        </p:nvSpPr>
        <p:spPr>
          <a:xfrm>
            <a:off x="2127041" y="255887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17" name="Rechteck 16"/>
          <p:cNvSpPr/>
          <p:nvPr/>
        </p:nvSpPr>
        <p:spPr>
          <a:xfrm>
            <a:off x="2991137" y="255887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18" name="Rechteck 17"/>
          <p:cNvSpPr/>
          <p:nvPr/>
        </p:nvSpPr>
        <p:spPr>
          <a:xfrm>
            <a:off x="3855233" y="255887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19" name="Rechteck 18"/>
          <p:cNvSpPr/>
          <p:nvPr/>
        </p:nvSpPr>
        <p:spPr>
          <a:xfrm>
            <a:off x="1262945" y="277489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20" name="Rechteck 19"/>
          <p:cNvSpPr/>
          <p:nvPr/>
        </p:nvSpPr>
        <p:spPr>
          <a:xfrm>
            <a:off x="2127041" y="277489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21" name="Rechteck 20"/>
          <p:cNvSpPr/>
          <p:nvPr/>
        </p:nvSpPr>
        <p:spPr>
          <a:xfrm>
            <a:off x="2991137" y="277489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22" name="Rechteck 21"/>
          <p:cNvSpPr/>
          <p:nvPr/>
        </p:nvSpPr>
        <p:spPr>
          <a:xfrm>
            <a:off x="3855233" y="277489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23" name="Rechteck 22"/>
          <p:cNvSpPr/>
          <p:nvPr/>
        </p:nvSpPr>
        <p:spPr>
          <a:xfrm>
            <a:off x="1262945" y="300624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24" name="Rechteck 23"/>
          <p:cNvSpPr/>
          <p:nvPr/>
        </p:nvSpPr>
        <p:spPr>
          <a:xfrm>
            <a:off x="2127041" y="3006244"/>
            <a:ext cx="866350" cy="2313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25" name="Rechteck 24"/>
          <p:cNvSpPr/>
          <p:nvPr/>
        </p:nvSpPr>
        <p:spPr>
          <a:xfrm>
            <a:off x="2991137" y="300624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26" name="Rechteck 25"/>
          <p:cNvSpPr/>
          <p:nvPr/>
        </p:nvSpPr>
        <p:spPr>
          <a:xfrm>
            <a:off x="3855233" y="300624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27" name="Rechteck 26"/>
          <p:cNvSpPr/>
          <p:nvPr/>
        </p:nvSpPr>
        <p:spPr>
          <a:xfrm>
            <a:off x="1262945" y="322226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28" name="Rechteck 27"/>
          <p:cNvSpPr/>
          <p:nvPr/>
        </p:nvSpPr>
        <p:spPr>
          <a:xfrm>
            <a:off x="2127041" y="322226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29" name="Rechteck 28"/>
          <p:cNvSpPr/>
          <p:nvPr/>
        </p:nvSpPr>
        <p:spPr>
          <a:xfrm>
            <a:off x="2991137" y="322226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30" name="Rechteck 29"/>
          <p:cNvSpPr/>
          <p:nvPr/>
        </p:nvSpPr>
        <p:spPr>
          <a:xfrm>
            <a:off x="3855233" y="322226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31" name="Rechteck 30"/>
          <p:cNvSpPr/>
          <p:nvPr/>
        </p:nvSpPr>
        <p:spPr>
          <a:xfrm>
            <a:off x="1262945" y="343829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32" name="Rechteck 31"/>
          <p:cNvSpPr/>
          <p:nvPr/>
        </p:nvSpPr>
        <p:spPr>
          <a:xfrm>
            <a:off x="2127041" y="343829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33" name="Rechteck 32"/>
          <p:cNvSpPr/>
          <p:nvPr/>
        </p:nvSpPr>
        <p:spPr>
          <a:xfrm>
            <a:off x="2991137" y="343829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34" name="Rechteck 33"/>
          <p:cNvSpPr/>
          <p:nvPr/>
        </p:nvSpPr>
        <p:spPr>
          <a:xfrm>
            <a:off x="3855233" y="343829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35" name="Rechteck 34"/>
          <p:cNvSpPr/>
          <p:nvPr/>
        </p:nvSpPr>
        <p:spPr>
          <a:xfrm>
            <a:off x="1262945" y="365431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36" name="Rechteck 35"/>
          <p:cNvSpPr/>
          <p:nvPr/>
        </p:nvSpPr>
        <p:spPr>
          <a:xfrm>
            <a:off x="2127041" y="365431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37" name="Rechteck 36"/>
          <p:cNvSpPr/>
          <p:nvPr/>
        </p:nvSpPr>
        <p:spPr>
          <a:xfrm>
            <a:off x="2991137" y="365431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38" name="Rechteck 37"/>
          <p:cNvSpPr/>
          <p:nvPr/>
        </p:nvSpPr>
        <p:spPr>
          <a:xfrm>
            <a:off x="3855233" y="365431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39" name="Rechteck 38"/>
          <p:cNvSpPr/>
          <p:nvPr/>
        </p:nvSpPr>
        <p:spPr>
          <a:xfrm>
            <a:off x="1262945" y="387034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40" name="Rechteck 39"/>
          <p:cNvSpPr/>
          <p:nvPr/>
        </p:nvSpPr>
        <p:spPr>
          <a:xfrm>
            <a:off x="2127041" y="387034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41" name="Rechteck 40"/>
          <p:cNvSpPr/>
          <p:nvPr/>
        </p:nvSpPr>
        <p:spPr>
          <a:xfrm>
            <a:off x="2991137" y="387034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42" name="Rechteck 41"/>
          <p:cNvSpPr/>
          <p:nvPr/>
        </p:nvSpPr>
        <p:spPr>
          <a:xfrm>
            <a:off x="3855233" y="387034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43" name="Rechteck 42"/>
          <p:cNvSpPr/>
          <p:nvPr/>
        </p:nvSpPr>
        <p:spPr>
          <a:xfrm>
            <a:off x="1262945" y="410169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44" name="Rechteck 43"/>
          <p:cNvSpPr/>
          <p:nvPr/>
        </p:nvSpPr>
        <p:spPr>
          <a:xfrm>
            <a:off x="2127041" y="410169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45" name="Rechteck 44"/>
          <p:cNvSpPr/>
          <p:nvPr/>
        </p:nvSpPr>
        <p:spPr>
          <a:xfrm>
            <a:off x="2991137" y="410169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46" name="Rechteck 45"/>
          <p:cNvSpPr/>
          <p:nvPr/>
        </p:nvSpPr>
        <p:spPr>
          <a:xfrm>
            <a:off x="3855233" y="410169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47" name="Rechteck 46"/>
          <p:cNvSpPr/>
          <p:nvPr/>
        </p:nvSpPr>
        <p:spPr>
          <a:xfrm>
            <a:off x="1262945" y="431771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48" name="Rechteck 47"/>
          <p:cNvSpPr/>
          <p:nvPr/>
        </p:nvSpPr>
        <p:spPr>
          <a:xfrm>
            <a:off x="2127041" y="431771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49" name="Rechteck 48"/>
          <p:cNvSpPr/>
          <p:nvPr/>
        </p:nvSpPr>
        <p:spPr>
          <a:xfrm>
            <a:off x="2991137" y="431771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50" name="Rechteck 49"/>
          <p:cNvSpPr/>
          <p:nvPr/>
        </p:nvSpPr>
        <p:spPr>
          <a:xfrm>
            <a:off x="3855233" y="431771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51" name="Rechteck 50"/>
          <p:cNvSpPr/>
          <p:nvPr/>
        </p:nvSpPr>
        <p:spPr>
          <a:xfrm>
            <a:off x="1262945" y="453373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52" name="Rechteck 51"/>
          <p:cNvSpPr/>
          <p:nvPr/>
        </p:nvSpPr>
        <p:spPr>
          <a:xfrm>
            <a:off x="2127041" y="453373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53" name="Rechteck 52"/>
          <p:cNvSpPr/>
          <p:nvPr/>
        </p:nvSpPr>
        <p:spPr>
          <a:xfrm>
            <a:off x="2991137" y="453373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54" name="Rechteck 53"/>
          <p:cNvSpPr/>
          <p:nvPr/>
        </p:nvSpPr>
        <p:spPr>
          <a:xfrm>
            <a:off x="3855233" y="453373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55" name="Rechteck 54"/>
          <p:cNvSpPr/>
          <p:nvPr/>
        </p:nvSpPr>
        <p:spPr>
          <a:xfrm>
            <a:off x="1262945" y="474976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56" name="Rechteck 55"/>
          <p:cNvSpPr/>
          <p:nvPr/>
        </p:nvSpPr>
        <p:spPr>
          <a:xfrm>
            <a:off x="2127041" y="474976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57" name="Rechteck 56"/>
          <p:cNvSpPr/>
          <p:nvPr/>
        </p:nvSpPr>
        <p:spPr>
          <a:xfrm>
            <a:off x="2991137" y="474976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58" name="Rechteck 57"/>
          <p:cNvSpPr/>
          <p:nvPr/>
        </p:nvSpPr>
        <p:spPr>
          <a:xfrm>
            <a:off x="3855233" y="474976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59" name="Rechteck 58"/>
          <p:cNvSpPr/>
          <p:nvPr/>
        </p:nvSpPr>
        <p:spPr>
          <a:xfrm>
            <a:off x="1262945" y="495046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60" name="Rechteck 59"/>
          <p:cNvSpPr/>
          <p:nvPr/>
        </p:nvSpPr>
        <p:spPr>
          <a:xfrm>
            <a:off x="2127041" y="495046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61" name="Rechteck 60"/>
          <p:cNvSpPr/>
          <p:nvPr/>
        </p:nvSpPr>
        <p:spPr>
          <a:xfrm>
            <a:off x="2991137" y="495046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62" name="Rechteck 61"/>
          <p:cNvSpPr/>
          <p:nvPr/>
        </p:nvSpPr>
        <p:spPr>
          <a:xfrm>
            <a:off x="3855233" y="495046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63" name="Rechteck 62"/>
          <p:cNvSpPr/>
          <p:nvPr/>
        </p:nvSpPr>
        <p:spPr>
          <a:xfrm>
            <a:off x="1262945" y="516648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64" name="Rechteck 63"/>
          <p:cNvSpPr/>
          <p:nvPr/>
        </p:nvSpPr>
        <p:spPr>
          <a:xfrm>
            <a:off x="2127041" y="516648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65" name="Rechteck 64"/>
          <p:cNvSpPr/>
          <p:nvPr/>
        </p:nvSpPr>
        <p:spPr>
          <a:xfrm>
            <a:off x="2991137" y="516648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66" name="Rechteck 65"/>
          <p:cNvSpPr/>
          <p:nvPr/>
        </p:nvSpPr>
        <p:spPr>
          <a:xfrm>
            <a:off x="3855233" y="5166484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67" name="Rechteck 66"/>
          <p:cNvSpPr/>
          <p:nvPr/>
        </p:nvSpPr>
        <p:spPr>
          <a:xfrm>
            <a:off x="1262945" y="538250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68" name="Rechteck 67"/>
          <p:cNvSpPr/>
          <p:nvPr/>
        </p:nvSpPr>
        <p:spPr>
          <a:xfrm>
            <a:off x="2127041" y="538250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69" name="Rechteck 68"/>
          <p:cNvSpPr/>
          <p:nvPr/>
        </p:nvSpPr>
        <p:spPr>
          <a:xfrm>
            <a:off x="2991137" y="538250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70" name="Rechteck 69"/>
          <p:cNvSpPr/>
          <p:nvPr/>
        </p:nvSpPr>
        <p:spPr>
          <a:xfrm>
            <a:off x="3855233" y="5382508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71" name="Rechteck 70"/>
          <p:cNvSpPr/>
          <p:nvPr/>
        </p:nvSpPr>
        <p:spPr>
          <a:xfrm>
            <a:off x="1262945" y="559853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72" name="Rechteck 71"/>
          <p:cNvSpPr/>
          <p:nvPr/>
        </p:nvSpPr>
        <p:spPr>
          <a:xfrm>
            <a:off x="2127041" y="559853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73" name="Rechteck 72"/>
          <p:cNvSpPr/>
          <p:nvPr/>
        </p:nvSpPr>
        <p:spPr>
          <a:xfrm>
            <a:off x="2991137" y="559853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74" name="Rechteck 73"/>
          <p:cNvSpPr/>
          <p:nvPr/>
        </p:nvSpPr>
        <p:spPr>
          <a:xfrm>
            <a:off x="3855233" y="5598532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75" name="Rechteck 74"/>
          <p:cNvSpPr/>
          <p:nvPr/>
        </p:nvSpPr>
        <p:spPr>
          <a:xfrm>
            <a:off x="1262945" y="581455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76" name="Rechteck 75"/>
          <p:cNvSpPr/>
          <p:nvPr/>
        </p:nvSpPr>
        <p:spPr>
          <a:xfrm>
            <a:off x="2127041" y="581455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77" name="Rechteck 76"/>
          <p:cNvSpPr/>
          <p:nvPr/>
        </p:nvSpPr>
        <p:spPr>
          <a:xfrm>
            <a:off x="2991137" y="581455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78" name="Rechteck 77"/>
          <p:cNvSpPr/>
          <p:nvPr/>
        </p:nvSpPr>
        <p:spPr>
          <a:xfrm>
            <a:off x="3855233" y="5814556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79" name="Rechteck 78"/>
          <p:cNvSpPr/>
          <p:nvPr/>
        </p:nvSpPr>
        <p:spPr>
          <a:xfrm>
            <a:off x="1262945" y="603058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80" name="Rechteck 79"/>
          <p:cNvSpPr/>
          <p:nvPr/>
        </p:nvSpPr>
        <p:spPr>
          <a:xfrm>
            <a:off x="2127041" y="603058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81" name="Rechteck 80"/>
          <p:cNvSpPr/>
          <p:nvPr/>
        </p:nvSpPr>
        <p:spPr>
          <a:xfrm>
            <a:off x="2991137" y="603058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82" name="Rechteck 81"/>
          <p:cNvSpPr/>
          <p:nvPr/>
        </p:nvSpPr>
        <p:spPr>
          <a:xfrm>
            <a:off x="3855233" y="6030580"/>
            <a:ext cx="866350" cy="23135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1200" dirty="0">
                <a:solidFill>
                  <a:schemeClr val="tx1"/>
                </a:solidFill>
              </a:rPr>
              <a:t>00010101</a:t>
            </a:r>
          </a:p>
        </p:txBody>
      </p:sp>
      <p:sp>
        <p:nvSpPr>
          <p:cNvPr id="83" name="Textfeld 82"/>
          <p:cNvSpPr txBox="1"/>
          <p:nvPr/>
        </p:nvSpPr>
        <p:spPr>
          <a:xfrm>
            <a:off x="5596744" y="2093430"/>
            <a:ext cx="2390398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AT" dirty="0" err="1">
                <a:latin typeface="Courier New" pitchFamily="49" charset="0"/>
                <a:cs typeface="Courier New" pitchFamily="49" charset="0"/>
              </a:rPr>
              <a:t>byte</a:t>
            </a:r>
            <a:r>
              <a:rPr lang="de-AT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e-AT" dirty="0" err="1">
                <a:latin typeface="Courier New" pitchFamily="49" charset="0"/>
                <a:cs typeface="Courier New" pitchFamily="49" charset="0"/>
              </a:rPr>
              <a:t>number</a:t>
            </a:r>
            <a:r>
              <a:rPr lang="de-AT" dirty="0">
                <a:latin typeface="Courier New" pitchFamily="49" charset="0"/>
                <a:cs typeface="Courier New" pitchFamily="49" charset="0"/>
              </a:rPr>
              <a:t> = 21</a:t>
            </a:r>
          </a:p>
        </p:txBody>
      </p:sp>
      <p:sp>
        <p:nvSpPr>
          <p:cNvPr id="84" name="Textfeld 83"/>
          <p:cNvSpPr txBox="1"/>
          <p:nvPr/>
        </p:nvSpPr>
        <p:spPr>
          <a:xfrm>
            <a:off x="5989480" y="3174067"/>
            <a:ext cx="1604927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AT" dirty="0"/>
              <a:t>Name: </a:t>
            </a:r>
            <a:r>
              <a:rPr lang="de-AT" dirty="0" err="1"/>
              <a:t>number</a:t>
            </a:r>
            <a:endParaRPr lang="de-AT" dirty="0"/>
          </a:p>
          <a:p>
            <a:r>
              <a:rPr lang="de-AT" dirty="0"/>
              <a:t>Typ: </a:t>
            </a:r>
            <a:r>
              <a:rPr lang="de-AT" dirty="0" err="1"/>
              <a:t>byte</a:t>
            </a:r>
            <a:endParaRPr lang="de-AT" dirty="0"/>
          </a:p>
          <a:p>
            <a:r>
              <a:rPr lang="de-AT" dirty="0"/>
              <a:t>Adresse: 17</a:t>
            </a:r>
          </a:p>
          <a:p>
            <a:r>
              <a:rPr lang="de-AT" dirty="0"/>
              <a:t>Wert: 21</a:t>
            </a:r>
          </a:p>
        </p:txBody>
      </p:sp>
      <p:cxnSp>
        <p:nvCxnSpPr>
          <p:cNvPr id="85" name="Gerade Verbindung mit Pfeil 84"/>
          <p:cNvCxnSpPr>
            <a:stCxn id="25" idx="1"/>
            <a:endCxn id="84" idx="1"/>
          </p:cNvCxnSpPr>
          <p:nvPr/>
        </p:nvCxnSpPr>
        <p:spPr>
          <a:xfrm>
            <a:off x="2991137" y="3121919"/>
            <a:ext cx="2998343" cy="652313"/>
          </a:xfrm>
          <a:prstGeom prst="straightConnector1">
            <a:avLst/>
          </a:prstGeom>
          <a:ln w="25400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Gerade Verbindung mit Pfeil 85"/>
          <p:cNvCxnSpPr>
            <a:stCxn id="83" idx="2"/>
            <a:endCxn id="84" idx="0"/>
          </p:cNvCxnSpPr>
          <p:nvPr/>
        </p:nvCxnSpPr>
        <p:spPr>
          <a:xfrm>
            <a:off x="6791943" y="2462762"/>
            <a:ext cx="1" cy="711305"/>
          </a:xfrm>
          <a:prstGeom prst="straightConnector1">
            <a:avLst/>
          </a:prstGeom>
          <a:ln w="12700" cap="rnd" cmpd="dbl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feld 86"/>
          <p:cNvSpPr txBox="1"/>
          <p:nvPr/>
        </p:nvSpPr>
        <p:spPr>
          <a:xfrm>
            <a:off x="1187624" y="1700808"/>
            <a:ext cx="3600400" cy="369332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Hauptspeicher</a:t>
            </a:r>
          </a:p>
        </p:txBody>
      </p:sp>
      <p:sp>
        <p:nvSpPr>
          <p:cNvPr id="88" name="Textfeld 87"/>
          <p:cNvSpPr txBox="1"/>
          <p:nvPr/>
        </p:nvSpPr>
        <p:spPr>
          <a:xfrm>
            <a:off x="256845" y="998500"/>
            <a:ext cx="8429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Daten, die im Programm mehrmals benötigt werden, können als Variablen gespeichert werden.</a:t>
            </a:r>
          </a:p>
        </p:txBody>
      </p:sp>
    </p:spTree>
    <p:extLst>
      <p:ext uri="{BB962C8B-B14F-4D97-AF65-F5344CB8AC3E}">
        <p14:creationId xmlns:p14="http://schemas.microsoft.com/office/powerpoint/2010/main" val="1916199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Programmentwicklung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1187624" y="1289100"/>
            <a:ext cx="5940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Die Erstellung eines Programmes ist ein mehrstufiger Prozess.</a:t>
            </a:r>
          </a:p>
        </p:txBody>
      </p:sp>
      <p:sp>
        <p:nvSpPr>
          <p:cNvPr id="5" name="Abgerundetes Rechteck 4"/>
          <p:cNvSpPr/>
          <p:nvPr/>
        </p:nvSpPr>
        <p:spPr>
          <a:xfrm>
            <a:off x="1335921" y="2634011"/>
            <a:ext cx="3951878" cy="43204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rgbClr val="FF0000"/>
                </a:solidFill>
              </a:rPr>
              <a:t>Konzept</a:t>
            </a:r>
            <a:r>
              <a:rPr lang="de-AT" dirty="0">
                <a:solidFill>
                  <a:schemeClr val="tx1"/>
                </a:solidFill>
              </a:rPr>
              <a:t> - Ablaufdiagramm</a:t>
            </a:r>
          </a:p>
        </p:txBody>
      </p:sp>
      <p:sp>
        <p:nvSpPr>
          <p:cNvPr id="6" name="Abgerundetes Rechteck 5"/>
          <p:cNvSpPr/>
          <p:nvPr/>
        </p:nvSpPr>
        <p:spPr>
          <a:xfrm>
            <a:off x="1340202" y="4009105"/>
            <a:ext cx="3951878" cy="42510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rgbClr val="FF0000"/>
                </a:solidFill>
              </a:rPr>
              <a:t>Quellcode</a:t>
            </a:r>
            <a:r>
              <a:rPr lang="de-AT" dirty="0">
                <a:solidFill>
                  <a:schemeClr val="tx1"/>
                </a:solidFill>
              </a:rPr>
              <a:t> - Textdatei</a:t>
            </a:r>
          </a:p>
        </p:txBody>
      </p:sp>
      <p:sp>
        <p:nvSpPr>
          <p:cNvPr id="7" name="Abgerundetes Rechteck 6"/>
          <p:cNvSpPr/>
          <p:nvPr/>
        </p:nvSpPr>
        <p:spPr>
          <a:xfrm>
            <a:off x="1340202" y="5357552"/>
            <a:ext cx="3951878" cy="39604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rgbClr val="FF0000"/>
                </a:solidFill>
              </a:rPr>
              <a:t>Binärcode</a:t>
            </a:r>
            <a:r>
              <a:rPr lang="de-AT" dirty="0">
                <a:solidFill>
                  <a:schemeClr val="tx1"/>
                </a:solidFill>
              </a:rPr>
              <a:t> – lauffähiges Programm</a:t>
            </a:r>
          </a:p>
        </p:txBody>
      </p:sp>
      <p:cxnSp>
        <p:nvCxnSpPr>
          <p:cNvPr id="8" name="Gerade Verbindung mit Pfeil 7"/>
          <p:cNvCxnSpPr>
            <a:stCxn id="5" idx="2"/>
            <a:endCxn id="6" idx="0"/>
          </p:cNvCxnSpPr>
          <p:nvPr/>
        </p:nvCxnSpPr>
        <p:spPr>
          <a:xfrm>
            <a:off x="3311860" y="3066059"/>
            <a:ext cx="4281" cy="943046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/>
          <p:cNvCxnSpPr>
            <a:stCxn id="6" idx="2"/>
            <a:endCxn id="7" idx="0"/>
          </p:cNvCxnSpPr>
          <p:nvPr/>
        </p:nvCxnSpPr>
        <p:spPr>
          <a:xfrm>
            <a:off x="3316141" y="4434211"/>
            <a:ext cx="0" cy="923341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/>
          <p:cNvCxnSpPr>
            <a:endCxn id="5" idx="0"/>
          </p:cNvCxnSpPr>
          <p:nvPr/>
        </p:nvCxnSpPr>
        <p:spPr>
          <a:xfrm flipH="1">
            <a:off x="3311860" y="1721148"/>
            <a:ext cx="4281" cy="912863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lipse 10"/>
          <p:cNvSpPr/>
          <p:nvPr/>
        </p:nvSpPr>
        <p:spPr>
          <a:xfrm>
            <a:off x="2160283" y="1865164"/>
            <a:ext cx="2339709" cy="48774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planen</a:t>
            </a:r>
          </a:p>
        </p:txBody>
      </p:sp>
      <p:sp>
        <p:nvSpPr>
          <p:cNvPr id="12" name="Ellipse 11"/>
          <p:cNvSpPr/>
          <p:nvPr/>
        </p:nvSpPr>
        <p:spPr>
          <a:xfrm>
            <a:off x="2160283" y="3233316"/>
            <a:ext cx="2339709" cy="48774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codieren</a:t>
            </a:r>
          </a:p>
        </p:txBody>
      </p:sp>
      <p:sp>
        <p:nvSpPr>
          <p:cNvPr id="13" name="Ellipse 12"/>
          <p:cNvSpPr/>
          <p:nvPr/>
        </p:nvSpPr>
        <p:spPr>
          <a:xfrm>
            <a:off x="2160283" y="4617782"/>
            <a:ext cx="2339709" cy="48774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 err="1">
                <a:solidFill>
                  <a:schemeClr val="tx1"/>
                </a:solidFill>
              </a:rPr>
              <a:t>compilieren</a:t>
            </a:r>
            <a:endParaRPr lang="de-AT" dirty="0">
              <a:solidFill>
                <a:schemeClr val="tx1"/>
              </a:solidFill>
            </a:endParaRPr>
          </a:p>
        </p:txBody>
      </p:sp>
      <p:cxnSp>
        <p:nvCxnSpPr>
          <p:cNvPr id="14" name="Gewinkelte Verbindung 13"/>
          <p:cNvCxnSpPr>
            <a:stCxn id="7" idx="3"/>
            <a:endCxn id="12" idx="6"/>
          </p:cNvCxnSpPr>
          <p:nvPr/>
        </p:nvCxnSpPr>
        <p:spPr>
          <a:xfrm flipH="1" flipV="1">
            <a:off x="4499992" y="3477187"/>
            <a:ext cx="792088" cy="2078387"/>
          </a:xfrm>
          <a:prstGeom prst="bentConnector3">
            <a:avLst>
              <a:gd name="adj1" fmla="val -81084"/>
            </a:avLst>
          </a:prstGeom>
          <a:ln w="31750" cmpd="dbl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winkelte Verbindung 14"/>
          <p:cNvCxnSpPr>
            <a:stCxn id="7" idx="3"/>
            <a:endCxn id="11" idx="6"/>
          </p:cNvCxnSpPr>
          <p:nvPr/>
        </p:nvCxnSpPr>
        <p:spPr>
          <a:xfrm flipH="1" flipV="1">
            <a:off x="4499992" y="2109035"/>
            <a:ext cx="792088" cy="3446539"/>
          </a:xfrm>
          <a:prstGeom prst="bentConnector3">
            <a:avLst>
              <a:gd name="adj1" fmla="val -81084"/>
            </a:avLst>
          </a:prstGeom>
          <a:ln w="31750" cmpd="dbl"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356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Programmplanung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827584" y="1412776"/>
            <a:ext cx="59455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Die Logik eines Programmes (Algorithmus) wird in Form eines</a:t>
            </a:r>
          </a:p>
          <a:p>
            <a:r>
              <a:rPr lang="de-AT" dirty="0"/>
              <a:t>Ablaufdiagramms dargestellt.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2290197"/>
            <a:ext cx="123825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feld 5"/>
          <p:cNvSpPr txBox="1"/>
          <p:nvPr/>
        </p:nvSpPr>
        <p:spPr>
          <a:xfrm>
            <a:off x="1043607" y="2462719"/>
            <a:ext cx="1468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Kontrollpunkt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1044530" y="3084737"/>
            <a:ext cx="1271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Verbindung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1043607" y="3652279"/>
            <a:ext cx="1131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Operation</a:t>
            </a:r>
          </a:p>
        </p:txBody>
      </p:sp>
      <p:sp>
        <p:nvSpPr>
          <p:cNvPr id="9" name="Textfeld 8"/>
          <p:cNvSpPr txBox="1"/>
          <p:nvPr/>
        </p:nvSpPr>
        <p:spPr>
          <a:xfrm>
            <a:off x="1044530" y="4250946"/>
            <a:ext cx="1810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Ein- und Ausgabe</a:t>
            </a:r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3004572"/>
            <a:ext cx="1124183" cy="529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3434044"/>
            <a:ext cx="124777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131" y="4077072"/>
            <a:ext cx="130492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4057" y="4671987"/>
            <a:ext cx="154305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feld 13"/>
          <p:cNvSpPr txBox="1"/>
          <p:nvPr/>
        </p:nvSpPr>
        <p:spPr>
          <a:xfrm>
            <a:off x="1044530" y="4859868"/>
            <a:ext cx="1382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Verzweigung</a:t>
            </a:r>
          </a:p>
        </p:txBody>
      </p:sp>
      <p:pic>
        <p:nvPicPr>
          <p:cNvPr id="15" name="Grafik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0033" y="1739576"/>
            <a:ext cx="3452447" cy="438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44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Codierung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683568" y="1412776"/>
            <a:ext cx="760977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Beim Vorgang des Codierens wird ein Algorithmus mit Hilfe einer</a:t>
            </a:r>
          </a:p>
          <a:p>
            <a:r>
              <a:rPr lang="de-AT" dirty="0"/>
              <a:t>Programmiersprache beschrieben. Wir verwenden dazu die Sprache C#.</a:t>
            </a:r>
          </a:p>
          <a:p>
            <a:endParaRPr lang="de-AT" dirty="0"/>
          </a:p>
          <a:p>
            <a:pPr marL="285750" indent="-285750">
              <a:buFont typeface="Arial" pitchFamily="34" charset="0"/>
              <a:buChar char="•"/>
            </a:pPr>
            <a:r>
              <a:rPr lang="de-AT" dirty="0"/>
              <a:t>Ein Algorithmus muss in einer Methode codiert werden.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de-AT" dirty="0"/>
              <a:t>Eine Methode muss innerhalb einer Klasse angelegt werden.</a:t>
            </a:r>
          </a:p>
        </p:txBody>
      </p:sp>
      <p:sp>
        <p:nvSpPr>
          <p:cNvPr id="5" name="Abgerundetes Rechteck 4"/>
          <p:cNvSpPr/>
          <p:nvPr/>
        </p:nvSpPr>
        <p:spPr>
          <a:xfrm>
            <a:off x="996801" y="3214933"/>
            <a:ext cx="2449531" cy="244827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Klasse </a:t>
            </a:r>
            <a:r>
              <a:rPr lang="de-AT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Program</a:t>
            </a:r>
            <a:endParaRPr lang="de-AT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 algn="ctr"/>
            <a:endParaRPr lang="de-AT" dirty="0">
              <a:solidFill>
                <a:schemeClr val="tx1"/>
              </a:solidFill>
            </a:endParaRPr>
          </a:p>
          <a:p>
            <a:pPr algn="ctr"/>
            <a:endParaRPr lang="de-AT" dirty="0">
              <a:solidFill>
                <a:schemeClr val="tx1"/>
              </a:solidFill>
            </a:endParaRPr>
          </a:p>
          <a:p>
            <a:pPr algn="ctr"/>
            <a:endParaRPr lang="de-AT" dirty="0">
              <a:solidFill>
                <a:schemeClr val="tx1"/>
              </a:solidFill>
            </a:endParaRPr>
          </a:p>
          <a:p>
            <a:pPr algn="ctr"/>
            <a:endParaRPr lang="de-AT" dirty="0">
              <a:solidFill>
                <a:schemeClr val="tx1"/>
              </a:solidFill>
            </a:endParaRPr>
          </a:p>
          <a:p>
            <a:pPr algn="ctr"/>
            <a:endParaRPr lang="de-AT" dirty="0">
              <a:solidFill>
                <a:schemeClr val="tx1"/>
              </a:solidFill>
            </a:endParaRPr>
          </a:p>
          <a:p>
            <a:pPr algn="ctr"/>
            <a:endParaRPr lang="de-AT" dirty="0">
              <a:solidFill>
                <a:schemeClr val="tx1"/>
              </a:solidFill>
            </a:endParaRPr>
          </a:p>
          <a:p>
            <a:pPr algn="ctr"/>
            <a:endParaRPr lang="de-AT" dirty="0">
              <a:solidFill>
                <a:schemeClr val="tx1"/>
              </a:solidFill>
            </a:endParaRPr>
          </a:p>
        </p:txBody>
      </p:sp>
      <p:sp>
        <p:nvSpPr>
          <p:cNvPr id="6" name="Abgerundetes Rechteck 5"/>
          <p:cNvSpPr/>
          <p:nvPr/>
        </p:nvSpPr>
        <p:spPr>
          <a:xfrm>
            <a:off x="1243945" y="5011832"/>
            <a:ext cx="1914355" cy="4320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Methode  </a:t>
            </a:r>
            <a:r>
              <a:rPr lang="de-AT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m2</a:t>
            </a:r>
          </a:p>
        </p:txBody>
      </p:sp>
      <p:sp>
        <p:nvSpPr>
          <p:cNvPr id="7" name="Abgerundetes Rechteck 6"/>
          <p:cNvSpPr/>
          <p:nvPr/>
        </p:nvSpPr>
        <p:spPr>
          <a:xfrm>
            <a:off x="1244374" y="4439069"/>
            <a:ext cx="1913926" cy="43204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Methode  </a:t>
            </a:r>
            <a:r>
              <a:rPr lang="de-AT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m1</a:t>
            </a:r>
          </a:p>
        </p:txBody>
      </p:sp>
      <p:sp>
        <p:nvSpPr>
          <p:cNvPr id="8" name="Abgerundetes Rechteck 7"/>
          <p:cNvSpPr/>
          <p:nvPr/>
        </p:nvSpPr>
        <p:spPr>
          <a:xfrm>
            <a:off x="1257198" y="3816724"/>
            <a:ext cx="1901102" cy="43204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1"/>
                </a:solidFill>
              </a:rPr>
              <a:t>Methode  </a:t>
            </a:r>
            <a:r>
              <a:rPr lang="de-AT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Main</a:t>
            </a:r>
          </a:p>
        </p:txBody>
      </p:sp>
      <p:cxnSp>
        <p:nvCxnSpPr>
          <p:cNvPr id="9" name="Gerade Verbindung mit Pfeil 8"/>
          <p:cNvCxnSpPr>
            <a:stCxn id="8" idx="3"/>
            <a:endCxn id="10" idx="1"/>
          </p:cNvCxnSpPr>
          <p:nvPr/>
        </p:nvCxnSpPr>
        <p:spPr>
          <a:xfrm>
            <a:off x="3158300" y="4032748"/>
            <a:ext cx="1296144" cy="14923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/>
          <p:cNvSpPr txBox="1"/>
          <p:nvPr/>
        </p:nvSpPr>
        <p:spPr>
          <a:xfrm>
            <a:off x="4454444" y="3863005"/>
            <a:ext cx="2882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wird automatisch ausgeführt</a:t>
            </a:r>
          </a:p>
        </p:txBody>
      </p:sp>
    </p:spTree>
    <p:extLst>
      <p:ext uri="{BB962C8B-B14F-4D97-AF65-F5344CB8AC3E}">
        <p14:creationId xmlns:p14="http://schemas.microsoft.com/office/powerpoint/2010/main" val="3769933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Datentyp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936103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Für den Prozessor sind Daten eine Folge von zwei verschiedenen Zuständen. </a:t>
            </a:r>
            <a:endParaRPr lang="de-AT" dirty="0"/>
          </a:p>
        </p:txBody>
      </p:sp>
      <p:sp>
        <p:nvSpPr>
          <p:cNvPr id="4" name="Rechteck 3"/>
          <p:cNvSpPr/>
          <p:nvPr/>
        </p:nvSpPr>
        <p:spPr>
          <a:xfrm>
            <a:off x="587729" y="2347139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5" name="Rechteck 4"/>
          <p:cNvSpPr/>
          <p:nvPr/>
        </p:nvSpPr>
        <p:spPr>
          <a:xfrm>
            <a:off x="587729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6" name="Rechteck 5"/>
          <p:cNvSpPr/>
          <p:nvPr/>
        </p:nvSpPr>
        <p:spPr>
          <a:xfrm>
            <a:off x="790568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7" name="Rechteck 6"/>
          <p:cNvSpPr/>
          <p:nvPr/>
        </p:nvSpPr>
        <p:spPr>
          <a:xfrm>
            <a:off x="1006592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" name="Rechteck 7"/>
          <p:cNvSpPr/>
          <p:nvPr/>
        </p:nvSpPr>
        <p:spPr>
          <a:xfrm>
            <a:off x="1222292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9" name="Rechteck 8"/>
          <p:cNvSpPr/>
          <p:nvPr/>
        </p:nvSpPr>
        <p:spPr>
          <a:xfrm>
            <a:off x="1444367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0" name="Rechteck 9"/>
          <p:cNvSpPr/>
          <p:nvPr/>
        </p:nvSpPr>
        <p:spPr>
          <a:xfrm>
            <a:off x="1654529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1" name="Rechteck 10"/>
          <p:cNvSpPr/>
          <p:nvPr/>
        </p:nvSpPr>
        <p:spPr>
          <a:xfrm>
            <a:off x="1870553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2" name="Rechteck 11"/>
          <p:cNvSpPr/>
          <p:nvPr/>
        </p:nvSpPr>
        <p:spPr>
          <a:xfrm>
            <a:off x="2078114" y="3139227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3" name="Rechteck 12"/>
          <p:cNvSpPr/>
          <p:nvPr/>
        </p:nvSpPr>
        <p:spPr>
          <a:xfrm>
            <a:off x="609512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4" name="Rechteck 13"/>
          <p:cNvSpPr/>
          <p:nvPr/>
        </p:nvSpPr>
        <p:spPr>
          <a:xfrm>
            <a:off x="812351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5" name="Rechteck 14"/>
          <p:cNvSpPr/>
          <p:nvPr/>
        </p:nvSpPr>
        <p:spPr>
          <a:xfrm>
            <a:off x="1028375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6" name="Rechteck 15"/>
          <p:cNvSpPr/>
          <p:nvPr/>
        </p:nvSpPr>
        <p:spPr>
          <a:xfrm>
            <a:off x="1244075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7" name="Rechteck 16"/>
          <p:cNvSpPr/>
          <p:nvPr/>
        </p:nvSpPr>
        <p:spPr>
          <a:xfrm>
            <a:off x="1466150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18" name="Rechteck 17"/>
          <p:cNvSpPr/>
          <p:nvPr/>
        </p:nvSpPr>
        <p:spPr>
          <a:xfrm>
            <a:off x="1676312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19" name="Rechteck 18"/>
          <p:cNvSpPr/>
          <p:nvPr/>
        </p:nvSpPr>
        <p:spPr>
          <a:xfrm>
            <a:off x="1892336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0" name="Rechteck 19"/>
          <p:cNvSpPr/>
          <p:nvPr/>
        </p:nvSpPr>
        <p:spPr>
          <a:xfrm>
            <a:off x="2099897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1" name="Rechteck 20"/>
          <p:cNvSpPr/>
          <p:nvPr/>
        </p:nvSpPr>
        <p:spPr>
          <a:xfrm>
            <a:off x="2319245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2" name="Rechteck 21"/>
          <p:cNvSpPr/>
          <p:nvPr/>
        </p:nvSpPr>
        <p:spPr>
          <a:xfrm>
            <a:off x="2522084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3" name="Rechteck 22"/>
          <p:cNvSpPr/>
          <p:nvPr/>
        </p:nvSpPr>
        <p:spPr>
          <a:xfrm>
            <a:off x="2738108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4" name="Rechteck 23"/>
          <p:cNvSpPr/>
          <p:nvPr/>
        </p:nvSpPr>
        <p:spPr>
          <a:xfrm>
            <a:off x="2953808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5" name="Rechteck 24"/>
          <p:cNvSpPr/>
          <p:nvPr/>
        </p:nvSpPr>
        <p:spPr>
          <a:xfrm>
            <a:off x="3175883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6" name="Rechteck 25"/>
          <p:cNvSpPr/>
          <p:nvPr/>
        </p:nvSpPr>
        <p:spPr>
          <a:xfrm>
            <a:off x="3386045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27" name="Rechteck 26"/>
          <p:cNvSpPr/>
          <p:nvPr/>
        </p:nvSpPr>
        <p:spPr>
          <a:xfrm>
            <a:off x="3602069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8" name="Rechteck 27"/>
          <p:cNvSpPr/>
          <p:nvPr/>
        </p:nvSpPr>
        <p:spPr>
          <a:xfrm>
            <a:off x="3809630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29" name="Rechteck 28"/>
          <p:cNvSpPr/>
          <p:nvPr/>
        </p:nvSpPr>
        <p:spPr>
          <a:xfrm>
            <a:off x="4025654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30" name="Rechteck 29"/>
          <p:cNvSpPr/>
          <p:nvPr/>
        </p:nvSpPr>
        <p:spPr>
          <a:xfrm>
            <a:off x="4228493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31" name="Rechteck 30"/>
          <p:cNvSpPr/>
          <p:nvPr/>
        </p:nvSpPr>
        <p:spPr>
          <a:xfrm>
            <a:off x="4444517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32" name="Rechteck 31"/>
          <p:cNvSpPr/>
          <p:nvPr/>
        </p:nvSpPr>
        <p:spPr>
          <a:xfrm>
            <a:off x="4660217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33" name="Rechteck 32"/>
          <p:cNvSpPr/>
          <p:nvPr/>
        </p:nvSpPr>
        <p:spPr>
          <a:xfrm>
            <a:off x="4882292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34" name="Rechteck 33"/>
          <p:cNvSpPr/>
          <p:nvPr/>
        </p:nvSpPr>
        <p:spPr>
          <a:xfrm>
            <a:off x="5092454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35" name="Rechteck 34"/>
          <p:cNvSpPr/>
          <p:nvPr/>
        </p:nvSpPr>
        <p:spPr>
          <a:xfrm>
            <a:off x="5308478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36" name="Rechteck 35"/>
          <p:cNvSpPr/>
          <p:nvPr/>
        </p:nvSpPr>
        <p:spPr>
          <a:xfrm>
            <a:off x="5516039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37" name="Rechteck 36"/>
          <p:cNvSpPr/>
          <p:nvPr/>
        </p:nvSpPr>
        <p:spPr>
          <a:xfrm>
            <a:off x="5722080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38" name="Rechteck 37"/>
          <p:cNvSpPr/>
          <p:nvPr/>
        </p:nvSpPr>
        <p:spPr>
          <a:xfrm>
            <a:off x="5924919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39" name="Rechteck 38"/>
          <p:cNvSpPr/>
          <p:nvPr/>
        </p:nvSpPr>
        <p:spPr>
          <a:xfrm>
            <a:off x="6140943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0" name="Rechteck 39"/>
          <p:cNvSpPr/>
          <p:nvPr/>
        </p:nvSpPr>
        <p:spPr>
          <a:xfrm>
            <a:off x="6356643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41" name="Rechteck 40"/>
          <p:cNvSpPr/>
          <p:nvPr/>
        </p:nvSpPr>
        <p:spPr>
          <a:xfrm>
            <a:off x="6578718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42" name="Rechteck 41"/>
          <p:cNvSpPr/>
          <p:nvPr/>
        </p:nvSpPr>
        <p:spPr>
          <a:xfrm>
            <a:off x="6788880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43" name="Rechteck 42"/>
          <p:cNvSpPr/>
          <p:nvPr/>
        </p:nvSpPr>
        <p:spPr>
          <a:xfrm>
            <a:off x="7004904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44" name="Rechteck 43"/>
          <p:cNvSpPr/>
          <p:nvPr/>
        </p:nvSpPr>
        <p:spPr>
          <a:xfrm>
            <a:off x="7212465" y="4795411"/>
            <a:ext cx="216024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dirty="0">
                <a:solidFill>
                  <a:schemeClr val="tx2">
                    <a:lumMod val="75000"/>
                  </a:schemeClr>
                </a:solidFill>
              </a:rPr>
              <a:t>0</a:t>
            </a:r>
          </a:p>
        </p:txBody>
      </p:sp>
      <p:sp>
        <p:nvSpPr>
          <p:cNvPr id="45" name="Textfeld 44"/>
          <p:cNvSpPr txBox="1"/>
          <p:nvPr/>
        </p:nvSpPr>
        <p:spPr>
          <a:xfrm>
            <a:off x="2698832" y="2378497"/>
            <a:ext cx="2857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Bit (Binary Digit), 2 Zustände</a:t>
            </a:r>
          </a:p>
        </p:txBody>
      </p:sp>
      <p:sp>
        <p:nvSpPr>
          <p:cNvPr id="46" name="Textfeld 45"/>
          <p:cNvSpPr txBox="1"/>
          <p:nvPr/>
        </p:nvSpPr>
        <p:spPr>
          <a:xfrm>
            <a:off x="2747969" y="3170585"/>
            <a:ext cx="2485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Byte, 2</a:t>
            </a:r>
            <a:r>
              <a:rPr lang="de-AT" baseline="30000" dirty="0"/>
              <a:t>8</a:t>
            </a:r>
            <a:r>
              <a:rPr lang="de-AT" dirty="0"/>
              <a:t>  = 256 Zustände</a:t>
            </a:r>
          </a:p>
        </p:txBody>
      </p:sp>
      <p:sp>
        <p:nvSpPr>
          <p:cNvPr id="47" name="Textfeld 46"/>
          <p:cNvSpPr txBox="1"/>
          <p:nvPr/>
        </p:nvSpPr>
        <p:spPr>
          <a:xfrm>
            <a:off x="587729" y="5434191"/>
            <a:ext cx="4997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z. Bsp.  </a:t>
            </a:r>
            <a:r>
              <a:rPr lang="de-AT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e-AT" dirty="0"/>
              <a:t> (4 Byte), 2</a:t>
            </a:r>
            <a:r>
              <a:rPr lang="de-AT" baseline="30000" dirty="0"/>
              <a:t>32</a:t>
            </a:r>
            <a:r>
              <a:rPr lang="de-AT" dirty="0"/>
              <a:t>  = 4.294.967.296 Zustände</a:t>
            </a:r>
          </a:p>
        </p:txBody>
      </p:sp>
      <p:sp>
        <p:nvSpPr>
          <p:cNvPr id="48" name="Textfeld 47"/>
          <p:cNvSpPr txBox="1"/>
          <p:nvPr/>
        </p:nvSpPr>
        <p:spPr>
          <a:xfrm>
            <a:off x="467544" y="3861048"/>
            <a:ext cx="81612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In einer Programmiersprache werden ein oder mehrere Bytes zu sogenannten</a:t>
            </a:r>
          </a:p>
          <a:p>
            <a:r>
              <a:rPr lang="de-AT" dirty="0"/>
              <a:t>Datentypen zusammengefasst.</a:t>
            </a:r>
          </a:p>
        </p:txBody>
      </p:sp>
    </p:spTree>
    <p:extLst>
      <p:ext uri="{BB962C8B-B14F-4D97-AF65-F5344CB8AC3E}">
        <p14:creationId xmlns:p14="http://schemas.microsoft.com/office/powerpoint/2010/main" val="1465335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sz="3200">
                <a:solidFill>
                  <a:srgbClr val="00008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rgbClr val="00008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23F941-FAC9-418E-8F3D-B355B613E7BE}" type="slidenum">
              <a:rPr lang="de-DE" altLang="de-DE" sz="1400" smtClean="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de-DE" altLang="de-DE" sz="1400">
              <a:solidFill>
                <a:schemeClr val="bg1"/>
              </a:solidFill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Variablen: Name, Datentyp, Daten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6538" y="1268413"/>
            <a:ext cx="8583612" cy="48355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de-DE" altLang="de-DE" sz="2000" dirty="0"/>
              <a:t>Variablen sind </a:t>
            </a:r>
            <a:r>
              <a:rPr lang="de-DE" altLang="de-DE" sz="2000" b="1" dirty="0"/>
              <a:t>benannte Platzhalter </a:t>
            </a:r>
            <a:r>
              <a:rPr lang="de-DE" altLang="de-DE" sz="2000" dirty="0"/>
              <a:t>bestimmter Größe für Bereiche im Arbeitsspeicher, in denen Daten gespeichert sind:</a:t>
            </a:r>
            <a:br>
              <a:rPr lang="de-DE" altLang="de-DE" sz="2000" dirty="0"/>
            </a:br>
            <a:endParaRPr lang="de-DE" altLang="de-DE" sz="2000" dirty="0"/>
          </a:p>
          <a:p>
            <a:pPr lvl="1" eaLnBrk="1" hangingPunct="1">
              <a:lnSpc>
                <a:spcPct val="80000"/>
              </a:lnSpc>
            </a:pPr>
            <a:r>
              <a:rPr lang="de-DE" altLang="de-DE" sz="1800" dirty="0"/>
              <a:t>Welchen </a:t>
            </a:r>
            <a:r>
              <a:rPr lang="de-DE" altLang="de-DE" sz="1800" b="1" dirty="0"/>
              <a:t>Namen</a:t>
            </a:r>
            <a:r>
              <a:rPr lang="de-DE" altLang="de-DE" sz="1800" dirty="0"/>
              <a:t> hat die Variable? (</a:t>
            </a:r>
            <a:r>
              <a:rPr lang="de-DE" altLang="de-DE" sz="1800" b="1" dirty="0"/>
              <a:t>Deklaration</a:t>
            </a:r>
            <a:r>
              <a:rPr lang="de-DE" altLang="de-DE" sz="1800" dirty="0"/>
              <a:t> </a:t>
            </a:r>
            <a:r>
              <a:rPr lang="de-DE" altLang="de-DE" sz="1800" dirty="0">
                <a:sym typeface="Wingdings" panose="05000000000000000000" pitchFamily="2" charset="2"/>
              </a:rPr>
              <a:t> </a:t>
            </a:r>
            <a:r>
              <a:rPr lang="de-DE" altLang="de-DE" sz="1800" dirty="0"/>
              <a:t>Bezeichner)</a:t>
            </a:r>
          </a:p>
          <a:p>
            <a:pPr lvl="1" eaLnBrk="1" hangingPunct="1">
              <a:lnSpc>
                <a:spcPct val="80000"/>
              </a:lnSpc>
            </a:pPr>
            <a:r>
              <a:rPr lang="de-DE" altLang="de-DE" sz="1800" dirty="0"/>
              <a:t>Welchen </a:t>
            </a:r>
            <a:r>
              <a:rPr lang="de-DE" altLang="de-DE" sz="1800" b="1" dirty="0"/>
              <a:t>Datentyp</a:t>
            </a:r>
            <a:r>
              <a:rPr lang="de-DE" altLang="de-DE" sz="1800" dirty="0"/>
              <a:t> hat die Variable? (</a:t>
            </a:r>
            <a:r>
              <a:rPr lang="de-DE" altLang="de-DE" sz="1800" b="1" dirty="0"/>
              <a:t>Definition</a:t>
            </a:r>
            <a:r>
              <a:rPr lang="de-DE" altLang="de-DE" sz="1800" dirty="0"/>
              <a:t> </a:t>
            </a:r>
            <a:r>
              <a:rPr lang="de-DE" altLang="de-DE" sz="1800" dirty="0">
                <a:sym typeface="Wingdings" panose="05000000000000000000" pitchFamily="2" charset="2"/>
              </a:rPr>
              <a:t></a:t>
            </a:r>
            <a:r>
              <a:rPr lang="de-DE" altLang="de-DE" sz="1800" dirty="0"/>
              <a:t> Größe im Speicher)</a:t>
            </a:r>
          </a:p>
          <a:p>
            <a:pPr lvl="1" eaLnBrk="1" hangingPunct="1">
              <a:lnSpc>
                <a:spcPct val="80000"/>
              </a:lnSpc>
            </a:pPr>
            <a:r>
              <a:rPr lang="de-DE" altLang="de-DE" sz="1800" dirty="0"/>
              <a:t>Erstmalige Zuweisung eines </a:t>
            </a:r>
            <a:r>
              <a:rPr lang="de-DE" altLang="de-DE" sz="1800" b="1" dirty="0"/>
              <a:t>Wertes</a:t>
            </a:r>
            <a:r>
              <a:rPr lang="de-DE" altLang="de-DE" sz="1800" dirty="0"/>
              <a:t>? (</a:t>
            </a:r>
            <a:r>
              <a:rPr lang="de-DE" altLang="de-DE" sz="1800" b="1" dirty="0"/>
              <a:t>Initialisierung</a:t>
            </a:r>
            <a:r>
              <a:rPr lang="de-DE" altLang="de-DE" sz="1800" dirty="0"/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de-DE" altLang="de-DE" sz="1800" dirty="0"/>
              <a:t>Werte können überschrieben werden. (</a:t>
            </a:r>
            <a:r>
              <a:rPr lang="de-DE" altLang="de-DE" sz="1800" b="1" dirty="0"/>
              <a:t>Wertzuweisung</a:t>
            </a:r>
            <a:r>
              <a:rPr lang="de-DE" altLang="de-DE" sz="1800" dirty="0"/>
              <a:t>)</a:t>
            </a:r>
          </a:p>
          <a:p>
            <a:pPr lvl="1" eaLnBrk="1" hangingPunct="1">
              <a:lnSpc>
                <a:spcPct val="80000"/>
              </a:lnSpc>
            </a:pPr>
            <a:endParaRPr lang="de-DE" altLang="de-DE" sz="1800" dirty="0"/>
          </a:p>
          <a:p>
            <a:pPr eaLnBrk="1" hangingPunct="1">
              <a:lnSpc>
                <a:spcPct val="80000"/>
              </a:lnSpc>
            </a:pPr>
            <a:r>
              <a:rPr lang="de-DE" altLang="de-DE" sz="2000" dirty="0"/>
              <a:t>Deklaration und Definition:</a:t>
            </a:r>
          </a:p>
          <a:p>
            <a:pPr lvl="1" eaLnBrk="1" hangingPunct="1">
              <a:lnSpc>
                <a:spcPct val="80000"/>
              </a:lnSpc>
            </a:pPr>
            <a:r>
              <a:rPr lang="de-DE" altLang="de-DE" sz="1800" dirty="0"/>
              <a:t>Typ Bezeichner; 		z.B. </a:t>
            </a:r>
            <a:r>
              <a:rPr lang="de-DE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DE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counter</a:t>
            </a:r>
            <a:r>
              <a:rPr lang="de-DE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</a:pPr>
            <a:r>
              <a:rPr lang="de-DE" altLang="de-DE" sz="2000" dirty="0"/>
              <a:t>Initialisierung / Zuweisung:</a:t>
            </a:r>
          </a:p>
          <a:p>
            <a:pPr lvl="1" eaLnBrk="1" hangingPunct="1">
              <a:lnSpc>
                <a:spcPct val="80000"/>
              </a:lnSpc>
            </a:pPr>
            <a:r>
              <a:rPr lang="de-DE" altLang="de-DE" sz="1800" dirty="0"/>
              <a:t>Bezeichner = Wert; 	z.B. </a:t>
            </a:r>
            <a:r>
              <a:rPr lang="de-DE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counter</a:t>
            </a:r>
            <a:r>
              <a:rPr lang="de-DE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4;</a:t>
            </a:r>
          </a:p>
          <a:p>
            <a:pPr eaLnBrk="1" hangingPunct="1">
              <a:lnSpc>
                <a:spcPct val="80000"/>
              </a:lnSpc>
            </a:pPr>
            <a:r>
              <a:rPr lang="de-DE" altLang="de-DE" sz="2000" dirty="0"/>
              <a:t>Zusammenfallen von Deklaration und Initialisierung:</a:t>
            </a:r>
          </a:p>
          <a:p>
            <a:pPr lvl="1" eaLnBrk="1" hangingPunct="1">
              <a:lnSpc>
                <a:spcPct val="80000"/>
              </a:lnSpc>
            </a:pPr>
            <a:r>
              <a:rPr lang="de-DE" altLang="de-DE" sz="1800" dirty="0"/>
              <a:t>Typ Bezeichner = Wert; 	z.B. </a:t>
            </a:r>
            <a:r>
              <a:rPr lang="de-DE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DE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altLang="de-DE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counter</a:t>
            </a:r>
            <a:r>
              <a:rPr lang="de-DE" altLang="de-DE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4;</a:t>
            </a:r>
          </a:p>
          <a:p>
            <a:pPr lvl="1" eaLnBrk="1" hangingPunct="1">
              <a:lnSpc>
                <a:spcPct val="80000"/>
              </a:lnSpc>
            </a:pPr>
            <a:endParaRPr lang="de-DE" altLang="de-DE" sz="1800" dirty="0"/>
          </a:p>
          <a:p>
            <a:pPr eaLnBrk="1" hangingPunct="1">
              <a:lnSpc>
                <a:spcPct val="80000"/>
              </a:lnSpc>
            </a:pPr>
            <a:r>
              <a:rPr lang="de-DE" altLang="de-DE" sz="2000" dirty="0"/>
              <a:t>Alle </a:t>
            </a:r>
            <a:r>
              <a:rPr lang="de-DE" altLang="de-DE" sz="1800" dirty="0"/>
              <a:t>Variablen</a:t>
            </a:r>
            <a:r>
              <a:rPr lang="de-DE" altLang="de-DE" sz="2000" dirty="0"/>
              <a:t> müssen vor der Benutzung initialisiert werden (aber nicht zwangsläufig sofort bei der Deklaration)</a:t>
            </a:r>
          </a:p>
          <a:p>
            <a:pPr eaLnBrk="1" hangingPunct="1">
              <a:lnSpc>
                <a:spcPct val="80000"/>
              </a:lnSpc>
            </a:pPr>
            <a:endParaRPr lang="de-DE" altLang="de-DE" sz="2000" dirty="0"/>
          </a:p>
        </p:txBody>
      </p:sp>
    </p:spTree>
    <p:extLst>
      <p:ext uri="{BB962C8B-B14F-4D97-AF65-F5344CB8AC3E}">
        <p14:creationId xmlns:p14="http://schemas.microsoft.com/office/powerpoint/2010/main" val="2557494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sz="3200">
                <a:solidFill>
                  <a:srgbClr val="00008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rgbClr val="00008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A55494-496A-4535-98D2-ECF1313D8DFB}" type="slidenum">
              <a:rPr lang="de-DE" altLang="de-DE" sz="1400" smtClean="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de-DE" altLang="de-DE" sz="1400">
              <a:solidFill>
                <a:schemeClr val="bg1"/>
              </a:solidFill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sz="2400"/>
              <a:t>Deklaration, Definition und Initialisierung von Variablen</a:t>
            </a:r>
          </a:p>
        </p:txBody>
      </p:sp>
      <p:pic>
        <p:nvPicPr>
          <p:cNvPr id="1741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150" y="1152525"/>
            <a:ext cx="6191250" cy="465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5958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AT" altLang="de-DE"/>
              <a:t>Wichtige Typen am Beginn der Karriere</a:t>
            </a:r>
          </a:p>
        </p:txBody>
      </p:sp>
      <p:sp>
        <p:nvSpPr>
          <p:cNvPr id="18435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de-AT" altLang="de-DE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de-AT" altLang="de-DE" sz="2800" dirty="0"/>
              <a:t> 	</a:t>
            </a:r>
            <a:r>
              <a:rPr lang="de-AT" altLang="de-DE" sz="2400" dirty="0"/>
              <a:t>Texte aus einem oder mehreren Zeichen</a:t>
            </a:r>
          </a:p>
          <a:p>
            <a:pPr eaLnBrk="1" hangingPunct="1"/>
            <a:r>
              <a:rPr lang="de-AT" alt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de-AT" altLang="de-DE" sz="2800" dirty="0"/>
              <a:t>	</a:t>
            </a:r>
            <a:r>
              <a:rPr lang="de-AT" altLang="de-DE" sz="2400" dirty="0"/>
              <a:t>einzelnes Zeichen</a:t>
            </a:r>
          </a:p>
          <a:p>
            <a:pPr eaLnBrk="1" hangingPunct="1"/>
            <a:r>
              <a:rPr lang="de-AT" alt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altLang="de-DE" sz="2800" dirty="0"/>
              <a:t>		</a:t>
            </a:r>
            <a:r>
              <a:rPr lang="de-AT" altLang="de-DE" sz="2400" dirty="0"/>
              <a:t>Ganzzahl zwischen </a:t>
            </a:r>
            <a:br>
              <a:rPr lang="de-AT" altLang="de-DE" sz="2400" dirty="0"/>
            </a:br>
            <a:r>
              <a:rPr lang="de-AT" altLang="de-DE" sz="2400" dirty="0"/>
              <a:t>                  -2.147.483.648 und</a:t>
            </a:r>
            <a:br>
              <a:rPr lang="de-AT" altLang="de-DE" sz="2400" dirty="0"/>
            </a:br>
            <a:r>
              <a:rPr lang="de-AT" altLang="de-DE" sz="2400" dirty="0"/>
              <a:t>                   2.147.483.647</a:t>
            </a:r>
          </a:p>
          <a:p>
            <a:pPr eaLnBrk="1" hangingPunct="1"/>
            <a:r>
              <a:rPr lang="de-AT" altLang="de-D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de-AT" altLang="de-DE" sz="2800" dirty="0"/>
              <a:t>	</a:t>
            </a:r>
            <a:r>
              <a:rPr lang="de-AT" altLang="de-DE" sz="2400" dirty="0"/>
              <a:t>Wahrheitswert </a:t>
            </a:r>
            <a:r>
              <a:rPr lang="de-AT" altLang="de-DE" sz="2400" dirty="0" err="1"/>
              <a:t>true</a:t>
            </a:r>
            <a:r>
              <a:rPr lang="de-AT" altLang="de-DE" sz="2400" dirty="0"/>
              <a:t> und </a:t>
            </a:r>
            <a:r>
              <a:rPr lang="de-AT" altLang="de-DE" sz="2400" dirty="0" err="1"/>
              <a:t>false</a:t>
            </a:r>
            <a:endParaRPr lang="de-AT" altLang="de-DE" sz="2800" dirty="0"/>
          </a:p>
          <a:p>
            <a:pPr eaLnBrk="1" hangingPunct="1"/>
            <a:r>
              <a:rPr lang="de-AT" altLang="de-DE" dirty="0"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de-AT" altLang="de-DE" sz="2800" dirty="0"/>
              <a:t>	</a:t>
            </a:r>
            <a:r>
              <a:rPr lang="de-AT" altLang="de-DE" sz="2400" dirty="0"/>
              <a:t>Gleitkommazahl</a:t>
            </a:r>
            <a:endParaRPr lang="de-AT" altLang="de-DE" sz="2800" dirty="0"/>
          </a:p>
          <a:p>
            <a:pPr eaLnBrk="1" hangingPunct="1"/>
            <a:endParaRPr lang="de-AT" altLang="de-DE" sz="2800" dirty="0"/>
          </a:p>
        </p:txBody>
      </p:sp>
      <p:sp>
        <p:nvSpPr>
          <p:cNvPr id="18437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sz="3200">
                <a:solidFill>
                  <a:srgbClr val="00008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rgbClr val="00008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0F29772-2A36-4BAA-ACC4-970FA6558DF7}" type="slidenum">
              <a:rPr lang="de-DE" altLang="de-DE" sz="1400" smtClean="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de-DE" altLang="de-DE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210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Einfache Datentypen in C#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295400"/>
            <a:ext cx="8435280" cy="5029200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 err="1">
                <a:solidFill>
                  <a:srgbClr val="FF5050"/>
                </a:solidFill>
              </a:rPr>
              <a:t>Schlüsselwort</a:t>
            </a:r>
            <a:r>
              <a:rPr lang="en-US" altLang="de-DE" sz="1800" dirty="0"/>
              <a:t>	</a:t>
            </a:r>
            <a:r>
              <a:rPr lang="en-US" altLang="de-DE" sz="1800" dirty="0" err="1">
                <a:solidFill>
                  <a:srgbClr val="FF5050"/>
                </a:solidFill>
              </a:rPr>
              <a:t>abgebildet</a:t>
            </a:r>
            <a:r>
              <a:rPr lang="en-US" altLang="de-DE" sz="1800" dirty="0">
                <a:solidFill>
                  <a:srgbClr val="FF5050"/>
                </a:solidFill>
              </a:rPr>
              <a:t> auf</a:t>
            </a:r>
            <a:r>
              <a:rPr lang="en-US" altLang="de-DE" sz="1800" dirty="0"/>
              <a:t>	</a:t>
            </a:r>
            <a:r>
              <a:rPr lang="en-US" altLang="de-DE" sz="1800" dirty="0">
                <a:solidFill>
                  <a:schemeClr val="accent2"/>
                </a:solidFill>
              </a:rPr>
              <a:t>	</a:t>
            </a:r>
            <a:r>
              <a:rPr lang="en-US" altLang="de-DE" sz="1800" dirty="0" err="1">
                <a:solidFill>
                  <a:srgbClr val="FF5050"/>
                </a:solidFill>
              </a:rPr>
              <a:t>Wertebereich</a:t>
            </a:r>
            <a:endParaRPr lang="en-US" altLang="de-DE" sz="1800" dirty="0">
              <a:solidFill>
                <a:srgbClr val="FF5050"/>
              </a:solidFill>
            </a:endParaRP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 err="1">
                <a:solidFill>
                  <a:schemeClr val="accent2"/>
                </a:solidFill>
              </a:rPr>
              <a:t>sbyte</a:t>
            </a:r>
            <a:r>
              <a:rPr lang="en-US" altLang="de-DE" sz="1800" dirty="0"/>
              <a:t>	</a:t>
            </a:r>
            <a:r>
              <a:rPr lang="en-US" altLang="de-DE" sz="1800" dirty="0" err="1"/>
              <a:t>System.SByte</a:t>
            </a:r>
            <a:r>
              <a:rPr lang="en-US" altLang="de-DE" sz="1800" dirty="0"/>
              <a:t>		-128 .. 127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>
                <a:solidFill>
                  <a:schemeClr val="accent2"/>
                </a:solidFill>
              </a:rPr>
              <a:t>short</a:t>
            </a:r>
            <a:r>
              <a:rPr lang="en-US" altLang="de-DE" sz="1800" dirty="0"/>
              <a:t>	System.Int16		-32768 .. 32767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 err="1">
                <a:solidFill>
                  <a:schemeClr val="accent2"/>
                </a:solidFill>
              </a:rPr>
              <a:t>int</a:t>
            </a:r>
            <a:r>
              <a:rPr lang="en-US" altLang="de-DE" sz="1800" dirty="0"/>
              <a:t>	System.Int32		-2 147 483 648 .. 2 147 483 647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>
                <a:solidFill>
                  <a:schemeClr val="accent2"/>
                </a:solidFill>
              </a:rPr>
              <a:t>long</a:t>
            </a:r>
            <a:r>
              <a:rPr lang="en-US" altLang="de-DE" sz="1800" dirty="0"/>
              <a:t>	System.Int64		-2</a:t>
            </a:r>
            <a:r>
              <a:rPr lang="en-US" altLang="de-DE" sz="1800" baseline="30000" dirty="0"/>
              <a:t>63</a:t>
            </a:r>
            <a:r>
              <a:rPr lang="en-US" altLang="de-DE" sz="1800" dirty="0"/>
              <a:t> .. 2</a:t>
            </a:r>
            <a:r>
              <a:rPr lang="en-US" altLang="de-DE" sz="1800" baseline="30000" dirty="0"/>
              <a:t>63</a:t>
            </a:r>
            <a:r>
              <a:rPr lang="en-US" altLang="de-DE" sz="1800" dirty="0"/>
              <a:t>-1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>
                <a:solidFill>
                  <a:schemeClr val="accent2"/>
                </a:solidFill>
              </a:rPr>
              <a:t>byte</a:t>
            </a:r>
            <a:r>
              <a:rPr lang="en-US" altLang="de-DE" sz="1800" dirty="0"/>
              <a:t>	</a:t>
            </a:r>
            <a:r>
              <a:rPr lang="en-US" altLang="de-DE" sz="1800" dirty="0" err="1"/>
              <a:t>System.Byte</a:t>
            </a:r>
            <a:r>
              <a:rPr lang="en-US" altLang="de-DE" sz="1800" dirty="0"/>
              <a:t>		0 .. 255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 err="1">
                <a:solidFill>
                  <a:schemeClr val="accent2"/>
                </a:solidFill>
              </a:rPr>
              <a:t>ushort</a:t>
            </a:r>
            <a:r>
              <a:rPr lang="en-US" altLang="de-DE" sz="1800" dirty="0"/>
              <a:t>	System.UInt16		0 .. 65535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 err="1">
                <a:solidFill>
                  <a:schemeClr val="accent2"/>
                </a:solidFill>
              </a:rPr>
              <a:t>uint</a:t>
            </a:r>
            <a:r>
              <a:rPr lang="en-US" altLang="de-DE" sz="1800" dirty="0"/>
              <a:t>	System.UInt32		0 .. 4294967295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 err="1">
                <a:solidFill>
                  <a:schemeClr val="accent2"/>
                </a:solidFill>
              </a:rPr>
              <a:t>ulong</a:t>
            </a:r>
            <a:r>
              <a:rPr lang="en-US" altLang="de-DE" sz="1800" dirty="0"/>
              <a:t>	System.UInt64		0 .. 2</a:t>
            </a:r>
            <a:r>
              <a:rPr lang="en-US" altLang="de-DE" sz="1800" baseline="30000" dirty="0"/>
              <a:t>64</a:t>
            </a:r>
            <a:r>
              <a:rPr lang="en-US" altLang="de-DE" sz="1800" dirty="0"/>
              <a:t>-1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>
                <a:solidFill>
                  <a:schemeClr val="accent2"/>
                </a:solidFill>
              </a:rPr>
              <a:t>float</a:t>
            </a:r>
            <a:r>
              <a:rPr lang="en-US" altLang="de-DE" sz="1800" dirty="0"/>
              <a:t>	</a:t>
            </a:r>
            <a:r>
              <a:rPr lang="en-US" altLang="de-DE" sz="1800" dirty="0" err="1"/>
              <a:t>System.Single</a:t>
            </a:r>
            <a:r>
              <a:rPr lang="en-US" altLang="de-DE" sz="1800" dirty="0"/>
              <a:t>		</a:t>
            </a:r>
            <a:r>
              <a:rPr lang="en-US" altLang="de-DE" sz="1800" dirty="0">
                <a:latin typeface="Symbol" panose="05050102010706020507" pitchFamily="18" charset="2"/>
                <a:sym typeface="Symbol" panose="05050102010706020507" pitchFamily="18" charset="2"/>
              </a:rPr>
              <a:t></a:t>
            </a:r>
            <a:r>
              <a:rPr lang="en-US" altLang="de-DE" sz="1800" dirty="0"/>
              <a:t>1.5E-45 .. </a:t>
            </a:r>
            <a:r>
              <a:rPr lang="en-US" altLang="de-DE" sz="1800" dirty="0">
                <a:latin typeface="Symbol" panose="05050102010706020507" pitchFamily="18" charset="2"/>
                <a:sym typeface="Symbol" panose="05050102010706020507" pitchFamily="18" charset="2"/>
              </a:rPr>
              <a:t></a:t>
            </a:r>
            <a:r>
              <a:rPr lang="en-US" altLang="de-DE" sz="1800" dirty="0"/>
              <a:t>3.4E38 (32 Bit)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>
                <a:solidFill>
                  <a:schemeClr val="accent2"/>
                </a:solidFill>
              </a:rPr>
              <a:t>double</a:t>
            </a:r>
            <a:r>
              <a:rPr lang="en-US" altLang="de-DE" sz="1800" dirty="0"/>
              <a:t>	</a:t>
            </a:r>
            <a:r>
              <a:rPr lang="en-US" altLang="de-DE" sz="1800" dirty="0" err="1"/>
              <a:t>System.Double</a:t>
            </a:r>
            <a:r>
              <a:rPr lang="en-US" altLang="de-DE" sz="1800" dirty="0"/>
              <a:t>		</a:t>
            </a:r>
            <a:r>
              <a:rPr lang="en-US" altLang="de-DE" sz="1800" dirty="0">
                <a:latin typeface="Symbol" panose="05050102010706020507" pitchFamily="18" charset="2"/>
                <a:sym typeface="Symbol" panose="05050102010706020507" pitchFamily="18" charset="2"/>
              </a:rPr>
              <a:t></a:t>
            </a:r>
            <a:r>
              <a:rPr lang="en-US" altLang="de-DE" sz="1800" dirty="0"/>
              <a:t>5E-324 .. </a:t>
            </a:r>
            <a:r>
              <a:rPr lang="en-US" altLang="de-DE" sz="1800" dirty="0">
                <a:latin typeface="Symbol" panose="05050102010706020507" pitchFamily="18" charset="2"/>
                <a:sym typeface="Symbol" panose="05050102010706020507" pitchFamily="18" charset="2"/>
              </a:rPr>
              <a:t></a:t>
            </a:r>
            <a:r>
              <a:rPr lang="en-US" altLang="de-DE" sz="1800" dirty="0"/>
              <a:t>1.7E308 (64 Bit)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>
                <a:solidFill>
                  <a:schemeClr val="accent2"/>
                </a:solidFill>
              </a:rPr>
              <a:t>decimal</a:t>
            </a:r>
            <a:r>
              <a:rPr lang="en-US" altLang="de-DE" sz="1800" dirty="0"/>
              <a:t>	</a:t>
            </a:r>
            <a:r>
              <a:rPr lang="en-US" altLang="de-DE" sz="1800" dirty="0" err="1"/>
              <a:t>System.Decimal</a:t>
            </a:r>
            <a:r>
              <a:rPr lang="en-US" altLang="de-DE" sz="1800" dirty="0"/>
              <a:t>		</a:t>
            </a:r>
            <a:r>
              <a:rPr lang="en-US" altLang="de-DE" sz="1800" dirty="0">
                <a:latin typeface="Symbol" panose="05050102010706020507" pitchFamily="18" charset="2"/>
                <a:sym typeface="Symbol" panose="05050102010706020507" pitchFamily="18" charset="2"/>
              </a:rPr>
              <a:t></a:t>
            </a:r>
            <a:r>
              <a:rPr lang="en-US" altLang="de-DE" sz="1800" dirty="0"/>
              <a:t>1E-28 .. </a:t>
            </a:r>
            <a:r>
              <a:rPr lang="en-US" altLang="de-DE" sz="1800" dirty="0">
                <a:latin typeface="Symbol" panose="05050102010706020507" pitchFamily="18" charset="2"/>
                <a:sym typeface="Symbol" panose="05050102010706020507" pitchFamily="18" charset="2"/>
              </a:rPr>
              <a:t></a:t>
            </a:r>
            <a:r>
              <a:rPr lang="en-US" altLang="de-DE" sz="1800" dirty="0"/>
              <a:t>7.9E28 (128 Bit)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>
                <a:solidFill>
                  <a:schemeClr val="accent2"/>
                </a:solidFill>
              </a:rPr>
              <a:t>bool</a:t>
            </a:r>
            <a:r>
              <a:rPr lang="en-US" altLang="de-DE" sz="1800" dirty="0"/>
              <a:t>	</a:t>
            </a:r>
            <a:r>
              <a:rPr lang="en-US" altLang="de-DE" sz="1800" dirty="0" err="1"/>
              <a:t>System.Boolean</a:t>
            </a:r>
            <a:r>
              <a:rPr lang="en-US" altLang="de-DE" sz="1800" dirty="0"/>
              <a:t>		true, false</a:t>
            </a:r>
          </a:p>
          <a:p>
            <a:pPr marL="0" indent="0" defTabSz="911225">
              <a:buFontTx/>
              <a:buNone/>
              <a:tabLst>
                <a:tab pos="1519238" algn="l"/>
                <a:tab pos="3340100" algn="l"/>
                <a:tab pos="4568825" algn="l"/>
              </a:tabLst>
            </a:pPr>
            <a:r>
              <a:rPr lang="en-US" altLang="de-DE" sz="1800" dirty="0">
                <a:solidFill>
                  <a:schemeClr val="accent2"/>
                </a:solidFill>
              </a:rPr>
              <a:t>char</a:t>
            </a:r>
            <a:r>
              <a:rPr lang="en-US" altLang="de-DE" sz="1800" dirty="0"/>
              <a:t>	</a:t>
            </a:r>
            <a:r>
              <a:rPr lang="en-US" altLang="de-DE" sz="1800" dirty="0" err="1"/>
              <a:t>System.Char</a:t>
            </a:r>
            <a:r>
              <a:rPr lang="en-US" altLang="de-DE" sz="1800" dirty="0"/>
              <a:t>		Unicode-</a:t>
            </a:r>
            <a:r>
              <a:rPr lang="en-US" altLang="de-DE" sz="1800" dirty="0" err="1"/>
              <a:t>Zeichen</a:t>
            </a:r>
            <a:endParaRPr lang="en-US" altLang="de-DE" sz="1800" dirty="0"/>
          </a:p>
        </p:txBody>
      </p:sp>
      <p:cxnSp>
        <p:nvCxnSpPr>
          <p:cNvPr id="6" name="Gerader Verbinder 5"/>
          <p:cNvCxnSpPr/>
          <p:nvPr/>
        </p:nvCxnSpPr>
        <p:spPr>
          <a:xfrm>
            <a:off x="529208" y="2924944"/>
            <a:ext cx="8003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/>
          <p:cNvCxnSpPr/>
          <p:nvPr/>
        </p:nvCxnSpPr>
        <p:spPr>
          <a:xfrm>
            <a:off x="529208" y="4293096"/>
            <a:ext cx="8003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/>
          <p:cNvCxnSpPr/>
          <p:nvPr/>
        </p:nvCxnSpPr>
        <p:spPr>
          <a:xfrm>
            <a:off x="529208" y="5301208"/>
            <a:ext cx="8003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/>
          <p:cNvCxnSpPr/>
          <p:nvPr/>
        </p:nvCxnSpPr>
        <p:spPr>
          <a:xfrm>
            <a:off x="539552" y="1628800"/>
            <a:ext cx="80032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09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quarter" idx="4294967295"/>
          </p:nvPr>
        </p:nvSpPr>
        <p:spPr>
          <a:xfrm>
            <a:off x="3924300" y="6413500"/>
            <a:ext cx="2160588" cy="2873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5046EA1-37DA-4F4E-81A1-6F0EE4202C58}" type="datetime1">
              <a:rPr lang="de-DE"/>
              <a:pPr>
                <a:defRPr/>
              </a:pPr>
              <a:t>24.09.2019</a:t>
            </a:fld>
            <a:endParaRPr lang="de-DE"/>
          </a:p>
        </p:txBody>
      </p:sp>
      <p:sp>
        <p:nvSpPr>
          <p:cNvPr id="19459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sz="3200">
                <a:solidFill>
                  <a:srgbClr val="00008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rgbClr val="00008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634C5C-0E7C-40C4-A319-073345271591}" type="slidenum">
              <a:rPr lang="de-DE" altLang="de-DE" sz="1400" smtClean="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de-DE" altLang="de-DE" sz="1400">
              <a:solidFill>
                <a:schemeClr val="bg1"/>
              </a:solidFill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Typsystem nach CTS (CLR-kompatibel)</a:t>
            </a:r>
          </a:p>
        </p:txBody>
      </p:sp>
      <p:pic>
        <p:nvPicPr>
          <p:cNvPr id="1946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" y="1050925"/>
            <a:ext cx="8394700" cy="475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3375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sz="3200">
                <a:solidFill>
                  <a:srgbClr val="00008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rgbClr val="00008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0ABB23-8E16-40B9-A845-CB6C3B14536A}" type="slidenum">
              <a:rPr lang="de-DE" altLang="de-DE" sz="1400" smtClean="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de-DE" altLang="de-DE" sz="1400">
              <a:solidFill>
                <a:schemeClr val="bg1"/>
              </a:solidFill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/>
              <a:t>Zuweisungsoperator</a:t>
            </a:r>
          </a:p>
        </p:txBody>
      </p:sp>
      <p:pic>
        <p:nvPicPr>
          <p:cNvPr id="2150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150" y="1730375"/>
            <a:ext cx="5727700" cy="339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8421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/>
              <a:t>Zuweisungsoperator</a:t>
            </a:r>
          </a:p>
        </p:txBody>
      </p:sp>
      <p:sp>
        <p:nvSpPr>
          <p:cNvPr id="22531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altLang="de-DE" sz="2800" dirty="0"/>
              <a:t>Vorsicht</a:t>
            </a:r>
          </a:p>
          <a:p>
            <a:pPr lvl="1"/>
            <a:r>
              <a:rPr lang="de-AT" altLang="de-DE" sz="2400" dirty="0"/>
              <a:t>Zugewiesener Wert muss zum Typ der Variablen kompatibel sein (im verfügbaren Speicher Platz haben)</a:t>
            </a:r>
          </a:p>
          <a:p>
            <a:pPr lvl="2"/>
            <a:r>
              <a:rPr lang="de-AT" altLang="de-DE" sz="2000" dirty="0"/>
              <a:t>Klein in Groß funktioniert, aber nicht umgekehrt!</a:t>
            </a:r>
          </a:p>
          <a:p>
            <a:pPr lvl="2"/>
            <a:r>
              <a:rPr lang="de-AT" altLang="de-DE" sz="2000" dirty="0"/>
              <a:t>Zuweisung kann aber erzwungen werden</a:t>
            </a:r>
          </a:p>
          <a:p>
            <a:pPr lvl="1"/>
            <a:endParaRPr lang="de-AT" altLang="de-DE" sz="2400" dirty="0"/>
          </a:p>
        </p:txBody>
      </p:sp>
      <p:sp>
        <p:nvSpPr>
          <p:cNvPr id="22533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sz="3200">
                <a:solidFill>
                  <a:srgbClr val="00008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rgbClr val="00008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527D3E-CF4A-4B6C-9479-3B3C35CCFC8A}" type="slidenum">
              <a:rPr lang="de-DE" altLang="de-DE" sz="1400" smtClean="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de-DE" altLang="de-DE" sz="1400">
              <a:solidFill>
                <a:schemeClr val="bg1"/>
              </a:solidFill>
            </a:endParaRPr>
          </a:p>
        </p:txBody>
      </p:sp>
      <p:grpSp>
        <p:nvGrpSpPr>
          <p:cNvPr id="22534" name="Group 3"/>
          <p:cNvGrpSpPr>
            <a:grpSpLocks/>
          </p:cNvGrpSpPr>
          <p:nvPr/>
        </p:nvGrpSpPr>
        <p:grpSpPr bwMode="auto">
          <a:xfrm>
            <a:off x="457200" y="4437110"/>
            <a:ext cx="8199884" cy="1475027"/>
            <a:chOff x="548" y="2296"/>
            <a:chExt cx="4032" cy="432"/>
          </a:xfrm>
        </p:grpSpPr>
        <p:sp>
          <p:nvSpPr>
            <p:cNvPr id="22535" name="AutoShape 4"/>
            <p:cNvSpPr>
              <a:spLocks noChangeArrowheads="1"/>
            </p:cNvSpPr>
            <p:nvPr/>
          </p:nvSpPr>
          <p:spPr bwMode="auto">
            <a:xfrm>
              <a:off x="548" y="2296"/>
              <a:ext cx="432" cy="192"/>
            </a:xfrm>
            <a:prstGeom prst="flowChartProcess">
              <a:avLst/>
            </a:prstGeom>
            <a:solidFill>
              <a:srgbClr val="00CC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Ø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2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2000">
                  <a:solidFill>
                    <a:srgbClr val="000000"/>
                  </a:solidFill>
                  <a:latin typeface="Arial" panose="020B0604020202020204" pitchFamily="34" charset="0"/>
                </a:rPr>
                <a:t>byte</a:t>
              </a:r>
            </a:p>
          </p:txBody>
        </p:sp>
        <p:sp>
          <p:nvSpPr>
            <p:cNvPr id="22536" name="AutoShape 5"/>
            <p:cNvSpPr>
              <a:spLocks noChangeArrowheads="1"/>
            </p:cNvSpPr>
            <p:nvPr/>
          </p:nvSpPr>
          <p:spPr bwMode="auto">
            <a:xfrm>
              <a:off x="1268" y="2536"/>
              <a:ext cx="432" cy="192"/>
            </a:xfrm>
            <a:prstGeom prst="flowChartProcess">
              <a:avLst/>
            </a:prstGeom>
            <a:solidFill>
              <a:srgbClr val="00CC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Ø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2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2000">
                  <a:solidFill>
                    <a:srgbClr val="000000"/>
                  </a:solidFill>
                  <a:latin typeface="Arial" panose="020B0604020202020204" pitchFamily="34" charset="0"/>
                </a:rPr>
                <a:t>char</a:t>
              </a:r>
            </a:p>
          </p:txBody>
        </p:sp>
        <p:sp>
          <p:nvSpPr>
            <p:cNvPr id="22537" name="AutoShape 6"/>
            <p:cNvSpPr>
              <a:spLocks noChangeArrowheads="1"/>
            </p:cNvSpPr>
            <p:nvPr/>
          </p:nvSpPr>
          <p:spPr bwMode="auto">
            <a:xfrm>
              <a:off x="1268" y="2296"/>
              <a:ext cx="432" cy="192"/>
            </a:xfrm>
            <a:prstGeom prst="flowChartProcess">
              <a:avLst/>
            </a:prstGeom>
            <a:solidFill>
              <a:srgbClr val="00CC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Ø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2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2000">
                  <a:solidFill>
                    <a:srgbClr val="000000"/>
                  </a:solidFill>
                  <a:latin typeface="Arial" panose="020B0604020202020204" pitchFamily="34" charset="0"/>
                </a:rPr>
                <a:t>short</a:t>
              </a:r>
            </a:p>
          </p:txBody>
        </p:sp>
        <p:sp>
          <p:nvSpPr>
            <p:cNvPr id="22538" name="AutoShape 7"/>
            <p:cNvSpPr>
              <a:spLocks noChangeArrowheads="1"/>
            </p:cNvSpPr>
            <p:nvPr/>
          </p:nvSpPr>
          <p:spPr bwMode="auto">
            <a:xfrm>
              <a:off x="1988" y="2296"/>
              <a:ext cx="432" cy="192"/>
            </a:xfrm>
            <a:prstGeom prst="flowChartProcess">
              <a:avLst/>
            </a:prstGeom>
            <a:solidFill>
              <a:srgbClr val="00CC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Ø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2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2000">
                  <a:solidFill>
                    <a:srgbClr val="000000"/>
                  </a:solidFill>
                  <a:latin typeface="Arial" panose="020B0604020202020204" pitchFamily="34" charset="0"/>
                </a:rPr>
                <a:t>int</a:t>
              </a:r>
            </a:p>
          </p:txBody>
        </p:sp>
        <p:sp>
          <p:nvSpPr>
            <p:cNvPr id="22539" name="AutoShape 8"/>
            <p:cNvSpPr>
              <a:spLocks noChangeArrowheads="1"/>
            </p:cNvSpPr>
            <p:nvPr/>
          </p:nvSpPr>
          <p:spPr bwMode="auto">
            <a:xfrm>
              <a:off x="2708" y="2296"/>
              <a:ext cx="432" cy="192"/>
            </a:xfrm>
            <a:prstGeom prst="flowChartProcess">
              <a:avLst/>
            </a:prstGeom>
            <a:solidFill>
              <a:srgbClr val="00CC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Ø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2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2000">
                  <a:solidFill>
                    <a:srgbClr val="000000"/>
                  </a:solidFill>
                  <a:latin typeface="Arial" panose="020B0604020202020204" pitchFamily="34" charset="0"/>
                </a:rPr>
                <a:t>long</a:t>
              </a:r>
            </a:p>
          </p:txBody>
        </p:sp>
        <p:sp>
          <p:nvSpPr>
            <p:cNvPr id="22540" name="AutoShape 9"/>
            <p:cNvSpPr>
              <a:spLocks noChangeArrowheads="1"/>
            </p:cNvSpPr>
            <p:nvPr/>
          </p:nvSpPr>
          <p:spPr bwMode="auto">
            <a:xfrm>
              <a:off x="3428" y="2296"/>
              <a:ext cx="432" cy="192"/>
            </a:xfrm>
            <a:prstGeom prst="flowChartProcess">
              <a:avLst/>
            </a:prstGeom>
            <a:solidFill>
              <a:srgbClr val="00CC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Ø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2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2000">
                  <a:solidFill>
                    <a:srgbClr val="000000"/>
                  </a:solidFill>
                  <a:latin typeface="Arial" panose="020B0604020202020204" pitchFamily="34" charset="0"/>
                </a:rPr>
                <a:t>float</a:t>
              </a:r>
            </a:p>
          </p:txBody>
        </p:sp>
        <p:sp>
          <p:nvSpPr>
            <p:cNvPr id="22541" name="AutoShape 10"/>
            <p:cNvSpPr>
              <a:spLocks noChangeArrowheads="1"/>
            </p:cNvSpPr>
            <p:nvPr/>
          </p:nvSpPr>
          <p:spPr bwMode="auto">
            <a:xfrm>
              <a:off x="4148" y="2296"/>
              <a:ext cx="432" cy="192"/>
            </a:xfrm>
            <a:prstGeom prst="flowChartProcess">
              <a:avLst/>
            </a:prstGeom>
            <a:solidFill>
              <a:srgbClr val="00CC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Font typeface="Wingdings" panose="05000000000000000000" pitchFamily="2" charset="2"/>
                <a:buChar char="Ø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32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•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8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000">
                  <a:solidFill>
                    <a:srgbClr val="000080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de-DE" sz="2000">
                  <a:solidFill>
                    <a:srgbClr val="000000"/>
                  </a:solidFill>
                  <a:latin typeface="Arial" panose="020B0604020202020204" pitchFamily="34" charset="0"/>
                </a:rPr>
                <a:t>double</a:t>
              </a:r>
            </a:p>
          </p:txBody>
        </p:sp>
        <p:cxnSp>
          <p:nvCxnSpPr>
            <p:cNvPr id="22542" name="AutoShape 11"/>
            <p:cNvCxnSpPr>
              <a:cxnSpLocks noChangeShapeType="1"/>
              <a:stCxn id="22535" idx="3"/>
              <a:endCxn id="22537" idx="1"/>
            </p:cNvCxnSpPr>
            <p:nvPr/>
          </p:nvCxnSpPr>
          <p:spPr bwMode="auto">
            <a:xfrm>
              <a:off x="980" y="2392"/>
              <a:ext cx="288" cy="1"/>
            </a:xfrm>
            <a:prstGeom prst="straightConnector1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3" name="AutoShape 12"/>
            <p:cNvCxnSpPr>
              <a:cxnSpLocks noChangeShapeType="1"/>
            </p:cNvCxnSpPr>
            <p:nvPr/>
          </p:nvCxnSpPr>
          <p:spPr bwMode="auto">
            <a:xfrm>
              <a:off x="1700" y="2392"/>
              <a:ext cx="288" cy="1"/>
            </a:xfrm>
            <a:prstGeom prst="straightConnector1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4" name="AutoShape 13"/>
            <p:cNvCxnSpPr>
              <a:cxnSpLocks noChangeShapeType="1"/>
            </p:cNvCxnSpPr>
            <p:nvPr/>
          </p:nvCxnSpPr>
          <p:spPr bwMode="auto">
            <a:xfrm>
              <a:off x="2420" y="2392"/>
              <a:ext cx="288" cy="1"/>
            </a:xfrm>
            <a:prstGeom prst="straightConnector1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5" name="AutoShape 14"/>
            <p:cNvCxnSpPr>
              <a:cxnSpLocks noChangeShapeType="1"/>
            </p:cNvCxnSpPr>
            <p:nvPr/>
          </p:nvCxnSpPr>
          <p:spPr bwMode="auto">
            <a:xfrm>
              <a:off x="3140" y="2392"/>
              <a:ext cx="288" cy="1"/>
            </a:xfrm>
            <a:prstGeom prst="straightConnector1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6" name="AutoShape 15"/>
            <p:cNvCxnSpPr>
              <a:cxnSpLocks noChangeShapeType="1"/>
            </p:cNvCxnSpPr>
            <p:nvPr/>
          </p:nvCxnSpPr>
          <p:spPr bwMode="auto">
            <a:xfrm>
              <a:off x="3860" y="2392"/>
              <a:ext cx="288" cy="1"/>
            </a:xfrm>
            <a:prstGeom prst="straightConnector1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547" name="AutoShape 16"/>
            <p:cNvCxnSpPr>
              <a:cxnSpLocks noChangeShapeType="1"/>
              <a:stCxn id="22536" idx="3"/>
              <a:endCxn id="22538" idx="1"/>
            </p:cNvCxnSpPr>
            <p:nvPr/>
          </p:nvCxnSpPr>
          <p:spPr bwMode="auto">
            <a:xfrm flipV="1">
              <a:off x="1700" y="2392"/>
              <a:ext cx="288" cy="240"/>
            </a:xfrm>
            <a:prstGeom prst="bentConnector3">
              <a:avLst>
                <a:gd name="adj1" fmla="val 50000"/>
              </a:avLst>
            </a:prstGeom>
            <a:noFill/>
            <a:ln w="126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16844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sz="3200">
                <a:solidFill>
                  <a:srgbClr val="00008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rgbClr val="00008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A61D47-9B62-4C54-9F0F-F9D105DA4D4A}" type="slidenum">
              <a:rPr lang="de-DE" altLang="de-DE" sz="1400" smtClean="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de-DE" altLang="de-DE" sz="1400">
              <a:solidFill>
                <a:schemeClr val="bg1"/>
              </a:solidFill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 dirty="0"/>
              <a:t>Bezeichner – Namen von Variablen 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4"/>
            <a:ext cx="8229600" cy="4857750"/>
          </a:xfrm>
        </p:spPr>
        <p:txBody>
          <a:bodyPr/>
          <a:lstStyle/>
          <a:p>
            <a:pPr eaLnBrk="1" hangingPunct="1"/>
            <a:r>
              <a:rPr lang="de-DE" altLang="de-DE" sz="2400" dirty="0"/>
              <a:t>Kombination aus Zeichen, Ziffern, _, @</a:t>
            </a:r>
          </a:p>
          <a:p>
            <a:pPr eaLnBrk="1" hangingPunct="1"/>
            <a:r>
              <a:rPr lang="de-DE" altLang="de-DE" sz="2400" dirty="0"/>
              <a:t>Case-sensitiv</a:t>
            </a:r>
          </a:p>
          <a:p>
            <a:pPr eaLnBrk="1" hangingPunct="1"/>
            <a:r>
              <a:rPr lang="de-DE" altLang="de-DE" sz="2400" dirty="0"/>
              <a:t>Schlüsselwörter dürfen nicht verwendet werden</a:t>
            </a:r>
          </a:p>
          <a:p>
            <a:pPr lvl="1" eaLnBrk="1" hangingPunct="1"/>
            <a:r>
              <a:rPr lang="de-DE" altLang="de-DE" sz="2100" dirty="0"/>
              <a:t>Siehe </a:t>
            </a:r>
            <a:r>
              <a:rPr lang="de-DE" altLang="de-DE" sz="2100" dirty="0">
                <a:hlinkClick r:id="rId2"/>
              </a:rPr>
              <a:t>https://msdn.microsoft.com/de-de/library/x53a06bb%28v=vs.120%29.aspx</a:t>
            </a:r>
            <a:endParaRPr lang="de-DE" altLang="de-DE" sz="2100" dirty="0"/>
          </a:p>
          <a:p>
            <a:pPr eaLnBrk="1" hangingPunct="1"/>
            <a:r>
              <a:rPr lang="de-DE" altLang="de-DE" sz="2400" dirty="0"/>
              <a:t>Richtlinien für die Namenswahl:</a:t>
            </a:r>
          </a:p>
          <a:p>
            <a:pPr lvl="1" eaLnBrk="1" hangingPunct="1"/>
            <a:r>
              <a:rPr lang="de-DE" altLang="de-DE" sz="2000" dirty="0"/>
              <a:t>Sprechende Bezeichner verwenden – der Name beschreibt, was in der Variablen gespeichert ist!</a:t>
            </a:r>
          </a:p>
          <a:p>
            <a:pPr lvl="1" eaLnBrk="1" hangingPunct="1"/>
            <a:r>
              <a:rPr lang="de-DE" altLang="de-DE" sz="2000" dirty="0"/>
              <a:t>Nur englische Namen verwenden</a:t>
            </a:r>
          </a:p>
          <a:p>
            <a:pPr lvl="1" eaLnBrk="1" hangingPunct="1"/>
            <a:r>
              <a:rPr lang="de-DE" altLang="de-DE" sz="2100" dirty="0"/>
              <a:t>„</a:t>
            </a:r>
            <a:r>
              <a:rPr lang="de-DE" altLang="de-DE" sz="2100" dirty="0" err="1"/>
              <a:t>camelCase</a:t>
            </a:r>
            <a:r>
              <a:rPr lang="de-DE" altLang="de-DE" sz="2100" dirty="0"/>
              <a:t>“</a:t>
            </a:r>
          </a:p>
          <a:p>
            <a:pPr lvl="2" eaLnBrk="1" hangingPunct="1"/>
            <a:r>
              <a:rPr lang="de-DE" altLang="de-DE" sz="1800" dirty="0"/>
              <a:t>Beginnen mit kleinem Anfangsbuchstaben</a:t>
            </a:r>
          </a:p>
          <a:p>
            <a:pPr lvl="2" eaLnBrk="1" hangingPunct="1"/>
            <a:r>
              <a:rPr lang="de-DE" altLang="de-DE" sz="1800" dirty="0"/>
              <a:t>Jedes innere Teilwort groß beginnen</a:t>
            </a:r>
          </a:p>
          <a:p>
            <a:pPr lvl="2" eaLnBrk="1" hangingPunct="1"/>
            <a:r>
              <a:rPr lang="de-DE" altLang="de-DE" sz="1800" dirty="0" err="1"/>
              <a:t>Bsp</a:t>
            </a:r>
            <a:r>
              <a:rPr lang="de-DE" altLang="de-DE" sz="1800" dirty="0"/>
              <a:t>: </a:t>
            </a:r>
            <a:r>
              <a:rPr lang="de-DE" altLang="de-DE" sz="1800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myVariableInCamelCaseNotation</a:t>
            </a:r>
            <a:endParaRPr lang="de-DE" altLang="de-DE" sz="1800" i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endParaRPr lang="de-DE" altLang="de-DE" sz="2800" dirty="0"/>
          </a:p>
          <a:p>
            <a:pPr eaLnBrk="1" hangingPunct="1"/>
            <a:endParaRPr lang="de-DE" altLang="de-DE" sz="2800" dirty="0"/>
          </a:p>
          <a:p>
            <a:pPr eaLnBrk="1" hangingPunct="1"/>
            <a:endParaRPr lang="de-DE" altLang="de-DE" sz="2800" dirty="0"/>
          </a:p>
          <a:p>
            <a:pPr eaLnBrk="1" hangingPunct="1"/>
            <a:endParaRPr lang="de-DE" altLang="de-DE" sz="2800" dirty="0"/>
          </a:p>
        </p:txBody>
      </p:sp>
      <p:pic>
        <p:nvPicPr>
          <p:cNvPr id="1030" name="Picture 6" descr="http://duden.de/_media_/full/K/Kamel-20110028579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291" y="4653136"/>
            <a:ext cx="1521817" cy="1353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4539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Variablen - Beispiele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pPr lvl="0">
              <a:defRPr sz="1800"/>
            </a:pPr>
            <a:r>
              <a:rPr lang="en-US" dirty="0"/>
              <a:t>string </a:t>
            </a:r>
            <a:r>
              <a:rPr lang="en-US" dirty="0" err="1"/>
              <a:t>someText</a:t>
            </a:r>
            <a:r>
              <a:rPr lang="en-US" dirty="0"/>
              <a:t> = “Important text”;</a:t>
            </a:r>
          </a:p>
          <a:p>
            <a:pPr lvl="0">
              <a:defRPr sz="1800"/>
            </a:pPr>
            <a:r>
              <a:rPr lang="en-US" dirty="0" err="1"/>
              <a:t>int</a:t>
            </a:r>
            <a:r>
              <a:rPr lang="en-US" dirty="0"/>
              <a:t> value = 42;</a:t>
            </a:r>
          </a:p>
          <a:p>
            <a:pPr lvl="0">
              <a:defRPr sz="1800"/>
            </a:pPr>
            <a:r>
              <a:rPr lang="en-US" dirty="0"/>
              <a:t>bool </a:t>
            </a:r>
            <a:r>
              <a:rPr lang="en-US" dirty="0" err="1"/>
              <a:t>isValid</a:t>
            </a:r>
            <a:r>
              <a:rPr lang="en-US" dirty="0"/>
              <a:t> = true;</a:t>
            </a:r>
          </a:p>
          <a:p>
            <a:pPr lvl="0">
              <a:defRPr sz="1800"/>
            </a:pPr>
            <a:r>
              <a:rPr lang="en-US" dirty="0"/>
              <a:t>double </a:t>
            </a:r>
            <a:r>
              <a:rPr lang="en-US" dirty="0" err="1"/>
              <a:t>decimalValue</a:t>
            </a:r>
            <a:r>
              <a:rPr lang="en-US" dirty="0"/>
              <a:t> = 3.141592653;</a:t>
            </a:r>
          </a:p>
          <a:p>
            <a:pPr lvl="0">
              <a:defRPr sz="1800"/>
            </a:pPr>
            <a:endParaRPr lang="en-US" dirty="0"/>
          </a:p>
          <a:p>
            <a:pPr lvl="0">
              <a:defRPr sz="1800"/>
            </a:pPr>
            <a:endParaRPr lang="de-AT" sz="1800" dirty="0">
              <a:latin typeface="Monaco"/>
              <a:ea typeface="Monaco"/>
              <a:cs typeface="Monaco"/>
              <a:sym typeface="Monaco"/>
            </a:endParaRPr>
          </a:p>
          <a:p>
            <a:pPr lvl="0">
              <a:defRPr sz="1800"/>
            </a:pPr>
            <a:r>
              <a:rPr lang="de-AT" sz="1800" dirty="0" err="1"/>
              <a:t>string</a:t>
            </a:r>
            <a:r>
              <a:rPr lang="de-AT" sz="1800" dirty="0"/>
              <a:t> </a:t>
            </a:r>
            <a:r>
              <a:rPr lang="de-AT" sz="1800" dirty="0" err="1"/>
              <a:t>firstName</a:t>
            </a:r>
            <a:r>
              <a:rPr lang="de-AT" sz="1800" dirty="0"/>
              <a:t> = “Hansi”;</a:t>
            </a:r>
          </a:p>
          <a:p>
            <a:pPr lvl="0">
              <a:defRPr sz="1800"/>
            </a:pPr>
            <a:r>
              <a:rPr lang="de-AT" sz="1800" dirty="0" err="1"/>
              <a:t>string</a:t>
            </a:r>
            <a:r>
              <a:rPr lang="de-AT" sz="1800" dirty="0"/>
              <a:t> </a:t>
            </a:r>
            <a:r>
              <a:rPr lang="de-AT" sz="1800" dirty="0" err="1"/>
              <a:t>lastName</a:t>
            </a:r>
            <a:r>
              <a:rPr lang="de-AT" sz="1800" dirty="0"/>
              <a:t> = “Hinterseer”;</a:t>
            </a:r>
          </a:p>
          <a:p>
            <a:pPr lvl="0">
              <a:defRPr sz="1800"/>
            </a:pPr>
            <a:r>
              <a:rPr lang="de-AT" sz="1800" dirty="0"/>
              <a:t>Console.WriteLine(</a:t>
            </a:r>
            <a:r>
              <a:rPr lang="de-AT" sz="1800" dirty="0" err="1"/>
              <a:t>firstName</a:t>
            </a:r>
            <a:r>
              <a:rPr lang="de-AT" sz="1800" dirty="0"/>
              <a:t> + “ “ + </a:t>
            </a:r>
            <a:r>
              <a:rPr lang="de-AT" sz="1800" dirty="0" err="1"/>
              <a:t>lastName</a:t>
            </a:r>
            <a:r>
              <a:rPr lang="de-AT" sz="1800" dirty="0"/>
              <a:t>);</a:t>
            </a:r>
          </a:p>
          <a:p>
            <a:pPr lvl="0">
              <a:defRPr sz="1800"/>
            </a:pPr>
            <a:endParaRPr lang="de-AT" sz="1800" dirty="0"/>
          </a:p>
          <a:p>
            <a:pPr lvl="0">
              <a:defRPr sz="1800"/>
            </a:pPr>
            <a:endParaRPr lang="de-AT" sz="1800" dirty="0"/>
          </a:p>
          <a:p>
            <a:pPr lvl="0">
              <a:defRPr sz="1800"/>
            </a:pPr>
            <a:r>
              <a:rPr lang="en-US" sz="1800" dirty="0" err="1"/>
              <a:t>int</a:t>
            </a:r>
            <a:r>
              <a:rPr lang="en-US" sz="1800" dirty="0"/>
              <a:t> summand1 = 17;</a:t>
            </a:r>
          </a:p>
          <a:p>
            <a:pPr lvl="0">
              <a:defRPr sz="1800"/>
            </a:pPr>
            <a:r>
              <a:rPr lang="en-US" sz="1800" dirty="0" err="1"/>
              <a:t>int</a:t>
            </a:r>
            <a:r>
              <a:rPr lang="en-US" sz="1800" dirty="0"/>
              <a:t> summand2 = 42;</a:t>
            </a:r>
          </a:p>
          <a:p>
            <a:pPr lvl="0">
              <a:defRPr sz="1800"/>
            </a:pPr>
            <a:r>
              <a:rPr lang="en-US" sz="1800" dirty="0" err="1"/>
              <a:t>int</a:t>
            </a:r>
            <a:r>
              <a:rPr lang="en-US" sz="1800" dirty="0"/>
              <a:t> sum = summand1 + summand2;</a:t>
            </a:r>
          </a:p>
          <a:p>
            <a:pPr>
              <a:defRPr sz="1800"/>
            </a:pPr>
            <a:r>
              <a:rPr lang="de-AT" sz="1800" dirty="0"/>
              <a:t>Console.WriteLine(“Die Summe beträgt “ + </a:t>
            </a:r>
            <a:r>
              <a:rPr lang="de-AT" sz="1800" dirty="0" err="1"/>
              <a:t>sum</a:t>
            </a:r>
            <a:r>
              <a:rPr lang="de-AT" sz="1800" dirty="0"/>
              <a:t>);</a:t>
            </a:r>
          </a:p>
          <a:p>
            <a:pPr lvl="0">
              <a:defRPr sz="1800"/>
            </a:pPr>
            <a:endParaRPr lang="en-US" sz="1800" dirty="0"/>
          </a:p>
          <a:p>
            <a:pPr lvl="0">
              <a:defRPr sz="1800"/>
            </a:pPr>
            <a:endParaRPr lang="de-AT" sz="1800" dirty="0"/>
          </a:p>
          <a:p>
            <a:pPr lvl="0">
              <a:defRPr sz="1800"/>
            </a:pPr>
            <a:endParaRPr lang="de-AT" sz="1800" dirty="0">
              <a:latin typeface="Monaco"/>
              <a:ea typeface="Monaco"/>
              <a:cs typeface="Monaco"/>
              <a:sym typeface="Monaco"/>
            </a:endParaRPr>
          </a:p>
          <a:p>
            <a:pPr lvl="0">
              <a:defRPr sz="1800"/>
            </a:pPr>
            <a:endParaRPr lang="en-US" dirty="0"/>
          </a:p>
          <a:p>
            <a:endParaRPr lang="de-AT" dirty="0"/>
          </a:p>
        </p:txBody>
      </p:sp>
      <p:grpSp>
        <p:nvGrpSpPr>
          <p:cNvPr id="6" name="Gruppieren 5"/>
          <p:cNvGrpSpPr/>
          <p:nvPr/>
        </p:nvGrpSpPr>
        <p:grpSpPr>
          <a:xfrm>
            <a:off x="2699792" y="1484784"/>
            <a:ext cx="2448272" cy="504056"/>
            <a:chOff x="5436096" y="2132856"/>
            <a:chExt cx="2448272" cy="504056"/>
          </a:xfrm>
        </p:grpSpPr>
        <p:sp>
          <p:nvSpPr>
            <p:cNvPr id="4" name="Ovale Legende 3"/>
            <p:cNvSpPr/>
            <p:nvPr/>
          </p:nvSpPr>
          <p:spPr>
            <a:xfrm>
              <a:off x="5436096" y="2132856"/>
              <a:ext cx="2448272" cy="504056"/>
            </a:xfrm>
            <a:prstGeom prst="wedgeEllipse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5" name="Textfeld 4"/>
            <p:cNvSpPr txBox="1"/>
            <p:nvPr/>
          </p:nvSpPr>
          <p:spPr>
            <a:xfrm>
              <a:off x="5796136" y="2257127"/>
              <a:ext cx="19442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1400" dirty="0">
                  <a:solidFill>
                    <a:schemeClr val="bg1"/>
                  </a:solidFill>
                </a:rPr>
                <a:t>Punkt als Komma!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6496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Einlesen von Zahlen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073427"/>
          </a:xfrm>
        </p:spPr>
        <p:txBody>
          <a:bodyPr/>
          <a:lstStyle/>
          <a:p>
            <a:pPr lvl="0">
              <a:defRPr sz="1800"/>
            </a:pPr>
            <a:endParaRPr lang="en-US" dirty="0"/>
          </a:p>
          <a:p>
            <a:pPr marL="0" lvl="0" indent="0">
              <a:buNone/>
              <a:defRPr sz="1800"/>
            </a:pPr>
            <a:r>
              <a:rPr lang="de-AT" sz="1800" dirty="0" err="1">
                <a:latin typeface="Monaco"/>
                <a:ea typeface="Monaco"/>
                <a:cs typeface="Monaco"/>
                <a:sym typeface="Monaco"/>
              </a:rPr>
              <a:t>int</a:t>
            </a:r>
            <a:r>
              <a:rPr lang="de-AT" sz="1800" dirty="0">
                <a:latin typeface="Monaco"/>
                <a:ea typeface="Monaco"/>
                <a:cs typeface="Monaco"/>
                <a:sym typeface="Monaco"/>
              </a:rPr>
              <a:t> </a:t>
            </a:r>
            <a:r>
              <a:rPr lang="de-AT" sz="1800" dirty="0" err="1">
                <a:latin typeface="Monaco"/>
                <a:ea typeface="Monaco"/>
                <a:cs typeface="Monaco"/>
                <a:sym typeface="Monaco"/>
              </a:rPr>
              <a:t>value</a:t>
            </a:r>
            <a:r>
              <a:rPr lang="de-AT" sz="1800" dirty="0">
                <a:latin typeface="Monaco"/>
                <a:ea typeface="Monaco"/>
                <a:cs typeface="Monaco"/>
                <a:sym typeface="Monaco"/>
              </a:rPr>
              <a:t>;</a:t>
            </a:r>
          </a:p>
          <a:p>
            <a:pPr marL="0" lvl="0" indent="0">
              <a:buNone/>
              <a:defRPr sz="1800"/>
            </a:pPr>
            <a:r>
              <a:rPr lang="de-AT" sz="1800" dirty="0" err="1">
                <a:latin typeface="Monaco"/>
                <a:ea typeface="Monaco"/>
                <a:cs typeface="Monaco"/>
                <a:sym typeface="Monaco"/>
              </a:rPr>
              <a:t>string</a:t>
            </a:r>
            <a:r>
              <a:rPr lang="de-AT" sz="1800" dirty="0">
                <a:latin typeface="Monaco"/>
                <a:ea typeface="Monaco"/>
                <a:cs typeface="Monaco"/>
                <a:sym typeface="Monaco"/>
              </a:rPr>
              <a:t> </a:t>
            </a:r>
            <a:r>
              <a:rPr lang="de-AT" sz="1800" dirty="0" err="1">
                <a:latin typeface="Monaco"/>
                <a:ea typeface="Monaco"/>
                <a:cs typeface="Monaco"/>
                <a:sym typeface="Monaco"/>
              </a:rPr>
              <a:t>userInput</a:t>
            </a:r>
            <a:r>
              <a:rPr lang="de-AT" sz="1800" dirty="0">
                <a:latin typeface="Monaco"/>
                <a:ea typeface="Monaco"/>
                <a:cs typeface="Monaco"/>
                <a:sym typeface="Monaco"/>
              </a:rPr>
              <a:t>;</a:t>
            </a:r>
          </a:p>
          <a:p>
            <a:pPr marL="0" lvl="0" indent="0">
              <a:buNone/>
              <a:defRPr sz="1800"/>
            </a:pPr>
            <a:r>
              <a:rPr lang="de-AT" sz="1800" dirty="0" err="1">
                <a:latin typeface="Monaco"/>
                <a:ea typeface="Monaco"/>
                <a:cs typeface="Monaco"/>
                <a:sym typeface="Monaco"/>
              </a:rPr>
              <a:t>userInput</a:t>
            </a:r>
            <a:r>
              <a:rPr lang="de-AT" sz="1800" dirty="0">
                <a:latin typeface="Monaco"/>
                <a:ea typeface="Monaco"/>
                <a:cs typeface="Monaco"/>
                <a:sym typeface="Monaco"/>
              </a:rPr>
              <a:t> = </a:t>
            </a:r>
            <a:r>
              <a:rPr lang="de-AT" sz="1800" dirty="0" err="1">
                <a:latin typeface="Monaco"/>
                <a:ea typeface="Monaco"/>
                <a:cs typeface="Monaco"/>
                <a:sym typeface="Monaco"/>
              </a:rPr>
              <a:t>Console.ReadLine</a:t>
            </a:r>
            <a:r>
              <a:rPr lang="de-AT" sz="1800" dirty="0">
                <a:latin typeface="Monaco"/>
                <a:ea typeface="Monaco"/>
                <a:cs typeface="Monaco"/>
                <a:sym typeface="Monaco"/>
              </a:rPr>
              <a:t>();</a:t>
            </a:r>
          </a:p>
          <a:p>
            <a:pPr marL="0" lvl="0" indent="0">
              <a:buNone/>
              <a:defRPr sz="1800"/>
            </a:pPr>
            <a:endParaRPr lang="de-AT" sz="1800" dirty="0">
              <a:latin typeface="Monaco"/>
              <a:ea typeface="Monaco"/>
              <a:cs typeface="Monaco"/>
              <a:sym typeface="Monaco"/>
            </a:endParaRPr>
          </a:p>
          <a:p>
            <a:pPr marL="0" lvl="0" indent="0">
              <a:buNone/>
              <a:defRPr sz="1800"/>
            </a:pPr>
            <a:r>
              <a:rPr lang="de-AT" sz="1800" dirty="0" err="1"/>
              <a:t>value</a:t>
            </a:r>
            <a:r>
              <a:rPr lang="de-AT" sz="1800" dirty="0"/>
              <a:t> = Convert.ToInt32(</a:t>
            </a:r>
            <a:r>
              <a:rPr lang="de-AT" sz="1800" dirty="0" err="1"/>
              <a:t>userInput</a:t>
            </a:r>
            <a:r>
              <a:rPr lang="de-AT" sz="1800" dirty="0"/>
              <a:t>); //String wird in Zahl umgewandelt</a:t>
            </a:r>
          </a:p>
          <a:p>
            <a:pPr marL="0" lvl="0" indent="0">
              <a:buNone/>
              <a:defRPr sz="1800"/>
            </a:pPr>
            <a:endParaRPr lang="de-AT" sz="1800" dirty="0"/>
          </a:p>
          <a:p>
            <a:pPr lvl="0">
              <a:defRPr sz="1800"/>
            </a:pPr>
            <a:endParaRPr lang="de-AT" sz="1800" dirty="0"/>
          </a:p>
          <a:p>
            <a:pPr marL="0" lvl="0" indent="0">
              <a:buNone/>
              <a:defRPr sz="1800"/>
            </a:pPr>
            <a:endParaRPr lang="de-AT" sz="1800" dirty="0"/>
          </a:p>
          <a:p>
            <a:pPr marL="0" lvl="0" indent="0">
              <a:buNone/>
              <a:defRPr sz="1800"/>
            </a:pPr>
            <a:endParaRPr lang="de-AT" sz="1800" dirty="0"/>
          </a:p>
          <a:p>
            <a:pPr marL="0" lvl="0" indent="0">
              <a:buNone/>
              <a:defRPr sz="1800"/>
            </a:pPr>
            <a:r>
              <a:rPr lang="de-AT" sz="1800" dirty="0"/>
              <a:t>Für Konvertierung von String zu Double gibt es die Methode </a:t>
            </a:r>
            <a:br>
              <a:rPr lang="de-AT" sz="1800" dirty="0"/>
            </a:br>
            <a:r>
              <a:rPr lang="de-AT" sz="1800" dirty="0"/>
              <a:t>	</a:t>
            </a:r>
            <a:r>
              <a:rPr lang="de-AT" sz="1800" dirty="0" err="1"/>
              <a:t>doubleValue</a:t>
            </a:r>
            <a:r>
              <a:rPr lang="de-AT" sz="1800" dirty="0"/>
              <a:t>= </a:t>
            </a:r>
            <a:r>
              <a:rPr lang="de-AT" sz="1800" dirty="0" err="1"/>
              <a:t>Convert.ToDouble</a:t>
            </a:r>
            <a:r>
              <a:rPr lang="de-AT" sz="1800" dirty="0"/>
              <a:t>(</a:t>
            </a:r>
            <a:r>
              <a:rPr lang="de-AT" sz="1800" dirty="0" err="1"/>
              <a:t>stringValue</a:t>
            </a:r>
            <a:r>
              <a:rPr lang="de-AT" sz="1800" dirty="0"/>
              <a:t>);</a:t>
            </a:r>
          </a:p>
          <a:p>
            <a:pPr marL="0" lvl="0" indent="0">
              <a:buNone/>
              <a:defRPr sz="1800"/>
            </a:pPr>
            <a:endParaRPr lang="de-AT" sz="1800" dirty="0"/>
          </a:p>
          <a:p>
            <a:pPr marL="0" lvl="0" indent="0">
              <a:buNone/>
              <a:defRPr sz="1800"/>
            </a:pPr>
            <a:endParaRPr lang="de-AT" sz="1800" dirty="0"/>
          </a:p>
          <a:p>
            <a:pPr lvl="0">
              <a:defRPr sz="1800"/>
            </a:pPr>
            <a:endParaRPr lang="de-AT" sz="1800" dirty="0">
              <a:latin typeface="Monaco"/>
              <a:ea typeface="Monaco"/>
              <a:cs typeface="Monaco"/>
              <a:sym typeface="Monaco"/>
            </a:endParaRPr>
          </a:p>
          <a:p>
            <a:pPr lvl="0">
              <a:defRPr sz="1800"/>
            </a:pPr>
            <a:endParaRPr lang="en-US" dirty="0"/>
          </a:p>
          <a:p>
            <a:endParaRPr lang="de-AT" dirty="0"/>
          </a:p>
        </p:txBody>
      </p:sp>
      <p:grpSp>
        <p:nvGrpSpPr>
          <p:cNvPr id="7" name="Gruppieren 6"/>
          <p:cNvGrpSpPr/>
          <p:nvPr/>
        </p:nvGrpSpPr>
        <p:grpSpPr>
          <a:xfrm>
            <a:off x="3059832" y="1196752"/>
            <a:ext cx="3168352" cy="504056"/>
            <a:chOff x="5436096" y="2132856"/>
            <a:chExt cx="2448272" cy="504056"/>
          </a:xfrm>
        </p:grpSpPr>
        <p:sp>
          <p:nvSpPr>
            <p:cNvPr id="8" name="Ovale Legende 7"/>
            <p:cNvSpPr/>
            <p:nvPr/>
          </p:nvSpPr>
          <p:spPr>
            <a:xfrm>
              <a:off x="5436096" y="2132856"/>
              <a:ext cx="2448272" cy="504056"/>
            </a:xfrm>
            <a:prstGeom prst="wedgeEllipseCallou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AT"/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5491739" y="2257127"/>
              <a:ext cx="239262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1400" dirty="0">
                  <a:solidFill>
                    <a:schemeClr val="bg1"/>
                  </a:solidFill>
                </a:rPr>
                <a:t>Frage: Wie liest man eine Zahl ein?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27388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Bsp</a:t>
            </a:r>
            <a:r>
              <a:rPr lang="de-AT" dirty="0"/>
              <a:t>: Einlesen eines Gleitkomma-Bruches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90465" y="908720"/>
            <a:ext cx="8005260" cy="4713734"/>
          </a:xfrm>
        </p:spPr>
        <p:txBody>
          <a:bodyPr/>
          <a:lstStyle/>
          <a:p>
            <a:pPr marL="0" lvl="0" indent="0" defTabSz="549148">
              <a:lnSpc>
                <a:spcPct val="30000"/>
              </a:lnSpc>
              <a:spcBef>
                <a:spcPts val="1900"/>
              </a:spcBef>
              <a:buSzTx/>
              <a:buNone/>
              <a:defRPr sz="1800"/>
            </a:pP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public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static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void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Main() </a:t>
            </a:r>
          </a:p>
          <a:p>
            <a:pPr marL="0" lvl="0" indent="0" defTabSz="549148">
              <a:lnSpc>
                <a:spcPct val="30000"/>
              </a:lnSpc>
              <a:spcBef>
                <a:spcPts val="1900"/>
              </a:spcBef>
              <a:buSzTx/>
              <a:buNone/>
              <a:defRPr sz="1800"/>
            </a:pP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{</a:t>
            </a:r>
          </a:p>
          <a:p>
            <a:pPr marL="0" lvl="0" indent="0" defTabSz="549148">
              <a:lnSpc>
                <a:spcPct val="30000"/>
              </a:lnSpc>
              <a:spcBef>
                <a:spcPts val="1900"/>
              </a:spcBef>
              <a:buSzTx/>
              <a:buNone/>
              <a:defRPr sz="1800"/>
            </a:pP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	</a:t>
            </a: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string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input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;</a:t>
            </a:r>
          </a:p>
          <a:p>
            <a:pPr marL="0" lvl="0" indent="0" defTabSz="549148">
              <a:lnSpc>
                <a:spcPct val="30000"/>
              </a:lnSpc>
              <a:spcBef>
                <a:spcPts val="1900"/>
              </a:spcBef>
              <a:buSzTx/>
              <a:buNone/>
              <a:defRPr sz="1800"/>
            </a:pP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  double </a:t>
            </a: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numerater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;</a:t>
            </a:r>
          </a:p>
          <a:p>
            <a:pPr marL="0" lvl="0" indent="0" defTabSz="549148">
              <a:lnSpc>
                <a:spcPct val="30000"/>
              </a:lnSpc>
              <a:spcBef>
                <a:spcPts val="1900"/>
              </a:spcBef>
              <a:buSzTx/>
              <a:buNone/>
              <a:defRPr sz="1800"/>
            </a:pP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	double </a:t>
            </a: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denominator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;</a:t>
            </a:r>
          </a:p>
          <a:p>
            <a:pPr marL="0" lvl="0" indent="0" defTabSz="549148">
              <a:lnSpc>
                <a:spcPct val="30000"/>
              </a:lnSpc>
              <a:spcBef>
                <a:spcPts val="1900"/>
              </a:spcBef>
              <a:buSzTx/>
              <a:buNone/>
              <a:defRPr sz="1800"/>
            </a:pP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	double </a:t>
            </a: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decimalValue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;</a:t>
            </a:r>
          </a:p>
          <a:p>
            <a:pPr marL="0" lvl="0" indent="0" defTabSz="549148">
              <a:lnSpc>
                <a:spcPct val="30000"/>
              </a:lnSpc>
              <a:spcBef>
                <a:spcPts val="1900"/>
              </a:spcBef>
              <a:buSzTx/>
              <a:buNone/>
              <a:defRPr sz="1800"/>
            </a:pP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  	Console.WriteLine("</a:t>
            </a: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Fraction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to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</a:t>
            </a: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Decimal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!”);</a:t>
            </a:r>
          </a:p>
          <a:p>
            <a:pPr marL="0" lvl="0" indent="0" defTabSz="549148">
              <a:lnSpc>
                <a:spcPct val="30000"/>
              </a:lnSpc>
              <a:spcBef>
                <a:spcPts val="1900"/>
              </a:spcBef>
              <a:buSzTx/>
              <a:buNone/>
              <a:defRPr sz="1800"/>
            </a:pPr>
            <a:endParaRPr lang="de-AT" sz="1400" dirty="0">
              <a:latin typeface="Courier New" panose="02070309020205020404" pitchFamily="49" charset="0"/>
              <a:ea typeface="Monaco"/>
              <a:cs typeface="Courier New" panose="02070309020205020404" pitchFamily="49" charset="0"/>
              <a:sym typeface="Monaco"/>
            </a:endParaRPr>
          </a:p>
          <a:p>
            <a:pPr marL="0" lvl="0" indent="0" defTabSz="549148">
              <a:lnSpc>
                <a:spcPct val="30000"/>
              </a:lnSpc>
              <a:spcBef>
                <a:spcPts val="1900"/>
              </a:spcBef>
              <a:buSzTx/>
              <a:buNone/>
              <a:defRPr sz="1800"/>
            </a:pP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	</a:t>
            </a: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Console.Write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(“Enter </a:t>
            </a: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numerator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: “);</a:t>
            </a:r>
          </a:p>
          <a:p>
            <a:pPr marL="0" lvl="0" indent="0" defTabSz="549148">
              <a:lnSpc>
                <a:spcPct val="30000"/>
              </a:lnSpc>
              <a:spcBef>
                <a:spcPts val="1900"/>
              </a:spcBef>
              <a:buSzTx/>
              <a:buNone/>
              <a:defRPr sz="1800"/>
            </a:pP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	</a:t>
            </a: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input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= </a:t>
            </a: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Console.ReadLine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();</a:t>
            </a:r>
          </a:p>
          <a:p>
            <a:pPr marL="0" lvl="0" indent="0" defTabSz="549148">
              <a:lnSpc>
                <a:spcPct val="30000"/>
              </a:lnSpc>
              <a:spcBef>
                <a:spcPts val="1900"/>
              </a:spcBef>
              <a:buSzTx/>
              <a:buNone/>
              <a:defRPr sz="1800"/>
            </a:pP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	</a:t>
            </a:r>
            <a:r>
              <a:rPr lang="de-AT" sz="1400" b="1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numerator</a:t>
            </a:r>
            <a:r>
              <a:rPr lang="de-AT" sz="1400" b="1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= </a:t>
            </a:r>
            <a:r>
              <a:rPr lang="de-AT" sz="1400" b="1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Convert.ToDouble</a:t>
            </a:r>
            <a:r>
              <a:rPr lang="de-AT" sz="1400" b="1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</a:t>
            </a:r>
            <a:r>
              <a:rPr lang="de-AT" sz="1400" b="1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input</a:t>
            </a:r>
            <a:r>
              <a:rPr lang="de-AT" sz="1400" b="1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);</a:t>
            </a:r>
            <a:endParaRPr lang="de-AT" sz="1400" dirty="0">
              <a:latin typeface="Courier New" panose="02070309020205020404" pitchFamily="49" charset="0"/>
              <a:ea typeface="Monaco"/>
              <a:cs typeface="Courier New" panose="02070309020205020404" pitchFamily="49" charset="0"/>
              <a:sym typeface="Monaco"/>
            </a:endParaRPr>
          </a:p>
          <a:p>
            <a:pPr marL="0" lvl="0" indent="0" defTabSz="549148">
              <a:lnSpc>
                <a:spcPct val="30000"/>
              </a:lnSpc>
              <a:spcBef>
                <a:spcPts val="1900"/>
              </a:spcBef>
              <a:buSzTx/>
              <a:buNone/>
              <a:defRPr sz="1800"/>
            </a:pP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	</a:t>
            </a: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Console.Write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(“Enter </a:t>
            </a: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denominator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: “);</a:t>
            </a:r>
          </a:p>
          <a:p>
            <a:pPr marL="0" lvl="0" indent="0" defTabSz="549148">
              <a:lnSpc>
                <a:spcPct val="30000"/>
              </a:lnSpc>
              <a:spcBef>
                <a:spcPts val="1900"/>
              </a:spcBef>
              <a:buSzTx/>
              <a:buNone/>
              <a:defRPr sz="1800"/>
            </a:pP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	</a:t>
            </a: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input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= </a:t>
            </a: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Console.ReadLine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();</a:t>
            </a:r>
          </a:p>
          <a:p>
            <a:pPr marL="0" lvl="0" indent="0" defTabSz="549148">
              <a:lnSpc>
                <a:spcPct val="30000"/>
              </a:lnSpc>
              <a:spcBef>
                <a:spcPts val="1900"/>
              </a:spcBef>
              <a:buSzTx/>
              <a:buNone/>
              <a:defRPr sz="1800"/>
            </a:pPr>
            <a:r>
              <a:rPr lang="de-AT" sz="18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	</a:t>
            </a:r>
            <a:r>
              <a:rPr lang="de-AT" sz="1400" b="1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denominator</a:t>
            </a:r>
            <a:r>
              <a:rPr lang="de-AT" sz="1400" b="1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= </a:t>
            </a:r>
            <a:r>
              <a:rPr lang="de-AT" sz="1400" b="1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Convert.ToDouble</a:t>
            </a:r>
            <a:r>
              <a:rPr lang="de-AT" sz="1400" b="1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</a:t>
            </a:r>
            <a:r>
              <a:rPr lang="de-AT" sz="1400" b="1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input</a:t>
            </a:r>
            <a:r>
              <a:rPr lang="de-AT" sz="1400" b="1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);</a:t>
            </a:r>
          </a:p>
          <a:p>
            <a:pPr marL="0" lvl="0" indent="0" defTabSz="549148">
              <a:lnSpc>
                <a:spcPct val="30000"/>
              </a:lnSpc>
              <a:spcBef>
                <a:spcPts val="1900"/>
              </a:spcBef>
              <a:buSzTx/>
              <a:buNone/>
              <a:defRPr sz="1800"/>
            </a:pPr>
            <a:endParaRPr lang="de-AT" sz="1400" dirty="0">
              <a:latin typeface="Courier New" panose="02070309020205020404" pitchFamily="49" charset="0"/>
              <a:ea typeface="Monaco"/>
              <a:cs typeface="Courier New" panose="02070309020205020404" pitchFamily="49" charset="0"/>
              <a:sym typeface="Monaco"/>
            </a:endParaRPr>
          </a:p>
          <a:p>
            <a:pPr marL="0" lvl="0" indent="0" defTabSz="549148">
              <a:lnSpc>
                <a:spcPct val="30000"/>
              </a:lnSpc>
              <a:spcBef>
                <a:spcPts val="1900"/>
              </a:spcBef>
              <a:buSzTx/>
              <a:buNone/>
              <a:defRPr sz="1800"/>
            </a:pP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	</a:t>
            </a:r>
            <a:r>
              <a:rPr lang="de-AT" sz="1400" b="1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decimalValue</a:t>
            </a:r>
            <a:r>
              <a:rPr lang="de-AT" sz="1400" b="1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= </a:t>
            </a:r>
            <a:r>
              <a:rPr lang="de-AT" sz="1400" b="1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numerator</a:t>
            </a:r>
            <a:r>
              <a:rPr lang="de-AT" sz="1400" b="1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 / </a:t>
            </a:r>
            <a:r>
              <a:rPr lang="de-AT" sz="1400" b="1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denominator</a:t>
            </a:r>
            <a:r>
              <a:rPr lang="de-AT" sz="1400" b="1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;</a:t>
            </a:r>
          </a:p>
          <a:p>
            <a:pPr marL="0" lvl="0" indent="0" defTabSz="549148">
              <a:lnSpc>
                <a:spcPct val="30000"/>
              </a:lnSpc>
              <a:spcBef>
                <a:spcPts val="1900"/>
              </a:spcBef>
              <a:buSzTx/>
              <a:buNone/>
              <a:defRPr sz="1800"/>
            </a:pP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	</a:t>
            </a: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Console.WriteLine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(</a:t>
            </a: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numerator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+“/“+</a:t>
            </a: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denominator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+“=“+</a:t>
            </a:r>
            <a:r>
              <a:rPr lang="de-AT" sz="1400" dirty="0" err="1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decimalValue</a:t>
            </a: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);</a:t>
            </a:r>
          </a:p>
          <a:p>
            <a:pPr marL="0" lvl="0" indent="0" defTabSz="549148">
              <a:lnSpc>
                <a:spcPct val="30000"/>
              </a:lnSpc>
              <a:spcBef>
                <a:spcPts val="1900"/>
              </a:spcBef>
              <a:buSzTx/>
              <a:buNone/>
              <a:defRPr sz="1800"/>
            </a:pPr>
            <a:r>
              <a:rPr lang="de-AT" sz="1400" dirty="0">
                <a:latin typeface="Courier New" panose="02070309020205020404" pitchFamily="49" charset="0"/>
                <a:ea typeface="Monaco"/>
                <a:cs typeface="Courier New" panose="02070309020205020404" pitchFamily="49" charset="0"/>
                <a:sym typeface="Monaco"/>
              </a:rPr>
              <a:t>}</a:t>
            </a:r>
          </a:p>
          <a:p>
            <a:endParaRPr lang="de-AT" sz="2000" dirty="0"/>
          </a:p>
        </p:txBody>
      </p:sp>
    </p:spTree>
    <p:extLst>
      <p:ext uri="{BB962C8B-B14F-4D97-AF65-F5344CB8AC3E}">
        <p14:creationId xmlns:p14="http://schemas.microsoft.com/office/powerpoint/2010/main" val="122826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Ausgabe von Variablen mit Platzhaltern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40000"/>
              </a:spcBef>
            </a:pPr>
            <a:r>
              <a:rPr lang="en-US" altLang="de-DE" sz="2000" dirty="0" err="1"/>
              <a:t>Console.Write</a:t>
            </a:r>
            <a:r>
              <a:rPr lang="en-US" altLang="de-DE" sz="2000" dirty="0"/>
              <a:t>("Hello </a:t>
            </a:r>
            <a:r>
              <a:rPr lang="en-US" altLang="de-DE" sz="2000" dirty="0">
                <a:solidFill>
                  <a:srgbClr val="FF0000"/>
                </a:solidFill>
              </a:rPr>
              <a:t>{0}</a:t>
            </a:r>
            <a:r>
              <a:rPr lang="en-US" altLang="de-DE" sz="2000" dirty="0"/>
              <a:t>", name);	// </a:t>
            </a:r>
            <a:r>
              <a:rPr lang="en-US" altLang="de-DE" sz="2000" dirty="0" err="1"/>
              <a:t>Platzhalter</a:t>
            </a:r>
            <a:endParaRPr lang="en-US" altLang="de-DE" sz="2000" dirty="0"/>
          </a:p>
          <a:p>
            <a:r>
              <a:rPr lang="en-US" altLang="de-DE" sz="2000" dirty="0" err="1"/>
              <a:t>Console.WriteLine</a:t>
            </a:r>
            <a:r>
              <a:rPr lang="en-US" altLang="de-DE" sz="2000" dirty="0"/>
              <a:t>("</a:t>
            </a:r>
            <a:r>
              <a:rPr lang="en-US" altLang="de-DE" sz="2000" dirty="0">
                <a:solidFill>
                  <a:srgbClr val="FF0000"/>
                </a:solidFill>
              </a:rPr>
              <a:t>{0}</a:t>
            </a:r>
            <a:r>
              <a:rPr lang="en-US" altLang="de-DE" sz="2000" dirty="0"/>
              <a:t> = </a:t>
            </a:r>
            <a:r>
              <a:rPr lang="en-US" altLang="de-DE" sz="2000" dirty="0">
                <a:solidFill>
                  <a:srgbClr val="FF0000"/>
                </a:solidFill>
              </a:rPr>
              <a:t>{1}</a:t>
            </a:r>
            <a:r>
              <a:rPr lang="en-US" altLang="de-DE" sz="2000" dirty="0"/>
              <a:t>", x, y);</a:t>
            </a:r>
            <a:endParaRPr lang="de-AT" altLang="de-DE" sz="2000" dirty="0"/>
          </a:p>
          <a:p>
            <a:endParaRPr lang="de-AT" dirty="0"/>
          </a:p>
        </p:txBody>
      </p:sp>
      <p:sp>
        <p:nvSpPr>
          <p:cNvPr id="5" name="Foliennummernplatzhalter 5"/>
          <p:cNvSpPr txBox="1">
            <a:spLocks/>
          </p:cNvSpPr>
          <p:nvPr/>
        </p:nvSpPr>
        <p:spPr>
          <a:xfrm>
            <a:off x="7163049" y="5930404"/>
            <a:ext cx="1449387" cy="30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BACCAA67-E619-4E7E-BDC2-91AB8A42BAB7}" type="slidenum">
              <a:rPr lang="de-DE" altLang="de-DE" sz="1200" smtClean="0"/>
              <a:pPr/>
              <a:t>18</a:t>
            </a:fld>
            <a:endParaRPr lang="de-DE" altLang="de-DE" sz="1200"/>
          </a:p>
        </p:txBody>
      </p:sp>
      <p:grpSp>
        <p:nvGrpSpPr>
          <p:cNvPr id="6" name="Group 7"/>
          <p:cNvGrpSpPr>
            <a:grpSpLocks/>
          </p:cNvGrpSpPr>
          <p:nvPr/>
        </p:nvGrpSpPr>
        <p:grpSpPr bwMode="auto">
          <a:xfrm>
            <a:off x="395536" y="2564904"/>
            <a:ext cx="8153400" cy="3744913"/>
            <a:chOff x="420" y="1912"/>
            <a:chExt cx="5136" cy="2359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648" y="2152"/>
              <a:ext cx="2336" cy="240"/>
            </a:xfrm>
            <a:prstGeom prst="rect">
              <a:avLst/>
            </a:prstGeom>
            <a:solidFill>
              <a:schemeClr val="accent3">
                <a:lumMod val="8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de-DE" sz="1600"/>
            </a:p>
          </p:txBody>
        </p:sp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420" y="1912"/>
              <a:ext cx="5136" cy="2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  <a:tab pos="3606800" algn="l"/>
                </a:tabLst>
                <a:defRPr sz="16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de-DE" sz="1800" b="1" dirty="0" err="1">
                  <a:latin typeface="+mn-lt"/>
                </a:rPr>
                <a:t>Platzhalter</a:t>
              </a:r>
              <a:r>
                <a:rPr lang="en-US" altLang="de-DE" sz="1800" b="1" dirty="0">
                  <a:latin typeface="+mn-lt"/>
                </a:rPr>
                <a:t>-Syntax</a:t>
              </a:r>
            </a:p>
            <a:p>
              <a:pPr>
                <a:spcBef>
                  <a:spcPct val="40000"/>
                </a:spcBef>
              </a:pPr>
              <a:r>
                <a:rPr lang="en-US" altLang="de-DE" sz="1400" dirty="0">
                  <a:latin typeface="Arial" panose="020B0604020202020204" pitchFamily="34" charset="0"/>
                </a:rPr>
                <a:t>	"{" n ["," width] [":" format [precision]] "}"</a:t>
              </a:r>
            </a:p>
            <a:p>
              <a:pPr>
                <a:spcBef>
                  <a:spcPct val="20000"/>
                </a:spcBef>
              </a:pPr>
              <a:endParaRPr lang="en-US" altLang="de-DE" sz="1400" dirty="0">
                <a:latin typeface="Arial" panose="020B0604020202020204" pitchFamily="34" charset="0"/>
              </a:endParaRPr>
            </a:p>
            <a:p>
              <a:r>
                <a:rPr lang="en-US" altLang="de-DE" dirty="0"/>
                <a:t>	</a:t>
              </a:r>
              <a:r>
                <a:rPr lang="en-US" altLang="de-DE" i="1" dirty="0">
                  <a:latin typeface="+mn-lt"/>
                </a:rPr>
                <a:t>n</a:t>
              </a:r>
              <a:r>
                <a:rPr lang="en-US" altLang="de-DE" dirty="0">
                  <a:latin typeface="+mn-lt"/>
                </a:rPr>
                <a:t>	</a:t>
              </a:r>
              <a:r>
                <a:rPr lang="en-US" altLang="de-DE" dirty="0" err="1">
                  <a:latin typeface="+mn-lt"/>
                </a:rPr>
                <a:t>Argumentnummer</a:t>
              </a:r>
              <a:r>
                <a:rPr lang="en-US" altLang="de-DE" dirty="0">
                  <a:latin typeface="+mn-lt"/>
                </a:rPr>
                <a:t> (</a:t>
              </a:r>
              <a:r>
                <a:rPr lang="en-US" altLang="de-DE" dirty="0" err="1">
                  <a:latin typeface="+mn-lt"/>
                </a:rPr>
                <a:t>beginnend</a:t>
              </a:r>
              <a:r>
                <a:rPr lang="en-US" altLang="de-DE" dirty="0">
                  <a:latin typeface="+mn-lt"/>
                </a:rPr>
                <a:t> </a:t>
              </a:r>
              <a:r>
                <a:rPr lang="en-US" altLang="de-DE" dirty="0" err="1">
                  <a:latin typeface="+mn-lt"/>
                </a:rPr>
                <a:t>bei</a:t>
              </a:r>
              <a:r>
                <a:rPr lang="en-US" altLang="de-DE" dirty="0">
                  <a:latin typeface="+mn-lt"/>
                </a:rPr>
                <a:t> 0)</a:t>
              </a:r>
            </a:p>
            <a:p>
              <a:pPr>
                <a:spcBef>
                  <a:spcPct val="40000"/>
                </a:spcBef>
              </a:pPr>
              <a:r>
                <a:rPr lang="en-US" altLang="de-DE" dirty="0">
                  <a:latin typeface="+mn-lt"/>
                </a:rPr>
                <a:t>	</a:t>
              </a:r>
              <a:r>
                <a:rPr lang="en-US" altLang="de-DE" i="1" dirty="0">
                  <a:latin typeface="+mn-lt"/>
                </a:rPr>
                <a:t>width</a:t>
              </a:r>
              <a:r>
                <a:rPr lang="en-US" altLang="de-DE" dirty="0">
                  <a:latin typeface="+mn-lt"/>
                </a:rPr>
                <a:t>	</a:t>
              </a:r>
              <a:r>
                <a:rPr lang="en-US" altLang="de-DE" dirty="0" err="1">
                  <a:latin typeface="+mn-lt"/>
                </a:rPr>
                <a:t>Feldbreite</a:t>
              </a:r>
              <a:r>
                <a:rPr lang="en-US" altLang="de-DE" dirty="0">
                  <a:latin typeface="+mn-lt"/>
                </a:rPr>
                <a:t> (</a:t>
              </a:r>
              <a:r>
                <a:rPr lang="en-US" altLang="de-DE" dirty="0" err="1">
                  <a:latin typeface="+mn-lt"/>
                </a:rPr>
                <a:t>wenn</a:t>
              </a:r>
              <a:r>
                <a:rPr lang="en-US" altLang="de-DE" dirty="0">
                  <a:latin typeface="+mn-lt"/>
                </a:rPr>
                <a:t> </a:t>
              </a:r>
              <a:r>
                <a:rPr lang="en-US" altLang="de-DE" dirty="0" err="1">
                  <a:latin typeface="+mn-lt"/>
                </a:rPr>
                <a:t>zu</a:t>
              </a:r>
              <a:r>
                <a:rPr lang="en-US" altLang="de-DE" dirty="0">
                  <a:latin typeface="+mn-lt"/>
                </a:rPr>
                <a:t> </a:t>
              </a:r>
              <a:r>
                <a:rPr lang="en-US" altLang="de-DE" dirty="0" err="1">
                  <a:latin typeface="+mn-lt"/>
                </a:rPr>
                <a:t>klein</a:t>
              </a:r>
              <a:r>
                <a:rPr lang="en-US" altLang="de-DE" dirty="0">
                  <a:latin typeface="+mn-lt"/>
                </a:rPr>
                <a:t>, </a:t>
              </a:r>
              <a:r>
                <a:rPr lang="en-US" altLang="de-DE" dirty="0" err="1">
                  <a:latin typeface="+mn-lt"/>
                </a:rPr>
                <a:t>wird</a:t>
              </a:r>
              <a:r>
                <a:rPr lang="en-US" altLang="de-DE" dirty="0">
                  <a:latin typeface="+mn-lt"/>
                </a:rPr>
                <a:t> </a:t>
              </a:r>
              <a:r>
                <a:rPr lang="en-US" altLang="de-DE" dirty="0" err="1">
                  <a:latin typeface="+mn-lt"/>
                </a:rPr>
                <a:t>sie</a:t>
              </a:r>
              <a:r>
                <a:rPr lang="en-US" altLang="de-DE" dirty="0">
                  <a:latin typeface="+mn-lt"/>
                </a:rPr>
                <a:t> </a:t>
              </a:r>
              <a:r>
                <a:rPr lang="en-US" altLang="de-DE" dirty="0" err="1">
                  <a:latin typeface="+mn-lt"/>
                </a:rPr>
                <a:t>überschritten</a:t>
              </a:r>
              <a:r>
                <a:rPr lang="en-US" altLang="de-DE" dirty="0">
                  <a:latin typeface="+mn-lt"/>
                </a:rPr>
                <a:t>)</a:t>
              </a:r>
            </a:p>
            <a:p>
              <a:r>
                <a:rPr lang="en-US" altLang="de-DE" dirty="0">
                  <a:latin typeface="+mn-lt"/>
                </a:rPr>
                <a:t>		</a:t>
              </a:r>
              <a:r>
                <a:rPr lang="en-US" altLang="de-DE" dirty="0" err="1">
                  <a:latin typeface="+mn-lt"/>
                </a:rPr>
                <a:t>positiv</a:t>
              </a:r>
              <a:r>
                <a:rPr lang="en-US" altLang="de-DE" dirty="0">
                  <a:latin typeface="+mn-lt"/>
                </a:rPr>
                <a:t> = </a:t>
              </a:r>
              <a:r>
                <a:rPr lang="en-US" altLang="de-DE" dirty="0" err="1">
                  <a:latin typeface="+mn-lt"/>
                </a:rPr>
                <a:t>rechtsbündig</a:t>
              </a:r>
              <a:r>
                <a:rPr lang="en-US" altLang="de-DE" dirty="0">
                  <a:latin typeface="+mn-lt"/>
                </a:rPr>
                <a:t>, </a:t>
              </a:r>
              <a:r>
                <a:rPr lang="en-US" altLang="de-DE" dirty="0" err="1">
                  <a:latin typeface="+mn-lt"/>
                </a:rPr>
                <a:t>negativ</a:t>
              </a:r>
              <a:r>
                <a:rPr lang="en-US" altLang="de-DE" dirty="0">
                  <a:latin typeface="+mn-lt"/>
                </a:rPr>
                <a:t> = </a:t>
              </a:r>
              <a:r>
                <a:rPr lang="en-US" altLang="de-DE" dirty="0" err="1">
                  <a:latin typeface="+mn-lt"/>
                </a:rPr>
                <a:t>linksbündig</a:t>
              </a:r>
              <a:endParaRPr lang="en-US" altLang="de-DE" dirty="0">
                <a:latin typeface="+mn-lt"/>
              </a:endParaRPr>
            </a:p>
            <a:p>
              <a:pPr>
                <a:spcBef>
                  <a:spcPct val="40000"/>
                </a:spcBef>
              </a:pPr>
              <a:r>
                <a:rPr lang="en-US" altLang="de-DE" dirty="0">
                  <a:latin typeface="+mn-lt"/>
                </a:rPr>
                <a:t>	</a:t>
              </a:r>
              <a:r>
                <a:rPr lang="en-US" altLang="de-DE" i="1" dirty="0">
                  <a:latin typeface="+mn-lt"/>
                </a:rPr>
                <a:t>format</a:t>
              </a:r>
              <a:r>
                <a:rPr lang="en-US" altLang="de-DE" dirty="0">
                  <a:latin typeface="+mn-lt"/>
                </a:rPr>
                <a:t>	</a:t>
              </a:r>
              <a:r>
                <a:rPr lang="en-US" altLang="de-DE" dirty="0" err="1">
                  <a:latin typeface="+mn-lt"/>
                </a:rPr>
                <a:t>Formatierungscode</a:t>
              </a:r>
              <a:r>
                <a:rPr lang="en-US" altLang="de-DE" dirty="0">
                  <a:latin typeface="+mn-lt"/>
                </a:rPr>
                <a:t> (</a:t>
              </a:r>
              <a:r>
                <a:rPr lang="en-US" altLang="de-DE" dirty="0" err="1">
                  <a:latin typeface="+mn-lt"/>
                </a:rPr>
                <a:t>z.B</a:t>
              </a:r>
              <a:r>
                <a:rPr lang="en-US" altLang="de-DE" dirty="0">
                  <a:latin typeface="+mn-lt"/>
                </a:rPr>
                <a:t>. d, f, e, x, ...)</a:t>
              </a:r>
            </a:p>
            <a:p>
              <a:pPr>
                <a:spcBef>
                  <a:spcPct val="40000"/>
                </a:spcBef>
              </a:pPr>
              <a:r>
                <a:rPr lang="en-US" altLang="de-DE" dirty="0">
                  <a:latin typeface="+mn-lt"/>
                </a:rPr>
                <a:t>	</a:t>
              </a:r>
              <a:r>
                <a:rPr lang="en-US" altLang="de-DE" i="1" dirty="0">
                  <a:latin typeface="+mn-lt"/>
                </a:rPr>
                <a:t>precision</a:t>
              </a:r>
              <a:r>
                <a:rPr lang="en-US" altLang="de-DE" dirty="0">
                  <a:latin typeface="+mn-lt"/>
                </a:rPr>
                <a:t>	</a:t>
              </a:r>
              <a:r>
                <a:rPr lang="en-US" altLang="de-DE" dirty="0" err="1">
                  <a:latin typeface="+mn-lt"/>
                </a:rPr>
                <a:t>Anzahl</a:t>
              </a:r>
              <a:r>
                <a:rPr lang="en-US" altLang="de-DE" dirty="0">
                  <a:latin typeface="+mn-lt"/>
                </a:rPr>
                <a:t> der </a:t>
              </a:r>
              <a:r>
                <a:rPr lang="en-US" altLang="de-DE" dirty="0" err="1">
                  <a:latin typeface="+mn-lt"/>
                </a:rPr>
                <a:t>Nachkommastellen</a:t>
              </a:r>
              <a:r>
                <a:rPr lang="en-US" altLang="de-DE" dirty="0">
                  <a:latin typeface="+mn-lt"/>
                </a:rPr>
                <a:t> (</a:t>
              </a:r>
              <a:r>
                <a:rPr lang="en-US" altLang="de-DE" dirty="0" err="1">
                  <a:latin typeface="+mn-lt"/>
                </a:rPr>
                <a:t>machmal</a:t>
              </a:r>
              <a:r>
                <a:rPr lang="en-US" altLang="de-DE" dirty="0">
                  <a:latin typeface="+mn-lt"/>
                </a:rPr>
                <a:t> </a:t>
              </a:r>
              <a:r>
                <a:rPr lang="en-US" altLang="de-DE" dirty="0" err="1">
                  <a:latin typeface="+mn-lt"/>
                </a:rPr>
                <a:t>Anzahl</a:t>
              </a:r>
              <a:r>
                <a:rPr lang="en-US" altLang="de-DE" dirty="0">
                  <a:latin typeface="+mn-lt"/>
                </a:rPr>
                <a:t> der </a:t>
              </a:r>
              <a:r>
                <a:rPr lang="en-US" altLang="de-DE" dirty="0" err="1">
                  <a:latin typeface="+mn-lt"/>
                </a:rPr>
                <a:t>Ziffern</a:t>
              </a:r>
              <a:r>
                <a:rPr lang="en-US" altLang="de-DE" dirty="0">
                  <a:latin typeface="+mn-lt"/>
                </a:rPr>
                <a:t>)</a:t>
              </a:r>
            </a:p>
            <a:p>
              <a:pPr>
                <a:spcBef>
                  <a:spcPct val="40000"/>
                </a:spcBef>
              </a:pPr>
              <a:r>
                <a:rPr lang="en-US" altLang="de-DE" dirty="0">
                  <a:latin typeface="+mn-lt"/>
                </a:rPr>
                <a:t>	</a:t>
              </a:r>
              <a:r>
                <a:rPr lang="en-US" altLang="de-DE" b="1" dirty="0" err="1">
                  <a:latin typeface="+mn-lt"/>
                </a:rPr>
                <a:t>Beispiel</a:t>
              </a:r>
              <a:r>
                <a:rPr lang="en-US" altLang="de-DE" dirty="0">
                  <a:latin typeface="+mn-lt"/>
                </a:rPr>
                <a:t>:	{0,10:f2}  </a:t>
              </a:r>
              <a:r>
                <a:rPr lang="en-US" altLang="de-DE" dirty="0">
                  <a:latin typeface="+mn-lt"/>
                  <a:sym typeface="Wingdings" panose="05000000000000000000" pitchFamily="2" charset="2"/>
                </a:rPr>
                <a:t> </a:t>
              </a:r>
              <a:r>
                <a:rPr lang="en-US" altLang="de-DE" dirty="0" err="1">
                  <a:latin typeface="+mn-lt"/>
                  <a:sym typeface="Wingdings" panose="05000000000000000000" pitchFamily="2" charset="2"/>
                </a:rPr>
                <a:t>Ausgabe</a:t>
              </a:r>
              <a:r>
                <a:rPr lang="en-US" altLang="de-DE" dirty="0">
                  <a:latin typeface="+mn-lt"/>
                  <a:sym typeface="Wingdings" panose="05000000000000000000" pitchFamily="2" charset="2"/>
                </a:rPr>
                <a:t> auf 10 </a:t>
              </a:r>
              <a:r>
                <a:rPr lang="en-US" altLang="de-DE" dirty="0" err="1">
                  <a:latin typeface="+mn-lt"/>
                  <a:sym typeface="Wingdings" panose="05000000000000000000" pitchFamily="2" charset="2"/>
                </a:rPr>
                <a:t>Stellen</a:t>
              </a:r>
              <a:r>
                <a:rPr lang="en-US" altLang="de-DE" dirty="0">
                  <a:latin typeface="+mn-lt"/>
                  <a:sym typeface="Wingdings" panose="05000000000000000000" pitchFamily="2" charset="2"/>
                </a:rPr>
                <a:t> </a:t>
              </a:r>
              <a:r>
                <a:rPr lang="en-US" altLang="de-DE" dirty="0" err="1">
                  <a:latin typeface="+mn-lt"/>
                  <a:sym typeface="Wingdings" panose="05000000000000000000" pitchFamily="2" charset="2"/>
                </a:rPr>
                <a:t>rechtsbündig</a:t>
              </a:r>
              <a:r>
                <a:rPr lang="en-US" altLang="de-DE" dirty="0">
                  <a:latin typeface="+mn-lt"/>
                  <a:sym typeface="Wingdings" panose="05000000000000000000" pitchFamily="2" charset="2"/>
                </a:rPr>
                <a:t> / 	 	                    	</a:t>
              </a:r>
              <a:r>
                <a:rPr lang="en-US" altLang="de-DE" dirty="0" err="1">
                  <a:latin typeface="+mn-lt"/>
                  <a:sym typeface="Wingdings" panose="05000000000000000000" pitchFamily="2" charset="2"/>
                </a:rPr>
                <a:t>Gleitkommazahl</a:t>
              </a:r>
              <a:r>
                <a:rPr lang="en-US" altLang="de-DE" dirty="0">
                  <a:latin typeface="+mn-lt"/>
                  <a:sym typeface="Wingdings" panose="05000000000000000000" pitchFamily="2" charset="2"/>
                </a:rPr>
                <a:t> </a:t>
              </a:r>
              <a:r>
                <a:rPr lang="en-US" altLang="de-DE" dirty="0" err="1">
                  <a:latin typeface="+mn-lt"/>
                  <a:sym typeface="Wingdings" panose="05000000000000000000" pitchFamily="2" charset="2"/>
                </a:rPr>
                <a:t>mit</a:t>
              </a:r>
              <a:r>
                <a:rPr lang="en-US" altLang="de-DE" dirty="0">
                  <a:latin typeface="+mn-lt"/>
                  <a:sym typeface="Wingdings" panose="05000000000000000000" pitchFamily="2" charset="2"/>
                </a:rPr>
                <a:t> 2 </a:t>
              </a:r>
              <a:r>
                <a:rPr lang="en-US" altLang="de-DE" dirty="0" err="1">
                  <a:latin typeface="+mn-lt"/>
                  <a:sym typeface="Wingdings" panose="05000000000000000000" pitchFamily="2" charset="2"/>
                </a:rPr>
                <a:t>Nachkommastellen</a:t>
              </a:r>
              <a:endParaRPr lang="en-US" altLang="de-DE" dirty="0">
                <a:latin typeface="+mn-lt"/>
                <a:sym typeface="Wingdings" panose="05000000000000000000" pitchFamily="2" charset="2"/>
              </a:endParaRPr>
            </a:p>
            <a:p>
              <a:pPr>
                <a:spcBef>
                  <a:spcPct val="40000"/>
                </a:spcBef>
              </a:pPr>
              <a:r>
                <a:rPr lang="de-DE" altLang="de-DE" dirty="0">
                  <a:latin typeface="+mn-lt"/>
                  <a:sym typeface="Wingdings" panose="05000000000000000000" pitchFamily="2" charset="2"/>
                </a:rPr>
                <a:t>	</a:t>
              </a:r>
              <a:r>
                <a:rPr lang="en-US" altLang="de-DE" dirty="0">
                  <a:latin typeface="+mn-lt"/>
                  <a:sym typeface="Wingdings" panose="05000000000000000000" pitchFamily="2" charset="2"/>
                </a:rPr>
                <a:t>			</a:t>
              </a:r>
              <a:endParaRPr lang="en-US" altLang="de-DE" dirty="0">
                <a:latin typeface="+mn-lt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0E52D2B-75E3-4C12-A0D1-433623697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064" y="5676900"/>
            <a:ext cx="2914650" cy="7810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AD7032-3079-4E55-A3EC-5FC569984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915" y="5598865"/>
            <a:ext cx="3076575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15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Formatierungscode für Zahlen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85800" y="1295400"/>
            <a:ext cx="7772400" cy="5029200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d, D	</a:t>
            </a:r>
            <a:r>
              <a:rPr lang="en-US" altLang="de-DE" sz="1600">
                <a:solidFill>
                  <a:srgbClr val="FF0000"/>
                </a:solidFill>
              </a:rPr>
              <a:t>Dezimalformat</a:t>
            </a:r>
            <a:r>
              <a:rPr lang="en-US" altLang="de-DE" sz="1600"/>
              <a:t> (ganze Zahl mit führenden Nullen)	-xxxxx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	precision = Anz. Ziffern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endParaRPr lang="en-US" altLang="de-DE" sz="1600"/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f, F	</a:t>
            </a:r>
            <a:r>
              <a:rPr lang="en-US" altLang="de-DE" sz="1600">
                <a:solidFill>
                  <a:srgbClr val="FF0000"/>
                </a:solidFill>
              </a:rPr>
              <a:t>Fixpunktformat</a:t>
            </a:r>
            <a:r>
              <a:rPr lang="en-US" altLang="de-DE" sz="1600"/>
              <a:t>	-xxxxx.xx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	precision = Anz. Nachkommastellen (Default = 2)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endParaRPr lang="en-US" altLang="de-DE" sz="1600"/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n, N	</a:t>
            </a:r>
            <a:r>
              <a:rPr lang="en-US" altLang="de-DE" sz="1600">
                <a:solidFill>
                  <a:srgbClr val="FF0000"/>
                </a:solidFill>
              </a:rPr>
              <a:t>Nummernformat</a:t>
            </a:r>
            <a:r>
              <a:rPr lang="en-US" altLang="de-DE" sz="1600"/>
              <a:t> (mit Tausender-Trennstrich)	-xx,xxx.xx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	precision = Anz. Nachkommastellen (Default = 2)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endParaRPr lang="en-US" altLang="de-DE" sz="1600"/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e, E	</a:t>
            </a:r>
            <a:r>
              <a:rPr lang="en-US" altLang="de-DE" sz="1600">
                <a:solidFill>
                  <a:srgbClr val="FF0000"/>
                </a:solidFill>
              </a:rPr>
              <a:t>Exponentialformat</a:t>
            </a:r>
            <a:r>
              <a:rPr lang="en-US" altLang="de-DE" sz="1600"/>
              <a:t> (groß/klein signifikant)	-x.xxxE+xxx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	precision = Anz.Nachkommastellen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endParaRPr lang="en-US" altLang="de-DE" sz="1600"/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c, C	</a:t>
            </a:r>
            <a:r>
              <a:rPr lang="en-US" altLang="de-DE" sz="1600">
                <a:solidFill>
                  <a:srgbClr val="FF0000"/>
                </a:solidFill>
              </a:rPr>
              <a:t>Currency-Format</a:t>
            </a:r>
            <a:r>
              <a:rPr lang="en-US" altLang="de-DE" sz="1600"/>
              <a:t>	$xx,xxx.xx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	precision = Anz. Nachkommastellen (Default = 2)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	Negative Werte werden in Klammern gesetzt	($xx,xxx.xx)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endParaRPr lang="en-US" altLang="de-DE" sz="1600"/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x, X	</a:t>
            </a:r>
            <a:r>
              <a:rPr lang="en-US" altLang="de-DE" sz="1600">
                <a:solidFill>
                  <a:srgbClr val="FF0000"/>
                </a:solidFill>
              </a:rPr>
              <a:t>Hexadezimalformat</a:t>
            </a:r>
            <a:r>
              <a:rPr lang="en-US" altLang="de-DE" sz="1600"/>
              <a:t> (groß/klein signifikant)	xxx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	precision = Anzahl Hex-Ziffern (evtl. führende 0)</a:t>
            </a:r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endParaRPr lang="en-US" altLang="de-DE" sz="1600"/>
          </a:p>
          <a:p>
            <a:pPr marL="0" indent="0">
              <a:spcBef>
                <a:spcPct val="0"/>
              </a:spcBef>
              <a:buFontTx/>
              <a:buNone/>
              <a:tabLst>
                <a:tab pos="914400" algn="l"/>
                <a:tab pos="5486400" algn="l"/>
              </a:tabLst>
            </a:pPr>
            <a:r>
              <a:rPr lang="en-US" altLang="de-DE" sz="1600"/>
              <a:t>g, G	</a:t>
            </a:r>
            <a:r>
              <a:rPr lang="en-US" altLang="de-DE" sz="1600">
                <a:solidFill>
                  <a:srgbClr val="FF0000"/>
                </a:solidFill>
              </a:rPr>
              <a:t>General</a:t>
            </a:r>
            <a:r>
              <a:rPr lang="en-US" altLang="de-DE" sz="1600"/>
              <a:t> (kompaktestes Format für gegebenen Wert; Default)</a:t>
            </a:r>
            <a:endParaRPr lang="en-US" altLang="de-DE" sz="1600" dirty="0"/>
          </a:p>
        </p:txBody>
      </p:sp>
    </p:spTree>
    <p:extLst>
      <p:ext uri="{BB962C8B-B14F-4D97-AF65-F5344CB8AC3E}">
        <p14:creationId xmlns:p14="http://schemas.microsoft.com/office/powerpoint/2010/main" val="187591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72147"/>
            <a:ext cx="8229600" cy="1143000"/>
          </a:xfrm>
        </p:spPr>
        <p:txBody>
          <a:bodyPr/>
          <a:lstStyle/>
          <a:p>
            <a:r>
              <a:rPr lang="de-AT" dirty="0"/>
              <a:t>Zahlenformatierung: Beispiele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85800" y="1052736"/>
            <a:ext cx="7772400" cy="914400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r>
              <a:rPr lang="en-US" altLang="de-DE" sz="1800" dirty="0"/>
              <a:t>int x = 17; string </a:t>
            </a:r>
            <a:r>
              <a:rPr lang="en-US" altLang="de-DE" sz="1800" dirty="0" err="1"/>
              <a:t>firstName</a:t>
            </a:r>
            <a:r>
              <a:rPr lang="en-US" altLang="de-DE" sz="1800" dirty="0"/>
              <a:t>=“Max”; string </a:t>
            </a:r>
            <a:r>
              <a:rPr lang="en-US" altLang="de-DE" sz="1800" dirty="0" err="1"/>
              <a:t>lastName</a:t>
            </a:r>
            <a:r>
              <a:rPr lang="en-US" altLang="de-DE" sz="1800" dirty="0"/>
              <a:t>=“</a:t>
            </a:r>
            <a:r>
              <a:rPr lang="en-US" altLang="de-DE" sz="1800" dirty="0" err="1"/>
              <a:t>Mustermann</a:t>
            </a:r>
            <a:r>
              <a:rPr lang="en-US" altLang="de-DE" sz="1800" dirty="0"/>
              <a:t>”;</a:t>
            </a: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endParaRPr lang="en-US" altLang="de-DE" sz="1800" dirty="0"/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r>
              <a:rPr lang="en-US" altLang="de-DE" sz="1800" dirty="0" err="1"/>
              <a:t>Console.WriteLine</a:t>
            </a:r>
            <a:r>
              <a:rPr lang="en-US" altLang="de-DE" sz="1800" dirty="0"/>
              <a:t>(</a:t>
            </a:r>
            <a:r>
              <a:rPr lang="en-US" altLang="de-DE" sz="1800" dirty="0">
                <a:solidFill>
                  <a:srgbClr val="FF0000"/>
                </a:solidFill>
              </a:rPr>
              <a:t>"{0}"</a:t>
            </a:r>
            <a:r>
              <a:rPr lang="en-US" altLang="de-DE" sz="1800" dirty="0"/>
              <a:t>, x);	</a:t>
            </a:r>
            <a:r>
              <a:rPr lang="en-US" altLang="de-DE" sz="1800" dirty="0">
                <a:latin typeface="Courier New" panose="02070309020205020404" pitchFamily="49" charset="0"/>
              </a:rPr>
              <a:t>17</a:t>
            </a:r>
            <a:endParaRPr lang="en-US" altLang="de-DE" sz="1800" dirty="0"/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r>
              <a:rPr lang="en-US" altLang="de-DE" sz="1800" dirty="0" err="1"/>
              <a:t>Console.WriteLine</a:t>
            </a:r>
            <a:r>
              <a:rPr lang="en-US" altLang="de-DE" sz="1800" dirty="0"/>
              <a:t>(</a:t>
            </a:r>
            <a:r>
              <a:rPr lang="en-US" altLang="de-DE" sz="1800" dirty="0">
                <a:solidFill>
                  <a:srgbClr val="FF0000"/>
                </a:solidFill>
              </a:rPr>
              <a:t>"{0,5}"</a:t>
            </a:r>
            <a:r>
              <a:rPr lang="en-US" altLang="de-DE" sz="1800" dirty="0"/>
              <a:t>, x);	</a:t>
            </a:r>
            <a:r>
              <a:rPr lang="en-US" altLang="de-DE" sz="1800" dirty="0">
                <a:latin typeface="Courier New" panose="02070309020205020404" pitchFamily="49" charset="0"/>
              </a:rPr>
              <a:t>   17</a:t>
            </a:r>
            <a:endParaRPr lang="en-US" altLang="de-DE" sz="1800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5800" y="4470772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de-DE" sz="1800" dirty="0" err="1">
                <a:latin typeface="Arial" panose="020B0604020202020204" pitchFamily="34" charset="0"/>
              </a:rPr>
              <a:t>Console.WriteLine</a:t>
            </a:r>
            <a:r>
              <a:rPr lang="en-US" altLang="de-DE" sz="1800" dirty="0">
                <a:latin typeface="Arial" panose="020B0604020202020204" pitchFamily="34" charset="0"/>
              </a:rPr>
              <a:t>(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"{0:x}"</a:t>
            </a:r>
            <a:r>
              <a:rPr lang="en-US" altLang="de-DE" sz="1800" dirty="0">
                <a:latin typeface="Arial" panose="020B0604020202020204" pitchFamily="34" charset="0"/>
              </a:rPr>
              <a:t>, x);	</a:t>
            </a:r>
            <a:r>
              <a:rPr lang="en-US" altLang="de-DE" sz="1800" dirty="0">
                <a:latin typeface="Courier New" panose="02070309020205020404" pitchFamily="49" charset="0"/>
              </a:rPr>
              <a:t>11</a:t>
            </a:r>
            <a:endParaRPr lang="en-US" altLang="de-DE" sz="1800" dirty="0">
              <a:latin typeface="Arial" panose="020B0604020202020204" pitchFamily="34" charset="0"/>
            </a:endParaRPr>
          </a:p>
          <a:p>
            <a:r>
              <a:rPr lang="en-US" altLang="de-DE" sz="1800" dirty="0" err="1">
                <a:latin typeface="Arial" panose="020B0604020202020204" pitchFamily="34" charset="0"/>
              </a:rPr>
              <a:t>Console.WriteLine</a:t>
            </a:r>
            <a:r>
              <a:rPr lang="en-US" altLang="de-DE" sz="1800" dirty="0">
                <a:latin typeface="Arial" panose="020B0604020202020204" pitchFamily="34" charset="0"/>
              </a:rPr>
              <a:t>(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"{0:x4}"</a:t>
            </a:r>
            <a:r>
              <a:rPr lang="en-US" altLang="de-DE" sz="1800" dirty="0">
                <a:latin typeface="Arial" panose="020B0604020202020204" pitchFamily="34" charset="0"/>
              </a:rPr>
              <a:t>, x);	</a:t>
            </a:r>
            <a:r>
              <a:rPr lang="en-US" altLang="de-DE" sz="1800" dirty="0">
                <a:latin typeface="Courier New" panose="02070309020205020404" pitchFamily="49" charset="0"/>
              </a:rPr>
              <a:t>0011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85800" y="3750692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de-DE" sz="1800" dirty="0" err="1">
                <a:latin typeface="Arial" panose="020B0604020202020204" pitchFamily="34" charset="0"/>
              </a:rPr>
              <a:t>Console.WriteLine</a:t>
            </a:r>
            <a:r>
              <a:rPr lang="en-US" altLang="de-DE" sz="1800" dirty="0">
                <a:latin typeface="Arial" panose="020B0604020202020204" pitchFamily="34" charset="0"/>
              </a:rPr>
              <a:t>(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"{0:E}"</a:t>
            </a:r>
            <a:r>
              <a:rPr lang="en-US" altLang="de-DE" sz="1800" dirty="0">
                <a:latin typeface="Arial" panose="020B0604020202020204" pitchFamily="34" charset="0"/>
              </a:rPr>
              <a:t>, x);	</a:t>
            </a:r>
            <a:r>
              <a:rPr lang="en-US" altLang="de-DE" sz="1800" dirty="0">
                <a:latin typeface="Courier New" panose="02070309020205020404" pitchFamily="49" charset="0"/>
              </a:rPr>
              <a:t>1.700000E+001</a:t>
            </a:r>
            <a:endParaRPr lang="en-US" altLang="de-DE" sz="1800" dirty="0">
              <a:latin typeface="Arial" panose="020B0604020202020204" pitchFamily="34" charset="0"/>
            </a:endParaRPr>
          </a:p>
          <a:p>
            <a:r>
              <a:rPr lang="en-US" altLang="de-DE" sz="1800" dirty="0" err="1">
                <a:latin typeface="Arial" panose="020B0604020202020204" pitchFamily="34" charset="0"/>
              </a:rPr>
              <a:t>Console.WriteLine</a:t>
            </a:r>
            <a:r>
              <a:rPr lang="en-US" altLang="de-DE" sz="1800" dirty="0">
                <a:latin typeface="Arial" panose="020B0604020202020204" pitchFamily="34" charset="0"/>
              </a:rPr>
              <a:t>(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"{0:e1}"</a:t>
            </a:r>
            <a:r>
              <a:rPr lang="en-US" altLang="de-DE" sz="1800" dirty="0">
                <a:latin typeface="Arial" panose="020B0604020202020204" pitchFamily="34" charset="0"/>
              </a:rPr>
              <a:t>, x);	</a:t>
            </a:r>
            <a:r>
              <a:rPr lang="en-US" altLang="de-DE" sz="1800" dirty="0">
                <a:latin typeface="Courier New" panose="02070309020205020404" pitchFamily="49" charset="0"/>
              </a:rPr>
              <a:t>1.7e+001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85800" y="3030612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de-DE" sz="1800" dirty="0" err="1">
                <a:latin typeface="Arial" panose="020B0604020202020204" pitchFamily="34" charset="0"/>
              </a:rPr>
              <a:t>Console.WriteLine</a:t>
            </a:r>
            <a:r>
              <a:rPr lang="en-US" altLang="de-DE" sz="1800" dirty="0">
                <a:latin typeface="Arial" panose="020B0604020202020204" pitchFamily="34" charset="0"/>
              </a:rPr>
              <a:t>(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"{0:f}"</a:t>
            </a:r>
            <a:r>
              <a:rPr lang="en-US" altLang="de-DE" sz="1800" dirty="0">
                <a:latin typeface="Arial" panose="020B0604020202020204" pitchFamily="34" charset="0"/>
              </a:rPr>
              <a:t>, x);	</a:t>
            </a:r>
            <a:r>
              <a:rPr lang="en-US" altLang="de-DE" sz="1800" dirty="0">
                <a:latin typeface="Courier New" panose="02070309020205020404" pitchFamily="49" charset="0"/>
              </a:rPr>
              <a:t>17.00</a:t>
            </a:r>
            <a:endParaRPr lang="en-US" altLang="de-DE" sz="1800" dirty="0">
              <a:latin typeface="Arial" panose="020B0604020202020204" pitchFamily="34" charset="0"/>
            </a:endParaRPr>
          </a:p>
          <a:p>
            <a:r>
              <a:rPr lang="en-US" altLang="de-DE" sz="1800" dirty="0" err="1">
                <a:latin typeface="Arial" panose="020B0604020202020204" pitchFamily="34" charset="0"/>
              </a:rPr>
              <a:t>Console.WriteLine</a:t>
            </a:r>
            <a:r>
              <a:rPr lang="en-US" altLang="de-DE" sz="1800" dirty="0">
                <a:latin typeface="Arial" panose="020B0604020202020204" pitchFamily="34" charset="0"/>
              </a:rPr>
              <a:t>(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"{0:f1}"</a:t>
            </a:r>
            <a:r>
              <a:rPr lang="en-US" altLang="de-DE" sz="1800" dirty="0">
                <a:latin typeface="Arial" panose="020B0604020202020204" pitchFamily="34" charset="0"/>
              </a:rPr>
              <a:t>, x);	</a:t>
            </a:r>
            <a:r>
              <a:rPr lang="en-US" altLang="de-DE" sz="1800" dirty="0">
                <a:latin typeface="Courier New" panose="02070309020205020404" pitchFamily="49" charset="0"/>
              </a:rPr>
              <a:t>17.0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85800" y="2310532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de-DE" sz="1800" dirty="0" err="1">
                <a:latin typeface="Arial" panose="020B0604020202020204" pitchFamily="34" charset="0"/>
              </a:rPr>
              <a:t>Console.WriteLine</a:t>
            </a:r>
            <a:r>
              <a:rPr lang="en-US" altLang="de-DE" sz="1800" dirty="0">
                <a:latin typeface="Arial" panose="020B0604020202020204" pitchFamily="34" charset="0"/>
              </a:rPr>
              <a:t>(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"{0:d}"</a:t>
            </a:r>
            <a:r>
              <a:rPr lang="en-US" altLang="de-DE" sz="1800" dirty="0">
                <a:latin typeface="Arial" panose="020B0604020202020204" pitchFamily="34" charset="0"/>
              </a:rPr>
              <a:t>, x);	</a:t>
            </a:r>
            <a:r>
              <a:rPr lang="en-US" altLang="de-DE" sz="1800" dirty="0">
                <a:latin typeface="Courier New" panose="02070309020205020404" pitchFamily="49" charset="0"/>
              </a:rPr>
              <a:t>17</a:t>
            </a:r>
            <a:endParaRPr lang="en-US" altLang="de-DE" sz="1800" dirty="0">
              <a:latin typeface="Arial" panose="020B0604020202020204" pitchFamily="34" charset="0"/>
            </a:endParaRPr>
          </a:p>
          <a:p>
            <a:r>
              <a:rPr lang="en-US" altLang="de-DE" sz="1800" dirty="0" err="1">
                <a:latin typeface="Arial" panose="020B0604020202020204" pitchFamily="34" charset="0"/>
              </a:rPr>
              <a:t>Console.WriteLine</a:t>
            </a:r>
            <a:r>
              <a:rPr lang="en-US" altLang="de-DE" sz="1800" dirty="0">
                <a:latin typeface="Arial" panose="020B0604020202020204" pitchFamily="34" charset="0"/>
              </a:rPr>
              <a:t>(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"{0,5:d3}"</a:t>
            </a:r>
            <a:r>
              <a:rPr lang="en-US" altLang="de-DE" sz="1800" dirty="0">
                <a:latin typeface="Arial" panose="020B0604020202020204" pitchFamily="34" charset="0"/>
              </a:rPr>
              <a:t>, x);	</a:t>
            </a:r>
            <a:r>
              <a:rPr lang="en-US" altLang="de-DE" sz="1800" dirty="0">
                <a:latin typeface="Courier New" panose="02070309020205020404" pitchFamily="49" charset="0"/>
              </a:rPr>
              <a:t>  017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BA716A-B1DC-4F6B-82E7-85C25CE13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45" y="5186173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de-DE" sz="1800" dirty="0" err="1">
                <a:latin typeface="Arial" panose="020B0604020202020204" pitchFamily="34" charset="0"/>
              </a:rPr>
              <a:t>Console.WriteLine</a:t>
            </a:r>
            <a:r>
              <a:rPr lang="en-US" altLang="de-DE" sz="1800" dirty="0">
                <a:latin typeface="Arial" panose="020B0604020202020204" pitchFamily="34" charset="0"/>
              </a:rPr>
              <a:t>(</a:t>
            </a:r>
            <a:r>
              <a:rPr lang="en-US" altLang="de-DE" sz="1800" dirty="0">
                <a:solidFill>
                  <a:srgbClr val="FF0000"/>
                </a:solidFill>
                <a:latin typeface="Arial" panose="020B0604020202020204" pitchFamily="34" charset="0"/>
              </a:rPr>
              <a:t>“| {0:-10} | {1:-10} |"</a:t>
            </a:r>
            <a:r>
              <a:rPr lang="en-US" altLang="de-DE" sz="1800" dirty="0">
                <a:latin typeface="Arial" panose="020B0604020202020204" pitchFamily="34" charset="0"/>
              </a:rPr>
              <a:t>, </a:t>
            </a:r>
            <a:r>
              <a:rPr lang="en-US" altLang="de-DE" sz="1800" dirty="0" err="1">
                <a:latin typeface="Arial" panose="020B0604020202020204" pitchFamily="34" charset="0"/>
              </a:rPr>
              <a:t>firstName</a:t>
            </a:r>
            <a:r>
              <a:rPr lang="en-US" altLang="de-DE" sz="1800" dirty="0">
                <a:latin typeface="Arial" panose="020B0604020202020204" pitchFamily="34" charset="0"/>
              </a:rPr>
              <a:t>, </a:t>
            </a:r>
            <a:r>
              <a:rPr lang="en-US" altLang="de-DE" sz="1800" dirty="0" err="1">
                <a:latin typeface="Arial" panose="020B0604020202020204" pitchFamily="34" charset="0"/>
              </a:rPr>
              <a:t>lastName</a:t>
            </a:r>
            <a:r>
              <a:rPr lang="en-US" altLang="de-DE" sz="1800" dirty="0">
                <a:latin typeface="Arial" panose="020B0604020202020204" pitchFamily="34" charset="0"/>
              </a:rPr>
              <a:t>);	</a:t>
            </a:r>
          </a:p>
          <a:p>
            <a:r>
              <a:rPr lang="de-DE" altLang="de-DE" sz="1800" dirty="0">
                <a:latin typeface="Arial" panose="020B0604020202020204" pitchFamily="34" charset="0"/>
              </a:rPr>
              <a:t>		</a:t>
            </a:r>
            <a:r>
              <a:rPr lang="de-DE" altLang="de-DE" sz="1800" dirty="0">
                <a:latin typeface="Courier New" panose="02070309020205020404" pitchFamily="49" charset="0"/>
              </a:rPr>
              <a:t>| Max        | Mustermann |</a:t>
            </a:r>
            <a:endParaRPr lang="en-US" altLang="de-DE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00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Konstanten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307901"/>
            <a:ext cx="8229600" cy="4929411"/>
          </a:xfrm>
        </p:spPr>
        <p:txBody>
          <a:bodyPr/>
          <a:lstStyle/>
          <a:p>
            <a:r>
              <a:rPr lang="de-AT" sz="2400" dirty="0"/>
              <a:t>Schlüsselwort: </a:t>
            </a:r>
            <a:r>
              <a:rPr lang="de-AT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endParaRPr lang="de-AT" sz="2400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AT" sz="2400" dirty="0"/>
              <a:t>Verwendung:</a:t>
            </a:r>
          </a:p>
          <a:p>
            <a:pPr lvl="1"/>
            <a:r>
              <a:rPr lang="de-AT" sz="2400" dirty="0"/>
              <a:t>Fixe Werte, die sich während des Programmablaufs nie ändern, und im Programm mehrmals benötigt werden.</a:t>
            </a:r>
          </a:p>
          <a:p>
            <a:r>
              <a:rPr lang="de-AT" sz="2400" dirty="0"/>
              <a:t>Richtlinien:</a:t>
            </a:r>
          </a:p>
          <a:p>
            <a:pPr lvl="1"/>
            <a:r>
              <a:rPr lang="de-AT" sz="2400" dirty="0"/>
              <a:t>Immer groß schreiben</a:t>
            </a:r>
          </a:p>
          <a:p>
            <a:pPr lvl="1"/>
            <a:r>
              <a:rPr lang="de-AT" sz="2400" dirty="0"/>
              <a:t>Am Beginn des Programmcodes sammeln</a:t>
            </a:r>
          </a:p>
          <a:p>
            <a:r>
              <a:rPr lang="de-AT" sz="2400" dirty="0"/>
              <a:t>Beispiele:</a:t>
            </a:r>
          </a:p>
          <a:p>
            <a:pPr marL="541337" lvl="1" indent="0">
              <a:buNone/>
            </a:pPr>
            <a:r>
              <a:rPr lang="de-AT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de-AT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de-AT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GROWN_UP_AGE = 19;</a:t>
            </a:r>
          </a:p>
          <a:p>
            <a:pPr marL="541337" lvl="1" indent="0">
              <a:buNone/>
            </a:pPr>
            <a:r>
              <a:rPr lang="de-AT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de-AT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2400" b="1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de-AT" sz="24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AT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TAX_RATE = 20.0;</a:t>
            </a:r>
          </a:p>
        </p:txBody>
      </p:sp>
    </p:spTree>
    <p:extLst>
      <p:ext uri="{BB962C8B-B14F-4D97-AF65-F5344CB8AC3E}">
        <p14:creationId xmlns:p14="http://schemas.microsoft.com/office/powerpoint/2010/main" val="42172227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/>
          </p:cNvSpPr>
          <p:nvPr>
            <p:ph type="body" idx="1"/>
          </p:nvPr>
        </p:nvSpPr>
        <p:spPr>
          <a:xfrm>
            <a:off x="250031" y="1376773"/>
            <a:ext cx="8643938" cy="219624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1800"/>
            </a:pPr>
            <a:r>
              <a:rPr sz="2000" dirty="0">
                <a:latin typeface="Monaco"/>
                <a:ea typeface="Monaco"/>
                <a:cs typeface="Monaco"/>
                <a:sym typeface="Monaco"/>
              </a:rPr>
              <a:t>//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Dieser Teil wird vom Compiler ignoriert</a:t>
            </a:r>
            <a:endParaRPr sz="2000" dirty="0">
              <a:latin typeface="Monaco"/>
              <a:ea typeface="Monaco"/>
              <a:cs typeface="Monaco"/>
              <a:sym typeface="Monaco"/>
            </a:endParaRPr>
          </a:p>
          <a:p>
            <a:pPr marL="0" indent="0">
              <a:buSzTx/>
              <a:buNone/>
              <a:defRPr sz="1800"/>
            </a:pPr>
            <a:r>
              <a:rPr sz="2000" dirty="0">
                <a:latin typeface="Monaco"/>
                <a:ea typeface="Monaco"/>
                <a:cs typeface="Monaco"/>
                <a:sym typeface="Monaco"/>
              </a:rPr>
              <a:t>/*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Da können wir irgendetwas schreiben</a:t>
            </a:r>
          </a:p>
          <a:p>
            <a:pPr marL="0" indent="0">
              <a:buSzTx/>
              <a:buNone/>
              <a:defRPr sz="1800"/>
            </a:pP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…und hier geht’s weiter</a:t>
            </a:r>
          </a:p>
          <a:p>
            <a:pPr marL="0" indent="0">
              <a:buSzTx/>
              <a:buNone/>
              <a:defRPr sz="1800"/>
            </a:pP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..nach dieser Zeile </a:t>
            </a:r>
            <a:r>
              <a:rPr lang="de-AT" sz="2000">
                <a:latin typeface="Monaco"/>
                <a:ea typeface="Monaco"/>
                <a:cs typeface="Monaco"/>
                <a:sym typeface="Monaco"/>
              </a:rPr>
              <a:t>ist der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Kommentar aus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*/</a:t>
            </a:r>
          </a:p>
          <a:p>
            <a:pPr marL="0" indent="0">
              <a:buSzTx/>
              <a:buNone/>
              <a:defRPr sz="1800"/>
            </a:pPr>
            <a:r>
              <a:rPr sz="2000" dirty="0" err="1">
                <a:latin typeface="Monaco"/>
                <a:ea typeface="Monaco"/>
                <a:cs typeface="Monaco"/>
                <a:sym typeface="Monaco"/>
              </a:rPr>
              <a:t>int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 x = 0;       //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aber es sollte schon ein sinnvoller Kommentar sein</a:t>
            </a:r>
            <a:endParaRPr sz="2000" dirty="0">
              <a:latin typeface="Monaco"/>
              <a:ea typeface="Monaco"/>
              <a:cs typeface="Monaco"/>
              <a:sym typeface="Monaco"/>
            </a:endParaRPr>
          </a:p>
          <a:p>
            <a:pPr marL="0" indent="0">
              <a:buSzTx/>
              <a:buNone/>
              <a:defRPr sz="1800"/>
            </a:pPr>
            <a:r>
              <a:rPr sz="2000" dirty="0">
                <a:latin typeface="Monaco"/>
                <a:ea typeface="Monaco"/>
                <a:cs typeface="Monaco"/>
                <a:sym typeface="Monaco"/>
              </a:rPr>
              <a:t>/*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vor 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*/ x = 5; /*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und nach einer 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“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richtigen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”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Anweisung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*/</a:t>
            </a:r>
          </a:p>
          <a:p>
            <a:pPr marL="0" indent="0">
              <a:buSzTx/>
              <a:buNone/>
              <a:defRPr sz="1800"/>
            </a:pPr>
            <a:r>
              <a:rPr sz="2000" dirty="0">
                <a:latin typeface="Monaco"/>
                <a:ea typeface="Monaco"/>
                <a:cs typeface="Monaco"/>
                <a:sym typeface="Monaco"/>
              </a:rPr>
              <a:t>/*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wieder vor 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*/ x = 10; //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und jetzt wäre </a:t>
            </a:r>
            <a:r>
              <a:rPr sz="2000" dirty="0">
                <a:latin typeface="Monaco"/>
                <a:ea typeface="Monaco"/>
                <a:cs typeface="Monaco"/>
                <a:sym typeface="Monaco"/>
              </a:rPr>
              <a:t>x = 11 </a:t>
            </a:r>
            <a:r>
              <a:rPr lang="de-AT" sz="2000" dirty="0">
                <a:latin typeface="Monaco"/>
                <a:ea typeface="Monaco"/>
                <a:cs typeface="Monaco"/>
                <a:sym typeface="Monaco"/>
              </a:rPr>
              <a:t>völlig fehl am Platz …</a:t>
            </a:r>
            <a:endParaRPr sz="2000" dirty="0">
              <a:latin typeface="Monaco"/>
              <a:ea typeface="Monaco"/>
              <a:cs typeface="Monaco"/>
              <a:sym typeface="Monaco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Kommentare</a:t>
            </a:r>
          </a:p>
        </p:txBody>
      </p:sp>
      <p:sp>
        <p:nvSpPr>
          <p:cNvPr id="4" name="Inhaltsplatzhalter 2"/>
          <p:cNvSpPr txBox="1">
            <a:spLocks/>
          </p:cNvSpPr>
          <p:nvPr/>
        </p:nvSpPr>
        <p:spPr>
          <a:xfrm>
            <a:off x="457200" y="4032288"/>
            <a:ext cx="8363272" cy="1628960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84138" algn="ctr">
              <a:buNone/>
            </a:pPr>
            <a:r>
              <a:rPr lang="de-AT" sz="2700" i="1" dirty="0">
                <a:solidFill>
                  <a:srgbClr val="00B050"/>
                </a:solidFill>
                <a:latin typeface="Monaco"/>
                <a:ea typeface="Monaco"/>
                <a:cs typeface="Monaco"/>
              </a:rPr>
              <a:t>Am Besten das Programm so schreiben, dass man es auch ohne Kommentare leicht verstehen kann!</a:t>
            </a:r>
            <a:br>
              <a:rPr lang="de-AT" sz="2700" i="1" dirty="0">
                <a:solidFill>
                  <a:srgbClr val="00B050"/>
                </a:solidFill>
                <a:latin typeface="Monaco"/>
                <a:ea typeface="Monaco"/>
                <a:cs typeface="Monaco"/>
              </a:rPr>
            </a:br>
            <a:endParaRPr lang="de-AT" sz="2700" i="1" dirty="0">
              <a:solidFill>
                <a:srgbClr val="00B050"/>
              </a:solidFill>
              <a:latin typeface="Monaco"/>
              <a:ea typeface="Monaco"/>
              <a:cs typeface="Monaco"/>
            </a:endParaRPr>
          </a:p>
          <a:p>
            <a:pPr marL="541337" lvl="1" indent="0" algn="ctr">
              <a:buNone/>
            </a:pPr>
            <a:r>
              <a:rPr lang="de-AT" sz="1800" i="1" dirty="0">
                <a:solidFill>
                  <a:srgbClr val="0000FF"/>
                </a:solidFill>
                <a:latin typeface="Monaco"/>
                <a:ea typeface="Monaco"/>
                <a:cs typeface="Monaco"/>
                <a:hlinkClick r:id="rId2"/>
              </a:rPr>
              <a:t>https://de.wikipedia.org/wiki/Clean_Code</a:t>
            </a:r>
            <a:endParaRPr lang="de-AT" sz="1800" i="1" dirty="0">
              <a:solidFill>
                <a:srgbClr val="0000FF"/>
              </a:solidFill>
              <a:latin typeface="Monaco"/>
              <a:ea typeface="Monaco"/>
              <a:cs typeface="Monaco"/>
            </a:endParaRPr>
          </a:p>
          <a:p>
            <a:pPr marL="541337" lvl="1" indent="0" algn="ctr">
              <a:buNone/>
            </a:pPr>
            <a:endParaRPr lang="de-AT" sz="1800" i="1" dirty="0">
              <a:solidFill>
                <a:srgbClr val="0000FF"/>
              </a:solidFill>
              <a:latin typeface="Monaco"/>
              <a:ea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84825220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1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6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</TotalTime>
  <Words>950</Words>
  <Application>Microsoft Office PowerPoint</Application>
  <PresentationFormat>On-screen Show (4:3)</PresentationFormat>
  <Paragraphs>375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Arial</vt:lpstr>
      <vt:lpstr>Calibri</vt:lpstr>
      <vt:lpstr>Courier New</vt:lpstr>
      <vt:lpstr>Monaco</vt:lpstr>
      <vt:lpstr>Symbol</vt:lpstr>
      <vt:lpstr>Times New Roman</vt:lpstr>
      <vt:lpstr>Wingdings</vt:lpstr>
      <vt:lpstr>1_Larissa</vt:lpstr>
      <vt:lpstr>2_Larissa</vt:lpstr>
      <vt:lpstr>5_Larissa</vt:lpstr>
      <vt:lpstr>6_Larissa</vt:lpstr>
      <vt:lpstr>4_Larissa</vt:lpstr>
      <vt:lpstr>Unsere ersten Anweisungen</vt:lpstr>
      <vt:lpstr>Variablen </vt:lpstr>
      <vt:lpstr>Programmentwicklung</vt:lpstr>
      <vt:lpstr>Programmplanung</vt:lpstr>
      <vt:lpstr>Codierung</vt:lpstr>
      <vt:lpstr>Datentyp</vt:lpstr>
      <vt:lpstr>Variablen: Name, Datentyp, Daten</vt:lpstr>
      <vt:lpstr>Deklaration, Definition und Initialisierung von Variablen</vt:lpstr>
      <vt:lpstr>Wichtige Typen am Beginn der Karriere</vt:lpstr>
      <vt:lpstr>Einfache Datentypen in C#</vt:lpstr>
      <vt:lpstr>Typsystem nach CTS (CLR-kompatibel)</vt:lpstr>
      <vt:lpstr>Zuweisungsoperator</vt:lpstr>
      <vt:lpstr>Zuweisungsoperator</vt:lpstr>
      <vt:lpstr>Bezeichner – Namen von Variablen </vt:lpstr>
      <vt:lpstr>Variablen - Beispiele</vt:lpstr>
      <vt:lpstr>Einlesen von Zahlen</vt:lpstr>
      <vt:lpstr>Bsp: Einlesen eines Gleitkomma-Bruches</vt:lpstr>
      <vt:lpstr>Ausgabe von Variablen mit Platzhaltern</vt:lpstr>
      <vt:lpstr>Formatierungscode für Zahlen</vt:lpstr>
      <vt:lpstr>Zahlenformatierung: Beispiele</vt:lpstr>
      <vt:lpstr>Konstanten</vt:lpstr>
      <vt:lpstr>Kommentare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Bucek</dc:creator>
  <cp:lastModifiedBy>Michael Bucek</cp:lastModifiedBy>
  <cp:revision>731</cp:revision>
  <cp:lastPrinted>2014-09-10T13:20:02Z</cp:lastPrinted>
  <dcterms:created xsi:type="dcterms:W3CDTF">2011-08-18T07:37:01Z</dcterms:created>
  <dcterms:modified xsi:type="dcterms:W3CDTF">2019-09-24T17:05:00Z</dcterms:modified>
</cp:coreProperties>
</file>