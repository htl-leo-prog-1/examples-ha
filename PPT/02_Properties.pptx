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15"/>
  </p:notesMasterIdLst>
  <p:handoutMasterIdLst>
    <p:handoutMasterId r:id="rId16"/>
  </p:handoutMasterIdLst>
  <p:sldIdLst>
    <p:sldId id="322" r:id="rId3"/>
    <p:sldId id="352" r:id="rId4"/>
    <p:sldId id="333" r:id="rId5"/>
    <p:sldId id="353" r:id="rId6"/>
    <p:sldId id="334" r:id="rId7"/>
    <p:sldId id="335" r:id="rId8"/>
    <p:sldId id="336" r:id="rId9"/>
    <p:sldId id="337" r:id="rId10"/>
    <p:sldId id="338" r:id="rId11"/>
    <p:sldId id="339" r:id="rId12"/>
    <p:sldId id="340" r:id="rId13"/>
    <p:sldId id="341" r:id="rId14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1" autoAdjust="0"/>
    <p:restoredTop sz="94629" autoAdjust="0"/>
  </p:normalViewPr>
  <p:slideViewPr>
    <p:cSldViewPr>
      <p:cViewPr varScale="1">
        <p:scale>
          <a:sx n="43" d="100"/>
          <a:sy n="43" d="100"/>
        </p:scale>
        <p:origin x="134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Master </a:t>
            </a:r>
            <a:r>
              <a:rPr lang="de-DE" noProof="0" dirty="0" err="1"/>
              <a:t>text</a:t>
            </a:r>
            <a:r>
              <a:rPr lang="de-DE" noProof="0" dirty="0"/>
              <a:t> </a:t>
            </a:r>
            <a:r>
              <a:rPr lang="de-DE" noProof="0" dirty="0" err="1"/>
              <a:t>styles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2018/19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OO-Basics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768350" y="1196752"/>
            <a:ext cx="7772400" cy="14700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de-DE" altLang="de-DE" sz="4000" dirty="0">
                <a:solidFill>
                  <a:schemeClr val="tx2"/>
                </a:solidFill>
              </a:rPr>
              <a:t>Properties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3212976"/>
            <a:ext cx="1314450" cy="1493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9485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Setter/Getter über Methoden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D11519CE-8D0F-431D-A5DA-61D35B08DB6C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662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63" y="1206500"/>
            <a:ext cx="7204075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4431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4900FFE4-006D-46E1-A259-D3C1980EF7D8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3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de-DE" altLang="de-DE" sz="2800" dirty="0"/>
              <a:t>Geregelter Zugriff auf Felder </a:t>
            </a:r>
            <a:r>
              <a:rPr lang="de-DE" altLang="de-DE" sz="2800" dirty="0">
                <a:sym typeface="Wingdings" panose="05000000000000000000" pitchFamily="2" charset="2"/>
              </a:rPr>
              <a:t> </a:t>
            </a:r>
            <a:r>
              <a:rPr lang="de-DE" altLang="de-DE" sz="2800" dirty="0"/>
              <a:t>Properties</a:t>
            </a:r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9261"/>
            <a:ext cx="8229600" cy="4525963"/>
          </a:xfrm>
        </p:spPr>
        <p:txBody>
          <a:bodyPr/>
          <a:lstStyle/>
          <a:p>
            <a:pPr eaLnBrk="1" hangingPunct="1"/>
            <a:r>
              <a:rPr lang="de-DE" altLang="de-DE" sz="1800" dirty="0"/>
              <a:t>Zusammenfassung einer Getter- und einer Setter-Methoden zu einer Einheit</a:t>
            </a:r>
          </a:p>
          <a:p>
            <a:pPr eaLnBrk="1" hangingPunct="1"/>
            <a:r>
              <a:rPr lang="de-DE" altLang="de-DE" sz="1800" dirty="0"/>
              <a:t>Definition eines Properties</a:t>
            </a:r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endParaRPr lang="de-DE" altLang="de-DE" sz="1800" dirty="0"/>
          </a:p>
          <a:p>
            <a:pPr eaLnBrk="1" hangingPunct="1"/>
            <a:r>
              <a:rPr lang="de-DE" altLang="de-DE" sz="1800" dirty="0"/>
              <a:t>Verwendung eines Properties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098A68A-A834-412D-A423-816A78D57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627629"/>
            <a:ext cx="4506929" cy="1729189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3E9126D-6926-4A6E-9245-4179EA685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328" y="3933056"/>
            <a:ext cx="7681712" cy="220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934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4AD226-5E12-4FDA-8435-4F64A9F02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 im Klassendiagramm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BCBE31-B0F1-4DA8-BC5D-75CB4855E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F48221A-FC7D-4205-8D5F-0E10CB2DE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824" y="1268413"/>
            <a:ext cx="2448272" cy="533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58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Property - Allgemeines</a:t>
            </a:r>
          </a:p>
        </p:txBody>
      </p:sp>
      <p:sp>
        <p:nvSpPr>
          <p:cNvPr id="37891" name="Inhaltsplatzhalter 2"/>
          <p:cNvSpPr>
            <a:spLocks noGrp="1"/>
          </p:cNvSpPr>
          <p:nvPr>
            <p:ph idx="1"/>
          </p:nvPr>
        </p:nvSpPr>
        <p:spPr>
          <a:xfrm>
            <a:off x="395536" y="980728"/>
            <a:ext cx="8229600" cy="4525963"/>
          </a:xfrm>
        </p:spPr>
        <p:txBody>
          <a:bodyPr/>
          <a:lstStyle/>
          <a:p>
            <a:r>
              <a:rPr lang="de-DE" altLang="de-DE" sz="2000" dirty="0"/>
              <a:t>Kapselt den Zugriff auf ein internes Feld</a:t>
            </a:r>
            <a:endParaRPr lang="de-AT" altLang="de-DE" sz="2000" dirty="0"/>
          </a:p>
          <a:p>
            <a:r>
              <a:rPr lang="de-DE" altLang="de-DE" sz="2000" dirty="0"/>
              <a:t>Name wie Feldname mit großem Anfangsbuchstaben</a:t>
            </a:r>
          </a:p>
          <a:p>
            <a:pPr lvl="1"/>
            <a:r>
              <a:rPr lang="de-DE" altLang="de-DE" sz="1800" dirty="0" err="1"/>
              <a:t>Codierrichtlinie</a:t>
            </a:r>
            <a:r>
              <a:rPr lang="de-DE" altLang="de-DE" sz="1800" dirty="0"/>
              <a:t>: private </a:t>
            </a:r>
            <a:r>
              <a:rPr lang="de-DE" altLang="de-DE" sz="1800" dirty="0" err="1"/>
              <a:t>field</a:t>
            </a:r>
            <a:r>
              <a:rPr lang="de-DE" altLang="de-DE" sz="1800" dirty="0"/>
              <a:t> wird mit führendem </a:t>
            </a:r>
            <a:r>
              <a:rPr lang="de-DE" altLang="de-DE" sz="1800" dirty="0" err="1"/>
              <a:t>Underline</a:t>
            </a:r>
            <a:r>
              <a:rPr lang="de-DE" altLang="de-DE" sz="1800" dirty="0"/>
              <a:t> codiert</a:t>
            </a:r>
          </a:p>
          <a:p>
            <a:r>
              <a:rPr lang="de-DE" altLang="de-DE" sz="2000" dirty="0"/>
              <a:t>Hat beliebigen Datentyp (meist Typ des Felds</a:t>
            </a:r>
            <a:r>
              <a:rPr lang="de-AT" altLang="de-DE" sz="2000" dirty="0"/>
              <a:t>)</a:t>
            </a:r>
          </a:p>
          <a:p>
            <a:r>
              <a:rPr lang="de-DE" altLang="de-DE" sz="2000" dirty="0" err="1"/>
              <a:t>get</a:t>
            </a:r>
            <a:r>
              <a:rPr lang="de-DE" altLang="de-DE" sz="2000" dirty="0"/>
              <a:t>-Bereich </a:t>
            </a:r>
            <a:r>
              <a:rPr lang="de-DE" altLang="de-DE" sz="2000" dirty="0">
                <a:sym typeface="Wingdings" panose="05000000000000000000" pitchFamily="2" charset="2"/>
              </a:rPr>
              <a:t> </a:t>
            </a:r>
            <a:r>
              <a:rPr lang="de-DE" altLang="de-DE" sz="2000" dirty="0"/>
              <a:t>lesender Zugriff</a:t>
            </a:r>
            <a:endParaRPr lang="de-AT" altLang="de-DE" sz="2000" dirty="0"/>
          </a:p>
          <a:p>
            <a:pPr lvl="1"/>
            <a:r>
              <a:rPr lang="de-DE" altLang="de-DE" sz="1800" dirty="0"/>
              <a:t>Bei Bedarf Berechnungen </a:t>
            </a:r>
          </a:p>
          <a:p>
            <a:r>
              <a:rPr lang="de-DE" altLang="de-DE" sz="2000" dirty="0" err="1"/>
              <a:t>set</a:t>
            </a:r>
            <a:r>
              <a:rPr lang="de-DE" altLang="de-DE" sz="2000" dirty="0"/>
              <a:t>-Bereich </a:t>
            </a:r>
            <a:r>
              <a:rPr lang="de-DE" altLang="de-DE" sz="2000" dirty="0">
                <a:sym typeface="Wingdings" panose="05000000000000000000" pitchFamily="2" charset="2"/>
              </a:rPr>
              <a:t> </a:t>
            </a:r>
            <a:r>
              <a:rPr lang="de-DE" altLang="de-DE" sz="2000" dirty="0"/>
              <a:t>auf das private Feld schreiben (</a:t>
            </a:r>
            <a:r>
              <a:rPr lang="de-DE" altLang="de-DE" sz="2000" dirty="0" err="1"/>
              <a:t>value</a:t>
            </a:r>
            <a:r>
              <a:rPr lang="de-DE" altLang="de-DE" sz="2000" dirty="0"/>
              <a:t> enthält den Wert)</a:t>
            </a:r>
            <a:endParaRPr lang="de-AT" altLang="de-DE" sz="2000" dirty="0"/>
          </a:p>
          <a:p>
            <a:pPr lvl="1"/>
            <a:r>
              <a:rPr lang="de-DE" altLang="de-DE" sz="1800" dirty="0"/>
              <a:t>Häufig Gültigkeitsprüfungen</a:t>
            </a:r>
            <a:endParaRPr lang="de-AT" altLang="de-DE" sz="1800" dirty="0"/>
          </a:p>
          <a:p>
            <a:r>
              <a:rPr lang="de-DE" altLang="de-DE" sz="2000" dirty="0"/>
              <a:t>„</a:t>
            </a:r>
            <a:r>
              <a:rPr lang="de-DE" altLang="de-DE" sz="2000" dirty="0" err="1"/>
              <a:t>read</a:t>
            </a:r>
            <a:r>
              <a:rPr lang="de-DE" altLang="de-DE" sz="2000" dirty="0"/>
              <a:t>-</a:t>
            </a:r>
            <a:r>
              <a:rPr lang="de-DE" altLang="de-DE" sz="2000" dirty="0" err="1"/>
              <a:t>only</a:t>
            </a:r>
            <a:r>
              <a:rPr lang="de-DE" altLang="de-DE" sz="2000" dirty="0"/>
              <a:t>-Properties“ werden bei Bedarf berechnet (kein Setter)</a:t>
            </a:r>
          </a:p>
          <a:p>
            <a:r>
              <a:rPr lang="de-DE" altLang="de-DE" sz="2000" dirty="0"/>
              <a:t>Auch intern über Properties statt über private </a:t>
            </a:r>
            <a:r>
              <a:rPr lang="de-DE" altLang="de-DE" sz="2000" dirty="0" err="1"/>
              <a:t>fields</a:t>
            </a:r>
            <a:r>
              <a:rPr lang="de-DE" altLang="de-DE" sz="2000" dirty="0"/>
              <a:t> zugreifen</a:t>
            </a:r>
            <a:endParaRPr lang="de-AT" altLang="de-DE" sz="1800" dirty="0"/>
          </a:p>
          <a:p>
            <a:endParaRPr lang="de-AT" altLang="de-DE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F7CE58E0-76D8-4736-A64D-3CA1F02F0B9C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5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61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altLang="de-DE" sz="2400" dirty="0"/>
              <a:t>Beispiel für ein berechnetes „</a:t>
            </a:r>
            <a:r>
              <a:rPr lang="de-AT" altLang="de-DE" sz="2400" dirty="0" err="1"/>
              <a:t>read-only</a:t>
            </a:r>
            <a:r>
              <a:rPr lang="de-AT" altLang="de-DE" sz="2400" dirty="0"/>
              <a:t>“ - Property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C59603E-A0D9-444F-8922-CF9B658BE90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6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F3341C38-A5BF-46D4-A1C9-ABEA6D809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144515"/>
            <a:ext cx="8784976" cy="456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489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Sehr gute Designerunterstützung</a:t>
            </a:r>
          </a:p>
        </p:txBody>
      </p:sp>
      <p:sp>
        <p:nvSpPr>
          <p:cNvPr id="3993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altLang="de-DE"/>
              <a:t>Feld einkapseln</a:t>
            </a:r>
          </a:p>
          <a:p>
            <a:endParaRPr lang="de-AT" altLang="de-DE"/>
          </a:p>
          <a:p>
            <a:endParaRPr lang="de-AT" altLang="de-DE"/>
          </a:p>
          <a:p>
            <a:endParaRPr lang="de-AT" altLang="de-DE"/>
          </a:p>
          <a:p>
            <a:r>
              <a:rPr lang="de-AT" altLang="de-DE"/>
              <a:t>Property erstellen über Codesnippet </a:t>
            </a:r>
          </a:p>
          <a:p>
            <a:pPr lvl="1"/>
            <a:r>
              <a:rPr lang="de-AT" altLang="de-DE"/>
              <a:t>Prop tab tab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657070E-342B-4A24-AAF7-6F749FD679F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7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99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413" y="1603375"/>
            <a:ext cx="8891587" cy="120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072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Property - Merksätze</a:t>
            </a:r>
          </a:p>
        </p:txBody>
      </p:sp>
      <p:sp>
        <p:nvSpPr>
          <p:cNvPr id="40963" name="Inhaltsplatzhalter 2"/>
          <p:cNvSpPr>
            <a:spLocks noGrp="1"/>
          </p:cNvSpPr>
          <p:nvPr>
            <p:ph idx="1"/>
          </p:nvPr>
        </p:nvSpPr>
        <p:spPr>
          <a:xfrm>
            <a:off x="251520" y="1135285"/>
            <a:ext cx="8229600" cy="4525963"/>
          </a:xfrm>
        </p:spPr>
        <p:txBody>
          <a:bodyPr/>
          <a:lstStyle/>
          <a:p>
            <a:r>
              <a:rPr lang="de-AT" altLang="de-DE" sz="2000" dirty="0"/>
              <a:t>Zweck: Einfacher aber gekapselter Zugriff auf private Felder</a:t>
            </a:r>
          </a:p>
          <a:p>
            <a:r>
              <a:rPr lang="de-AT" altLang="de-DE" sz="2000" dirty="0"/>
              <a:t>Besteht aus </a:t>
            </a:r>
            <a:r>
              <a:rPr lang="de-AT" altLang="de-DE" sz="2000" dirty="0" err="1"/>
              <a:t>get</a:t>
            </a:r>
            <a:r>
              <a:rPr lang="de-AT" altLang="de-DE" sz="2000" dirty="0"/>
              <a:t>- und </a:t>
            </a:r>
            <a:r>
              <a:rPr lang="de-AT" altLang="de-DE" sz="2000" dirty="0" err="1"/>
              <a:t>set</a:t>
            </a:r>
            <a:r>
              <a:rPr lang="de-AT" altLang="de-DE" sz="2000" dirty="0"/>
              <a:t>-Bereich, die optional sind</a:t>
            </a:r>
          </a:p>
          <a:p>
            <a:pPr lvl="1"/>
            <a:r>
              <a:rPr lang="de-AT" altLang="de-DE" sz="1800" dirty="0"/>
              <a:t>Ohne Setter entsteht ein Read-</a:t>
            </a:r>
            <a:r>
              <a:rPr lang="de-AT" altLang="de-DE" sz="1800" dirty="0" err="1"/>
              <a:t>Only</a:t>
            </a:r>
            <a:r>
              <a:rPr lang="de-AT" altLang="de-DE" sz="1800" dirty="0"/>
              <a:t>-Property (berechnetes Property, Änderung des privaten Feldes soll verhindert werden)</a:t>
            </a:r>
          </a:p>
          <a:p>
            <a:r>
              <a:rPr lang="de-AT" altLang="de-DE" sz="2000" dirty="0" err="1"/>
              <a:t>Zugriffsmodifizierer</a:t>
            </a:r>
            <a:r>
              <a:rPr lang="de-AT" altLang="de-DE" sz="2000" dirty="0"/>
              <a:t> des Properties kann für Getter und Setter angepasst werden</a:t>
            </a:r>
          </a:p>
          <a:p>
            <a:pPr lvl="1"/>
            <a:r>
              <a:rPr lang="de-AT" altLang="de-DE" sz="1800" dirty="0"/>
              <a:t>Z.B. Setter private setzen </a:t>
            </a:r>
            <a:r>
              <a:rPr lang="de-AT" altLang="de-DE" sz="1800" dirty="0">
                <a:sym typeface="Wingdings" panose="05000000000000000000" pitchFamily="2" charset="2"/>
              </a:rPr>
              <a:t> nur in Klasse änderbar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Getter liefert Wert mit Typ entsprechend dem Property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Setter erhält Wert über </a:t>
            </a:r>
            <a:r>
              <a:rPr lang="de-AT" altLang="de-DE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value</a:t>
            </a:r>
            <a:r>
              <a:rPr lang="de-AT" altLang="de-DE" sz="2000" dirty="0">
                <a:sym typeface="Wingdings" panose="05000000000000000000" pitchFamily="2" charset="2"/>
              </a:rPr>
              <a:t> (ebenfalls Typ des Properties)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Setter kann für Validierungsaufgaben verwendet werden</a:t>
            </a:r>
          </a:p>
          <a:p>
            <a:r>
              <a:rPr lang="de-AT" altLang="de-DE" sz="2000" dirty="0">
                <a:sym typeface="Wingdings" panose="05000000000000000000" pitchFamily="2" charset="2"/>
              </a:rPr>
              <a:t>Direkten Zugriff auf private Felder auch innerhalb der Klasse vermeiden</a:t>
            </a:r>
          </a:p>
          <a:p>
            <a:pPr lvl="1"/>
            <a:r>
              <a:rPr lang="de-AT" altLang="de-DE" sz="1800" dirty="0">
                <a:sym typeface="Wingdings" panose="05000000000000000000" pitchFamily="2" charset="2"/>
              </a:rPr>
              <a:t>Setter private setzen  Validierung im Setter wird immer verwendet</a:t>
            </a:r>
            <a:endParaRPr lang="de-AT" altLang="de-DE" sz="18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8387947-67C3-4CFD-A826-A34FE3F573CB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8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0966" name="Picture 2" descr="C:\HTL\PR_II\Skriptum\Icons\gluehbir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155575"/>
            <a:ext cx="79216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9566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Konstruktor </a:t>
            </a:r>
            <a:r>
              <a:rPr lang="de-AT" altLang="de-DE">
                <a:sym typeface="Wingdings" panose="05000000000000000000" pitchFamily="2" charset="2"/>
              </a:rPr>
              <a:t> Eingriff in Instanzierung</a:t>
            </a:r>
            <a:endParaRPr lang="de-AT" altLang="de-DE"/>
          </a:p>
        </p:txBody>
      </p:sp>
      <p:sp>
        <p:nvSpPr>
          <p:cNvPr id="32771" name="Inhaltsplatzhalter 2"/>
          <p:cNvSpPr>
            <a:spLocks noGrp="1"/>
          </p:cNvSpPr>
          <p:nvPr>
            <p:ph idx="1"/>
          </p:nvPr>
        </p:nvSpPr>
        <p:spPr>
          <a:xfrm>
            <a:off x="179512" y="1052736"/>
            <a:ext cx="8229600" cy="4525963"/>
          </a:xfrm>
        </p:spPr>
        <p:txBody>
          <a:bodyPr/>
          <a:lstStyle/>
          <a:p>
            <a:r>
              <a:rPr lang="de-AT" altLang="de-DE" sz="2800" dirty="0"/>
              <a:t>Syntax</a:t>
            </a:r>
          </a:p>
          <a:p>
            <a:pPr lvl="1"/>
            <a:r>
              <a:rPr lang="de-DE" altLang="de-DE" sz="2000" dirty="0"/>
              <a:t>Sieht aus wie eine Methode, hat aber keinen Rückgabewert (auch nicht </a:t>
            </a:r>
            <a:r>
              <a:rPr lang="de-DE" altLang="de-DE" sz="2000" dirty="0" err="1"/>
              <a:t>void</a:t>
            </a:r>
            <a:r>
              <a:rPr lang="de-DE" altLang="de-DE" sz="2000" dirty="0"/>
              <a:t>)</a:t>
            </a:r>
            <a:endParaRPr lang="de-AT" altLang="de-DE" sz="2000" dirty="0"/>
          </a:p>
          <a:p>
            <a:pPr lvl="1"/>
            <a:r>
              <a:rPr lang="de-DE" altLang="de-DE" sz="2000" dirty="0"/>
              <a:t>Heißt genau so wie die Klasse</a:t>
            </a:r>
            <a:endParaRPr lang="de-AT" altLang="de-DE" sz="2000" dirty="0"/>
          </a:p>
          <a:p>
            <a:pPr lvl="1"/>
            <a:r>
              <a:rPr lang="de-DE" altLang="de-DE" sz="2000" dirty="0" err="1"/>
              <a:t>Defaultkonstruktor</a:t>
            </a:r>
            <a:r>
              <a:rPr lang="de-DE" altLang="de-DE" sz="2000" dirty="0"/>
              <a:t> hat keinen Parameter und wird automatisch erzeugt, wenn kein anderer Konstruktor angelegt wird</a:t>
            </a:r>
          </a:p>
          <a:p>
            <a:pPr lvl="1"/>
            <a:r>
              <a:rPr lang="de-DE" altLang="de-DE" sz="2000" dirty="0"/>
              <a:t>Mehrere (überladene) Konstruktoren (Varianten) sind möglich</a:t>
            </a:r>
          </a:p>
          <a:p>
            <a:pPr lvl="1"/>
            <a:endParaRPr lang="de-AT" altLang="de-DE" sz="2000" dirty="0"/>
          </a:p>
          <a:p>
            <a:r>
              <a:rPr lang="de-AT" altLang="de-DE" sz="2800" dirty="0"/>
              <a:t>Bedeutung</a:t>
            </a:r>
          </a:p>
          <a:p>
            <a:pPr lvl="1"/>
            <a:r>
              <a:rPr lang="de-AT" altLang="de-DE" sz="2000" dirty="0"/>
              <a:t>Möglichkeit der Initialisierung von Feldern</a:t>
            </a:r>
          </a:p>
          <a:p>
            <a:pPr lvl="1"/>
            <a:r>
              <a:rPr lang="de-AT" altLang="de-DE" sz="2000" dirty="0"/>
              <a:t>Häufig mit Parametern</a:t>
            </a:r>
          </a:p>
          <a:p>
            <a:pPr lvl="2"/>
            <a:r>
              <a:rPr lang="de-AT" altLang="de-DE" sz="2000" dirty="0"/>
              <a:t>Muss-Felder, ohne die ein Objekt nicht sinnvoll erzeugbar ist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B755B118-FB86-46CA-AAFE-6CF26B88E74A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9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84097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Statt new und Set… </a:t>
            </a:r>
            <a:r>
              <a:rPr lang="de-AT" altLang="de-DE">
                <a:sym typeface="Wingdings" panose="05000000000000000000" pitchFamily="2" charset="2"/>
              </a:rPr>
              <a:t> Konstruktor</a:t>
            </a:r>
            <a:endParaRPr lang="de-AT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37B1233F-25DB-425B-9CC6-F10150F172C9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10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6509480-B815-48F1-949E-C3815708B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24" y="1484784"/>
            <a:ext cx="9087140" cy="244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51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Konstruktoren überladen</a:t>
            </a:r>
          </a:p>
        </p:txBody>
      </p:sp>
      <p:sp>
        <p:nvSpPr>
          <p:cNvPr id="348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alt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27E9174-7D02-4B2B-92F0-2D64882209A9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11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C833983-24D7-4E4C-BD06-7AF61CC812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64" y="1772817"/>
            <a:ext cx="8804872" cy="3312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034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altLang="de-DE"/>
              <a:t>Konstruktor - Merksätze</a:t>
            </a:r>
          </a:p>
        </p:txBody>
      </p:sp>
      <p:sp>
        <p:nvSpPr>
          <p:cNvPr id="35843" name="Inhaltsplatzhalter 2"/>
          <p:cNvSpPr>
            <a:spLocks noGrp="1"/>
          </p:cNvSpPr>
          <p:nvPr>
            <p:ph idx="1"/>
          </p:nvPr>
        </p:nvSpPr>
        <p:spPr>
          <a:xfrm>
            <a:off x="179512" y="980728"/>
            <a:ext cx="8229600" cy="4525963"/>
          </a:xfrm>
        </p:spPr>
        <p:txBody>
          <a:bodyPr/>
          <a:lstStyle/>
          <a:p>
            <a:r>
              <a:rPr lang="de-AT" altLang="de-DE" sz="2000" dirty="0"/>
              <a:t>Zweck: Initialisierung der Objekte</a:t>
            </a:r>
          </a:p>
          <a:p>
            <a:r>
              <a:rPr lang="de-AT" altLang="de-DE" sz="2000" dirty="0"/>
              <a:t>Wird kein expliziter Konstruktor definiert, erzeugt das System automatisch einen </a:t>
            </a:r>
            <a:r>
              <a:rPr lang="de-AT" altLang="de-DE" sz="2000" dirty="0" err="1"/>
              <a:t>Defaultkonstruktor</a:t>
            </a:r>
            <a:r>
              <a:rPr lang="de-AT" altLang="de-DE" sz="2000" dirty="0"/>
              <a:t>, der alle privaten Felder initialisiert (Zahlen mit 0, </a:t>
            </a:r>
            <a:r>
              <a:rPr lang="de-AT" altLang="de-DE" sz="2000" dirty="0" err="1"/>
              <a:t>boolean</a:t>
            </a:r>
            <a:r>
              <a:rPr lang="de-AT" altLang="de-DE" sz="2000" dirty="0"/>
              <a:t> mit </a:t>
            </a:r>
            <a:r>
              <a:rPr lang="de-AT" altLang="de-DE" sz="2000" dirty="0" err="1"/>
              <a:t>false</a:t>
            </a:r>
            <a:r>
              <a:rPr lang="de-AT" altLang="de-DE" sz="2000" dirty="0"/>
              <a:t>, Referenzen auf Objekte mit null)</a:t>
            </a:r>
          </a:p>
          <a:p>
            <a:r>
              <a:rPr lang="de-AT" altLang="de-DE" sz="2000" dirty="0"/>
              <a:t>Wird ein Konstruktor definiert, gibt es den automatischen </a:t>
            </a:r>
            <a:r>
              <a:rPr lang="de-AT" altLang="de-DE" sz="2000" dirty="0" err="1"/>
              <a:t>Defaultkonstruktor</a:t>
            </a:r>
            <a:r>
              <a:rPr lang="de-AT" altLang="de-DE" sz="2000" dirty="0"/>
              <a:t> nicht</a:t>
            </a:r>
          </a:p>
          <a:p>
            <a:pPr lvl="1"/>
            <a:r>
              <a:rPr lang="de-AT" altLang="de-DE" sz="1800" dirty="0"/>
              <a:t>Bei Bedarf Konstruktor mit leerer Parameterliste anlegen</a:t>
            </a:r>
          </a:p>
          <a:p>
            <a:r>
              <a:rPr lang="de-AT" altLang="de-DE" sz="2000" dirty="0"/>
              <a:t>Felder, deren Inhalte für die Existenz des Objekts notwendig sind, müssen per Konstruktor initialisiert werden	</a:t>
            </a:r>
          </a:p>
          <a:p>
            <a:pPr lvl="1"/>
            <a:r>
              <a:rPr lang="de-AT" altLang="de-DE" sz="1800" dirty="0"/>
              <a:t>Z.B. </a:t>
            </a:r>
            <a:r>
              <a:rPr lang="de-AT" altLang="de-DE" sz="1800" dirty="0" err="1"/>
              <a:t>Pupil</a:t>
            </a:r>
            <a:r>
              <a:rPr lang="de-AT" altLang="de-DE" sz="1800" dirty="0"/>
              <a:t> ohne Name macht keinen Sinn</a:t>
            </a:r>
          </a:p>
          <a:p>
            <a:r>
              <a:rPr lang="de-AT" altLang="de-DE" sz="2000" dirty="0"/>
              <a:t>Konstruktoren können mehrfach überladen werden</a:t>
            </a:r>
          </a:p>
          <a:p>
            <a:pPr lvl="1"/>
            <a:r>
              <a:rPr lang="de-AT" altLang="de-DE" sz="1800" dirty="0"/>
              <a:t>Aufruf untereinander vermeidet Codeverdopplung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</p:spPr>
        <p:txBody>
          <a:bodyPr/>
          <a:lstStyle>
            <a:lvl1pPr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DBA1465-932A-4E2A-A573-07C4187312DD}" type="slidenum">
              <a:rPr lang="de-DE" altLang="de-DE" sz="1400">
                <a:solidFill>
                  <a:schemeClr val="bg1"/>
                </a:solidFill>
                <a:latin typeface="Times New Roman" panose="02020603050405020304" pitchFamily="18" charset="0"/>
              </a:rPr>
              <a:pPr eaLnBrk="1" hangingPunct="1"/>
              <a:t>12</a:t>
            </a:fld>
            <a:endParaRPr lang="de-DE" altLang="de-DE" sz="140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5846" name="Picture 2" descr="C:\HTL\PR_II\Skriptum\Icons\gluehbirn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113" y="155575"/>
            <a:ext cx="79216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7606541"/>
      </p:ext>
    </p:extLst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398</Words>
  <Application>Microsoft Office PowerPoint</Application>
  <PresentationFormat>On-screen Show (4:3)</PresentationFormat>
  <Paragraphs>75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Wingdings</vt:lpstr>
      <vt:lpstr>2_Larissa</vt:lpstr>
      <vt:lpstr>1_Standarddesign</vt:lpstr>
      <vt:lpstr>PowerPoint Presentation</vt:lpstr>
      <vt:lpstr>Setter/Getter über Methoden</vt:lpstr>
      <vt:lpstr>Geregelter Zugriff auf Felder  Properties</vt:lpstr>
      <vt:lpstr>Darstellung im Klassendiagramm</vt:lpstr>
      <vt:lpstr>Property - Allgemeines</vt:lpstr>
      <vt:lpstr>Beispiel für ein berechnetes „read-only“ - Property</vt:lpstr>
      <vt:lpstr>Sehr gute Designerunterstützung</vt:lpstr>
      <vt:lpstr>Property - Merksätze</vt:lpstr>
      <vt:lpstr>Konstruktor  Eingriff in Instanzierung</vt:lpstr>
      <vt:lpstr>Statt new und Set…  Konstruktor</vt:lpstr>
      <vt:lpstr>Konstruktoren überladen</vt:lpstr>
      <vt:lpstr>Konstruktor - Merksätze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Michael Bucek</cp:lastModifiedBy>
  <cp:revision>171</cp:revision>
  <dcterms:created xsi:type="dcterms:W3CDTF">2006-01-13T20:54:04Z</dcterms:created>
  <dcterms:modified xsi:type="dcterms:W3CDTF">2019-09-30T17:44:32Z</dcterms:modified>
</cp:coreProperties>
</file>