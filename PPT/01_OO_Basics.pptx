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38"/>
  </p:notesMasterIdLst>
  <p:handoutMasterIdLst>
    <p:handoutMasterId r:id="rId39"/>
  </p:handoutMasterIdLst>
  <p:sldIdLst>
    <p:sldId id="322" r:id="rId3"/>
    <p:sldId id="300" r:id="rId4"/>
    <p:sldId id="301" r:id="rId5"/>
    <p:sldId id="302" r:id="rId6"/>
    <p:sldId id="303" r:id="rId7"/>
    <p:sldId id="304" r:id="rId8"/>
    <p:sldId id="307" r:id="rId9"/>
    <p:sldId id="308" r:id="rId10"/>
    <p:sldId id="309" r:id="rId11"/>
    <p:sldId id="323" r:id="rId12"/>
    <p:sldId id="325" r:id="rId13"/>
    <p:sldId id="326" r:id="rId14"/>
    <p:sldId id="328" r:id="rId15"/>
    <p:sldId id="310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52" r:id="rId27"/>
    <p:sldId id="333" r:id="rId28"/>
    <p:sldId id="35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29" autoAdjust="0"/>
  </p:normalViewPr>
  <p:slideViewPr>
    <p:cSldViewPr>
      <p:cViewPr varScale="1">
        <p:scale>
          <a:sx n="82" d="100"/>
          <a:sy n="82" d="100"/>
        </p:scale>
        <p:origin x="154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Master </a:t>
            </a:r>
            <a:r>
              <a:rPr lang="de-DE" noProof="0" dirty="0" err="1"/>
              <a:t>text</a:t>
            </a:r>
            <a:r>
              <a:rPr lang="de-DE" noProof="0" dirty="0"/>
              <a:t> </a:t>
            </a:r>
            <a:r>
              <a:rPr lang="de-DE" noProof="0" dirty="0" err="1"/>
              <a:t>styles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18488" cy="69215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3750" y="908050"/>
            <a:ext cx="4216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A6957-6B33-49AB-A4E1-71E66DD489D2}" type="datetime1">
              <a:rPr lang="de-DE"/>
              <a:pPr>
                <a:defRPr/>
              </a:pPr>
              <a:t>11.09.2019</a:t>
            </a:fld>
            <a:endParaRPr lang="de-DE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82E3C53-8032-42BC-9CB4-267DBC1803F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1692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236538" y="0"/>
            <a:ext cx="8583612" cy="60928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2DB0B-A611-4F36-B4FD-D6EEA09DD94D}" type="datetime1">
              <a:rPr lang="de-DE"/>
              <a:pPr>
                <a:defRPr/>
              </a:pPr>
              <a:t>11.09.2019</a:t>
            </a:fld>
            <a:endParaRPr lang="de-DE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7AF743E-C3CE-496E-BFA5-92A24AC8B0D2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35826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3750" y="908050"/>
            <a:ext cx="42164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8A608-9A7D-4CC8-97E5-151138EF0A4C}" type="datetime1">
              <a:rPr lang="de-DE"/>
              <a:pPr>
                <a:defRPr/>
              </a:pPr>
              <a:t>11.09.2019</a:t>
            </a:fld>
            <a:endParaRPr lang="de-DE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BFB6EFEF-7C0F-4D4A-A7DE-C1DE975D5319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8729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2018/19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OO-Basics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31" r:id="rId8"/>
    <p:sldLayoutId id="2147483932" r:id="rId9"/>
    <p:sldLayoutId id="2147483933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768350" y="1196752"/>
            <a:ext cx="7772400" cy="14700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altLang="de-DE" sz="4000" dirty="0">
                <a:solidFill>
                  <a:schemeClr val="tx2"/>
                </a:solidFill>
              </a:rPr>
              <a:t>Grundlagen </a:t>
            </a:r>
            <a:br>
              <a:rPr lang="de-DE" altLang="de-DE" sz="4000" dirty="0">
                <a:solidFill>
                  <a:schemeClr val="tx2"/>
                </a:solidFill>
              </a:rPr>
            </a:br>
            <a:r>
              <a:rPr lang="de-DE" altLang="de-DE" sz="4000" dirty="0">
                <a:solidFill>
                  <a:schemeClr val="tx2"/>
                </a:solidFill>
              </a:rPr>
              <a:t>der</a:t>
            </a:r>
            <a:br>
              <a:rPr lang="de-DE" altLang="de-DE" sz="4000" dirty="0">
                <a:solidFill>
                  <a:schemeClr val="tx2"/>
                </a:solidFill>
              </a:rPr>
            </a:br>
            <a:r>
              <a:rPr lang="de-DE" altLang="de-DE" sz="4000" dirty="0">
                <a:solidFill>
                  <a:schemeClr val="tx2"/>
                </a:solidFill>
              </a:rPr>
              <a:t>objektorientierten Programmierung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212976"/>
            <a:ext cx="1314450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485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800" dirty="0"/>
              <a:t>Programmentwicklung bisher</a:t>
            </a:r>
          </a:p>
        </p:txBody>
      </p:sp>
      <p:sp>
        <p:nvSpPr>
          <p:cNvPr id="7171" name="Inhaltsplatzhalt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de-DE" altLang="de-DE" sz="2800" dirty="0"/>
              <a:t>Lesen und Verstehen der Aufgabenstellung</a:t>
            </a:r>
            <a:endParaRPr lang="de-AT" altLang="de-DE" sz="2800" dirty="0"/>
          </a:p>
          <a:p>
            <a:r>
              <a:rPr lang="de-DE" altLang="de-DE" sz="2800" dirty="0"/>
              <a:t>Entwurf eines geeigneten Algorithmus</a:t>
            </a:r>
          </a:p>
          <a:p>
            <a:pPr lvl="1"/>
            <a:r>
              <a:rPr lang="de-DE" altLang="de-DE" sz="2500" dirty="0"/>
              <a:t>Entwurfsmethode „schrittweise Verfeinerung“</a:t>
            </a:r>
            <a:endParaRPr lang="de-AT" altLang="de-DE" sz="2500" dirty="0"/>
          </a:p>
          <a:p>
            <a:r>
              <a:rPr lang="de-DE" altLang="de-DE" sz="2800" dirty="0"/>
              <a:t>Umsetzen des Algorithmus in C#</a:t>
            </a:r>
            <a:endParaRPr lang="de-AT" altLang="de-DE" sz="2800" dirty="0"/>
          </a:p>
          <a:p>
            <a:r>
              <a:rPr lang="de-DE" altLang="de-DE" sz="2800" dirty="0"/>
              <a:t>Testen der Anwendung</a:t>
            </a:r>
          </a:p>
          <a:p>
            <a:pPr lvl="1"/>
            <a:r>
              <a:rPr lang="de-DE" altLang="de-DE" sz="2500" dirty="0" err="1"/>
              <a:t>Unittests</a:t>
            </a:r>
            <a:r>
              <a:rPr lang="de-DE" altLang="de-DE" sz="2500" dirty="0"/>
              <a:t> für Methoden</a:t>
            </a:r>
          </a:p>
          <a:p>
            <a:pPr lvl="1"/>
            <a:r>
              <a:rPr lang="de-DE" altLang="de-DE" dirty="0"/>
              <a:t>Test des Hauptprogramms</a:t>
            </a:r>
            <a:endParaRPr lang="de-AT" altLang="de-DE" sz="2500" dirty="0"/>
          </a:p>
          <a:p>
            <a:endParaRPr lang="de-AT" altLang="de-DE" sz="2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58118C-B327-4E20-A3D1-E4AAA383BAAE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74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Entwurf eines geeigneten Algorithmus</a:t>
            </a:r>
            <a:endParaRPr lang="de-AT" altLang="de-DE"/>
          </a:p>
        </p:txBody>
      </p:sp>
      <p:sp>
        <p:nvSpPr>
          <p:cNvPr id="8195" name="Inhaltsplatzhalt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4525963"/>
          </a:xfrm>
        </p:spPr>
        <p:txBody>
          <a:bodyPr/>
          <a:lstStyle/>
          <a:p>
            <a:r>
              <a:rPr lang="de-DE" altLang="de-DE" sz="2400" dirty="0"/>
              <a:t>Nutzung grafischer Hilfsmittel (Ablaufdiagramm, …) zur Visualisierung der Lösungsidee</a:t>
            </a:r>
            <a:endParaRPr lang="de-AT" altLang="de-DE" sz="2400" dirty="0"/>
          </a:p>
          <a:p>
            <a:r>
              <a:rPr lang="de-DE" altLang="de-DE" sz="2400" dirty="0"/>
              <a:t>Strukturieren der Lösung durch schrittweise Verfeinerung</a:t>
            </a:r>
            <a:endParaRPr lang="de-AT" altLang="de-DE" sz="2400" dirty="0"/>
          </a:p>
          <a:p>
            <a:r>
              <a:rPr lang="de-DE" altLang="de-DE" sz="2400" dirty="0"/>
              <a:t>Durchspielen des Algorithmus mit Hilfe von Schreibtischtests</a:t>
            </a:r>
            <a:endParaRPr lang="de-AT" altLang="de-DE" sz="2400" dirty="0"/>
          </a:p>
          <a:p>
            <a:endParaRPr lang="de-AT" alt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DC8362-4E6D-4D4A-82B4-553B814B7ECA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0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Umsetzen des Algorithmus in C#</a:t>
            </a:r>
            <a:endParaRPr lang="de-AT" altLang="de-DE"/>
          </a:p>
        </p:txBody>
      </p:sp>
      <p:sp>
        <p:nvSpPr>
          <p:cNvPr id="9219" name="Inhaltsplatzhalter 2"/>
          <p:cNvSpPr>
            <a:spLocks noGrp="1"/>
          </p:cNvSpPr>
          <p:nvPr>
            <p:ph idx="1"/>
          </p:nvPr>
        </p:nvSpPr>
        <p:spPr>
          <a:xfrm>
            <a:off x="395536" y="1135285"/>
            <a:ext cx="8229600" cy="4525963"/>
          </a:xfrm>
        </p:spPr>
        <p:txBody>
          <a:bodyPr/>
          <a:lstStyle/>
          <a:p>
            <a:r>
              <a:rPr lang="de-DE" altLang="de-DE" sz="2400" dirty="0"/>
              <a:t>Codieren unter Berücksichtigung der vorgegebenen </a:t>
            </a:r>
            <a:r>
              <a:rPr lang="de-DE" altLang="de-DE" sz="2400" dirty="0" err="1"/>
              <a:t>Codierrichtlinien</a:t>
            </a:r>
            <a:endParaRPr lang="de-AT" altLang="de-DE" sz="2400" dirty="0"/>
          </a:p>
          <a:p>
            <a:pPr lvl="1"/>
            <a:r>
              <a:rPr lang="de-DE" altLang="de-DE" sz="2000" dirty="0"/>
              <a:t>Sprechende Bezeichner</a:t>
            </a:r>
            <a:endParaRPr lang="de-AT" altLang="de-DE" sz="2000" dirty="0"/>
          </a:p>
          <a:p>
            <a:pPr lvl="1"/>
            <a:r>
              <a:rPr lang="de-DE" altLang="de-DE" sz="2000" dirty="0"/>
              <a:t>Verwendung der passenden Datentypen für Variable und Parameter</a:t>
            </a:r>
            <a:endParaRPr lang="de-AT" altLang="de-DE" sz="2000" dirty="0"/>
          </a:p>
          <a:p>
            <a:pPr lvl="1"/>
            <a:r>
              <a:rPr lang="de-DE" altLang="de-DE" sz="2000" dirty="0"/>
              <a:t>XML-Kommentare für alle Methoden</a:t>
            </a:r>
            <a:endParaRPr lang="de-AT" altLang="de-DE" sz="2000" dirty="0"/>
          </a:p>
          <a:p>
            <a:pPr lvl="1"/>
            <a:r>
              <a:rPr lang="de-DE" altLang="de-DE" sz="2000" dirty="0"/>
              <a:t>Kommentare für Codeteile, die nicht selbst erklärend sind </a:t>
            </a:r>
            <a:endParaRPr lang="de-AT" altLang="de-DE" sz="2000" dirty="0"/>
          </a:p>
          <a:p>
            <a:pPr lvl="2"/>
            <a:r>
              <a:rPr lang="de-DE" altLang="de-DE" sz="1800" dirty="0"/>
              <a:t>Zuerst prüfen, ob der Code nicht durch andere </a:t>
            </a:r>
            <a:r>
              <a:rPr lang="de-DE" altLang="de-DE" sz="1800" dirty="0" err="1"/>
              <a:t>Bezeichnernamen</a:t>
            </a:r>
            <a:r>
              <a:rPr lang="de-DE" altLang="de-DE" sz="1800" dirty="0"/>
              <a:t> und/oder einfachere Ablaufstrukturen verbessert werden kann</a:t>
            </a:r>
            <a:endParaRPr lang="de-AT" altLang="de-DE" sz="1800" dirty="0"/>
          </a:p>
          <a:p>
            <a:r>
              <a:rPr lang="de-DE" altLang="de-DE" sz="2400" dirty="0"/>
              <a:t>Syntaxfehler und Warnungen beheben</a:t>
            </a:r>
            <a:endParaRPr lang="de-AT" altLang="de-DE" sz="2400" dirty="0"/>
          </a:p>
          <a:p>
            <a:pPr lvl="1"/>
            <a:r>
              <a:rPr lang="de-DE" altLang="de-DE" sz="2000" dirty="0"/>
              <a:t>Meldungen des Compilers genau lesen und entsprechende Korrekturen anbringen</a:t>
            </a:r>
            <a:endParaRPr lang="de-AT" altLang="de-DE" sz="2000" dirty="0"/>
          </a:p>
          <a:p>
            <a:endParaRPr lang="de-AT" alt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EB421DC-C403-4524-98E4-5C3D1B358D5A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4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4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Testen der Anwendung</a:t>
            </a:r>
            <a:endParaRPr lang="de-AT" altLang="de-DE"/>
          </a:p>
        </p:txBody>
      </p:sp>
      <p:sp>
        <p:nvSpPr>
          <p:cNvPr id="1024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de-DE" altLang="de-DE" sz="2400"/>
              <a:t>Falls </a:t>
            </a:r>
            <a:r>
              <a:rPr lang="de-DE" altLang="de-DE" sz="2400" dirty="0" err="1"/>
              <a:t>Unittests</a:t>
            </a:r>
            <a:r>
              <a:rPr lang="de-DE" altLang="de-DE" sz="2400" dirty="0"/>
              <a:t> vorhanden sind, muss das Programm alle Tests bestehen</a:t>
            </a:r>
            <a:endParaRPr lang="de-AT" altLang="de-DE" sz="2400" dirty="0"/>
          </a:p>
          <a:p>
            <a:pPr lvl="1"/>
            <a:r>
              <a:rPr lang="de-DE" altLang="de-DE" sz="2400" dirty="0"/>
              <a:t>Änderung von Testfällen ist natürlich nicht zulässig</a:t>
            </a:r>
            <a:endParaRPr lang="de-AT" altLang="de-DE" sz="2400" dirty="0"/>
          </a:p>
          <a:p>
            <a:pPr lvl="1"/>
            <a:r>
              <a:rPr lang="de-DE" altLang="de-DE" sz="2400" dirty="0"/>
              <a:t>Ergänzung um eigene Testfälle ist erwünscht</a:t>
            </a:r>
            <a:endParaRPr lang="de-AT" altLang="de-DE" sz="2400" dirty="0"/>
          </a:p>
          <a:p>
            <a:pPr lvl="1"/>
            <a:r>
              <a:rPr lang="de-DE" altLang="de-DE" sz="2400" dirty="0"/>
              <a:t>Testfälle können als </a:t>
            </a:r>
            <a:r>
              <a:rPr lang="de-DE" altLang="de-DE" sz="2400" dirty="0" err="1"/>
              <a:t>Einsprungpunkt</a:t>
            </a:r>
            <a:r>
              <a:rPr lang="de-DE" altLang="de-DE" sz="2400" dirty="0"/>
              <a:t> für das Debugging verwendet werden</a:t>
            </a:r>
            <a:endParaRPr lang="de-AT" altLang="de-DE" sz="2400" dirty="0"/>
          </a:p>
          <a:p>
            <a:r>
              <a:rPr lang="de-DE" altLang="de-DE" sz="2400" dirty="0"/>
              <a:t>Funktionsfähigkeit der Anwendung auf Basis der Aufgabenstellung testen</a:t>
            </a:r>
          </a:p>
          <a:p>
            <a:pPr lvl="1"/>
            <a:r>
              <a:rPr lang="de-DE" altLang="de-DE" sz="2400" dirty="0"/>
              <a:t>Im Fehlerfall, Debugger verwenden</a:t>
            </a:r>
            <a:endParaRPr lang="de-AT" altLang="de-DE" sz="2400" dirty="0"/>
          </a:p>
          <a:p>
            <a:endParaRPr lang="de-AT" altLang="de-DE" sz="24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41F121-0041-44A2-9DD0-BF1B7821C0A1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5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83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Strukturierung des Programms</a:t>
            </a:r>
            <a:endParaRPr lang="de-AT" altLang="de-DE"/>
          </a:p>
        </p:txBody>
      </p:sp>
      <p:sp>
        <p:nvSpPr>
          <p:cNvPr id="11267" name="Inhaltsplatzhalter 2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4525963"/>
          </a:xfrm>
        </p:spPr>
        <p:txBody>
          <a:bodyPr/>
          <a:lstStyle/>
          <a:p>
            <a:r>
              <a:rPr lang="de-DE" altLang="de-DE" sz="2000" dirty="0"/>
              <a:t>Methode soll eine abgeschlossene Aufgabe erfüllen</a:t>
            </a:r>
            <a:endParaRPr lang="de-AT" altLang="de-DE" sz="2000" dirty="0"/>
          </a:p>
          <a:p>
            <a:r>
              <a:rPr lang="de-DE" altLang="de-DE" sz="2000" dirty="0"/>
              <a:t>Der Name der Methode beschreibt möglichst selbsterklärend deren Aufgabe</a:t>
            </a:r>
            <a:endParaRPr lang="de-AT" altLang="de-DE" sz="2000" dirty="0"/>
          </a:p>
          <a:p>
            <a:pPr lvl="1"/>
            <a:r>
              <a:rPr lang="de-DE" altLang="de-DE" sz="1800" dirty="0"/>
              <a:t>Bei statischen Methoden besteht der Name aus zumindest zwei Teilen:</a:t>
            </a:r>
            <a:endParaRPr lang="de-AT" altLang="de-DE" sz="1800" dirty="0"/>
          </a:p>
          <a:p>
            <a:pPr lvl="2"/>
            <a:r>
              <a:rPr lang="de-DE" altLang="de-DE" sz="1600" dirty="0"/>
              <a:t>WAS </a:t>
            </a:r>
            <a:r>
              <a:rPr lang="de-DE" altLang="de-DE" sz="1600" dirty="0">
                <a:sym typeface="Wingdings" panose="05000000000000000000" pitchFamily="2" charset="2"/>
              </a:rPr>
              <a:t></a:t>
            </a:r>
            <a:r>
              <a:rPr lang="de-DE" altLang="de-DE" sz="1600" dirty="0"/>
              <a:t> Verb (z.B. </a:t>
            </a:r>
            <a:r>
              <a:rPr lang="de-DE" altLang="de-DE" sz="1600" u="sng" dirty="0" err="1"/>
              <a:t>Write</a:t>
            </a:r>
            <a:r>
              <a:rPr lang="de-DE" altLang="de-DE" sz="1600" dirty="0" err="1"/>
              <a:t>Line</a:t>
            </a:r>
            <a:r>
              <a:rPr lang="de-DE" altLang="de-DE" sz="1600" dirty="0"/>
              <a:t>)</a:t>
            </a:r>
            <a:endParaRPr lang="de-AT" altLang="de-DE" sz="1600" dirty="0"/>
          </a:p>
          <a:p>
            <a:pPr lvl="2"/>
            <a:r>
              <a:rPr lang="de-DE" altLang="de-DE" sz="1600" dirty="0"/>
              <a:t>WOMIT </a:t>
            </a:r>
            <a:r>
              <a:rPr lang="de-DE" altLang="de-DE" sz="1600" dirty="0">
                <a:sym typeface="Wingdings" panose="05000000000000000000" pitchFamily="2" charset="2"/>
              </a:rPr>
              <a:t></a:t>
            </a:r>
            <a:r>
              <a:rPr lang="de-DE" altLang="de-DE" sz="1600" dirty="0"/>
              <a:t> Nomen (z.B. </a:t>
            </a:r>
            <a:r>
              <a:rPr lang="de-DE" altLang="de-DE" sz="1600" dirty="0" err="1"/>
              <a:t>Write</a:t>
            </a:r>
            <a:r>
              <a:rPr lang="de-DE" altLang="de-DE" sz="1600" u="sng" dirty="0" err="1"/>
              <a:t>Line</a:t>
            </a:r>
            <a:r>
              <a:rPr lang="de-DE" altLang="de-DE" sz="1600" dirty="0"/>
              <a:t>)</a:t>
            </a:r>
            <a:endParaRPr lang="de-AT" altLang="de-DE" sz="1600" dirty="0"/>
          </a:p>
          <a:p>
            <a:r>
              <a:rPr lang="de-DE" altLang="de-DE" sz="2000" dirty="0"/>
              <a:t>Die Methode soll gut </a:t>
            </a:r>
            <a:r>
              <a:rPr lang="de-DE" altLang="de-DE" sz="2000" dirty="0" err="1"/>
              <a:t>testbar</a:t>
            </a:r>
            <a:r>
              <a:rPr lang="de-DE" altLang="de-DE" sz="2000" dirty="0"/>
              <a:t> sein</a:t>
            </a:r>
            <a:endParaRPr lang="de-AT" altLang="de-DE" sz="2000" dirty="0"/>
          </a:p>
          <a:p>
            <a:pPr lvl="1"/>
            <a:r>
              <a:rPr lang="de-DE" altLang="de-DE" sz="1800" dirty="0"/>
              <a:t>Alle Standardabläufe und Sonderfälle müssen über Parameter „ansteuerbar“ sein</a:t>
            </a:r>
            <a:endParaRPr lang="de-AT" altLang="de-DE" sz="1800" dirty="0"/>
          </a:p>
          <a:p>
            <a:r>
              <a:rPr lang="de-DE" altLang="de-DE" sz="2000" dirty="0"/>
              <a:t>Kein Methodenrumpf hat mehr als 50 Zeilen</a:t>
            </a:r>
            <a:endParaRPr lang="de-AT" altLang="de-DE" sz="2000" dirty="0"/>
          </a:p>
          <a:p>
            <a:r>
              <a:rPr lang="de-DE" altLang="de-DE" sz="2000" dirty="0"/>
              <a:t>Wenn die Parameterliste lang wird, ist die Stelle der Aufteilung vermutlich schlecht gewählt</a:t>
            </a:r>
            <a:endParaRPr lang="de-AT" altLang="de-DE" sz="2000" dirty="0"/>
          </a:p>
          <a:p>
            <a:pPr lvl="1"/>
            <a:r>
              <a:rPr lang="de-DE" altLang="de-DE" sz="1800" dirty="0"/>
              <a:t>Es gibt sehr starke Abhängigkeiten mit dem umliegenden Code</a:t>
            </a:r>
            <a:endParaRPr lang="de-AT" altLang="de-DE" sz="1800" dirty="0"/>
          </a:p>
          <a:p>
            <a:pPr lvl="1"/>
            <a:r>
              <a:rPr lang="de-DE" altLang="de-DE" sz="1800" dirty="0"/>
              <a:t>Formulieren von konkreten Fragen bei etwaigen Unklarheiten</a:t>
            </a:r>
            <a:endParaRPr lang="de-AT" altLang="de-DE" sz="1800" dirty="0"/>
          </a:p>
          <a:p>
            <a:endParaRPr lang="de-AT" altLang="de-DE" sz="2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557C79-AEB9-472D-8750-50DBC2787B3D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01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Strukturierung der Daten</a:t>
            </a:r>
          </a:p>
        </p:txBody>
      </p:sp>
      <p:sp>
        <p:nvSpPr>
          <p:cNvPr id="14339" name="Inhaltsplatzhalt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4525963"/>
          </a:xfrm>
        </p:spPr>
        <p:txBody>
          <a:bodyPr/>
          <a:lstStyle/>
          <a:p>
            <a:r>
              <a:rPr lang="de-DE" altLang="de-DE" sz="2000" dirty="0"/>
              <a:t>Array fasst mehrere Daten des gleichen Typs zu einer sogenannten Collection (Sammlung) zusammen</a:t>
            </a:r>
            <a:endParaRPr lang="de-AT" altLang="de-DE" sz="2000" dirty="0"/>
          </a:p>
          <a:p>
            <a:pPr lvl="1"/>
            <a:r>
              <a:rPr lang="de-DE" altLang="de-DE" sz="1800" dirty="0"/>
              <a:t>Alle Arrayelemente haben den gleichen Typ</a:t>
            </a:r>
            <a:endParaRPr lang="de-AT" altLang="de-DE" sz="1800" dirty="0"/>
          </a:p>
          <a:p>
            <a:pPr lvl="1"/>
            <a:r>
              <a:rPr lang="de-DE" altLang="de-DE" sz="1800" dirty="0"/>
              <a:t>Deklaration legt Bezeichner und Typ fest</a:t>
            </a:r>
            <a:endParaRPr lang="de-AT" altLang="de-DE" sz="1800" dirty="0"/>
          </a:p>
          <a:p>
            <a:pPr lvl="1"/>
            <a:r>
              <a:rPr lang="de-DE" altLang="de-DE" sz="1800" dirty="0"/>
              <a:t>Definition </a:t>
            </a:r>
            <a:r>
              <a:rPr lang="de-DE" altLang="de-DE" sz="1800" dirty="0" err="1"/>
              <a:t>alloziert</a:t>
            </a:r>
            <a:r>
              <a:rPr lang="de-DE" altLang="de-DE" sz="1800" dirty="0"/>
              <a:t> Platz im Speicher für Array</a:t>
            </a:r>
          </a:p>
          <a:p>
            <a:pPr lvl="1"/>
            <a:endParaRPr lang="de-DE" altLang="de-DE" sz="1800" dirty="0"/>
          </a:p>
          <a:p>
            <a:r>
              <a:rPr lang="de-DE" altLang="de-DE" sz="2000" dirty="0" err="1"/>
              <a:t>Struct</a:t>
            </a:r>
            <a:r>
              <a:rPr lang="de-DE" altLang="de-DE" sz="2000" dirty="0"/>
              <a:t> fasst Datenelemente unterschiedlichen Datentyps, die logisch zusammengehören, zusammen (leichtgewichtig </a:t>
            </a:r>
            <a:r>
              <a:rPr lang="de-DE" altLang="de-DE" sz="2000" dirty="0">
                <a:sym typeface="Wingdings" panose="05000000000000000000" pitchFamily="2" charset="2"/>
              </a:rPr>
              <a:t> Wertetyp</a:t>
            </a:r>
            <a:r>
              <a:rPr lang="de-DE" altLang="de-DE" sz="2000" dirty="0"/>
              <a:t>)</a:t>
            </a:r>
          </a:p>
          <a:p>
            <a:pPr lvl="1"/>
            <a:r>
              <a:rPr lang="de-DE" altLang="de-DE" sz="1700" dirty="0"/>
              <a:t>Z.B. </a:t>
            </a:r>
            <a:r>
              <a:rPr lang="de-DE" altLang="de-DE" sz="1700" dirty="0" err="1"/>
              <a:t>DataTime</a:t>
            </a:r>
            <a:endParaRPr lang="de-DE" altLang="de-DE" sz="1700" dirty="0"/>
          </a:p>
          <a:p>
            <a:r>
              <a:rPr lang="de-DE" altLang="de-DE" sz="2000" dirty="0"/>
              <a:t>Objekt fasst ebenfalls Datenelemente unterschiedlichen Typs zusammen</a:t>
            </a:r>
            <a:endParaRPr lang="de-AT" altLang="de-DE" sz="2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9BE1C69-E5D4-4CA5-8C72-79A267126F88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7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2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800" dirty="0"/>
              <a:t>Von strukturierter </a:t>
            </a:r>
            <a:r>
              <a:rPr lang="de-AT" altLang="de-DE" sz="2800" dirty="0" err="1"/>
              <a:t>Pogrammierung</a:t>
            </a:r>
            <a:r>
              <a:rPr lang="de-AT" altLang="de-DE" sz="2800" dirty="0"/>
              <a:t> zu OOP</a:t>
            </a:r>
          </a:p>
        </p:txBody>
      </p:sp>
      <p:sp>
        <p:nvSpPr>
          <p:cNvPr id="1536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de-AT" altLang="de-DE" sz="2400" dirty="0"/>
              <a:t>Prozedurale PR</a:t>
            </a:r>
          </a:p>
          <a:p>
            <a:pPr lvl="1"/>
            <a:r>
              <a:rPr lang="de-AT" altLang="de-DE" sz="2000" dirty="0"/>
              <a:t>Abläufe dominieren den PR-Prozess</a:t>
            </a:r>
          </a:p>
          <a:p>
            <a:pPr lvl="2"/>
            <a:r>
              <a:rPr lang="de-AT" altLang="de-DE" sz="1800" dirty="0"/>
              <a:t>Strukturierung nach Methoden </a:t>
            </a:r>
          </a:p>
          <a:p>
            <a:pPr lvl="1"/>
            <a:r>
              <a:rPr lang="de-AT" altLang="de-DE" sz="2000" dirty="0"/>
              <a:t>Daten werden „nebenher“ verwaltet</a:t>
            </a:r>
          </a:p>
          <a:p>
            <a:r>
              <a:rPr lang="de-AT" altLang="de-DE" sz="2400" dirty="0"/>
              <a:t>Objektorientierte Programmierung</a:t>
            </a:r>
          </a:p>
          <a:p>
            <a:pPr lvl="1"/>
            <a:r>
              <a:rPr lang="de-AT" altLang="de-DE" sz="2000" dirty="0"/>
              <a:t>Zusammenfassung von Abläufen und Daten zu Objekten</a:t>
            </a:r>
          </a:p>
          <a:p>
            <a:pPr lvl="1"/>
            <a:r>
              <a:rPr lang="de-AT" altLang="de-DE" sz="2000" dirty="0"/>
              <a:t>Objekt ist für Teile der Aufgabe „verantwortlich“</a:t>
            </a:r>
          </a:p>
          <a:p>
            <a:pPr lvl="2"/>
            <a:r>
              <a:rPr lang="de-AT" altLang="de-DE" sz="1800" dirty="0"/>
              <a:t>Kapselt diese Teile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D1487C-EF9E-45E0-8D58-F1B7F335E0E5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8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61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C1D54E-F7F5-4AB1-914E-48174EBCD1D1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9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Ziele von OO</a:t>
            </a:r>
            <a:endParaRPr lang="de-AT" altLang="de-DE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6538" y="1052537"/>
            <a:ext cx="8585200" cy="5184775"/>
          </a:xfrm>
        </p:spPr>
        <p:txBody>
          <a:bodyPr/>
          <a:lstStyle/>
          <a:p>
            <a:pPr eaLnBrk="1" hangingPunct="1"/>
            <a:r>
              <a:rPr lang="de-DE" altLang="de-DE" sz="2400" dirty="0"/>
              <a:t>Wiederverwendbarkeit</a:t>
            </a:r>
          </a:p>
          <a:p>
            <a:pPr lvl="1" eaLnBrk="1" hangingPunct="1"/>
            <a:r>
              <a:rPr lang="de-DE" altLang="de-DE" sz="2000" dirty="0"/>
              <a:t>Zugriffsschutz durch Kapselung</a:t>
            </a:r>
          </a:p>
          <a:p>
            <a:pPr lvl="2" eaLnBrk="1" hangingPunct="1"/>
            <a:r>
              <a:rPr lang="de-DE" altLang="de-DE" sz="1800" dirty="0"/>
              <a:t>Schnittstelle definiert Möglichkeiten</a:t>
            </a:r>
          </a:p>
          <a:p>
            <a:pPr lvl="1" eaLnBrk="1" hangingPunct="1"/>
            <a:r>
              <a:rPr lang="de-DE" altLang="de-DE" sz="2000" dirty="0"/>
              <a:t>Austauschbarkeit von Programmkomponenten</a:t>
            </a:r>
          </a:p>
          <a:p>
            <a:pPr lvl="1" eaLnBrk="1" hangingPunct="1"/>
            <a:r>
              <a:rPr lang="de-DE" altLang="de-DE" sz="2000" dirty="0" err="1"/>
              <a:t>CleanCode</a:t>
            </a:r>
            <a:endParaRPr lang="de-DE" altLang="de-DE" sz="2000" dirty="0"/>
          </a:p>
          <a:p>
            <a:pPr lvl="1" eaLnBrk="1" hangingPunct="1"/>
            <a:r>
              <a:rPr lang="de-DE" altLang="de-DE" sz="2000" dirty="0"/>
              <a:t>Deltaprogrammierung mittels Vererbung</a:t>
            </a:r>
          </a:p>
          <a:p>
            <a:pPr eaLnBrk="1" hangingPunct="1"/>
            <a:endParaRPr lang="de-DE" altLang="de-DE" sz="2400" dirty="0"/>
          </a:p>
          <a:p>
            <a:pPr eaLnBrk="1" hangingPunct="1"/>
            <a:r>
              <a:rPr lang="de-DE" altLang="de-DE" sz="2400" dirty="0"/>
              <a:t>Schnellere und einfachere Entwicklung</a:t>
            </a:r>
          </a:p>
          <a:p>
            <a:pPr lvl="1" eaLnBrk="1" hangingPunct="1"/>
            <a:r>
              <a:rPr lang="de-DE" altLang="de-DE" sz="2000" dirty="0"/>
              <a:t>Erweiterbarkeit bestehender SW</a:t>
            </a:r>
          </a:p>
          <a:p>
            <a:pPr lvl="1" eaLnBrk="1" hangingPunct="1"/>
            <a:r>
              <a:rPr lang="de-DE" altLang="de-DE" sz="2000" dirty="0"/>
              <a:t>Testbarkeit durch definierte </a:t>
            </a:r>
            <a:br>
              <a:rPr lang="de-DE" altLang="de-DE" sz="2000" dirty="0"/>
            </a:br>
            <a:r>
              <a:rPr lang="de-DE" altLang="de-DE" sz="2000" dirty="0"/>
              <a:t>Schnittstelle</a:t>
            </a:r>
          </a:p>
          <a:p>
            <a:pPr lvl="1" eaLnBrk="1" hangingPunct="1"/>
            <a:endParaRPr lang="de-AT" altLang="de-DE" sz="2000" dirty="0"/>
          </a:p>
        </p:txBody>
      </p:sp>
      <p:pic>
        <p:nvPicPr>
          <p:cNvPr id="1639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27788" y="2276872"/>
            <a:ext cx="2393950" cy="2719388"/>
          </a:xfrm>
          <a:noFill/>
        </p:spPr>
      </p:pic>
    </p:spTree>
    <p:extLst>
      <p:ext uri="{BB962C8B-B14F-4D97-AF65-F5344CB8AC3E}">
        <p14:creationId xmlns:p14="http://schemas.microsoft.com/office/powerpoint/2010/main" val="332842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Modellbildung</a:t>
            </a:r>
          </a:p>
        </p:txBody>
      </p:sp>
      <p:sp>
        <p:nvSpPr>
          <p:cNvPr id="7171" name="Inhaltsplatzhalter 2"/>
          <p:cNvSpPr>
            <a:spLocks noGrp="1"/>
          </p:cNvSpPr>
          <p:nvPr>
            <p:ph idx="1"/>
          </p:nvPr>
        </p:nvSpPr>
        <p:spPr>
          <a:xfrm>
            <a:off x="236538" y="1124744"/>
            <a:ext cx="8583612" cy="3726143"/>
          </a:xfrm>
        </p:spPr>
        <p:txBody>
          <a:bodyPr/>
          <a:lstStyle/>
          <a:p>
            <a:r>
              <a:rPr lang="de-AT" sz="2400" dirty="0"/>
              <a:t>Entwicklung eines OO-Modells</a:t>
            </a:r>
          </a:p>
          <a:p>
            <a:r>
              <a:rPr lang="de-AT" sz="2400" dirty="0"/>
              <a:t>Modell bildet Menge von kommunizierenden Objekte bilden ein System</a:t>
            </a:r>
          </a:p>
          <a:p>
            <a:r>
              <a:rPr lang="de-AT" sz="2400" dirty="0"/>
              <a:t>Modell ist ein vereinfachtes Abbild der Realität</a:t>
            </a:r>
          </a:p>
          <a:p>
            <a:r>
              <a:rPr lang="de-AT" sz="2400" dirty="0"/>
              <a:t>Welche Eigenschaften und Methoden in das Modell übernommen werden, hängt von der zu lösenden Aufgabe ab  </a:t>
            </a:r>
            <a:r>
              <a:rPr lang="de-AT" sz="2400" dirty="0">
                <a:sym typeface="Wingdings" panose="05000000000000000000" pitchFamily="2" charset="2"/>
              </a:rPr>
              <a:t> </a:t>
            </a:r>
            <a:r>
              <a:rPr lang="de-AT" sz="2400" dirty="0">
                <a:solidFill>
                  <a:srgbClr val="FF0000"/>
                </a:solidFill>
                <a:sym typeface="Wingdings" panose="05000000000000000000" pitchFamily="2" charset="2"/>
              </a:rPr>
              <a:t>ABSTRAKTION</a:t>
            </a:r>
            <a:endParaRPr lang="de-AT" sz="2400" dirty="0">
              <a:solidFill>
                <a:srgbClr val="FF0000"/>
              </a:solidFill>
            </a:endParaRPr>
          </a:p>
          <a:p>
            <a:endParaRPr lang="de-AT" sz="2400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5288" y="4167458"/>
            <a:ext cx="5326112" cy="206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0533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Abstraktion hängt von der Perspektive ab</a:t>
            </a:r>
          </a:p>
        </p:txBody>
      </p:sp>
      <p:graphicFrame>
        <p:nvGraphicFramePr>
          <p:cNvPr id="3074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871538" y="1335088"/>
          <a:ext cx="7313612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Image" r:id="rId3" imgW="7314286" imgH="4330159" progId="">
                  <p:embed/>
                </p:oleObj>
              </mc:Choice>
              <mc:Fallback>
                <p:oleObj name="Image" r:id="rId3" imgW="7314286" imgH="433015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1335088"/>
                        <a:ext cx="7313612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5784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z="2800"/>
              <a:t>Modellbildung durch Abstraktion</a:t>
            </a:r>
            <a:endParaRPr lang="de-AT" sz="2800"/>
          </a:p>
        </p:txBody>
      </p:sp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0" y="1595438"/>
            <a:ext cx="86518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4858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Objektorientiertes Design (OOD)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de-DE" sz="2400" dirty="0"/>
              <a:t>Anforderungsdefinition</a:t>
            </a:r>
          </a:p>
          <a:p>
            <a:pPr lvl="1"/>
            <a:r>
              <a:rPr lang="de-DE" sz="2400" dirty="0" err="1"/>
              <a:t>ChangeRequest</a:t>
            </a:r>
            <a:r>
              <a:rPr lang="de-DE" sz="2400" dirty="0"/>
              <a:t>, Feature, Mail, …</a:t>
            </a:r>
          </a:p>
          <a:p>
            <a:r>
              <a:rPr lang="de-DE" sz="2400" dirty="0"/>
              <a:t>Textanalyse </a:t>
            </a:r>
            <a:r>
              <a:rPr lang="de-DE" sz="2400" dirty="0">
                <a:sym typeface="Wingdings" panose="05000000000000000000" pitchFamily="2" charset="2"/>
              </a:rPr>
              <a:t> Businessobjekte erkennen</a:t>
            </a:r>
          </a:p>
          <a:p>
            <a:pPr lvl="1"/>
            <a:r>
              <a:rPr lang="de-DE" sz="2400" dirty="0">
                <a:sym typeface="Wingdings" panose="05000000000000000000" pitchFamily="2" charset="2"/>
              </a:rPr>
              <a:t>Sinntragende Hauptwörter</a:t>
            </a:r>
          </a:p>
          <a:p>
            <a:pPr lvl="1"/>
            <a:r>
              <a:rPr lang="de-DE" sz="2400" dirty="0">
                <a:sym typeface="Wingdings" panose="05000000000000000000" pitchFamily="2" charset="2"/>
              </a:rPr>
              <a:t>Kandidaten für Klassen</a:t>
            </a:r>
          </a:p>
          <a:p>
            <a:pPr lvl="1"/>
            <a:r>
              <a:rPr lang="de-DE" sz="2400" dirty="0">
                <a:sym typeface="Wingdings" panose="05000000000000000000" pitchFamily="2" charset="2"/>
              </a:rPr>
              <a:t>Benötigte Daten für BO ermitteln (Name, </a:t>
            </a:r>
            <a:r>
              <a:rPr lang="de-DE" sz="2400" dirty="0" err="1">
                <a:sym typeface="Wingdings" panose="05000000000000000000" pitchFamily="2" charset="2"/>
              </a:rPr>
              <a:t>BirthDate</a:t>
            </a:r>
            <a:r>
              <a:rPr lang="de-DE" sz="2400" dirty="0">
                <a:sym typeface="Wingdings" panose="05000000000000000000" pitchFamily="2" charset="2"/>
              </a:rPr>
              <a:t>, …)</a:t>
            </a:r>
          </a:p>
          <a:p>
            <a:pPr lvl="1"/>
            <a:r>
              <a:rPr lang="de-DE" sz="2400" dirty="0">
                <a:sym typeface="Wingdings" panose="05000000000000000000" pitchFamily="2" charset="2"/>
              </a:rPr>
              <a:t>Sinnvoll abstrahieren</a:t>
            </a:r>
          </a:p>
          <a:p>
            <a:r>
              <a:rPr lang="de-DE" sz="2700" dirty="0">
                <a:sym typeface="Wingdings" panose="05000000000000000000" pitchFamily="2" charset="2"/>
              </a:rPr>
              <a:t>Beispiel</a:t>
            </a:r>
            <a:endParaRPr lang="de-DE" sz="2700" dirty="0"/>
          </a:p>
        </p:txBody>
      </p:sp>
    </p:spTree>
    <p:extLst>
      <p:ext uri="{BB962C8B-B14F-4D97-AF65-F5344CB8AC3E}">
        <p14:creationId xmlns:p14="http://schemas.microsoft.com/office/powerpoint/2010/main" val="1468045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800" dirty="0"/>
              <a:t>Was macht ein Objekt im wahren Leben aus?</a:t>
            </a:r>
          </a:p>
        </p:txBody>
      </p:sp>
      <p:sp>
        <p:nvSpPr>
          <p:cNvPr id="17411" name="Inhaltsplatzhalter 2"/>
          <p:cNvSpPr>
            <a:spLocks noGrp="1"/>
          </p:cNvSpPr>
          <p:nvPr>
            <p:ph idx="1"/>
          </p:nvPr>
        </p:nvSpPr>
        <p:spPr>
          <a:xfrm>
            <a:off x="236538" y="1124545"/>
            <a:ext cx="4522787" cy="5184775"/>
          </a:xfrm>
        </p:spPr>
        <p:txBody>
          <a:bodyPr/>
          <a:lstStyle/>
          <a:p>
            <a:r>
              <a:rPr lang="de-AT" altLang="de-DE" sz="2400" dirty="0"/>
              <a:t>Zwei Aspekte von </a:t>
            </a:r>
            <a:r>
              <a:rPr lang="de-AT" altLang="de-DE" sz="2400" dirty="0" err="1">
                <a:solidFill>
                  <a:srgbClr val="FF0000"/>
                </a:solidFill>
              </a:rPr>
              <a:t>BusinessObjekten</a:t>
            </a:r>
            <a:endParaRPr lang="de-AT" altLang="de-DE" sz="2400" dirty="0">
              <a:solidFill>
                <a:srgbClr val="FF0000"/>
              </a:solidFill>
            </a:endParaRPr>
          </a:p>
          <a:p>
            <a:endParaRPr lang="de-AT" altLang="de-DE" sz="2400" dirty="0"/>
          </a:p>
          <a:p>
            <a:pPr lvl="1"/>
            <a:r>
              <a:rPr lang="de-AT" altLang="de-DE" sz="2400" dirty="0"/>
              <a:t>Zustand (</a:t>
            </a:r>
            <a:r>
              <a:rPr lang="de-AT" altLang="de-DE" sz="2400" i="1" dirty="0" err="1"/>
              <a:t>state</a:t>
            </a:r>
            <a:r>
              <a:rPr lang="de-AT" altLang="de-DE" sz="2400" dirty="0"/>
              <a:t>) </a:t>
            </a:r>
            <a:r>
              <a:rPr lang="de-AT" altLang="de-DE" sz="2400" dirty="0">
                <a:sym typeface="Wingdings" panose="05000000000000000000" pitchFamily="2" charset="2"/>
              </a:rPr>
              <a:t></a:t>
            </a:r>
            <a:r>
              <a:rPr lang="de-AT" altLang="de-DE" sz="2400" dirty="0"/>
              <a:t> die „</a:t>
            </a:r>
            <a:r>
              <a:rPr lang="de-AT" altLang="de-DE" sz="2400" dirty="0">
                <a:solidFill>
                  <a:srgbClr val="FF0000"/>
                </a:solidFill>
              </a:rPr>
              <a:t>Datensicht</a:t>
            </a:r>
            <a:r>
              <a:rPr lang="de-AT" altLang="de-DE" sz="2400" dirty="0"/>
              <a:t>“</a:t>
            </a:r>
          </a:p>
          <a:p>
            <a:pPr lvl="2"/>
            <a:r>
              <a:rPr lang="de-AT" altLang="de-DE" sz="2000" dirty="0"/>
              <a:t>Beispiel Hund: Farbe, Größe, Geburtsdatum, …</a:t>
            </a:r>
          </a:p>
          <a:p>
            <a:pPr lvl="2"/>
            <a:endParaRPr lang="de-AT" altLang="de-DE" sz="2000" dirty="0"/>
          </a:p>
          <a:p>
            <a:pPr lvl="1"/>
            <a:r>
              <a:rPr lang="de-AT" altLang="de-DE" sz="2400" dirty="0">
                <a:solidFill>
                  <a:srgbClr val="FF0000"/>
                </a:solidFill>
              </a:rPr>
              <a:t>Verhalten</a:t>
            </a:r>
            <a:r>
              <a:rPr lang="de-AT" altLang="de-DE" sz="2400" dirty="0"/>
              <a:t> (</a:t>
            </a:r>
            <a:r>
              <a:rPr lang="de-AT" altLang="de-DE" sz="2400" i="1" dirty="0" err="1"/>
              <a:t>behavior</a:t>
            </a:r>
            <a:r>
              <a:rPr lang="de-AT" altLang="de-DE" sz="2400" i="1" dirty="0"/>
              <a:t>) </a:t>
            </a:r>
            <a:r>
              <a:rPr lang="de-AT" altLang="de-DE" sz="2400" dirty="0">
                <a:sym typeface="Wingdings" panose="05000000000000000000" pitchFamily="2" charset="2"/>
              </a:rPr>
              <a:t> Abläufe (Methoden)</a:t>
            </a:r>
          </a:p>
          <a:p>
            <a:pPr lvl="2"/>
            <a:r>
              <a:rPr lang="de-AT" altLang="de-DE" sz="2000" dirty="0">
                <a:sym typeface="Wingdings" panose="05000000000000000000" pitchFamily="2" charset="2"/>
              </a:rPr>
              <a:t>Beispiel Hund: bellt, frisst, springt, …</a:t>
            </a:r>
            <a:endParaRPr lang="de-AT" altLang="de-DE" sz="2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D3B690-3261-496B-8574-5639379BE431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14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414" name="Picture 2" descr="O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38" y="1562100"/>
            <a:ext cx="3709987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219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Eigenschaften von Objekten</a:t>
            </a:r>
          </a:p>
        </p:txBody>
      </p:sp>
      <p:sp>
        <p:nvSpPr>
          <p:cNvPr id="19459" name="Inhaltsplatzhalter 2"/>
          <p:cNvSpPr>
            <a:spLocks noGrp="1"/>
          </p:cNvSpPr>
          <p:nvPr>
            <p:ph idx="1"/>
          </p:nvPr>
        </p:nvSpPr>
        <p:spPr>
          <a:xfrm>
            <a:off x="457200" y="919261"/>
            <a:ext cx="8229600" cy="4525963"/>
          </a:xfrm>
        </p:spPr>
        <p:txBody>
          <a:bodyPr/>
          <a:lstStyle/>
          <a:p>
            <a:r>
              <a:rPr lang="de-DE" altLang="de-DE" sz="2400" dirty="0"/>
              <a:t>Verantwortlichkeit für (möglichst genau) eine Aufgabe</a:t>
            </a:r>
          </a:p>
          <a:p>
            <a:pPr lvl="1"/>
            <a:r>
              <a:rPr lang="de-DE" altLang="de-DE" sz="2100" dirty="0"/>
              <a:t>Single </a:t>
            </a:r>
            <a:r>
              <a:rPr lang="de-DE" altLang="de-DE" sz="2100" dirty="0" err="1"/>
              <a:t>responsability</a:t>
            </a:r>
            <a:endParaRPr lang="de-AT" altLang="de-DE" sz="2100" dirty="0"/>
          </a:p>
          <a:p>
            <a:r>
              <a:rPr lang="de-DE" altLang="de-DE" sz="2400" dirty="0"/>
              <a:t>Kapselung</a:t>
            </a:r>
          </a:p>
          <a:p>
            <a:pPr lvl="1"/>
            <a:r>
              <a:rPr lang="de-DE" altLang="de-DE" sz="2000" dirty="0"/>
              <a:t>Daten und Implementierung sind von außen nicht sichtbar</a:t>
            </a:r>
            <a:endParaRPr lang="de-AT" altLang="de-DE" sz="2000" dirty="0"/>
          </a:p>
          <a:p>
            <a:pPr lvl="1"/>
            <a:r>
              <a:rPr lang="de-DE" altLang="de-DE" sz="2000" dirty="0"/>
              <a:t>Führt automatisch zur leichteren </a:t>
            </a:r>
            <a:r>
              <a:rPr lang="de-DE" altLang="de-DE" sz="2000" b="1" dirty="0"/>
              <a:t>Austauschbarkeit</a:t>
            </a:r>
          </a:p>
          <a:p>
            <a:pPr lvl="1"/>
            <a:r>
              <a:rPr lang="de-DE" altLang="de-DE" sz="2000" dirty="0"/>
              <a:t>Verringerung der Komplexität</a:t>
            </a:r>
          </a:p>
          <a:p>
            <a:pPr lvl="1"/>
            <a:endParaRPr lang="de-AT" altLang="de-DE" sz="2000" dirty="0"/>
          </a:p>
          <a:p>
            <a:r>
              <a:rPr lang="de-DE" altLang="de-DE" sz="2400" dirty="0"/>
              <a:t>Zwei wichtige Sichten auf ein Objekt</a:t>
            </a:r>
            <a:endParaRPr lang="de-AT" altLang="de-DE" sz="2400" dirty="0"/>
          </a:p>
          <a:p>
            <a:pPr lvl="1"/>
            <a:r>
              <a:rPr lang="de-DE" altLang="de-DE" sz="2000" b="1" dirty="0"/>
              <a:t>Nutzer </a:t>
            </a:r>
          </a:p>
          <a:p>
            <a:pPr lvl="2"/>
            <a:r>
              <a:rPr lang="de-DE" altLang="de-DE" sz="1800" dirty="0"/>
              <a:t>Was kann das Objekt und wie kann ich mit ihm kommunizieren </a:t>
            </a:r>
            <a:r>
              <a:rPr lang="de-AT" altLang="de-DE" sz="1800" dirty="0"/>
              <a:t>(öffentlich zugängliche Methoden)</a:t>
            </a:r>
          </a:p>
          <a:p>
            <a:pPr lvl="2"/>
            <a:r>
              <a:rPr lang="de-AT" altLang="de-DE" sz="1800" dirty="0"/>
              <a:t>Prüfbar über </a:t>
            </a:r>
            <a:r>
              <a:rPr lang="de-AT" altLang="de-DE" sz="1800" dirty="0" err="1"/>
              <a:t>Unittests</a:t>
            </a:r>
            <a:endParaRPr lang="de-AT" altLang="de-DE" sz="1800" dirty="0"/>
          </a:p>
          <a:p>
            <a:pPr lvl="1"/>
            <a:r>
              <a:rPr lang="de-AT" altLang="de-DE" sz="2000" b="1" dirty="0"/>
              <a:t>Entwickler</a:t>
            </a:r>
          </a:p>
          <a:p>
            <a:pPr lvl="2"/>
            <a:r>
              <a:rPr lang="de-AT" altLang="de-DE" sz="1800" dirty="0"/>
              <a:t>Verwaltung der Funktionalitäten im Inneren (Daten, Methoden)</a:t>
            </a:r>
            <a:endParaRPr lang="de-AT" altLang="de-DE" sz="2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4961B1-385D-4E01-8BEA-ED5256623197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15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1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FDB401-F317-4F3F-9BA3-9F7F5CB5FDE6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16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Einfaches Objekt </a:t>
            </a:r>
            <a:r>
              <a:rPr lang="de-DE" altLang="de-DE" dirty="0" err="1"/>
              <a:t>Pupil</a:t>
            </a:r>
            <a:endParaRPr lang="de-DE" altLang="de-DE" dirty="0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eaLnBrk="1" hangingPunct="1"/>
            <a:r>
              <a:rPr lang="de-DE" altLang="de-DE" sz="2400" dirty="0"/>
              <a:t>Status, Zustände in C# </a:t>
            </a:r>
            <a:r>
              <a:rPr lang="de-DE" altLang="de-DE" sz="2400" dirty="0">
                <a:sym typeface="Wingdings" panose="05000000000000000000" pitchFamily="2" charset="2"/>
              </a:rPr>
              <a:t> Felder:</a:t>
            </a:r>
          </a:p>
          <a:p>
            <a:pPr lvl="1" eaLnBrk="1" hangingPunct="1"/>
            <a:r>
              <a:rPr lang="de-DE" altLang="de-DE" sz="2000" dirty="0" err="1"/>
              <a:t>FirstName</a:t>
            </a:r>
            <a:r>
              <a:rPr lang="de-DE" altLang="de-DE" sz="2000" dirty="0"/>
              <a:t>, </a:t>
            </a:r>
            <a:r>
              <a:rPr lang="de-DE" altLang="de-DE" sz="2000" dirty="0" err="1"/>
              <a:t>LastName</a:t>
            </a:r>
            <a:endParaRPr lang="de-DE" altLang="de-DE" sz="2000" dirty="0"/>
          </a:p>
          <a:p>
            <a:pPr lvl="1" eaLnBrk="1" hangingPunct="1"/>
            <a:r>
              <a:rPr lang="de-DE" altLang="de-DE" sz="2000" dirty="0" err="1"/>
              <a:t>BirthDate</a:t>
            </a:r>
            <a:endParaRPr lang="de-DE" altLang="de-DE" sz="2000" dirty="0"/>
          </a:p>
          <a:p>
            <a:pPr lvl="1" eaLnBrk="1" hangingPunct="1"/>
            <a:r>
              <a:rPr lang="de-DE" altLang="de-DE" sz="2000" dirty="0"/>
              <a:t>Zip, City, </a:t>
            </a:r>
            <a:r>
              <a:rPr lang="de-DE" altLang="de-DE" sz="2000" dirty="0" err="1"/>
              <a:t>Address</a:t>
            </a:r>
            <a:endParaRPr lang="de-DE" altLang="de-DE" sz="2000" dirty="0"/>
          </a:p>
          <a:p>
            <a:pPr lvl="1" eaLnBrk="1" hangingPunct="1"/>
            <a:endParaRPr lang="de-DE" altLang="de-DE" sz="2000" dirty="0"/>
          </a:p>
          <a:p>
            <a:pPr eaLnBrk="1" hangingPunct="1"/>
            <a:r>
              <a:rPr lang="de-DE" altLang="de-DE" sz="2400" dirty="0"/>
              <a:t>Verhalten, in C# </a:t>
            </a:r>
            <a:r>
              <a:rPr lang="de-DE" altLang="de-DE" sz="2400" dirty="0">
                <a:sym typeface="Wingdings" panose="05000000000000000000" pitchFamily="2" charset="2"/>
              </a:rPr>
              <a:t> Methoden:</a:t>
            </a:r>
          </a:p>
          <a:p>
            <a:pPr lvl="1" eaLnBrk="1" hangingPunct="1"/>
            <a:r>
              <a:rPr lang="de-DE" altLang="de-DE" sz="2000" dirty="0" err="1"/>
              <a:t>IsFullOfAge</a:t>
            </a:r>
            <a:endParaRPr lang="de-DE" altLang="de-DE" sz="2000" dirty="0"/>
          </a:p>
          <a:p>
            <a:pPr lvl="1" eaLnBrk="1" hangingPunct="1"/>
            <a:r>
              <a:rPr lang="de-DE" altLang="de-DE" sz="2000" dirty="0" err="1"/>
              <a:t>LeavesNearBy</a:t>
            </a:r>
            <a:endParaRPr lang="de-DE" altLang="de-DE" sz="2000" dirty="0"/>
          </a:p>
          <a:p>
            <a:pPr lvl="1" eaLnBrk="1" hangingPunct="1"/>
            <a:r>
              <a:rPr lang="de-DE" altLang="de-DE" sz="2000" dirty="0" err="1"/>
              <a:t>IsOlderThan</a:t>
            </a:r>
            <a:endParaRPr lang="de-DE" altLang="de-DE" sz="20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888" y="1052735"/>
            <a:ext cx="2884487" cy="489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23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Klassen sind Baupläne für Objekte</a:t>
            </a:r>
            <a:endParaRPr lang="de-AT" altLang="de-DE"/>
          </a:p>
        </p:txBody>
      </p:sp>
      <p:sp>
        <p:nvSpPr>
          <p:cNvPr id="21507" name="Inhaltsplatzhalt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de-AT" altLang="de-DE" dirty="0"/>
              <a:t>Definition von Objekten</a:t>
            </a:r>
          </a:p>
          <a:p>
            <a:pPr lvl="1"/>
            <a:r>
              <a:rPr lang="de-AT" altLang="de-DE" dirty="0"/>
              <a:t>Klasse ist ein benutzerdefinierter Typ</a:t>
            </a:r>
          </a:p>
          <a:p>
            <a:pPr lvl="2"/>
            <a:r>
              <a:rPr lang="de-AT" altLang="de-DE" dirty="0"/>
              <a:t>Gleichberechtigt mit String, </a:t>
            </a:r>
            <a:r>
              <a:rPr lang="de-AT" altLang="de-DE" dirty="0" err="1"/>
              <a:t>int</a:t>
            </a:r>
            <a:r>
              <a:rPr lang="de-AT" altLang="de-DE" dirty="0"/>
              <a:t>, …</a:t>
            </a:r>
          </a:p>
          <a:p>
            <a:pPr lvl="1"/>
            <a:r>
              <a:rPr lang="de-AT" altLang="de-DE" dirty="0"/>
              <a:t>Informationen </a:t>
            </a:r>
            <a:r>
              <a:rPr lang="de-AT" altLang="de-DE" dirty="0">
                <a:sym typeface="Wingdings" panose="05000000000000000000" pitchFamily="2" charset="2"/>
              </a:rPr>
              <a:t> Daten  Felder</a:t>
            </a:r>
          </a:p>
          <a:p>
            <a:pPr lvl="2"/>
            <a:r>
              <a:rPr lang="de-AT" altLang="de-DE" dirty="0" err="1">
                <a:sym typeface="Wingdings" panose="05000000000000000000" pitchFamily="2" charset="2"/>
              </a:rPr>
              <a:t>Zugriffsmodifizierer</a:t>
            </a:r>
            <a:r>
              <a:rPr lang="de-AT" altLang="de-DE" dirty="0">
                <a:sym typeface="Wingdings" panose="05000000000000000000" pitchFamily="2" charset="2"/>
              </a:rPr>
              <a:t> private</a:t>
            </a:r>
          </a:p>
          <a:p>
            <a:pPr lvl="1"/>
            <a:r>
              <a:rPr lang="de-AT" altLang="de-DE" dirty="0">
                <a:sym typeface="Wingdings" panose="05000000000000000000" pitchFamily="2" charset="2"/>
              </a:rPr>
              <a:t>Verhalten  Funktionalitäten  Methoden</a:t>
            </a:r>
          </a:p>
          <a:p>
            <a:pPr lvl="2"/>
            <a:r>
              <a:rPr lang="de-AT" altLang="de-DE" dirty="0">
                <a:sym typeface="Wingdings" panose="05000000000000000000" pitchFamily="2" charset="2"/>
              </a:rPr>
              <a:t>Schnittstelle nach Außen  </a:t>
            </a:r>
            <a:r>
              <a:rPr lang="de-AT" altLang="de-DE" dirty="0" err="1">
                <a:sym typeface="Wingdings" panose="05000000000000000000" pitchFamily="2" charset="2"/>
              </a:rPr>
              <a:t>public</a:t>
            </a:r>
            <a:endParaRPr lang="de-AT" altLang="de-DE" dirty="0">
              <a:sym typeface="Wingdings" panose="05000000000000000000" pitchFamily="2" charset="2"/>
            </a:endParaRPr>
          </a:p>
          <a:p>
            <a:pPr lvl="2"/>
            <a:r>
              <a:rPr lang="de-AT" altLang="de-DE" dirty="0">
                <a:sym typeface="Wingdings" panose="05000000000000000000" pitchFamily="2" charset="2"/>
              </a:rPr>
              <a:t>Private Hilfsmethoden sind gewünscht</a:t>
            </a:r>
          </a:p>
          <a:p>
            <a:r>
              <a:rPr lang="de-AT" altLang="de-DE" dirty="0">
                <a:sym typeface="Wingdings" panose="05000000000000000000" pitchFamily="2" charset="2"/>
              </a:rPr>
              <a:t>Abstraktion der Realität</a:t>
            </a:r>
          </a:p>
          <a:p>
            <a:pPr lvl="1"/>
            <a:r>
              <a:rPr lang="de-AT" altLang="de-DE" dirty="0">
                <a:sym typeface="Wingdings" panose="05000000000000000000" pitchFamily="2" charset="2"/>
              </a:rPr>
              <a:t>Fokussierung auf das Benötigte</a:t>
            </a:r>
            <a:endParaRPr lang="de-AT" alt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A61DAF-5A70-483A-B07E-A490318A13C8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17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392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96752"/>
            <a:ext cx="10698199" cy="4536504"/>
          </a:xfrm>
          <a:prstGeom prst="rect">
            <a:avLst/>
          </a:prstGeom>
        </p:spPr>
      </p:pic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Definition von Objekten </a:t>
            </a:r>
            <a:r>
              <a:rPr lang="de-AT" altLang="de-DE">
                <a:sym typeface="Wingdings" panose="05000000000000000000" pitchFamily="2" charset="2"/>
              </a:rPr>
              <a:t> Klasse</a:t>
            </a:r>
            <a:endParaRPr lang="de-AT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BACECF-DBCA-40A5-BB2F-44FCC903AFC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18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188" y="1556792"/>
            <a:ext cx="189547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57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26E100-7A4A-4A2F-B822-53741BF81E26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19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Klassen sind Schablonen</a:t>
            </a: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1114425"/>
            <a:ext cx="6105525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522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2ABB7C-F48D-4A0E-BAE1-B95B7EDA0827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20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928688"/>
            <a:ext cx="755015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457200" y="144562"/>
            <a:ext cx="8218488" cy="6921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/>
            <a:r>
              <a:rPr lang="de-DE" altLang="de-DE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Arial" pitchFamily="34" charset="0"/>
              </a:rPr>
              <a:t>Instanzierung</a:t>
            </a:r>
            <a:r>
              <a:rPr lang="de-DE" altLang="de-DE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Arial" pitchFamily="34" charset="0"/>
              </a:rPr>
              <a:t>: Auf Basis von Klassen Objekte erzeugen</a:t>
            </a:r>
          </a:p>
        </p:txBody>
      </p:sp>
    </p:spTree>
    <p:extLst>
      <p:ext uri="{BB962C8B-B14F-4D97-AF65-F5344CB8AC3E}">
        <p14:creationId xmlns:p14="http://schemas.microsoft.com/office/powerpoint/2010/main" val="1562348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CE1FBF-88EE-44B9-9130-C86592A5BC0F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21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Objekte erzeugen und verwenden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pPr eaLnBrk="1" hangingPunct="1"/>
            <a:r>
              <a:rPr lang="de-DE" altLang="de-DE" sz="2400" dirty="0"/>
              <a:t>Mit </a:t>
            </a:r>
            <a:r>
              <a:rPr lang="de-DE" altLang="de-DE" sz="2400" dirty="0" err="1"/>
              <a:t>new</a:t>
            </a:r>
            <a:r>
              <a:rPr lang="de-DE" altLang="de-DE" sz="2400" dirty="0"/>
              <a:t>-Operator wird ein Objekt erzeugt und eine Referenz auf das Objekt zurückgegeben</a:t>
            </a:r>
          </a:p>
          <a:p>
            <a:pPr eaLnBrk="1" hangingPunct="1"/>
            <a:endParaRPr lang="de-DE" altLang="de-DE" sz="2400" dirty="0"/>
          </a:p>
          <a:p>
            <a:pPr eaLnBrk="1" hangingPunct="1"/>
            <a:endParaRPr lang="de-DE" altLang="de-DE" sz="2400" dirty="0"/>
          </a:p>
          <a:p>
            <a:pPr eaLnBrk="1" hangingPunct="1"/>
            <a:endParaRPr lang="de-DE" altLang="de-DE" sz="2400" dirty="0"/>
          </a:p>
          <a:p>
            <a:pPr eaLnBrk="1" hangingPunct="1"/>
            <a:r>
              <a:rPr lang="de-DE" altLang="de-DE" sz="2400" dirty="0"/>
              <a:t>Mit dem Punkt-Operator kann auf die Methoden zugegriffen werden</a:t>
            </a:r>
          </a:p>
        </p:txBody>
      </p:sp>
      <p:pic>
        <p:nvPicPr>
          <p:cNvPr id="256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669" y="2075433"/>
            <a:ext cx="5200650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109" y="4221088"/>
            <a:ext cx="5964238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144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F22CAC-1977-451E-BE4E-A98FBD830547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Methoden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538" y="980529"/>
            <a:ext cx="6021387" cy="5184775"/>
          </a:xfrm>
        </p:spPr>
        <p:txBody>
          <a:bodyPr/>
          <a:lstStyle/>
          <a:p>
            <a:pPr eaLnBrk="1" hangingPunct="1"/>
            <a:r>
              <a:rPr lang="de-DE" altLang="de-DE" sz="2400" dirty="0"/>
              <a:t>Methoden implementieren das Objektverhalten</a:t>
            </a:r>
          </a:p>
          <a:p>
            <a:pPr eaLnBrk="1" hangingPunct="1"/>
            <a:r>
              <a:rPr lang="de-DE" altLang="de-DE" sz="2400" dirty="0"/>
              <a:t>Durch Methoden können die Zustände eines Objektes verändert werden</a:t>
            </a:r>
          </a:p>
          <a:p>
            <a:pPr eaLnBrk="1" hangingPunct="1"/>
            <a:r>
              <a:rPr lang="de-DE" altLang="de-DE" sz="2400" dirty="0"/>
              <a:t>Der Zugriff auf die Datenfelder/Attribute eines Objekts ist nur über die objekteigenen Methoden oder Properties (später) möglich (Kapselung)</a:t>
            </a:r>
          </a:p>
        </p:txBody>
      </p:sp>
      <p:pic>
        <p:nvPicPr>
          <p:cNvPr id="266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973673"/>
            <a:ext cx="2116137" cy="501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0787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 dirty="0"/>
              <a:t>Richtiger OO-Entwurf</a:t>
            </a:r>
          </a:p>
        </p:txBody>
      </p:sp>
      <p:sp>
        <p:nvSpPr>
          <p:cNvPr id="27651" name="Inhaltsplatzhalter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/>
          <a:lstStyle/>
          <a:p>
            <a:r>
              <a:rPr lang="de-AT" altLang="de-DE" sz="2000" dirty="0"/>
              <a:t>Public Methoden realisieren in erster Linie definiertes Verhalten</a:t>
            </a:r>
          </a:p>
          <a:p>
            <a:r>
              <a:rPr lang="de-AT" altLang="de-DE" sz="2000" dirty="0"/>
              <a:t>Falls nur Getter/Setter </a:t>
            </a:r>
            <a:r>
              <a:rPr lang="de-AT" altLang="de-DE" sz="2000" dirty="0">
                <a:sym typeface="Wingdings" panose="05000000000000000000" pitchFamily="2" charset="2"/>
              </a:rPr>
              <a:t> Verhalten muss im „Clientcode“ realisiert werden</a:t>
            </a:r>
          </a:p>
          <a:p>
            <a:pPr lvl="1"/>
            <a:r>
              <a:rPr lang="de-AT" altLang="de-DE" sz="1800" dirty="0">
                <a:sym typeface="Wingdings" panose="05000000000000000000" pitchFamily="2" charset="2"/>
              </a:rPr>
              <a:t>Redundanz</a:t>
            </a:r>
          </a:p>
          <a:p>
            <a:pPr lvl="1"/>
            <a:r>
              <a:rPr lang="de-AT" altLang="de-DE" sz="1800" dirty="0">
                <a:sym typeface="Wingdings" panose="05000000000000000000" pitchFamily="2" charset="2"/>
              </a:rPr>
              <a:t>Schlechte Kapselung</a:t>
            </a:r>
            <a:br>
              <a:rPr lang="de-AT" altLang="de-DE" sz="1800" dirty="0">
                <a:sym typeface="Wingdings" panose="05000000000000000000" pitchFamily="2" charset="2"/>
              </a:rPr>
            </a:br>
            <a:endParaRPr lang="de-AT" altLang="de-DE" sz="1800" dirty="0">
              <a:sym typeface="Wingdings" panose="05000000000000000000" pitchFamily="2" charset="2"/>
            </a:endParaRPr>
          </a:p>
          <a:p>
            <a:r>
              <a:rPr lang="de-AT" altLang="de-DE" sz="2000" dirty="0">
                <a:sym typeface="Wingdings" panose="05000000000000000000" pitchFamily="2" charset="2"/>
              </a:rPr>
              <a:t>Beispiel Counter:</a:t>
            </a:r>
            <a:endParaRPr lang="de-AT" altLang="de-DE" sz="2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F62F06-DCAB-45C0-809C-2F14AB2E46B3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23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7654" name="Grafik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645024"/>
            <a:ext cx="5189463" cy="2118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6882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F4047F-6B2A-4FEF-9211-B549709535A6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24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065713" y="1190625"/>
            <a:ext cx="3810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de-DE" altLang="de-DE" sz="2000" b="1" dirty="0"/>
              <a:t>Objekt</a:t>
            </a:r>
          </a:p>
          <a:p>
            <a:pPr eaLnBrk="1" hangingPunct="1"/>
            <a:r>
              <a:rPr lang="de-DE" altLang="de-DE" sz="2000" dirty="0"/>
              <a:t>Zur Laufzeit gibt es viele!</a:t>
            </a:r>
          </a:p>
          <a:p>
            <a:pPr eaLnBrk="1" hangingPunct="1"/>
            <a:r>
              <a:rPr lang="de-DE" altLang="de-DE" sz="2000" dirty="0"/>
              <a:t>Kann Operationen ausführen</a:t>
            </a:r>
          </a:p>
          <a:p>
            <a:pPr eaLnBrk="1" hangingPunct="1"/>
            <a:r>
              <a:rPr lang="de-DE" altLang="de-DE" sz="2000" dirty="0"/>
              <a:t>Dynamische Beziehungen und Bindungen</a:t>
            </a:r>
            <a:endParaRPr lang="de-AT" altLang="de-DE" sz="2000" dirty="0"/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88950" y="1190625"/>
            <a:ext cx="408305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de-DE" altLang="de-DE" sz="2000" b="1" dirty="0"/>
              <a:t>Klasse</a:t>
            </a:r>
          </a:p>
          <a:p>
            <a:pPr eaLnBrk="1" hangingPunct="1"/>
            <a:r>
              <a:rPr lang="de-DE" altLang="de-DE" sz="2000" dirty="0"/>
              <a:t>Gibt’s genau einmal</a:t>
            </a:r>
          </a:p>
          <a:p>
            <a:pPr eaLnBrk="1" hangingPunct="1"/>
            <a:r>
              <a:rPr lang="de-DE" altLang="de-DE" sz="2000" dirty="0"/>
              <a:t>Beschreibt Objekte mittels Code</a:t>
            </a:r>
          </a:p>
          <a:p>
            <a:pPr lvl="1" eaLnBrk="1" hangingPunct="1"/>
            <a:r>
              <a:rPr lang="de-DE" altLang="de-DE" sz="1800" dirty="0"/>
              <a:t>Zustände</a:t>
            </a:r>
          </a:p>
          <a:p>
            <a:pPr lvl="1" eaLnBrk="1" hangingPunct="1"/>
            <a:r>
              <a:rPr lang="de-DE" altLang="de-DE" sz="1800" dirty="0"/>
              <a:t>Verhalten</a:t>
            </a:r>
          </a:p>
          <a:p>
            <a:pPr eaLnBrk="1" hangingPunct="1"/>
            <a:r>
              <a:rPr lang="de-DE" altLang="de-DE" sz="2000" dirty="0"/>
              <a:t>Statische Beziehung zwischen Klassen</a:t>
            </a:r>
          </a:p>
          <a:p>
            <a:pPr eaLnBrk="1" hangingPunct="1"/>
            <a:r>
              <a:rPr lang="de-DE" altLang="de-DE" sz="2000" dirty="0"/>
              <a:t>Schablone für Objekterstellung</a:t>
            </a:r>
            <a:endParaRPr lang="de-AT" altLang="de-DE" sz="2000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13052"/>
              </p:ext>
            </p:extLst>
          </p:nvPr>
        </p:nvGraphicFramePr>
        <p:xfrm>
          <a:off x="899169" y="4293096"/>
          <a:ext cx="7561263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Photo Editor-Foto" r:id="rId3" imgW="5609524" imgH="1038370" progId="MSPhotoEd.3">
                  <p:embed/>
                </p:oleObj>
              </mc:Choice>
              <mc:Fallback>
                <p:oleObj name="Photo Editor-Foto" r:id="rId3" imgW="5609524" imgH="1038370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9" y="4293096"/>
                        <a:ext cx="7561263" cy="139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de-AT" altLang="de-DE" dirty="0"/>
              <a:t>Zusammenhang Klasse </a:t>
            </a:r>
            <a:r>
              <a:rPr lang="de-AT" altLang="de-DE" dirty="0">
                <a:sym typeface="Wingdings" panose="05000000000000000000" pitchFamily="2" charset="2"/>
              </a:rPr>
              <a:t> Objekt</a:t>
            </a:r>
            <a:endParaRPr lang="de-AT" altLang="de-DE" dirty="0"/>
          </a:p>
        </p:txBody>
      </p:sp>
    </p:spTree>
    <p:extLst>
      <p:ext uri="{BB962C8B-B14F-4D97-AF65-F5344CB8AC3E}">
        <p14:creationId xmlns:p14="http://schemas.microsoft.com/office/powerpoint/2010/main" val="1323888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Setter/Getter über Methoden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1519CE-8D0F-431D-A5DA-61D35B08DB6C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25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66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1206500"/>
            <a:ext cx="7204075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431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00FFE4-006D-46E1-A259-D3C1980EF7D8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26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de-DE" altLang="de-DE" sz="2800" dirty="0"/>
              <a:t>Geregelter Zugriff auf Felder </a:t>
            </a:r>
            <a:r>
              <a:rPr lang="de-DE" altLang="de-DE" sz="2800" dirty="0">
                <a:sym typeface="Wingdings" panose="05000000000000000000" pitchFamily="2" charset="2"/>
              </a:rPr>
              <a:t> </a:t>
            </a:r>
            <a:r>
              <a:rPr lang="de-DE" altLang="de-DE" sz="2800" dirty="0"/>
              <a:t>Properties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9261"/>
            <a:ext cx="8229600" cy="4525963"/>
          </a:xfrm>
        </p:spPr>
        <p:txBody>
          <a:bodyPr/>
          <a:lstStyle/>
          <a:p>
            <a:pPr eaLnBrk="1" hangingPunct="1"/>
            <a:r>
              <a:rPr lang="de-DE" altLang="de-DE" sz="1800" dirty="0"/>
              <a:t>Zusammenfassung einer Getter- und einer Setter-Methoden zu einer Einheit</a:t>
            </a:r>
          </a:p>
          <a:p>
            <a:pPr eaLnBrk="1" hangingPunct="1"/>
            <a:r>
              <a:rPr lang="de-DE" altLang="de-DE" sz="1800" dirty="0"/>
              <a:t>Definition eines Properties</a:t>
            </a:r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r>
              <a:rPr lang="de-DE" altLang="de-DE" sz="1800" dirty="0"/>
              <a:t>Verwendung eines Properties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098A68A-A834-412D-A423-816A78D5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627629"/>
            <a:ext cx="4506929" cy="172918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3E9126D-6926-4A6E-9245-4179EA685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8" y="3933056"/>
            <a:ext cx="7681712" cy="22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34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AD226-5E12-4FDA-8435-4F64A9F0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im Klassendiagramm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BCBE31-B0F1-4DA8-BC5D-75CB4855E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F48221A-FC7D-4205-8D5F-0E10CB2D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268413"/>
            <a:ext cx="2448272" cy="533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87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Property - Allgemeines</a:t>
            </a:r>
          </a:p>
        </p:txBody>
      </p:sp>
      <p:sp>
        <p:nvSpPr>
          <p:cNvPr id="37891" name="Inhaltsplatzhalt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4525963"/>
          </a:xfrm>
        </p:spPr>
        <p:txBody>
          <a:bodyPr/>
          <a:lstStyle/>
          <a:p>
            <a:r>
              <a:rPr lang="de-DE" altLang="de-DE" sz="2000" dirty="0"/>
              <a:t>Kapselt den Zugriff auf ein internes Feld</a:t>
            </a:r>
            <a:endParaRPr lang="de-AT" altLang="de-DE" sz="2000" dirty="0"/>
          </a:p>
          <a:p>
            <a:r>
              <a:rPr lang="de-DE" altLang="de-DE" sz="2000" dirty="0"/>
              <a:t>Name wie Feldname mit großem Anfangsbuchstaben</a:t>
            </a:r>
          </a:p>
          <a:p>
            <a:pPr lvl="1"/>
            <a:r>
              <a:rPr lang="de-DE" altLang="de-DE" sz="1800" dirty="0" err="1"/>
              <a:t>Codierrichtlinie</a:t>
            </a:r>
            <a:r>
              <a:rPr lang="de-DE" altLang="de-DE" sz="1800" dirty="0"/>
              <a:t>: private </a:t>
            </a:r>
            <a:r>
              <a:rPr lang="de-DE" altLang="de-DE" sz="1800" dirty="0" err="1"/>
              <a:t>field</a:t>
            </a:r>
            <a:r>
              <a:rPr lang="de-DE" altLang="de-DE" sz="1800" dirty="0"/>
              <a:t> wird mit führendem </a:t>
            </a:r>
            <a:r>
              <a:rPr lang="de-DE" altLang="de-DE" sz="1800" dirty="0" err="1"/>
              <a:t>Underline</a:t>
            </a:r>
            <a:r>
              <a:rPr lang="de-DE" altLang="de-DE" sz="1800" dirty="0"/>
              <a:t> codiert</a:t>
            </a:r>
          </a:p>
          <a:p>
            <a:r>
              <a:rPr lang="de-DE" altLang="de-DE" sz="2000" dirty="0"/>
              <a:t>Hat beliebigen Datentyp (meist Typ des Felds</a:t>
            </a:r>
            <a:r>
              <a:rPr lang="de-AT" altLang="de-DE" sz="2000" dirty="0"/>
              <a:t>)</a:t>
            </a:r>
          </a:p>
          <a:p>
            <a:r>
              <a:rPr lang="de-DE" altLang="de-DE" sz="2000" dirty="0" err="1"/>
              <a:t>get</a:t>
            </a:r>
            <a:r>
              <a:rPr lang="de-DE" altLang="de-DE" sz="2000" dirty="0"/>
              <a:t>-Bereich </a:t>
            </a:r>
            <a:r>
              <a:rPr lang="de-DE" altLang="de-DE" sz="2000" dirty="0">
                <a:sym typeface="Wingdings" panose="05000000000000000000" pitchFamily="2" charset="2"/>
              </a:rPr>
              <a:t> </a:t>
            </a:r>
            <a:r>
              <a:rPr lang="de-DE" altLang="de-DE" sz="2000" dirty="0"/>
              <a:t>lesender Zugriff</a:t>
            </a:r>
            <a:endParaRPr lang="de-AT" altLang="de-DE" sz="2000" dirty="0"/>
          </a:p>
          <a:p>
            <a:pPr lvl="1"/>
            <a:r>
              <a:rPr lang="de-DE" altLang="de-DE" sz="1800" dirty="0"/>
              <a:t>Bei Bedarf Berechnungen </a:t>
            </a:r>
          </a:p>
          <a:p>
            <a:r>
              <a:rPr lang="de-DE" altLang="de-DE" sz="2000" dirty="0" err="1"/>
              <a:t>set</a:t>
            </a:r>
            <a:r>
              <a:rPr lang="de-DE" altLang="de-DE" sz="2000" dirty="0"/>
              <a:t>-Bereich </a:t>
            </a:r>
            <a:r>
              <a:rPr lang="de-DE" altLang="de-DE" sz="2000" dirty="0">
                <a:sym typeface="Wingdings" panose="05000000000000000000" pitchFamily="2" charset="2"/>
              </a:rPr>
              <a:t> </a:t>
            </a:r>
            <a:r>
              <a:rPr lang="de-DE" altLang="de-DE" sz="2000" dirty="0"/>
              <a:t>auf das private Feld schreiben (</a:t>
            </a:r>
            <a:r>
              <a:rPr lang="de-DE" altLang="de-DE" sz="2000" dirty="0" err="1"/>
              <a:t>value</a:t>
            </a:r>
            <a:r>
              <a:rPr lang="de-DE" altLang="de-DE" sz="2000" dirty="0"/>
              <a:t> enthält den Wert)</a:t>
            </a:r>
            <a:endParaRPr lang="de-AT" altLang="de-DE" sz="2000" dirty="0"/>
          </a:p>
          <a:p>
            <a:pPr lvl="1"/>
            <a:r>
              <a:rPr lang="de-DE" altLang="de-DE" sz="1800" dirty="0"/>
              <a:t>Häufig Gültigkeitsprüfungen</a:t>
            </a:r>
            <a:endParaRPr lang="de-AT" altLang="de-DE" sz="1800" dirty="0"/>
          </a:p>
          <a:p>
            <a:r>
              <a:rPr lang="de-DE" altLang="de-DE" sz="2000" dirty="0"/>
              <a:t>„</a:t>
            </a:r>
            <a:r>
              <a:rPr lang="de-DE" altLang="de-DE" sz="2000" dirty="0" err="1"/>
              <a:t>read</a:t>
            </a:r>
            <a:r>
              <a:rPr lang="de-DE" altLang="de-DE" sz="2000" dirty="0"/>
              <a:t>-</a:t>
            </a:r>
            <a:r>
              <a:rPr lang="de-DE" altLang="de-DE" sz="2000" dirty="0" err="1"/>
              <a:t>only</a:t>
            </a:r>
            <a:r>
              <a:rPr lang="de-DE" altLang="de-DE" sz="2000" dirty="0"/>
              <a:t>-Properties“ werden bei Bedarf berechnet (kein Setter)</a:t>
            </a:r>
          </a:p>
          <a:p>
            <a:r>
              <a:rPr lang="de-DE" altLang="de-DE" sz="2000" dirty="0"/>
              <a:t>Auch intern über Properties statt über private </a:t>
            </a:r>
            <a:r>
              <a:rPr lang="de-DE" altLang="de-DE" sz="2000" dirty="0" err="1"/>
              <a:t>fields</a:t>
            </a:r>
            <a:r>
              <a:rPr lang="de-DE" altLang="de-DE" sz="2000" dirty="0"/>
              <a:t> zugreifen</a:t>
            </a:r>
            <a:endParaRPr lang="de-AT" altLang="de-DE" sz="1800" dirty="0"/>
          </a:p>
          <a:p>
            <a:endParaRPr lang="de-AT" altLang="de-DE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CE58E0-76D8-4736-A64D-3CA1F02F0B9C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28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11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400" dirty="0"/>
              <a:t>Beispiel für ein berechnetes „</a:t>
            </a:r>
            <a:r>
              <a:rPr lang="de-AT" altLang="de-DE" sz="2400" dirty="0" err="1"/>
              <a:t>read-only</a:t>
            </a:r>
            <a:r>
              <a:rPr lang="de-AT" altLang="de-DE" sz="2400" dirty="0"/>
              <a:t>“ - Property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59603E-A0D9-444F-8922-CF9B658BE90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29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3341C38-A5BF-46D4-A1C9-ABEA6D809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44515"/>
            <a:ext cx="8784976" cy="456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89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Sehr gute Designerunterstützung</a:t>
            </a:r>
          </a:p>
        </p:txBody>
      </p:sp>
      <p:sp>
        <p:nvSpPr>
          <p:cNvPr id="3993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altLang="de-DE"/>
              <a:t>Feld einkapseln</a:t>
            </a:r>
          </a:p>
          <a:p>
            <a:endParaRPr lang="de-AT" altLang="de-DE"/>
          </a:p>
          <a:p>
            <a:endParaRPr lang="de-AT" altLang="de-DE"/>
          </a:p>
          <a:p>
            <a:endParaRPr lang="de-AT" altLang="de-DE"/>
          </a:p>
          <a:p>
            <a:r>
              <a:rPr lang="de-AT" altLang="de-DE"/>
              <a:t>Property erstellen über Codesnippet </a:t>
            </a:r>
          </a:p>
          <a:p>
            <a:pPr lvl="1"/>
            <a:r>
              <a:rPr lang="de-AT" altLang="de-DE"/>
              <a:t>Prop tab tab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57070E-342B-4A24-AAF7-6F749FD679F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30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99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603375"/>
            <a:ext cx="8891587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072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Property - Merksätze</a:t>
            </a:r>
          </a:p>
        </p:txBody>
      </p:sp>
      <p:sp>
        <p:nvSpPr>
          <p:cNvPr id="40963" name="Inhaltsplatzhalter 2"/>
          <p:cNvSpPr>
            <a:spLocks noGrp="1"/>
          </p:cNvSpPr>
          <p:nvPr>
            <p:ph idx="1"/>
          </p:nvPr>
        </p:nvSpPr>
        <p:spPr>
          <a:xfrm>
            <a:off x="251520" y="1135285"/>
            <a:ext cx="8229600" cy="4525963"/>
          </a:xfrm>
        </p:spPr>
        <p:txBody>
          <a:bodyPr/>
          <a:lstStyle/>
          <a:p>
            <a:r>
              <a:rPr lang="de-AT" altLang="de-DE" sz="2000" dirty="0"/>
              <a:t>Zweck: Einfacher aber gekapselter Zugriff auf private Felder</a:t>
            </a:r>
          </a:p>
          <a:p>
            <a:r>
              <a:rPr lang="de-AT" altLang="de-DE" sz="2000" dirty="0"/>
              <a:t>Besteht aus </a:t>
            </a:r>
            <a:r>
              <a:rPr lang="de-AT" altLang="de-DE" sz="2000" dirty="0" err="1"/>
              <a:t>get</a:t>
            </a:r>
            <a:r>
              <a:rPr lang="de-AT" altLang="de-DE" sz="2000" dirty="0"/>
              <a:t>- und </a:t>
            </a:r>
            <a:r>
              <a:rPr lang="de-AT" altLang="de-DE" sz="2000" dirty="0" err="1"/>
              <a:t>set</a:t>
            </a:r>
            <a:r>
              <a:rPr lang="de-AT" altLang="de-DE" sz="2000" dirty="0"/>
              <a:t>-Bereich, die optional sind</a:t>
            </a:r>
          </a:p>
          <a:p>
            <a:pPr lvl="1"/>
            <a:r>
              <a:rPr lang="de-AT" altLang="de-DE" sz="1800" dirty="0"/>
              <a:t>Ohne Setter entsteht ein Read-</a:t>
            </a:r>
            <a:r>
              <a:rPr lang="de-AT" altLang="de-DE" sz="1800" dirty="0" err="1"/>
              <a:t>Only</a:t>
            </a:r>
            <a:r>
              <a:rPr lang="de-AT" altLang="de-DE" sz="1800" dirty="0"/>
              <a:t>-Property (berechnetes Property, Änderung des privaten Feldes soll verhindert werden)</a:t>
            </a:r>
          </a:p>
          <a:p>
            <a:r>
              <a:rPr lang="de-AT" altLang="de-DE" sz="2000" dirty="0" err="1"/>
              <a:t>Zugriffsmodifizierer</a:t>
            </a:r>
            <a:r>
              <a:rPr lang="de-AT" altLang="de-DE" sz="2000" dirty="0"/>
              <a:t> des Properties kann für Getter und Setter angepasst werden</a:t>
            </a:r>
          </a:p>
          <a:p>
            <a:pPr lvl="1"/>
            <a:r>
              <a:rPr lang="de-AT" altLang="de-DE" sz="1800" dirty="0"/>
              <a:t>Z.B. Setter private setzen </a:t>
            </a:r>
            <a:r>
              <a:rPr lang="de-AT" altLang="de-DE" sz="1800" dirty="0">
                <a:sym typeface="Wingdings" panose="05000000000000000000" pitchFamily="2" charset="2"/>
              </a:rPr>
              <a:t> nur in Klasse änderbar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Getter liefert Wert mit Typ entsprechend dem Property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Setter erhält Wert über </a:t>
            </a:r>
            <a:r>
              <a:rPr lang="de-AT" altLang="de-DE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value</a:t>
            </a:r>
            <a:r>
              <a:rPr lang="de-AT" altLang="de-DE" sz="2000" dirty="0">
                <a:sym typeface="Wingdings" panose="05000000000000000000" pitchFamily="2" charset="2"/>
              </a:rPr>
              <a:t> (ebenfalls Typ des Properties)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Setter kann für Validierungsaufgaben verwendet werden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Direkten Zugriff auf private Felder auch innerhalb der Klasse vermeiden</a:t>
            </a:r>
          </a:p>
          <a:p>
            <a:pPr lvl="1"/>
            <a:r>
              <a:rPr lang="de-AT" altLang="de-DE" sz="1800" dirty="0">
                <a:sym typeface="Wingdings" panose="05000000000000000000" pitchFamily="2" charset="2"/>
              </a:rPr>
              <a:t>Setter private setzen  Validierung im Setter wird immer verwendet</a:t>
            </a:r>
            <a:endParaRPr lang="de-AT" altLang="de-DE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8387947-67C3-4CFD-A826-A34FE3F573C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31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0966" name="Picture 2" descr="C:\HTL\PR_II\Skriptum\Icons\gluehbir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155575"/>
            <a:ext cx="79216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9566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Konstruktor </a:t>
            </a:r>
            <a:r>
              <a:rPr lang="de-AT" altLang="de-DE">
                <a:sym typeface="Wingdings" panose="05000000000000000000" pitchFamily="2" charset="2"/>
              </a:rPr>
              <a:t> Eingriff in Instanzierung</a:t>
            </a:r>
            <a:endParaRPr lang="de-AT" altLang="de-DE"/>
          </a:p>
        </p:txBody>
      </p:sp>
      <p:sp>
        <p:nvSpPr>
          <p:cNvPr id="32771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229600" cy="4525963"/>
          </a:xfrm>
        </p:spPr>
        <p:txBody>
          <a:bodyPr/>
          <a:lstStyle/>
          <a:p>
            <a:r>
              <a:rPr lang="de-AT" altLang="de-DE" sz="2800" dirty="0"/>
              <a:t>Syntax</a:t>
            </a:r>
          </a:p>
          <a:p>
            <a:pPr lvl="1"/>
            <a:r>
              <a:rPr lang="de-DE" altLang="de-DE" sz="2000" dirty="0"/>
              <a:t>Sieht aus wie eine Methode, hat aber keinen Rückgabewert (auch nicht </a:t>
            </a:r>
            <a:r>
              <a:rPr lang="de-DE" altLang="de-DE" sz="2000" dirty="0" err="1"/>
              <a:t>void</a:t>
            </a:r>
            <a:r>
              <a:rPr lang="de-DE" altLang="de-DE" sz="2000" dirty="0"/>
              <a:t>)</a:t>
            </a:r>
            <a:endParaRPr lang="de-AT" altLang="de-DE" sz="2000" dirty="0"/>
          </a:p>
          <a:p>
            <a:pPr lvl="1"/>
            <a:r>
              <a:rPr lang="de-DE" altLang="de-DE" sz="2000" dirty="0"/>
              <a:t>Heißt genau so wie die Klasse</a:t>
            </a:r>
            <a:endParaRPr lang="de-AT" altLang="de-DE" sz="2000" dirty="0"/>
          </a:p>
          <a:p>
            <a:pPr lvl="1"/>
            <a:r>
              <a:rPr lang="de-DE" altLang="de-DE" sz="2000" dirty="0" err="1"/>
              <a:t>Defaultkonstruktor</a:t>
            </a:r>
            <a:r>
              <a:rPr lang="de-DE" altLang="de-DE" sz="2000" dirty="0"/>
              <a:t> hat keinen Parameter und wird automatisch erzeugt, wenn kein anderer Konstruktor angelegt wird</a:t>
            </a:r>
          </a:p>
          <a:p>
            <a:pPr lvl="1"/>
            <a:r>
              <a:rPr lang="de-DE" altLang="de-DE" sz="2000" dirty="0"/>
              <a:t>Mehrere (überladene) Konstruktoren (Varianten) sind möglich</a:t>
            </a:r>
          </a:p>
          <a:p>
            <a:pPr lvl="1"/>
            <a:endParaRPr lang="de-AT" altLang="de-DE" sz="2000" dirty="0"/>
          </a:p>
          <a:p>
            <a:r>
              <a:rPr lang="de-AT" altLang="de-DE" sz="2800" dirty="0"/>
              <a:t>Bedeutung</a:t>
            </a:r>
          </a:p>
          <a:p>
            <a:pPr lvl="1"/>
            <a:r>
              <a:rPr lang="de-AT" altLang="de-DE" sz="2000" dirty="0"/>
              <a:t>Möglichkeit der Initialisierung von Feldern</a:t>
            </a:r>
          </a:p>
          <a:p>
            <a:pPr lvl="1"/>
            <a:r>
              <a:rPr lang="de-AT" altLang="de-DE" sz="2000" dirty="0"/>
              <a:t>Häufig mit Parametern</a:t>
            </a:r>
          </a:p>
          <a:p>
            <a:pPr lvl="2"/>
            <a:r>
              <a:rPr lang="de-AT" altLang="de-DE" sz="2000" dirty="0"/>
              <a:t>Muss-Felder, ohne die ein Objekt nicht sinnvoll erzeugbar ist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55B118-FB86-46CA-AAFE-6CF26B88E74A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409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Statt new und Set… </a:t>
            </a:r>
            <a:r>
              <a:rPr lang="de-AT" altLang="de-DE">
                <a:sym typeface="Wingdings" panose="05000000000000000000" pitchFamily="2" charset="2"/>
              </a:rPr>
              <a:t> Konstruktor</a:t>
            </a:r>
            <a:endParaRPr lang="de-AT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B1233F-25DB-425B-9CC6-F10150F172C9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33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6509480-B815-48F1-949E-C3815708B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4" y="1484784"/>
            <a:ext cx="908714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12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Konstruktoren überladen</a:t>
            </a:r>
          </a:p>
        </p:txBody>
      </p:sp>
      <p:sp>
        <p:nvSpPr>
          <p:cNvPr id="348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7E9174-7D02-4B2B-92F0-2D64882209A9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34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C833983-24D7-4E4C-BD06-7AF61CC81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64" y="1772817"/>
            <a:ext cx="8804872" cy="33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34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Konstruktor - Merksätze</a:t>
            </a:r>
          </a:p>
        </p:txBody>
      </p:sp>
      <p:sp>
        <p:nvSpPr>
          <p:cNvPr id="35843" name="Inhaltsplatzhalter 2"/>
          <p:cNvSpPr>
            <a:spLocks noGrp="1"/>
          </p:cNvSpPr>
          <p:nvPr>
            <p:ph idx="1"/>
          </p:nvPr>
        </p:nvSpPr>
        <p:spPr>
          <a:xfrm>
            <a:off x="179512" y="980728"/>
            <a:ext cx="8229600" cy="4525963"/>
          </a:xfrm>
        </p:spPr>
        <p:txBody>
          <a:bodyPr/>
          <a:lstStyle/>
          <a:p>
            <a:r>
              <a:rPr lang="de-AT" altLang="de-DE" sz="2000" dirty="0"/>
              <a:t>Zweck: Initialisierung der Objekte</a:t>
            </a:r>
          </a:p>
          <a:p>
            <a:r>
              <a:rPr lang="de-AT" altLang="de-DE" sz="2000" dirty="0"/>
              <a:t>Wird kein expliziter Konstruktor definiert, erzeugt das System automatisch einen </a:t>
            </a:r>
            <a:r>
              <a:rPr lang="de-AT" altLang="de-DE" sz="2000" dirty="0" err="1"/>
              <a:t>Defaultkonstruktor</a:t>
            </a:r>
            <a:r>
              <a:rPr lang="de-AT" altLang="de-DE" sz="2000" dirty="0"/>
              <a:t>, der alle privaten Felder initialisiert (Zahlen mit 0, </a:t>
            </a:r>
            <a:r>
              <a:rPr lang="de-AT" altLang="de-DE" sz="2000" dirty="0" err="1"/>
              <a:t>boolean</a:t>
            </a:r>
            <a:r>
              <a:rPr lang="de-AT" altLang="de-DE" sz="2000" dirty="0"/>
              <a:t> mit </a:t>
            </a:r>
            <a:r>
              <a:rPr lang="de-AT" altLang="de-DE" sz="2000" dirty="0" err="1"/>
              <a:t>false</a:t>
            </a:r>
            <a:r>
              <a:rPr lang="de-AT" altLang="de-DE" sz="2000" dirty="0"/>
              <a:t>, Referenzen auf Objekte mit null)</a:t>
            </a:r>
          </a:p>
          <a:p>
            <a:r>
              <a:rPr lang="de-AT" altLang="de-DE" sz="2000" dirty="0"/>
              <a:t>Wird ein Konstruktor definiert, gibt es den automatischen </a:t>
            </a:r>
            <a:r>
              <a:rPr lang="de-AT" altLang="de-DE" sz="2000" dirty="0" err="1"/>
              <a:t>Defaultkonstruktor</a:t>
            </a:r>
            <a:r>
              <a:rPr lang="de-AT" altLang="de-DE" sz="2000" dirty="0"/>
              <a:t> nicht</a:t>
            </a:r>
          </a:p>
          <a:p>
            <a:pPr lvl="1"/>
            <a:r>
              <a:rPr lang="de-AT" altLang="de-DE" sz="1800" dirty="0"/>
              <a:t>Bei Bedarf Konstruktor mit leerer Parameterliste anlegen</a:t>
            </a:r>
          </a:p>
          <a:p>
            <a:r>
              <a:rPr lang="de-AT" altLang="de-DE" sz="2000" dirty="0"/>
              <a:t>Felder, deren Inhalte für die Existenz des Objekts notwendig sind, müssen per Konstruktor initialisiert werden	</a:t>
            </a:r>
          </a:p>
          <a:p>
            <a:pPr lvl="1"/>
            <a:r>
              <a:rPr lang="de-AT" altLang="de-DE" sz="1800" dirty="0"/>
              <a:t>Z.B. </a:t>
            </a:r>
            <a:r>
              <a:rPr lang="de-AT" altLang="de-DE" sz="1800" dirty="0" err="1"/>
              <a:t>Pupil</a:t>
            </a:r>
            <a:r>
              <a:rPr lang="de-AT" altLang="de-DE" sz="1800" dirty="0"/>
              <a:t> ohne Name macht keinen Sinn</a:t>
            </a:r>
          </a:p>
          <a:p>
            <a:r>
              <a:rPr lang="de-AT" altLang="de-DE" sz="2000" dirty="0"/>
              <a:t>Konstruktoren können mehrfach überladen werden</a:t>
            </a:r>
          </a:p>
          <a:p>
            <a:pPr lvl="1"/>
            <a:r>
              <a:rPr lang="de-AT" altLang="de-DE" sz="1800" dirty="0"/>
              <a:t>Aufruf untereinander vermeidet Codeverdopplung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BA1465-932A-4E2A-A573-07C4187312DD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35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5846" name="Picture 2" descr="C:\HTL\PR_II\Skriptum\Icons\gluehbir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155575"/>
            <a:ext cx="79216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7606541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1251</Words>
  <Application>Microsoft Office PowerPoint</Application>
  <PresentationFormat>On-screen Show (4:3)</PresentationFormat>
  <Paragraphs>253</Paragraphs>
  <Slides>35</Slides>
  <Notes>0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Symbol</vt:lpstr>
      <vt:lpstr>Times New Roman</vt:lpstr>
      <vt:lpstr>Wingdings</vt:lpstr>
      <vt:lpstr>2_Larissa</vt:lpstr>
      <vt:lpstr>1_Standarddesign</vt:lpstr>
      <vt:lpstr>Image</vt:lpstr>
      <vt:lpstr>Photo Editor-Foto</vt:lpstr>
      <vt:lpstr>PowerPoint Presentation</vt:lpstr>
      <vt:lpstr>Programmentwicklung bisher</vt:lpstr>
      <vt:lpstr>Entwurf eines geeigneten Algorithmus</vt:lpstr>
      <vt:lpstr>Umsetzen des Algorithmus in C#</vt:lpstr>
      <vt:lpstr>Testen der Anwendung</vt:lpstr>
      <vt:lpstr>Strukturierung des Programms</vt:lpstr>
      <vt:lpstr>Strukturierung der Daten</vt:lpstr>
      <vt:lpstr>Von strukturierter Pogrammierung zu OOP</vt:lpstr>
      <vt:lpstr>Ziele von OO</vt:lpstr>
      <vt:lpstr>Modellbildung</vt:lpstr>
      <vt:lpstr>Abstraktion hängt von der Perspektive ab</vt:lpstr>
      <vt:lpstr>Modellbildung durch Abstraktion</vt:lpstr>
      <vt:lpstr>Objektorientiertes Design (OOD)</vt:lpstr>
      <vt:lpstr>Was macht ein Objekt im wahren Leben aus?</vt:lpstr>
      <vt:lpstr>Eigenschaften von Objekten</vt:lpstr>
      <vt:lpstr>Einfaches Objekt Pupil</vt:lpstr>
      <vt:lpstr>Klassen sind Baupläne für Objekte</vt:lpstr>
      <vt:lpstr>Definition von Objekten  Klasse</vt:lpstr>
      <vt:lpstr>Klassen sind Schablonen</vt:lpstr>
      <vt:lpstr>PowerPoint Presentation</vt:lpstr>
      <vt:lpstr>Objekte erzeugen und verwenden</vt:lpstr>
      <vt:lpstr>Methoden</vt:lpstr>
      <vt:lpstr>Richtiger OO-Entwurf</vt:lpstr>
      <vt:lpstr>Zusammenhang Klasse  Objekt</vt:lpstr>
      <vt:lpstr>Setter/Getter über Methoden</vt:lpstr>
      <vt:lpstr>Geregelter Zugriff auf Felder  Properties</vt:lpstr>
      <vt:lpstr>Darstellung im Klassendiagramm</vt:lpstr>
      <vt:lpstr>Property - Allgemeines</vt:lpstr>
      <vt:lpstr>Beispiel für ein berechnetes „read-only“ - Property</vt:lpstr>
      <vt:lpstr>Sehr gute Designerunterstützung</vt:lpstr>
      <vt:lpstr>Property - Merksätze</vt:lpstr>
      <vt:lpstr>Konstruktor  Eingriff in Instanzierung</vt:lpstr>
      <vt:lpstr>Statt new und Set…  Konstruktor</vt:lpstr>
      <vt:lpstr>Konstruktoren überladen</vt:lpstr>
      <vt:lpstr>Konstruktor - Merksätze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Michael Bucek</cp:lastModifiedBy>
  <cp:revision>170</cp:revision>
  <dcterms:created xsi:type="dcterms:W3CDTF">2006-01-13T20:54:04Z</dcterms:created>
  <dcterms:modified xsi:type="dcterms:W3CDTF">2019-09-11T09:19:01Z</dcterms:modified>
</cp:coreProperties>
</file>