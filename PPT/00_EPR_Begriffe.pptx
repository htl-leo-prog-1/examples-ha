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11"/>
  </p:notesMasterIdLst>
  <p:handoutMasterIdLst>
    <p:handoutMasterId r:id="rId12"/>
  </p:handoutMasterIdLst>
  <p:sldIdLst>
    <p:sldId id="257" r:id="rId6"/>
    <p:sldId id="258" r:id="rId7"/>
    <p:sldId id="259" r:id="rId8"/>
    <p:sldId id="260" r:id="rId9"/>
    <p:sldId id="261" r:id="rId10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50" autoAdjust="0"/>
  </p:normalViewPr>
  <p:slideViewPr>
    <p:cSldViewPr>
      <p:cViewPr varScale="1">
        <p:scale>
          <a:sx n="75" d="100"/>
          <a:sy n="75" d="100"/>
        </p:scale>
        <p:origin x="103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29.09.2014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29.09.2014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 smtClean="0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29.09.2014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29.09.2014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Computer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1"/>
          </p:nvPr>
        </p:nvSpPr>
        <p:spPr>
          <a:xfrm>
            <a:off x="477888" y="980728"/>
            <a:ext cx="8208912" cy="2160239"/>
          </a:xfrm>
        </p:spPr>
        <p:txBody>
          <a:bodyPr/>
          <a:lstStyle/>
          <a:p>
            <a:r>
              <a:rPr lang="de-DE" dirty="0"/>
              <a:t>Ein Computer ist eine Rechenmaschine (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compute</a:t>
            </a:r>
            <a:r>
              <a:rPr lang="de-DE" dirty="0"/>
              <a:t> = berechnen),</a:t>
            </a:r>
          </a:p>
          <a:p>
            <a:r>
              <a:rPr lang="de-DE" dirty="0"/>
              <a:t>welche in der Lage ist, ein Programm auszuführen. </a:t>
            </a:r>
          </a:p>
          <a:p>
            <a:endParaRPr lang="de-DE" dirty="0"/>
          </a:p>
          <a:p>
            <a:r>
              <a:rPr lang="de-DE" dirty="0"/>
              <a:t>Aufbau:</a:t>
            </a:r>
          </a:p>
        </p:txBody>
      </p:sp>
      <p:sp>
        <p:nvSpPr>
          <p:cNvPr id="6" name="Abgerundetes Rechteck 5"/>
          <p:cNvSpPr/>
          <p:nvPr/>
        </p:nvSpPr>
        <p:spPr>
          <a:xfrm>
            <a:off x="2412425" y="3573016"/>
            <a:ext cx="1511503" cy="648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</a:rPr>
              <a:t>Prozessor</a:t>
            </a:r>
          </a:p>
          <a:p>
            <a:pPr algn="ctr"/>
            <a:r>
              <a:rPr lang="de-AT" dirty="0" smtClean="0">
                <a:solidFill>
                  <a:schemeClr val="tx1"/>
                </a:solidFill>
              </a:rPr>
              <a:t>(CPU)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7" name="Abgerundetes Rechteck 6"/>
          <p:cNvSpPr/>
          <p:nvPr/>
        </p:nvSpPr>
        <p:spPr>
          <a:xfrm>
            <a:off x="4499361" y="3573016"/>
            <a:ext cx="2016224" cy="648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</a:rPr>
              <a:t>Interner Speicher (RAM)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2051720" y="5733256"/>
            <a:ext cx="2069180" cy="5040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</a:rPr>
              <a:t>Peripheriegeräte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9" name="Abgerundetes Rechteck 8"/>
          <p:cNvSpPr/>
          <p:nvPr/>
        </p:nvSpPr>
        <p:spPr>
          <a:xfrm>
            <a:off x="4462444" y="5733256"/>
            <a:ext cx="2016224" cy="5040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</a:rPr>
              <a:t>Externer Speicher</a:t>
            </a:r>
            <a:endParaRPr lang="de-AT" dirty="0">
              <a:solidFill>
                <a:schemeClr val="tx1"/>
              </a:solidFill>
            </a:endParaRPr>
          </a:p>
        </p:txBody>
      </p:sp>
      <p:cxnSp>
        <p:nvCxnSpPr>
          <p:cNvPr id="10" name="Gerade Verbindung mit Pfeil 9"/>
          <p:cNvCxnSpPr>
            <a:stCxn id="6" idx="3"/>
            <a:endCxn id="7" idx="1"/>
          </p:cNvCxnSpPr>
          <p:nvPr/>
        </p:nvCxnSpPr>
        <p:spPr>
          <a:xfrm>
            <a:off x="3923928" y="3897052"/>
            <a:ext cx="575433" cy="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21"/>
          <p:cNvCxnSpPr/>
          <p:nvPr/>
        </p:nvCxnSpPr>
        <p:spPr>
          <a:xfrm>
            <a:off x="2267744" y="4869160"/>
            <a:ext cx="4752528" cy="0"/>
          </a:xfrm>
          <a:prstGeom prst="line">
            <a:avLst/>
          </a:prstGeom>
          <a:ln w="381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>
            <a:stCxn id="6" idx="2"/>
          </p:cNvCxnSpPr>
          <p:nvPr/>
        </p:nvCxnSpPr>
        <p:spPr>
          <a:xfrm flipH="1">
            <a:off x="3166550" y="4221088"/>
            <a:ext cx="1627" cy="648072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>
            <a:off x="3166550" y="4869160"/>
            <a:ext cx="0" cy="864096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/>
          <p:cNvCxnSpPr>
            <a:endCxn id="9" idx="0"/>
          </p:cNvCxnSpPr>
          <p:nvPr/>
        </p:nvCxnSpPr>
        <p:spPr>
          <a:xfrm>
            <a:off x="5470556" y="4869160"/>
            <a:ext cx="0" cy="864096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/>
          <p:cNvSpPr txBox="1"/>
          <p:nvPr/>
        </p:nvSpPr>
        <p:spPr>
          <a:xfrm>
            <a:off x="7020272" y="469207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Bus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4761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Betriebssystem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323528" y="1196752"/>
            <a:ext cx="8208912" cy="468052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Ein Betriebssystem ist ein Programm, welches beim Starten </a:t>
            </a:r>
            <a:r>
              <a:rPr lang="de-DE" dirty="0" smtClean="0"/>
              <a:t>eines Computers </a:t>
            </a:r>
            <a:r>
              <a:rPr lang="de-DE" dirty="0"/>
              <a:t>automatisch ausgeführt wird und dafür sorgt, dass </a:t>
            </a:r>
            <a:r>
              <a:rPr lang="de-DE" dirty="0" smtClean="0"/>
              <a:t>andere Programme </a:t>
            </a:r>
            <a:r>
              <a:rPr lang="de-DE" dirty="0"/>
              <a:t>auf einem Computer ablaufen können. </a:t>
            </a:r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Abgerundetes Rechteck 3"/>
          <p:cNvSpPr/>
          <p:nvPr/>
        </p:nvSpPr>
        <p:spPr>
          <a:xfrm>
            <a:off x="1835696" y="3356992"/>
            <a:ext cx="1367487" cy="648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</a:rPr>
              <a:t>Prozessor</a:t>
            </a:r>
          </a:p>
          <a:p>
            <a:pPr algn="ctr"/>
            <a:r>
              <a:rPr lang="de-AT" dirty="0" smtClean="0">
                <a:solidFill>
                  <a:schemeClr val="tx1"/>
                </a:solidFill>
              </a:rPr>
              <a:t>(CPU)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5" name="Abgerundetes Rechteck 4"/>
          <p:cNvSpPr/>
          <p:nvPr/>
        </p:nvSpPr>
        <p:spPr>
          <a:xfrm>
            <a:off x="3923297" y="3356992"/>
            <a:ext cx="2016224" cy="648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</a:rPr>
              <a:t>Interner Speicher (RAM)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1475656" y="5733256"/>
            <a:ext cx="2069180" cy="5040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</a:rPr>
              <a:t>Peripheriegeräte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7" name="Abgerundetes Rechteck 6"/>
          <p:cNvSpPr/>
          <p:nvPr/>
        </p:nvSpPr>
        <p:spPr>
          <a:xfrm>
            <a:off x="3886380" y="5733256"/>
            <a:ext cx="2016224" cy="5040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</a:rPr>
              <a:t>Externer Speicher</a:t>
            </a:r>
            <a:endParaRPr lang="de-AT" dirty="0">
              <a:solidFill>
                <a:schemeClr val="tx1"/>
              </a:solidFill>
            </a:endParaRPr>
          </a:p>
        </p:txBody>
      </p:sp>
      <p:cxnSp>
        <p:nvCxnSpPr>
          <p:cNvPr id="8" name="Gerade Verbindung mit Pfeil 7"/>
          <p:cNvCxnSpPr>
            <a:stCxn id="4" idx="3"/>
            <a:endCxn id="5" idx="1"/>
          </p:cNvCxnSpPr>
          <p:nvPr/>
        </p:nvCxnSpPr>
        <p:spPr>
          <a:xfrm>
            <a:off x="3203183" y="3681028"/>
            <a:ext cx="720114" cy="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21"/>
          <p:cNvCxnSpPr/>
          <p:nvPr/>
        </p:nvCxnSpPr>
        <p:spPr>
          <a:xfrm>
            <a:off x="1691680" y="4869160"/>
            <a:ext cx="4752528" cy="0"/>
          </a:xfrm>
          <a:prstGeom prst="line">
            <a:avLst/>
          </a:prstGeom>
          <a:ln w="381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>
            <a:stCxn id="4" idx="2"/>
          </p:cNvCxnSpPr>
          <p:nvPr/>
        </p:nvCxnSpPr>
        <p:spPr>
          <a:xfrm>
            <a:off x="2519440" y="4005064"/>
            <a:ext cx="71046" cy="864096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/>
          <p:cNvCxnSpPr/>
          <p:nvPr/>
        </p:nvCxnSpPr>
        <p:spPr>
          <a:xfrm>
            <a:off x="2590486" y="4869160"/>
            <a:ext cx="0" cy="864096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>
            <a:endCxn id="7" idx="0"/>
          </p:cNvCxnSpPr>
          <p:nvPr/>
        </p:nvCxnSpPr>
        <p:spPr>
          <a:xfrm>
            <a:off x="4894492" y="4869160"/>
            <a:ext cx="0" cy="864096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/>
        </p:nvSpPr>
        <p:spPr>
          <a:xfrm>
            <a:off x="6444208" y="469207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Bus</a:t>
            </a:r>
            <a:endParaRPr lang="de-AT" dirty="0"/>
          </a:p>
        </p:txBody>
      </p:sp>
      <p:sp>
        <p:nvSpPr>
          <p:cNvPr id="14" name="Abgerundetes Rechteck 13"/>
          <p:cNvSpPr/>
          <p:nvPr/>
        </p:nvSpPr>
        <p:spPr>
          <a:xfrm>
            <a:off x="1835696" y="5085184"/>
            <a:ext cx="3744416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Treiber</a:t>
            </a:r>
            <a:endParaRPr lang="de-AT" dirty="0"/>
          </a:p>
        </p:txBody>
      </p:sp>
      <p:sp>
        <p:nvSpPr>
          <p:cNvPr id="15" name="Abgerundetes Rechteck 14"/>
          <p:cNvSpPr/>
          <p:nvPr/>
        </p:nvSpPr>
        <p:spPr>
          <a:xfrm>
            <a:off x="1835696" y="4293096"/>
            <a:ext cx="6120680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Betriebssystem</a:t>
            </a:r>
            <a:endParaRPr lang="de-AT" dirty="0"/>
          </a:p>
        </p:txBody>
      </p:sp>
      <p:sp>
        <p:nvSpPr>
          <p:cNvPr id="16" name="Abgerundetes Rechteck 15"/>
          <p:cNvSpPr/>
          <p:nvPr/>
        </p:nvSpPr>
        <p:spPr>
          <a:xfrm>
            <a:off x="6588224" y="3068960"/>
            <a:ext cx="1368152" cy="57606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Programm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7" name="Gerade Verbindung mit Pfeil 16"/>
          <p:cNvCxnSpPr>
            <a:stCxn id="16" idx="2"/>
          </p:cNvCxnSpPr>
          <p:nvPr/>
        </p:nvCxnSpPr>
        <p:spPr>
          <a:xfrm>
            <a:off x="7272300" y="3645024"/>
            <a:ext cx="0" cy="648072"/>
          </a:xfrm>
          <a:prstGeom prst="straightConnector1">
            <a:avLst/>
          </a:prstGeom>
          <a:ln w="19050" cmpd="dbl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68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Algorithmus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Ein </a:t>
            </a:r>
            <a:r>
              <a:rPr lang="de-DE" b="1" dirty="0"/>
              <a:t>Algorithmus</a:t>
            </a:r>
            <a:r>
              <a:rPr lang="de-DE" dirty="0"/>
              <a:t> ist eine eindeutige Handlungsvorschrift zur Lösung eines Problems bestehend aus endlich vielen, effektiv ausführbaren Einzelschritten.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7" y="4276824"/>
            <a:ext cx="2296132" cy="2173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12976"/>
            <a:ext cx="2619375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88"/>
          <a:stretch/>
        </p:blipFill>
        <p:spPr bwMode="auto">
          <a:xfrm>
            <a:off x="5688113" y="3022886"/>
            <a:ext cx="1908224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1493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Programm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Ein </a:t>
            </a:r>
            <a:r>
              <a:rPr lang="de-DE" b="1" dirty="0"/>
              <a:t>Computerprogramm</a:t>
            </a:r>
            <a:r>
              <a:rPr lang="de-DE" dirty="0"/>
              <a:t> ist ein Algorithmus, welcher in </a:t>
            </a:r>
            <a:r>
              <a:rPr lang="de-DE" dirty="0" smtClean="0"/>
              <a:t>einer Programmiersprache </a:t>
            </a:r>
            <a:r>
              <a:rPr lang="de-DE" dirty="0"/>
              <a:t>formuliert ist und auf einem Computer </a:t>
            </a:r>
            <a:r>
              <a:rPr lang="de-DE" dirty="0" smtClean="0"/>
              <a:t>ausgeführt werden </a:t>
            </a:r>
            <a:r>
              <a:rPr lang="de-DE" dirty="0"/>
              <a:t>kann um </a:t>
            </a:r>
            <a:r>
              <a:rPr lang="de-DE" dirty="0" smtClean="0"/>
              <a:t>einen bestimmten </a:t>
            </a:r>
            <a:r>
              <a:rPr lang="de-DE" dirty="0"/>
              <a:t>Funktionsumfang zur </a:t>
            </a:r>
            <a:r>
              <a:rPr lang="de-DE" dirty="0" smtClean="0"/>
              <a:t>Verfügung zu </a:t>
            </a:r>
            <a:r>
              <a:rPr lang="de-DE" dirty="0"/>
              <a:t>stellen. </a:t>
            </a:r>
            <a:endParaRPr lang="de-AT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8079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Daten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936103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Für den Prozessor sind Daten eine Folge von zwei verschiedenen Zuständen. </a:t>
            </a:r>
            <a:endParaRPr lang="de-AT" dirty="0"/>
          </a:p>
        </p:txBody>
      </p:sp>
      <p:sp>
        <p:nvSpPr>
          <p:cNvPr id="4" name="Rechteck 3"/>
          <p:cNvSpPr/>
          <p:nvPr/>
        </p:nvSpPr>
        <p:spPr>
          <a:xfrm>
            <a:off x="587729" y="2347139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587729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790568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1006592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1222292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1444367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1654529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1" name="Rechteck 10"/>
          <p:cNvSpPr/>
          <p:nvPr/>
        </p:nvSpPr>
        <p:spPr>
          <a:xfrm>
            <a:off x="1870553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2078114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609512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812351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102837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124407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Rechteck 16"/>
          <p:cNvSpPr/>
          <p:nvPr/>
        </p:nvSpPr>
        <p:spPr>
          <a:xfrm>
            <a:off x="1466150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1676312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9" name="Rechteck 18"/>
          <p:cNvSpPr/>
          <p:nvPr/>
        </p:nvSpPr>
        <p:spPr>
          <a:xfrm>
            <a:off x="1892336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0" name="Rechteck 19"/>
          <p:cNvSpPr/>
          <p:nvPr/>
        </p:nvSpPr>
        <p:spPr>
          <a:xfrm>
            <a:off x="2099897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231924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2" name="Rechteck 21"/>
          <p:cNvSpPr/>
          <p:nvPr/>
        </p:nvSpPr>
        <p:spPr>
          <a:xfrm>
            <a:off x="2522084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2738108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Rechteck 23"/>
          <p:cNvSpPr/>
          <p:nvPr/>
        </p:nvSpPr>
        <p:spPr>
          <a:xfrm>
            <a:off x="2953808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Rechteck 24"/>
          <p:cNvSpPr/>
          <p:nvPr/>
        </p:nvSpPr>
        <p:spPr>
          <a:xfrm>
            <a:off x="3175883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6" name="Rechteck 25"/>
          <p:cNvSpPr/>
          <p:nvPr/>
        </p:nvSpPr>
        <p:spPr>
          <a:xfrm>
            <a:off x="338604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7" name="Rechteck 26"/>
          <p:cNvSpPr/>
          <p:nvPr/>
        </p:nvSpPr>
        <p:spPr>
          <a:xfrm>
            <a:off x="3602069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Rechteck 27"/>
          <p:cNvSpPr/>
          <p:nvPr/>
        </p:nvSpPr>
        <p:spPr>
          <a:xfrm>
            <a:off x="3809630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Rechteck 28"/>
          <p:cNvSpPr/>
          <p:nvPr/>
        </p:nvSpPr>
        <p:spPr>
          <a:xfrm>
            <a:off x="4025654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Rechteck 29"/>
          <p:cNvSpPr/>
          <p:nvPr/>
        </p:nvSpPr>
        <p:spPr>
          <a:xfrm>
            <a:off x="4228493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1" name="Rechteck 30"/>
          <p:cNvSpPr/>
          <p:nvPr/>
        </p:nvSpPr>
        <p:spPr>
          <a:xfrm>
            <a:off x="4444517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2" name="Rechteck 31"/>
          <p:cNvSpPr/>
          <p:nvPr/>
        </p:nvSpPr>
        <p:spPr>
          <a:xfrm>
            <a:off x="4660217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" name="Rechteck 32"/>
          <p:cNvSpPr/>
          <p:nvPr/>
        </p:nvSpPr>
        <p:spPr>
          <a:xfrm>
            <a:off x="4882292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4" name="Rechteck 33"/>
          <p:cNvSpPr/>
          <p:nvPr/>
        </p:nvSpPr>
        <p:spPr>
          <a:xfrm>
            <a:off x="5092454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5" name="Rechteck 34"/>
          <p:cNvSpPr/>
          <p:nvPr/>
        </p:nvSpPr>
        <p:spPr>
          <a:xfrm>
            <a:off x="5308478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6" name="Rechteck 35"/>
          <p:cNvSpPr/>
          <p:nvPr/>
        </p:nvSpPr>
        <p:spPr>
          <a:xfrm>
            <a:off x="5516039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5722080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8" name="Rechteck 37"/>
          <p:cNvSpPr/>
          <p:nvPr/>
        </p:nvSpPr>
        <p:spPr>
          <a:xfrm>
            <a:off x="5924919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9" name="Rechteck 38"/>
          <p:cNvSpPr/>
          <p:nvPr/>
        </p:nvSpPr>
        <p:spPr>
          <a:xfrm>
            <a:off x="6140943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0" name="Rechteck 39"/>
          <p:cNvSpPr/>
          <p:nvPr/>
        </p:nvSpPr>
        <p:spPr>
          <a:xfrm>
            <a:off x="6356643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1" name="Rechteck 40"/>
          <p:cNvSpPr/>
          <p:nvPr/>
        </p:nvSpPr>
        <p:spPr>
          <a:xfrm>
            <a:off x="6578718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2" name="Rechteck 41"/>
          <p:cNvSpPr/>
          <p:nvPr/>
        </p:nvSpPr>
        <p:spPr>
          <a:xfrm>
            <a:off x="6788880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3" name="Rechteck 42"/>
          <p:cNvSpPr/>
          <p:nvPr/>
        </p:nvSpPr>
        <p:spPr>
          <a:xfrm>
            <a:off x="7004904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4" name="Rechteck 43"/>
          <p:cNvSpPr/>
          <p:nvPr/>
        </p:nvSpPr>
        <p:spPr>
          <a:xfrm>
            <a:off x="721246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de-AT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5" name="Textfeld 44"/>
          <p:cNvSpPr txBox="1"/>
          <p:nvPr/>
        </p:nvSpPr>
        <p:spPr>
          <a:xfrm>
            <a:off x="2698832" y="2378497"/>
            <a:ext cx="2857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Bit (Binary Digit), 2 Zustände</a:t>
            </a:r>
            <a:endParaRPr lang="de-AT" dirty="0"/>
          </a:p>
        </p:txBody>
      </p:sp>
      <p:sp>
        <p:nvSpPr>
          <p:cNvPr id="46" name="Textfeld 45"/>
          <p:cNvSpPr txBox="1"/>
          <p:nvPr/>
        </p:nvSpPr>
        <p:spPr>
          <a:xfrm>
            <a:off x="2747969" y="3170585"/>
            <a:ext cx="2485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Byte, 2</a:t>
            </a:r>
            <a:r>
              <a:rPr lang="de-AT" baseline="30000" dirty="0" smtClean="0"/>
              <a:t>8</a:t>
            </a:r>
            <a:r>
              <a:rPr lang="de-AT" dirty="0" smtClean="0"/>
              <a:t>  = 256 Zustände</a:t>
            </a:r>
            <a:endParaRPr lang="de-AT" dirty="0"/>
          </a:p>
        </p:txBody>
      </p:sp>
      <p:sp>
        <p:nvSpPr>
          <p:cNvPr id="47" name="Textfeld 46"/>
          <p:cNvSpPr txBox="1"/>
          <p:nvPr/>
        </p:nvSpPr>
        <p:spPr>
          <a:xfrm>
            <a:off x="587729" y="5434191"/>
            <a:ext cx="4997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z. Bsp.  </a:t>
            </a:r>
            <a:r>
              <a:rPr lang="de-AT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de-AT" dirty="0" smtClean="0"/>
              <a:t> (4 Byte), 2</a:t>
            </a:r>
            <a:r>
              <a:rPr lang="de-AT" baseline="30000" dirty="0" smtClean="0"/>
              <a:t>32</a:t>
            </a:r>
            <a:r>
              <a:rPr lang="de-AT" dirty="0" smtClean="0"/>
              <a:t>  = 4.294.967.296 Zustände</a:t>
            </a:r>
            <a:endParaRPr lang="de-AT" dirty="0"/>
          </a:p>
        </p:txBody>
      </p:sp>
      <p:sp>
        <p:nvSpPr>
          <p:cNvPr id="48" name="Textfeld 47"/>
          <p:cNvSpPr txBox="1"/>
          <p:nvPr/>
        </p:nvSpPr>
        <p:spPr>
          <a:xfrm>
            <a:off x="467544" y="3861048"/>
            <a:ext cx="6960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In einer Programmiersprache werden oft mehrere Bytes zu sogenannten</a:t>
            </a:r>
          </a:p>
          <a:p>
            <a:r>
              <a:rPr lang="de-AT" dirty="0" smtClean="0"/>
              <a:t>Datentypen zusammengefasst.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45303496"/>
      </p:ext>
    </p:extLst>
  </p:cSld>
  <p:clrMapOvr>
    <a:masterClrMapping/>
  </p:clrMapOvr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222</Words>
  <Application>Microsoft Office PowerPoint</Application>
  <PresentationFormat>Bildschirmpräsentation (4:3)</PresentationFormat>
  <Paragraphs>74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5</vt:i4>
      </vt:variant>
    </vt:vector>
  </HeadingPairs>
  <TitlesOfParts>
    <vt:vector size="15" baseType="lpstr">
      <vt:lpstr>Arial</vt:lpstr>
      <vt:lpstr>Calibri</vt:lpstr>
      <vt:lpstr>Courier New</vt:lpstr>
      <vt:lpstr>Symbol</vt:lpstr>
      <vt:lpstr>Wingdings</vt:lpstr>
      <vt:lpstr>1_Larissa</vt:lpstr>
      <vt:lpstr>2_Larissa</vt:lpstr>
      <vt:lpstr>5_Larissa</vt:lpstr>
      <vt:lpstr>6_Larissa</vt:lpstr>
      <vt:lpstr>4_Larissa</vt:lpstr>
      <vt:lpstr>Computer</vt:lpstr>
      <vt:lpstr>Betriebssystem</vt:lpstr>
      <vt:lpstr>Algorithmus</vt:lpstr>
      <vt:lpstr>Programm</vt:lpstr>
      <vt:lpstr>Daten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Michael Bucek</cp:lastModifiedBy>
  <cp:revision>610</cp:revision>
  <cp:lastPrinted>2014-09-10T13:20:23Z</cp:lastPrinted>
  <dcterms:created xsi:type="dcterms:W3CDTF">2011-08-18T07:37:01Z</dcterms:created>
  <dcterms:modified xsi:type="dcterms:W3CDTF">2014-09-29T19:03:10Z</dcterms:modified>
</cp:coreProperties>
</file>