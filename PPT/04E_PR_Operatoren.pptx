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1" r:id="rId2"/>
    <p:sldMasterId id="2147483678" r:id="rId3"/>
    <p:sldMasterId id="2147483686" r:id="rId4"/>
    <p:sldMasterId id="2147483692" r:id="rId5"/>
  </p:sldMasterIdLst>
  <p:notesMasterIdLst>
    <p:notesMasterId r:id="rId16"/>
  </p:notesMasterIdLst>
  <p:sldIdLst>
    <p:sldId id="264" r:id="rId6"/>
    <p:sldId id="276" r:id="rId7"/>
    <p:sldId id="277" r:id="rId8"/>
    <p:sldId id="278" r:id="rId9"/>
    <p:sldId id="280" r:id="rId10"/>
    <p:sldId id="281" r:id="rId11"/>
    <p:sldId id="275" r:id="rId12"/>
    <p:sldId id="279" r:id="rId13"/>
    <p:sldId id="283" r:id="rId14"/>
    <p:sldId id="282" r:id="rId1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300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23.10.2018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693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20341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8339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379901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916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42039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79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23.10.2018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272928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23.10.2018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1822646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30605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60017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1485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16817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82419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089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327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32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279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8005411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600074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267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571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5191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39760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7319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3892364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17294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42076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636895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6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19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86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79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91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971600" y="1124744"/>
            <a:ext cx="74168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/>
              <a:t>Ein Ausdruck besteht aus </a:t>
            </a:r>
            <a:r>
              <a:rPr lang="de-AT" sz="2400" dirty="0">
                <a:solidFill>
                  <a:srgbClr val="0070C0"/>
                </a:solidFill>
              </a:rPr>
              <a:t>Operanden</a:t>
            </a:r>
            <a:r>
              <a:rPr lang="de-AT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AT" sz="2400" dirty="0"/>
              <a:t>und </a:t>
            </a:r>
            <a:r>
              <a:rPr lang="de-AT" sz="2400" dirty="0">
                <a:solidFill>
                  <a:srgbClr val="FF0000"/>
                </a:solidFill>
              </a:rPr>
              <a:t>Operatoren</a:t>
            </a:r>
            <a:r>
              <a:rPr lang="de-AT" sz="2400" dirty="0"/>
              <a:t>.</a:t>
            </a:r>
          </a:p>
          <a:p>
            <a:endParaRPr lang="de-AT" sz="2400" dirty="0"/>
          </a:p>
          <a:p>
            <a:r>
              <a:rPr lang="de-AT" sz="2400" dirty="0"/>
              <a:t>Ein </a:t>
            </a:r>
            <a:r>
              <a:rPr lang="de-AT" sz="2400" dirty="0">
                <a:solidFill>
                  <a:srgbClr val="0070C0"/>
                </a:solidFill>
              </a:rPr>
              <a:t>Operand </a:t>
            </a:r>
            <a:r>
              <a:rPr lang="de-AT" sz="2400" dirty="0"/>
              <a:t>kann sein</a:t>
            </a:r>
          </a:p>
          <a:p>
            <a:r>
              <a:rPr lang="de-AT" sz="2400" dirty="0"/>
              <a:t>   -  Wert</a:t>
            </a:r>
          </a:p>
          <a:p>
            <a:r>
              <a:rPr lang="de-AT" sz="2400" dirty="0"/>
              <a:t>   -  Variable</a:t>
            </a:r>
          </a:p>
          <a:p>
            <a:r>
              <a:rPr lang="de-AT" sz="2400" dirty="0"/>
              <a:t>   -  Ausdruck</a:t>
            </a:r>
          </a:p>
          <a:p>
            <a:endParaRPr lang="de-AT" sz="2400" dirty="0"/>
          </a:p>
          <a:p>
            <a:r>
              <a:rPr lang="de-AT" sz="2400" dirty="0"/>
              <a:t>Ein </a:t>
            </a:r>
            <a:r>
              <a:rPr lang="de-AT" sz="2400" dirty="0">
                <a:solidFill>
                  <a:srgbClr val="FF0000"/>
                </a:solidFill>
              </a:rPr>
              <a:t>Operator</a:t>
            </a:r>
            <a:r>
              <a:rPr lang="de-AT" sz="2400" dirty="0"/>
              <a:t> verknüpft zwei </a:t>
            </a:r>
            <a:r>
              <a:rPr lang="de-AT" sz="2400" dirty="0">
                <a:solidFill>
                  <a:srgbClr val="0070C0"/>
                </a:solidFill>
              </a:rPr>
              <a:t>Operanden </a:t>
            </a:r>
            <a:r>
              <a:rPr lang="de-AT" sz="2400" dirty="0"/>
              <a:t>nach gewissen Regeln,</a:t>
            </a:r>
          </a:p>
          <a:p>
            <a:r>
              <a:rPr lang="de-AT" sz="2400" dirty="0"/>
              <a:t>wobei ein Ergebnis entsteht.</a:t>
            </a:r>
          </a:p>
          <a:p>
            <a:endParaRPr lang="de-AT" sz="2400" dirty="0"/>
          </a:p>
          <a:p>
            <a:r>
              <a:rPr lang="de-AT" sz="2400" dirty="0">
                <a:solidFill>
                  <a:srgbClr val="0070C0"/>
                </a:solidFill>
              </a:rPr>
              <a:t>&lt;Operand&gt;</a:t>
            </a:r>
            <a:r>
              <a:rPr lang="de-AT" sz="2400" dirty="0"/>
              <a:t> </a:t>
            </a:r>
            <a:r>
              <a:rPr lang="de-AT" sz="2400" dirty="0">
                <a:solidFill>
                  <a:srgbClr val="FF0000"/>
                </a:solidFill>
              </a:rPr>
              <a:t>&lt;Operator&gt;</a:t>
            </a:r>
            <a:r>
              <a:rPr lang="de-AT" sz="2400" dirty="0"/>
              <a:t> </a:t>
            </a:r>
            <a:r>
              <a:rPr lang="de-AT" sz="2400" dirty="0">
                <a:solidFill>
                  <a:srgbClr val="0070C0"/>
                </a:solidFill>
              </a:rPr>
              <a:t>&lt;Operand&gt;</a:t>
            </a:r>
          </a:p>
          <a:p>
            <a:r>
              <a:rPr lang="de-AT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Ausdrücke</a:t>
            </a:r>
            <a:br>
              <a:rPr lang="de-AT" dirty="0"/>
            </a:b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7097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475656" y="3045965"/>
            <a:ext cx="5285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=   2  *  (  a  +  b  )   </a:t>
            </a:r>
          </a:p>
        </p:txBody>
      </p:sp>
      <p:sp>
        <p:nvSpPr>
          <p:cNvPr id="3" name="Ellipse 2"/>
          <p:cNvSpPr/>
          <p:nvPr/>
        </p:nvSpPr>
        <p:spPr>
          <a:xfrm>
            <a:off x="3419872" y="2985979"/>
            <a:ext cx="504056" cy="44407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Ellipse 10"/>
          <p:cNvSpPr/>
          <p:nvPr/>
        </p:nvSpPr>
        <p:spPr>
          <a:xfrm>
            <a:off x="4644008" y="3009734"/>
            <a:ext cx="504056" cy="44407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Ellipse 11"/>
          <p:cNvSpPr/>
          <p:nvPr/>
        </p:nvSpPr>
        <p:spPr>
          <a:xfrm>
            <a:off x="5436096" y="3008596"/>
            <a:ext cx="504056" cy="444070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Abgerundetes Rechteck 9"/>
          <p:cNvSpPr/>
          <p:nvPr/>
        </p:nvSpPr>
        <p:spPr>
          <a:xfrm>
            <a:off x="3203848" y="1905859"/>
            <a:ext cx="2952328" cy="576064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>
                <a:solidFill>
                  <a:srgbClr val="0070C0"/>
                </a:solidFill>
              </a:rPr>
              <a:t>Operanden</a:t>
            </a:r>
            <a:endParaRPr lang="de-AT" b="1" dirty="0"/>
          </a:p>
        </p:txBody>
      </p:sp>
      <p:cxnSp>
        <p:nvCxnSpPr>
          <p:cNvPr id="14" name="Gerade Verbindung 13"/>
          <p:cNvCxnSpPr>
            <a:stCxn id="10" idx="2"/>
            <a:endCxn id="3" idx="7"/>
          </p:cNvCxnSpPr>
          <p:nvPr/>
        </p:nvCxnSpPr>
        <p:spPr>
          <a:xfrm flipH="1">
            <a:off x="3850111" y="2481923"/>
            <a:ext cx="829901" cy="5690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>
            <a:stCxn id="10" idx="2"/>
            <a:endCxn id="12" idx="1"/>
          </p:cNvCxnSpPr>
          <p:nvPr/>
        </p:nvCxnSpPr>
        <p:spPr>
          <a:xfrm>
            <a:off x="4680012" y="2481923"/>
            <a:ext cx="829901" cy="5917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>
            <a:stCxn id="10" idx="2"/>
            <a:endCxn id="11" idx="0"/>
          </p:cNvCxnSpPr>
          <p:nvPr/>
        </p:nvCxnSpPr>
        <p:spPr>
          <a:xfrm>
            <a:off x="4680012" y="2481923"/>
            <a:ext cx="216024" cy="5278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lipse 22"/>
          <p:cNvSpPr/>
          <p:nvPr/>
        </p:nvSpPr>
        <p:spPr>
          <a:xfrm>
            <a:off x="3850111" y="2971227"/>
            <a:ext cx="504056" cy="444070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Ellipse 23"/>
          <p:cNvSpPr/>
          <p:nvPr/>
        </p:nvSpPr>
        <p:spPr>
          <a:xfrm>
            <a:off x="5036848" y="3008596"/>
            <a:ext cx="504056" cy="444070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5" name="Abgerundetes Rechteck 24"/>
          <p:cNvSpPr/>
          <p:nvPr/>
        </p:nvSpPr>
        <p:spPr>
          <a:xfrm>
            <a:off x="3059832" y="4005064"/>
            <a:ext cx="2952328" cy="57606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>
                <a:solidFill>
                  <a:srgbClr val="FF0000"/>
                </a:solidFill>
              </a:rPr>
              <a:t>Operatoren</a:t>
            </a:r>
          </a:p>
        </p:txBody>
      </p:sp>
      <p:cxnSp>
        <p:nvCxnSpPr>
          <p:cNvPr id="26" name="Gerade Verbindung 25"/>
          <p:cNvCxnSpPr>
            <a:stCxn id="25" idx="0"/>
            <a:endCxn id="23" idx="5"/>
          </p:cNvCxnSpPr>
          <p:nvPr/>
        </p:nvCxnSpPr>
        <p:spPr>
          <a:xfrm flipH="1" flipV="1">
            <a:off x="4280350" y="3350264"/>
            <a:ext cx="255646" cy="654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/>
          <p:cNvCxnSpPr>
            <a:stCxn id="25" idx="0"/>
            <a:endCxn id="24" idx="4"/>
          </p:cNvCxnSpPr>
          <p:nvPr/>
        </p:nvCxnSpPr>
        <p:spPr>
          <a:xfrm flipV="1">
            <a:off x="4535996" y="3452666"/>
            <a:ext cx="752880" cy="5523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/>
          <p:cNvSpPr/>
          <p:nvPr/>
        </p:nvSpPr>
        <p:spPr>
          <a:xfrm>
            <a:off x="2915816" y="2996952"/>
            <a:ext cx="504056" cy="444070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27" name="Gerade Verbindung 26"/>
          <p:cNvCxnSpPr>
            <a:stCxn id="25" idx="0"/>
            <a:endCxn id="22" idx="5"/>
          </p:cNvCxnSpPr>
          <p:nvPr/>
        </p:nvCxnSpPr>
        <p:spPr>
          <a:xfrm flipH="1" flipV="1">
            <a:off x="3346055" y="3375989"/>
            <a:ext cx="1189941" cy="6290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el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Ausdrücke</a:t>
            </a:r>
          </a:p>
        </p:txBody>
      </p:sp>
    </p:spTree>
    <p:extLst>
      <p:ext uri="{BB962C8B-B14F-4D97-AF65-F5344CB8AC3E}">
        <p14:creationId xmlns:p14="http://schemas.microsoft.com/office/powerpoint/2010/main" val="20797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0" grpId="0" animBg="1"/>
      <p:bldP spid="23" grpId="0" animBg="1"/>
      <p:bldP spid="24" grpId="0" animBg="1"/>
      <p:bldP spid="25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827584" y="2985205"/>
            <a:ext cx="5285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=   2  *  (  a  +  b  )   </a:t>
            </a:r>
          </a:p>
        </p:txBody>
      </p:sp>
      <p:sp>
        <p:nvSpPr>
          <p:cNvPr id="13" name="Abgerundetes Rechteck 12"/>
          <p:cNvSpPr/>
          <p:nvPr/>
        </p:nvSpPr>
        <p:spPr>
          <a:xfrm>
            <a:off x="3779912" y="2000088"/>
            <a:ext cx="1800200" cy="144016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Ausdruck</a:t>
            </a:r>
          </a:p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bgerundetes Rechteck 26"/>
          <p:cNvSpPr/>
          <p:nvPr/>
        </p:nvSpPr>
        <p:spPr>
          <a:xfrm>
            <a:off x="2663788" y="2789714"/>
            <a:ext cx="3060340" cy="1658646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A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Ausdruck</a:t>
            </a:r>
          </a:p>
        </p:txBody>
      </p:sp>
      <p:sp>
        <p:nvSpPr>
          <p:cNvPr id="12" name="Abgerundetes Rechteck 11"/>
          <p:cNvSpPr/>
          <p:nvPr/>
        </p:nvSpPr>
        <p:spPr>
          <a:xfrm>
            <a:off x="1403648" y="2780928"/>
            <a:ext cx="5760640" cy="838109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Ausdruck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Ausdrücke</a:t>
            </a:r>
          </a:p>
        </p:txBody>
      </p:sp>
    </p:spTree>
    <p:extLst>
      <p:ext uri="{BB962C8B-B14F-4D97-AF65-F5344CB8AC3E}">
        <p14:creationId xmlns:p14="http://schemas.microsoft.com/office/powerpoint/2010/main" val="153840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7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61927" y="1317302"/>
            <a:ext cx="73448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Ein arithmetischer Ausdruck besteht aus </a:t>
            </a:r>
            <a:r>
              <a:rPr lang="de-AT" i="1" dirty="0">
                <a:solidFill>
                  <a:srgbClr val="FF0000"/>
                </a:solidFill>
              </a:rPr>
              <a:t>arithmetischen Operatoren</a:t>
            </a:r>
            <a:r>
              <a:rPr lang="de-AT" dirty="0"/>
              <a:t>.</a:t>
            </a:r>
          </a:p>
          <a:p>
            <a:r>
              <a:rPr lang="de-AT" dirty="0"/>
              <a:t>Dabei wird ein Zahlenwert berechnet.</a:t>
            </a:r>
          </a:p>
          <a:p>
            <a:endParaRPr lang="de-AT" dirty="0"/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/>
              <a:t>		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Addition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/>
              <a:t>		Subtraktion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/>
              <a:t>	Multiplikation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Division</a:t>
            </a:r>
          </a:p>
          <a:p>
            <a:endParaRPr lang="de-AT" dirty="0"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Sind a und b ganzzahlige Datentypen, ist auch das Ergebnis einer Division eine ganze Zahl. Den Rest dieser Division kann man mit dem Modulo-Operator berechnen: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dirty="0" err="1"/>
              <a:t>Modulodivision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Arithmetische Operatoren</a:t>
            </a:r>
          </a:p>
        </p:txBody>
      </p:sp>
    </p:spTree>
    <p:extLst>
      <p:ext uri="{BB962C8B-B14F-4D97-AF65-F5344CB8AC3E}">
        <p14:creationId xmlns:p14="http://schemas.microsoft.com/office/powerpoint/2010/main" val="25935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043608" y="1628800"/>
            <a:ext cx="69847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Ein Zuweisungsoperator berechnet den Ausdruck auf der rechten Seite </a:t>
            </a:r>
            <a:br>
              <a:rPr lang="de-AT" dirty="0"/>
            </a:br>
            <a:r>
              <a:rPr lang="de-AT" dirty="0"/>
              <a:t>und kopiert den Wert in die Variable auf der linken Seite.</a:t>
            </a:r>
          </a:p>
          <a:p>
            <a:endParaRPr lang="de-AT" dirty="0"/>
          </a:p>
          <a:p>
            <a:endParaRPr lang="de-AT" dirty="0"/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 &lt;Variable&gt; 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&lt;Ausdruck&gt;</a:t>
            </a:r>
            <a:endParaRPr lang="de-AT" dirty="0"/>
          </a:p>
          <a:p>
            <a:endParaRPr lang="de-AT" dirty="0"/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2195736" y="3760009"/>
            <a:ext cx="1944216" cy="1008112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AT" dirty="0" err="1">
                <a:solidFill>
                  <a:schemeClr val="accent1">
                    <a:lumMod val="50000"/>
                  </a:schemeClr>
                </a:solidFill>
              </a:rPr>
              <a:t>leftvalue</a:t>
            </a:r>
            <a:endParaRPr lang="de-AT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de-AT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de-AT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4535996" y="3760009"/>
            <a:ext cx="1944216" cy="1008112"/>
          </a:xfrm>
          <a:prstGeom prst="round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err="1">
                <a:solidFill>
                  <a:schemeClr val="accent1">
                    <a:lumMod val="50000"/>
                  </a:schemeClr>
                </a:solidFill>
              </a:rPr>
              <a:t>rightvalue</a:t>
            </a:r>
            <a:endParaRPr lang="de-AT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de-AT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de-AT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Zuweisungsoperatoren</a:t>
            </a:r>
            <a:br>
              <a:rPr lang="de-AT" dirty="0"/>
            </a:b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7594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079612" y="1287132"/>
            <a:ext cx="69847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Sonderfälle (derzeit noch nicht wichtig!)</a:t>
            </a:r>
          </a:p>
          <a:p>
            <a:endParaRPr lang="de-AT" dirty="0"/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/>
              <a:t>	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+ 1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/>
              <a:t>	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- 1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+ 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- b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* b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/ b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 % b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Spezielle Zuweisungsoperatoren </a:t>
            </a:r>
          </a:p>
        </p:txBody>
      </p:sp>
    </p:spTree>
    <p:extLst>
      <p:ext uri="{BB962C8B-B14F-4D97-AF65-F5344CB8AC3E}">
        <p14:creationId xmlns:p14="http://schemas.microsoft.com/office/powerpoint/2010/main" val="3644560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079612" y="1268760"/>
            <a:ext cx="69847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Dabei wird der Wert von Operanden verglichen.</a:t>
            </a:r>
          </a:p>
          <a:p>
            <a:r>
              <a:rPr lang="de-AT" dirty="0"/>
              <a:t>Das Ergebnis ist immer ein Wahrheitswert vom Datentyp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de-AT" dirty="0"/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/>
              <a:t>	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gleich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/>
              <a:t>	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nicht gleich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größer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größer oder gleich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kleiner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kleiner oder gleich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3326"/>
            <a:ext cx="8229600" cy="1143000"/>
          </a:xfrm>
        </p:spPr>
        <p:txBody>
          <a:bodyPr>
            <a:normAutofit/>
          </a:bodyPr>
          <a:lstStyle/>
          <a:p>
            <a:r>
              <a:rPr lang="de-AT" sz="2400" dirty="0"/>
              <a:t>Logische Operatoren (relationale Operatoren = </a:t>
            </a:r>
            <a:r>
              <a:rPr lang="de-AT" sz="2400" dirty="0" err="1"/>
              <a:t>Vergleichsop</a:t>
            </a:r>
            <a:r>
              <a:rPr lang="de-AT" sz="2400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31658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395536" y="1772816"/>
            <a:ext cx="84906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Mehrere logische Ausdrucke können mit </a:t>
            </a:r>
            <a:r>
              <a:rPr lang="de-AT" i="1" dirty="0">
                <a:solidFill>
                  <a:srgbClr val="FF0000"/>
                </a:solidFill>
              </a:rPr>
              <a:t>logischen Verknüpfungs-Operatoren </a:t>
            </a:r>
            <a:r>
              <a:rPr lang="de-AT" dirty="0"/>
              <a:t>kombiniert werden.</a:t>
            </a:r>
          </a:p>
          <a:p>
            <a:r>
              <a:rPr lang="de-AT" dirty="0"/>
              <a:t>Dabei werden zwei Wahrheitswerte vom Datentyp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dirty="0"/>
              <a:t> verknüpft. Als Ergebnis wird wiederum </a:t>
            </a:r>
            <a:r>
              <a:rPr lang="de-AT"/>
              <a:t>ein Wahrheitswert </a:t>
            </a:r>
            <a:r>
              <a:rPr lang="de-AT" dirty="0"/>
              <a:t>(</a:t>
            </a:r>
            <a:r>
              <a:rPr lang="de-AT" dirty="0" err="1"/>
              <a:t>true</a:t>
            </a:r>
            <a:r>
              <a:rPr lang="de-AT" dirty="0"/>
              <a:t> oder </a:t>
            </a:r>
            <a:r>
              <a:rPr lang="de-AT" dirty="0" err="1"/>
              <a:t>false</a:t>
            </a:r>
            <a:r>
              <a:rPr lang="de-AT" dirty="0"/>
              <a:t>) geliefert.</a:t>
            </a:r>
          </a:p>
          <a:p>
            <a:endParaRPr lang="de-AT" dirty="0"/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UND (AND):	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/>
              <a:t>	ist nur </a:t>
            </a:r>
            <a:r>
              <a:rPr lang="de-AT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/>
              <a:t>, wenn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und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de-AT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>
                <a:solidFill>
                  <a:srgbClr val="00B050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sind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ODER (OR):	   a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/>
              <a:t>	ist nur </a:t>
            </a:r>
            <a:r>
              <a:rPr lang="de-AT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dirty="0"/>
              <a:t>, wenn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und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de-AT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dirty="0">
                <a:solidFill>
                  <a:srgbClr val="FF0000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sind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NICHT (NOT): </a:t>
            </a:r>
            <a:r>
              <a:rPr lang="de-AT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a	 </a:t>
            </a:r>
            <a:r>
              <a:rPr lang="de-AT" dirty="0"/>
              <a:t>	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ist </a:t>
            </a:r>
            <a:r>
              <a:rPr lang="de-AT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, wenn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dirty="0">
                <a:solidFill>
                  <a:srgbClr val="FF0000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ist</a:t>
            </a:r>
          </a:p>
          <a:p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				ist </a:t>
            </a:r>
            <a:r>
              <a:rPr lang="de-AT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, wenn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>
                <a:solidFill>
                  <a:srgbClr val="00B050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AT" dirty="0">
                <a:latin typeface="Calibri" panose="020F0502020204030204" pitchFamily="34" charset="0"/>
                <a:cs typeface="Courier New" panose="02070309020205020404" pitchFamily="49" charset="0"/>
              </a:rPr>
              <a:t>ist 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Logische Operatoren (Verknüpfungen)</a:t>
            </a:r>
          </a:p>
        </p:txBody>
      </p:sp>
    </p:spTree>
    <p:extLst>
      <p:ext uri="{BB962C8B-B14F-4D97-AF65-F5344CB8AC3E}">
        <p14:creationId xmlns:p14="http://schemas.microsoft.com/office/powerpoint/2010/main" val="1656100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899592" y="1628800"/>
            <a:ext cx="76328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Ein logischer Ausdruck besteht aus relationalen Operatoren und/oder logischen Operatoren und/oder weiteren logischen Ausdrucken.</a:t>
            </a:r>
          </a:p>
          <a:p>
            <a:endParaRPr lang="de-AT" dirty="0"/>
          </a:p>
          <a:p>
            <a:r>
              <a:rPr lang="de-AT" dirty="0"/>
              <a:t>Logische Ausdrucke ergeben den Wert </a:t>
            </a:r>
            <a:r>
              <a:rPr lang="de-AT" dirty="0" err="1"/>
              <a:t>true</a:t>
            </a:r>
            <a:r>
              <a:rPr lang="de-AT" dirty="0"/>
              <a:t> (wahr) oder </a:t>
            </a:r>
            <a:r>
              <a:rPr lang="de-AT" dirty="0" err="1"/>
              <a:t>false</a:t>
            </a:r>
            <a:r>
              <a:rPr lang="de-AT" dirty="0"/>
              <a:t> (falsch)!</a:t>
            </a:r>
          </a:p>
          <a:p>
            <a:endParaRPr lang="de-AT" dirty="0"/>
          </a:p>
          <a:p>
            <a:endParaRPr lang="de-AT" dirty="0"/>
          </a:p>
          <a:p>
            <a:r>
              <a:rPr lang="de-AT" dirty="0"/>
              <a:t>Bsp.: </a:t>
            </a:r>
          </a:p>
          <a:p>
            <a:endParaRPr lang="de-AT" dirty="0"/>
          </a:p>
          <a:p>
            <a:r>
              <a:rPr lang="de-AT" dirty="0" err="1"/>
              <a:t>bool</a:t>
            </a:r>
            <a:r>
              <a:rPr lang="de-AT" dirty="0"/>
              <a:t> </a:t>
            </a:r>
            <a:r>
              <a:rPr lang="de-AT" dirty="0" err="1"/>
              <a:t>result</a:t>
            </a:r>
            <a:r>
              <a:rPr lang="de-AT" dirty="0"/>
              <a:t> = (</a:t>
            </a:r>
            <a:r>
              <a:rPr lang="de-AT" dirty="0" err="1"/>
              <a:t>age</a:t>
            </a:r>
            <a:r>
              <a:rPr lang="de-AT" dirty="0"/>
              <a:t> &gt; 6) &amp;&amp; (</a:t>
            </a:r>
            <a:r>
              <a:rPr lang="de-AT" dirty="0" err="1"/>
              <a:t>age</a:t>
            </a:r>
            <a:r>
              <a:rPr lang="de-AT" dirty="0"/>
              <a:t>&lt;11);</a:t>
            </a:r>
          </a:p>
          <a:p>
            <a:endParaRPr lang="de-AT" dirty="0"/>
          </a:p>
          <a:p>
            <a:endParaRPr lang="de-AT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Logische Ausdruck</a:t>
            </a:r>
          </a:p>
        </p:txBody>
      </p:sp>
    </p:spTree>
    <p:extLst>
      <p:ext uri="{BB962C8B-B14F-4D97-AF65-F5344CB8AC3E}">
        <p14:creationId xmlns:p14="http://schemas.microsoft.com/office/powerpoint/2010/main" val="4175829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102140" y="1772816"/>
            <a:ext cx="707757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( (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coin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!= 5) &amp;&amp; (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coin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!= 10) &amp;&amp; (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coin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!= 20) )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("Ungültige Münze.");</a:t>
            </a:r>
          </a:p>
          <a:p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( (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speed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&lt; 0) || (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speed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&gt; 130) )</a:t>
            </a:r>
          </a:p>
          <a:p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("Ungültige Geschwindigkeit.");</a:t>
            </a:r>
          </a:p>
          <a:p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isFemale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= !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isMale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= !</a:t>
            </a:r>
            <a:r>
              <a:rPr lang="de-A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isFemale</a:t>
            </a:r>
            <a:r>
              <a:rPr lang="de-AT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de-A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dirty="0"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Beispiele – logische Ausdrücke </a:t>
            </a:r>
          </a:p>
        </p:txBody>
      </p:sp>
    </p:spTree>
    <p:extLst>
      <p:ext uri="{BB962C8B-B14F-4D97-AF65-F5344CB8AC3E}">
        <p14:creationId xmlns:p14="http://schemas.microsoft.com/office/powerpoint/2010/main" val="2503547699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308</Words>
  <Application>Microsoft Office PowerPoint</Application>
  <PresentationFormat>On-screen Show (4:3)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Courier New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Ausdrücke </vt:lpstr>
      <vt:lpstr>Ausdrücke</vt:lpstr>
      <vt:lpstr>Ausdrücke</vt:lpstr>
      <vt:lpstr>Arithmetische Operatoren</vt:lpstr>
      <vt:lpstr>Zuweisungsoperatoren </vt:lpstr>
      <vt:lpstr>Spezielle Zuweisungsoperatoren </vt:lpstr>
      <vt:lpstr>Logische Operatoren (relationale Operatoren = Vergleichsop.)</vt:lpstr>
      <vt:lpstr>Logische Operatoren (Verknüpfungen)</vt:lpstr>
      <vt:lpstr>Logische Ausdruck</vt:lpstr>
      <vt:lpstr>Beispiele – logische Ausdrücke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r.obermueller@eduhi.at</dc:creator>
  <cp:lastModifiedBy>Michael Bucek</cp:lastModifiedBy>
  <cp:revision>83</cp:revision>
  <dcterms:created xsi:type="dcterms:W3CDTF">2013-05-11T11:25:57Z</dcterms:created>
  <dcterms:modified xsi:type="dcterms:W3CDTF">2018-10-23T11:18:30Z</dcterms:modified>
</cp:coreProperties>
</file>