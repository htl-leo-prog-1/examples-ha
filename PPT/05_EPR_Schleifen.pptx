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63" r:id="rId2"/>
    <p:sldId id="278" r:id="rId3"/>
    <p:sldId id="275" r:id="rId4"/>
    <p:sldId id="281" r:id="rId5"/>
    <p:sldId id="282" r:id="rId6"/>
    <p:sldId id="283" r:id="rId7"/>
    <p:sldId id="277" r:id="rId8"/>
    <p:sldId id="267" r:id="rId9"/>
    <p:sldId id="279" r:id="rId10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00FF00"/>
    <a:srgbClr val="79BB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014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36932-01FD-45AF-B110-84880AA37D65}" type="datetimeFigureOut">
              <a:rPr lang="de-AT" smtClean="0"/>
              <a:t>14.11.2017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364C66-90D0-45FE-9B3B-EB18F2272AED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47484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920158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  <a:p>
            <a:pPr lvl="4"/>
            <a:r>
              <a:rPr lang="en-US" dirty="0" smtClean="0"/>
              <a:t>Fünfte Ebene</a:t>
            </a:r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2856774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 smtClean="0"/>
              <a:t>Textmasterformate durch Klicken bearbeiten</a:t>
            </a:r>
          </a:p>
          <a:p>
            <a:pPr lvl="1"/>
            <a:r>
              <a:rPr lang="en-US" dirty="0" smtClean="0"/>
              <a:t>Zweite Ebene</a:t>
            </a:r>
          </a:p>
          <a:p>
            <a:pPr lvl="2"/>
            <a:r>
              <a:rPr lang="en-US" dirty="0" smtClean="0"/>
              <a:t>Dritte Ebene</a:t>
            </a:r>
          </a:p>
          <a:p>
            <a:pPr lvl="3"/>
            <a:r>
              <a:rPr lang="en-US" dirty="0" smtClean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2009033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 smtClean="0"/>
              <a:t>Titelmasterformat durch Klicken bearbeiten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335034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2673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3309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0246" name="Grafik 6"/>
          <p:cNvPicPr>
            <a:picLocks noChangeAspect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smtClean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11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539552" y="1124744"/>
            <a:ext cx="78492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i="1" dirty="0" smtClean="0"/>
              <a:t>Kopfgesteuerte Schleife - Abweisende Schleife</a:t>
            </a:r>
          </a:p>
          <a:p>
            <a:r>
              <a:rPr lang="de-AT" dirty="0"/>
              <a:t>Die </a:t>
            </a:r>
            <a:r>
              <a:rPr lang="de-AT" dirty="0">
                <a:solidFill>
                  <a:srgbClr val="CC3300"/>
                </a:solidFill>
              </a:rPr>
              <a:t>&lt;</a:t>
            </a:r>
            <a:r>
              <a:rPr lang="de-AT" i="1" dirty="0">
                <a:solidFill>
                  <a:srgbClr val="CC3300"/>
                </a:solidFill>
              </a:rPr>
              <a:t>Anweisungen&gt;</a:t>
            </a:r>
            <a:r>
              <a:rPr lang="de-AT" dirty="0">
                <a:solidFill>
                  <a:srgbClr val="CC3300"/>
                </a:solidFill>
              </a:rPr>
              <a:t> </a:t>
            </a:r>
            <a:r>
              <a:rPr lang="de-AT" dirty="0" smtClean="0"/>
              <a:t>werden ausgeführt, solange eine </a:t>
            </a:r>
            <a:r>
              <a:rPr lang="de-AT" dirty="0" smtClean="0">
                <a:solidFill>
                  <a:srgbClr val="FF0000"/>
                </a:solidFill>
              </a:rPr>
              <a:t>&lt;</a:t>
            </a:r>
            <a:r>
              <a:rPr lang="de-AT" i="1" dirty="0" smtClean="0">
                <a:solidFill>
                  <a:srgbClr val="FF0000"/>
                </a:solidFill>
              </a:rPr>
              <a:t>Bedingung&gt;</a:t>
            </a:r>
            <a:r>
              <a:rPr lang="de-AT" dirty="0" smtClean="0"/>
              <a:t> zutrifft.</a:t>
            </a:r>
          </a:p>
          <a:p>
            <a:r>
              <a:rPr lang="de-AT" dirty="0" smtClean="0"/>
              <a:t>Die Bedingung wird zu Beginn jedes Schleifendurchlaufs geprüft. </a:t>
            </a:r>
            <a:endParaRPr lang="de-AT" dirty="0"/>
          </a:p>
        </p:txBody>
      </p:sp>
      <p:sp>
        <p:nvSpPr>
          <p:cNvPr id="21" name="Titel 2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/>
          <a:p>
            <a:r>
              <a:rPr lang="de-AT" dirty="0" smtClean="0"/>
              <a:t>Schleifen (Iterationen)</a:t>
            </a:r>
            <a:endParaRPr lang="de-AT" dirty="0"/>
          </a:p>
        </p:txBody>
      </p:sp>
      <p:pic>
        <p:nvPicPr>
          <p:cNvPr id="26" name="Grafik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2564904"/>
            <a:ext cx="3267075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897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683568" y="1628800"/>
            <a:ext cx="74532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i="1" dirty="0"/>
              <a:t>Kopfgesteuerte </a:t>
            </a:r>
            <a:r>
              <a:rPr lang="de-AT" b="1" i="1" dirty="0" smtClean="0"/>
              <a:t>Schleife - Abweisende Schleife</a:t>
            </a:r>
            <a:endParaRPr lang="de-AT" b="1" i="1" dirty="0"/>
          </a:p>
          <a:p>
            <a:r>
              <a:rPr lang="de-AT" dirty="0"/>
              <a:t>Die </a:t>
            </a:r>
            <a:r>
              <a:rPr lang="de-AT" dirty="0">
                <a:solidFill>
                  <a:srgbClr val="CC3300"/>
                </a:solidFill>
              </a:rPr>
              <a:t>&lt;</a:t>
            </a:r>
            <a:r>
              <a:rPr lang="de-AT" i="1" dirty="0">
                <a:solidFill>
                  <a:srgbClr val="CC3300"/>
                </a:solidFill>
              </a:rPr>
              <a:t>Anweisungen&gt;</a:t>
            </a:r>
            <a:r>
              <a:rPr lang="de-AT" dirty="0">
                <a:solidFill>
                  <a:srgbClr val="CC3300"/>
                </a:solidFill>
              </a:rPr>
              <a:t> </a:t>
            </a:r>
            <a:r>
              <a:rPr lang="de-AT" dirty="0"/>
              <a:t>werden ausgeführt, solange eine </a:t>
            </a:r>
            <a:r>
              <a:rPr lang="de-AT" dirty="0">
                <a:solidFill>
                  <a:srgbClr val="FF0000"/>
                </a:solidFill>
              </a:rPr>
              <a:t>&lt;</a:t>
            </a:r>
            <a:r>
              <a:rPr lang="de-AT" i="1" dirty="0">
                <a:solidFill>
                  <a:srgbClr val="FF0000"/>
                </a:solidFill>
              </a:rPr>
              <a:t>Bedingung&gt;</a:t>
            </a:r>
            <a:r>
              <a:rPr lang="de-AT" dirty="0"/>
              <a:t> zutrifft.</a:t>
            </a:r>
          </a:p>
        </p:txBody>
      </p:sp>
      <p:sp>
        <p:nvSpPr>
          <p:cNvPr id="3" name="Textfeld 2"/>
          <p:cNvSpPr txBox="1"/>
          <p:nvPr/>
        </p:nvSpPr>
        <p:spPr>
          <a:xfrm>
            <a:off x="1487551" y="2780928"/>
            <a:ext cx="2816797" cy="2031325"/>
          </a:xfrm>
          <a:prstGeom prst="rect">
            <a:avLst/>
          </a:prstGeom>
          <a:noFill/>
          <a:ln w="22225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endParaRPr lang="de-AT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 </a:t>
            </a:r>
            <a:r>
              <a:rPr lang="de-AT" b="1" i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de-AT" i="1" dirty="0" smtClean="0">
                <a:solidFill>
                  <a:srgbClr val="FF0000"/>
                </a:solidFill>
                <a:cs typeface="Courier New" panose="02070309020205020404" pitchFamily="49" charset="0"/>
              </a:rPr>
              <a:t>Bedingung&gt;</a:t>
            </a:r>
            <a:r>
              <a:rPr lang="de-AT" b="1" i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de-AT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AT" b="1" i="1" dirty="0" smtClean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de-AT" i="1" dirty="0" smtClean="0">
                <a:solidFill>
                  <a:srgbClr val="CC3300"/>
                </a:solidFill>
                <a:cs typeface="Courier New" panose="02070309020205020404" pitchFamily="49" charset="0"/>
              </a:rPr>
              <a:t>Anweisungen&gt;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Abgerundetes Rechteck 10"/>
          <p:cNvSpPr/>
          <p:nvPr/>
        </p:nvSpPr>
        <p:spPr>
          <a:xfrm>
            <a:off x="1187624" y="2969077"/>
            <a:ext cx="6840760" cy="577805"/>
          </a:xfrm>
          <a:prstGeom prst="roundRect">
            <a:avLst/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AT" dirty="0" smtClean="0">
                <a:solidFill>
                  <a:schemeClr val="tx1"/>
                </a:solidFill>
              </a:rPr>
              <a:t>Schleifenkopf</a:t>
            </a:r>
            <a:endParaRPr lang="de-AT" dirty="0">
              <a:solidFill>
                <a:schemeClr val="tx1"/>
              </a:solidFill>
            </a:endParaRPr>
          </a:p>
        </p:txBody>
      </p:sp>
      <p:sp>
        <p:nvSpPr>
          <p:cNvPr id="13" name="Abgerundetes Rechteck 12"/>
          <p:cNvSpPr/>
          <p:nvPr/>
        </p:nvSpPr>
        <p:spPr>
          <a:xfrm>
            <a:off x="1187624" y="3645024"/>
            <a:ext cx="6840760" cy="999728"/>
          </a:xfrm>
          <a:prstGeom prst="roundRect">
            <a:avLst/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AT" dirty="0" smtClean="0">
                <a:solidFill>
                  <a:schemeClr val="tx1"/>
                </a:solidFill>
              </a:rPr>
              <a:t>Schleifenrumpf (Schleifenkörper)</a:t>
            </a:r>
            <a:endParaRPr lang="de-AT" dirty="0">
              <a:solidFill>
                <a:schemeClr val="tx1"/>
              </a:solidFill>
            </a:endParaRPr>
          </a:p>
        </p:txBody>
      </p:sp>
      <p:sp>
        <p:nvSpPr>
          <p:cNvPr id="15" name="Titel 2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/>
          <a:p>
            <a:r>
              <a:rPr lang="de-AT" dirty="0" err="1"/>
              <a:t>w</a:t>
            </a:r>
            <a:r>
              <a:rPr lang="de-AT" dirty="0" err="1" smtClean="0"/>
              <a:t>hile</a:t>
            </a:r>
            <a:r>
              <a:rPr lang="de-AT" dirty="0" smtClean="0"/>
              <a:t>-Schleife (kopfgesteuert)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777802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614879" y="1509461"/>
            <a:ext cx="74532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i="1" dirty="0"/>
              <a:t>Kopfgesteuerte </a:t>
            </a:r>
            <a:r>
              <a:rPr lang="de-AT" b="1" i="1" dirty="0" smtClean="0"/>
              <a:t>Schleife - Abweisende Schleife</a:t>
            </a:r>
            <a:endParaRPr lang="de-AT" b="1" i="1" dirty="0"/>
          </a:p>
          <a:p>
            <a:r>
              <a:rPr lang="de-AT" dirty="0"/>
              <a:t>Die </a:t>
            </a:r>
            <a:r>
              <a:rPr lang="de-AT" dirty="0">
                <a:solidFill>
                  <a:srgbClr val="CC3300"/>
                </a:solidFill>
              </a:rPr>
              <a:t>&lt;</a:t>
            </a:r>
            <a:r>
              <a:rPr lang="de-AT" i="1" dirty="0">
                <a:solidFill>
                  <a:srgbClr val="CC3300"/>
                </a:solidFill>
              </a:rPr>
              <a:t>Anweisungen&gt;</a:t>
            </a:r>
            <a:r>
              <a:rPr lang="de-AT" dirty="0">
                <a:solidFill>
                  <a:srgbClr val="CC3300"/>
                </a:solidFill>
              </a:rPr>
              <a:t> </a:t>
            </a:r>
            <a:r>
              <a:rPr lang="de-AT" dirty="0"/>
              <a:t>werden ausgeführt, solange eine </a:t>
            </a:r>
            <a:r>
              <a:rPr lang="de-AT" dirty="0">
                <a:solidFill>
                  <a:srgbClr val="FF0000"/>
                </a:solidFill>
              </a:rPr>
              <a:t>&lt;</a:t>
            </a:r>
            <a:r>
              <a:rPr lang="de-AT" i="1" dirty="0">
                <a:solidFill>
                  <a:srgbClr val="FF0000"/>
                </a:solidFill>
              </a:rPr>
              <a:t>Bedingung&gt;</a:t>
            </a:r>
            <a:r>
              <a:rPr lang="de-AT" dirty="0"/>
              <a:t> zutrifft.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755576" y="2924944"/>
            <a:ext cx="735329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tring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Console.ReadLine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mark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Convert.ToInt32(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mark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&gt; 5 )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("Die Note ist nicht möglich.");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Console.ReadLine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mark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= Convert.ToInt32(</a:t>
            </a:r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while</a:t>
            </a:r>
            <a:r>
              <a:rPr lang="de-AT" dirty="0"/>
              <a:t>-Schleife (kopfgesteuert)</a:t>
            </a:r>
          </a:p>
        </p:txBody>
      </p:sp>
    </p:spTree>
    <p:extLst>
      <p:ext uri="{BB962C8B-B14F-4D97-AF65-F5344CB8AC3E}">
        <p14:creationId xmlns:p14="http://schemas.microsoft.com/office/powerpoint/2010/main" val="3697233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647367" y="983600"/>
            <a:ext cx="784926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i="1" dirty="0" smtClean="0"/>
              <a:t>Fußgesteuerte Schleife - Nichtabweisende Schleife</a:t>
            </a:r>
          </a:p>
          <a:p>
            <a:r>
              <a:rPr lang="de-AT" dirty="0"/>
              <a:t>Die </a:t>
            </a:r>
            <a:r>
              <a:rPr lang="de-AT" dirty="0">
                <a:solidFill>
                  <a:srgbClr val="CC3300"/>
                </a:solidFill>
              </a:rPr>
              <a:t>&lt;</a:t>
            </a:r>
            <a:r>
              <a:rPr lang="de-AT" i="1" dirty="0">
                <a:solidFill>
                  <a:srgbClr val="CC3300"/>
                </a:solidFill>
              </a:rPr>
              <a:t>Anweisungen&gt;</a:t>
            </a:r>
            <a:r>
              <a:rPr lang="de-AT" dirty="0">
                <a:solidFill>
                  <a:srgbClr val="CC3300"/>
                </a:solidFill>
              </a:rPr>
              <a:t> </a:t>
            </a:r>
            <a:r>
              <a:rPr lang="de-AT" dirty="0" smtClean="0"/>
              <a:t>werden ausgeführt, solange eine </a:t>
            </a:r>
            <a:r>
              <a:rPr lang="de-AT" dirty="0" smtClean="0">
                <a:solidFill>
                  <a:srgbClr val="FF0000"/>
                </a:solidFill>
              </a:rPr>
              <a:t>&lt;</a:t>
            </a:r>
            <a:r>
              <a:rPr lang="de-AT" i="1" dirty="0" smtClean="0">
                <a:solidFill>
                  <a:srgbClr val="FF0000"/>
                </a:solidFill>
              </a:rPr>
              <a:t>Bedingung&gt;</a:t>
            </a:r>
            <a:r>
              <a:rPr lang="de-AT" dirty="0" smtClean="0"/>
              <a:t> zutrifft.</a:t>
            </a:r>
          </a:p>
          <a:p>
            <a:r>
              <a:rPr lang="de-AT" dirty="0" smtClean="0"/>
              <a:t>Prüfung der Bedingung am Ende jedes Schleifendurchlaufs!</a:t>
            </a:r>
          </a:p>
          <a:p>
            <a:endParaRPr lang="de-AT" dirty="0"/>
          </a:p>
          <a:p>
            <a:r>
              <a:rPr lang="de-AT" dirty="0" smtClean="0"/>
              <a:t>Die fußgesteuerte Schleife wird somit mindestens einmal durchlaufen.</a:t>
            </a:r>
            <a:endParaRPr lang="de-AT" dirty="0"/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while</a:t>
            </a:r>
            <a:r>
              <a:rPr lang="de-AT" dirty="0"/>
              <a:t>-Schleife </a:t>
            </a:r>
            <a:r>
              <a:rPr lang="de-AT" dirty="0" smtClean="0"/>
              <a:t>(fußgesteuert)</a:t>
            </a:r>
            <a:endParaRPr lang="de-AT" dirty="0"/>
          </a:p>
        </p:txBody>
      </p:sp>
      <p:pic>
        <p:nvPicPr>
          <p:cNvPr id="13" name="Grafik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2708920"/>
            <a:ext cx="3343275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355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845370" y="1243007"/>
            <a:ext cx="74532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i="1" dirty="0" smtClean="0"/>
              <a:t>Fußgesteuerte Schleife - </a:t>
            </a:r>
            <a:r>
              <a:rPr lang="de-AT" b="1" i="1" dirty="0"/>
              <a:t>Nichtabweisende Schleife</a:t>
            </a:r>
          </a:p>
          <a:p>
            <a:r>
              <a:rPr lang="de-AT" dirty="0"/>
              <a:t>Die </a:t>
            </a:r>
            <a:r>
              <a:rPr lang="de-AT" dirty="0">
                <a:solidFill>
                  <a:srgbClr val="CC3300"/>
                </a:solidFill>
              </a:rPr>
              <a:t>&lt;</a:t>
            </a:r>
            <a:r>
              <a:rPr lang="de-AT" i="1" dirty="0">
                <a:solidFill>
                  <a:srgbClr val="CC3300"/>
                </a:solidFill>
              </a:rPr>
              <a:t>Anweisungen&gt;</a:t>
            </a:r>
            <a:r>
              <a:rPr lang="de-AT" dirty="0">
                <a:solidFill>
                  <a:srgbClr val="CC3300"/>
                </a:solidFill>
              </a:rPr>
              <a:t> </a:t>
            </a:r>
            <a:r>
              <a:rPr lang="de-AT" dirty="0"/>
              <a:t>werden ausgeführt, solange eine </a:t>
            </a:r>
            <a:r>
              <a:rPr lang="de-AT" dirty="0">
                <a:solidFill>
                  <a:srgbClr val="FF0000"/>
                </a:solidFill>
              </a:rPr>
              <a:t>&lt;</a:t>
            </a:r>
            <a:r>
              <a:rPr lang="de-AT" i="1" dirty="0">
                <a:solidFill>
                  <a:srgbClr val="FF0000"/>
                </a:solidFill>
              </a:rPr>
              <a:t>Bedingung&gt;</a:t>
            </a:r>
            <a:r>
              <a:rPr lang="de-AT" dirty="0"/>
              <a:t> zutrifft.</a:t>
            </a:r>
          </a:p>
        </p:txBody>
      </p:sp>
      <p:sp>
        <p:nvSpPr>
          <p:cNvPr id="3" name="Textfeld 2"/>
          <p:cNvSpPr txBox="1"/>
          <p:nvPr/>
        </p:nvSpPr>
        <p:spPr>
          <a:xfrm>
            <a:off x="1547664" y="2430181"/>
            <a:ext cx="3230372" cy="2031325"/>
          </a:xfrm>
          <a:prstGeom prst="rect">
            <a:avLst/>
          </a:prstGeom>
          <a:noFill/>
          <a:ln w="22225">
            <a:solidFill>
              <a:schemeClr val="accent1">
                <a:shade val="50000"/>
              </a:schemeClr>
            </a:solidFill>
          </a:ln>
        </p:spPr>
        <p:txBody>
          <a:bodyPr wrap="none" rtlCol="0">
            <a:spAutoFit/>
          </a:bodyPr>
          <a:lstStyle/>
          <a:p>
            <a:endParaRPr lang="de-AT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AT" b="1" i="1" dirty="0" smtClean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de-AT" i="1" dirty="0" smtClean="0">
                <a:solidFill>
                  <a:srgbClr val="CC3300"/>
                </a:solidFill>
                <a:cs typeface="Courier New" panose="02070309020205020404" pitchFamily="49" charset="0"/>
              </a:rPr>
              <a:t>Anweisungen&gt;</a:t>
            </a:r>
          </a:p>
          <a:p>
            <a:endParaRPr lang="de-AT" i="1" dirty="0" smtClean="0">
              <a:solidFill>
                <a:srgbClr val="CC3300"/>
              </a:solidFill>
              <a:cs typeface="Courier New" panose="02070309020205020404" pitchFamily="49" charset="0"/>
            </a:endParaRP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( </a:t>
            </a:r>
            <a:r>
              <a:rPr lang="de-AT" b="1" i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de-AT" i="1" dirty="0">
                <a:solidFill>
                  <a:srgbClr val="FF0000"/>
                </a:solidFill>
                <a:cs typeface="Courier New" panose="02070309020205020404" pitchFamily="49" charset="0"/>
              </a:rPr>
              <a:t>Bedingung&gt;</a:t>
            </a:r>
            <a:r>
              <a:rPr lang="de-AT" b="1" i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AT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Abgerundetes Rechteck 10"/>
          <p:cNvSpPr/>
          <p:nvPr/>
        </p:nvSpPr>
        <p:spPr>
          <a:xfrm>
            <a:off x="1319744" y="3704710"/>
            <a:ext cx="7212695" cy="577805"/>
          </a:xfrm>
          <a:prstGeom prst="roundRect">
            <a:avLst/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AT" smtClean="0">
                <a:solidFill>
                  <a:schemeClr val="tx1"/>
                </a:solidFill>
              </a:rPr>
              <a:t>Schleifenfuß</a:t>
            </a:r>
            <a:endParaRPr lang="de-AT" dirty="0">
              <a:solidFill>
                <a:schemeClr val="tx1"/>
              </a:solidFill>
            </a:endParaRPr>
          </a:p>
        </p:txBody>
      </p:sp>
      <p:sp>
        <p:nvSpPr>
          <p:cNvPr id="13" name="Abgerundetes Rechteck 12"/>
          <p:cNvSpPr/>
          <p:nvPr/>
        </p:nvSpPr>
        <p:spPr>
          <a:xfrm>
            <a:off x="1319744" y="2584615"/>
            <a:ext cx="7212696" cy="999728"/>
          </a:xfrm>
          <a:prstGeom prst="roundRect">
            <a:avLst/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AT" dirty="0" smtClean="0">
                <a:solidFill>
                  <a:schemeClr val="tx1"/>
                </a:solidFill>
              </a:rPr>
              <a:t>Schleifenrumpf (</a:t>
            </a:r>
            <a:r>
              <a:rPr lang="de-AT" dirty="0" err="1" smtClean="0">
                <a:solidFill>
                  <a:schemeClr val="tx1"/>
                </a:solidFill>
              </a:rPr>
              <a:t>Scheifenkörper</a:t>
            </a:r>
            <a:r>
              <a:rPr lang="de-AT" dirty="0" smtClean="0">
                <a:solidFill>
                  <a:schemeClr val="tx1"/>
                </a:solidFill>
              </a:rPr>
              <a:t>)</a:t>
            </a:r>
            <a:endParaRPr lang="de-AT" dirty="0">
              <a:solidFill>
                <a:schemeClr val="tx1"/>
              </a:solidFill>
            </a:endParaRP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while</a:t>
            </a:r>
            <a:r>
              <a:rPr lang="de-AT" dirty="0"/>
              <a:t>-Schleife (fußgesteuert)</a:t>
            </a:r>
          </a:p>
        </p:txBody>
      </p:sp>
    </p:spTree>
    <p:extLst>
      <p:ext uri="{BB962C8B-B14F-4D97-AF65-F5344CB8AC3E}">
        <p14:creationId xmlns:p14="http://schemas.microsoft.com/office/powerpoint/2010/main" val="1413605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683501" y="1234604"/>
            <a:ext cx="74532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i="1" dirty="0"/>
              <a:t>Fußgesteuerte Schleife - Nichtabweisende Schleife</a:t>
            </a:r>
          </a:p>
          <a:p>
            <a:r>
              <a:rPr lang="de-AT" dirty="0" smtClean="0"/>
              <a:t>Die </a:t>
            </a:r>
            <a:r>
              <a:rPr lang="de-AT" dirty="0">
                <a:solidFill>
                  <a:srgbClr val="CC3300"/>
                </a:solidFill>
              </a:rPr>
              <a:t>&lt;</a:t>
            </a:r>
            <a:r>
              <a:rPr lang="de-AT" i="1" dirty="0">
                <a:solidFill>
                  <a:srgbClr val="CC3300"/>
                </a:solidFill>
              </a:rPr>
              <a:t>Anweisungen&gt;</a:t>
            </a:r>
            <a:r>
              <a:rPr lang="de-AT" dirty="0">
                <a:solidFill>
                  <a:srgbClr val="CC3300"/>
                </a:solidFill>
              </a:rPr>
              <a:t> </a:t>
            </a:r>
            <a:r>
              <a:rPr lang="de-AT" dirty="0"/>
              <a:t>werden ausgeführt, solange eine </a:t>
            </a:r>
            <a:r>
              <a:rPr lang="de-AT" dirty="0">
                <a:solidFill>
                  <a:srgbClr val="FF0000"/>
                </a:solidFill>
              </a:rPr>
              <a:t>&lt;</a:t>
            </a:r>
            <a:r>
              <a:rPr lang="de-AT" i="1" dirty="0">
                <a:solidFill>
                  <a:srgbClr val="FF0000"/>
                </a:solidFill>
              </a:rPr>
              <a:t>Bedingung&gt;</a:t>
            </a:r>
            <a:r>
              <a:rPr lang="de-AT" dirty="0"/>
              <a:t> zutrifft.</a:t>
            </a:r>
          </a:p>
        </p:txBody>
      </p:sp>
      <p:sp>
        <p:nvSpPr>
          <p:cNvPr id="10" name="Textfeld 9"/>
          <p:cNvSpPr txBox="1"/>
          <p:nvPr/>
        </p:nvSpPr>
        <p:spPr>
          <a:xfrm>
            <a:off x="1187624" y="2170708"/>
            <a:ext cx="625042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nt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price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tring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nt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0,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(„Preis(0 für Ende): ");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Console.ReadLine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price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Convert.ToInt32(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price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&gt; 0 )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{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price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price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!= 0 );</a:t>
            </a:r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while</a:t>
            </a:r>
            <a:r>
              <a:rPr lang="de-AT" dirty="0"/>
              <a:t>-Schleife (fußgesteuert)</a:t>
            </a:r>
          </a:p>
        </p:txBody>
      </p:sp>
    </p:spTree>
    <p:extLst>
      <p:ext uri="{BB962C8B-B14F-4D97-AF65-F5344CB8AC3E}">
        <p14:creationId xmlns:p14="http://schemas.microsoft.com/office/powerpoint/2010/main" val="2819834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594600" y="1073147"/>
            <a:ext cx="66967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b="1" i="1" dirty="0" smtClean="0"/>
              <a:t>Kopfgesteuerte Schleife – Zählschleife</a:t>
            </a:r>
          </a:p>
          <a:p>
            <a:r>
              <a:rPr lang="de-AT" dirty="0" smtClean="0"/>
              <a:t>Die </a:t>
            </a:r>
            <a:r>
              <a:rPr lang="de-AT" dirty="0" err="1" smtClean="0"/>
              <a:t>for</a:t>
            </a:r>
            <a:r>
              <a:rPr lang="de-AT" dirty="0" smtClean="0"/>
              <a:t>-Schleife ist eine spezielle kopfgesteuerte Schleife.</a:t>
            </a:r>
          </a:p>
          <a:p>
            <a:r>
              <a:rPr lang="de-AT" dirty="0" smtClean="0"/>
              <a:t>Der Schleifenkopf beinhaltet einen Initialisierungsteil, einen Bedingungsteil und einen </a:t>
            </a:r>
            <a:r>
              <a:rPr lang="de-AT" dirty="0" err="1" smtClean="0"/>
              <a:t>Inkrementierungsteil</a:t>
            </a:r>
            <a:r>
              <a:rPr lang="de-AT" dirty="0" smtClean="0"/>
              <a:t>.</a:t>
            </a:r>
          </a:p>
          <a:p>
            <a:endParaRPr lang="de-AT" dirty="0" smtClean="0"/>
          </a:p>
          <a:p>
            <a:endParaRPr lang="de-AT" dirty="0" smtClean="0"/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 smtClean="0"/>
              <a:t>for</a:t>
            </a:r>
            <a:r>
              <a:rPr lang="de-AT" dirty="0" smtClean="0"/>
              <a:t>-Schleife (Zählschleife)</a:t>
            </a:r>
            <a:endParaRPr lang="de-AT" dirty="0"/>
          </a:p>
        </p:txBody>
      </p:sp>
      <p:pic>
        <p:nvPicPr>
          <p:cNvPr id="16" name="Grafik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2348880"/>
            <a:ext cx="2971800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879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241295" y="1529494"/>
            <a:ext cx="866141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i="1" dirty="0"/>
              <a:t>Kopfgesteuerte </a:t>
            </a:r>
            <a:r>
              <a:rPr lang="de-AT" b="1" i="1" dirty="0" smtClean="0"/>
              <a:t>Schleife - Zählschleife</a:t>
            </a:r>
            <a:endParaRPr lang="de-AT" b="1" i="1" dirty="0"/>
          </a:p>
          <a:p>
            <a:r>
              <a:rPr lang="de-AT" dirty="0"/>
              <a:t>Die </a:t>
            </a:r>
            <a:r>
              <a:rPr lang="de-AT" dirty="0">
                <a:solidFill>
                  <a:srgbClr val="CC3300"/>
                </a:solidFill>
              </a:rPr>
              <a:t>&lt;</a:t>
            </a:r>
            <a:r>
              <a:rPr lang="de-AT" i="1" dirty="0">
                <a:solidFill>
                  <a:srgbClr val="CC3300"/>
                </a:solidFill>
              </a:rPr>
              <a:t>Anweisungen&gt;</a:t>
            </a:r>
            <a:r>
              <a:rPr lang="de-AT" dirty="0">
                <a:solidFill>
                  <a:srgbClr val="CC3300"/>
                </a:solidFill>
              </a:rPr>
              <a:t> </a:t>
            </a:r>
            <a:r>
              <a:rPr lang="de-AT" dirty="0"/>
              <a:t>werden ausgeführt, solange eine </a:t>
            </a:r>
            <a:r>
              <a:rPr lang="de-AT" dirty="0">
                <a:solidFill>
                  <a:srgbClr val="FF0000"/>
                </a:solidFill>
              </a:rPr>
              <a:t>&lt;</a:t>
            </a:r>
            <a:r>
              <a:rPr lang="de-AT" i="1" dirty="0">
                <a:solidFill>
                  <a:srgbClr val="FF0000"/>
                </a:solidFill>
              </a:rPr>
              <a:t>Bedingung&gt;</a:t>
            </a:r>
            <a:r>
              <a:rPr lang="de-AT" dirty="0"/>
              <a:t> zutrifft</a:t>
            </a:r>
            <a:r>
              <a:rPr lang="de-AT" dirty="0" smtClean="0"/>
              <a:t>.</a:t>
            </a:r>
          </a:p>
          <a:p>
            <a:r>
              <a:rPr lang="de-AT" dirty="0" smtClean="0"/>
              <a:t>Vor der ersten Prüfung der Schleifenbedingung wird die </a:t>
            </a:r>
            <a:r>
              <a:rPr lang="de-AT" i="1" dirty="0" smtClean="0">
                <a:solidFill>
                  <a:srgbClr val="92D050"/>
                </a:solidFill>
              </a:rPr>
              <a:t>&lt;Anweisung1&gt; </a:t>
            </a:r>
            <a:r>
              <a:rPr lang="de-AT" i="1" dirty="0" smtClean="0"/>
              <a:t>ausgeführt</a:t>
            </a:r>
            <a:r>
              <a:rPr lang="de-AT" dirty="0" smtClean="0"/>
              <a:t>.</a:t>
            </a:r>
          </a:p>
          <a:p>
            <a:r>
              <a:rPr lang="de-AT" dirty="0" smtClean="0"/>
              <a:t>Die Bedingung wird vor jedem Durchlauf des Rumpfes geprüft.</a:t>
            </a:r>
          </a:p>
          <a:p>
            <a:r>
              <a:rPr lang="de-AT" dirty="0"/>
              <a:t>N</a:t>
            </a:r>
            <a:r>
              <a:rPr lang="de-AT" dirty="0" smtClean="0"/>
              <a:t>ach jedem Durchlauf des Schleifenrumpfs wird die </a:t>
            </a:r>
            <a:r>
              <a:rPr lang="de-AT" i="1" dirty="0" smtClean="0">
                <a:solidFill>
                  <a:srgbClr val="92D050"/>
                </a:solidFill>
              </a:rPr>
              <a:t>&lt;Anweisung2&gt;</a:t>
            </a:r>
            <a:r>
              <a:rPr lang="de-AT" dirty="0" smtClean="0"/>
              <a:t> ausgeführt.</a:t>
            </a:r>
            <a:endParaRPr lang="de-AT" dirty="0"/>
          </a:p>
        </p:txBody>
      </p:sp>
      <p:sp>
        <p:nvSpPr>
          <p:cNvPr id="3" name="Textfeld 2"/>
          <p:cNvSpPr txBox="1"/>
          <p:nvPr/>
        </p:nvSpPr>
        <p:spPr>
          <a:xfrm>
            <a:off x="539552" y="4133979"/>
            <a:ext cx="6768753" cy="2031325"/>
          </a:xfrm>
          <a:prstGeom prst="rect">
            <a:avLst/>
          </a:prstGeom>
          <a:noFill/>
          <a:ln w="22225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de-AT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de-AT" i="1" dirty="0" smtClean="0">
                <a:solidFill>
                  <a:srgbClr val="92D050"/>
                </a:solidFill>
                <a:cs typeface="Courier New" panose="02070309020205020404" pitchFamily="49" charset="0"/>
              </a:rPr>
              <a:t>[&lt;Anweisung1&gt;]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de-AT" i="1" dirty="0" smtClean="0">
                <a:solidFill>
                  <a:srgbClr val="FF0000"/>
                </a:solidFill>
                <a:cs typeface="Courier New" panose="02070309020205020404" pitchFamily="49" charset="0"/>
              </a:rPr>
              <a:t>[&lt;Bedingung&gt;]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de-AT" b="1" i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i="1" dirty="0" smtClean="0">
                <a:solidFill>
                  <a:srgbClr val="92D050"/>
                </a:solidFill>
                <a:cs typeface="Courier New" panose="02070309020205020404" pitchFamily="49" charset="0"/>
              </a:rPr>
              <a:t>[&lt;Anweisung2&gt;]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)</a:t>
            </a:r>
          </a:p>
          <a:p>
            <a:endParaRPr lang="de-AT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de-AT" b="1" i="1" dirty="0" smtClean="0">
                <a:solidFill>
                  <a:srgbClr val="CC33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de-AT" i="1" dirty="0" smtClean="0">
                <a:solidFill>
                  <a:srgbClr val="CC3300"/>
                </a:solidFill>
                <a:cs typeface="Courier New" panose="02070309020205020404" pitchFamily="49" charset="0"/>
              </a:rPr>
              <a:t>Anweisungen&gt;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Abgerundetes Rechteck 10"/>
          <p:cNvSpPr/>
          <p:nvPr/>
        </p:nvSpPr>
        <p:spPr>
          <a:xfrm>
            <a:off x="539552" y="4273605"/>
            <a:ext cx="8486461" cy="577805"/>
          </a:xfrm>
          <a:prstGeom prst="roundRect">
            <a:avLst/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AT" dirty="0" smtClean="0">
                <a:solidFill>
                  <a:schemeClr val="tx1"/>
                </a:solidFill>
              </a:rPr>
              <a:t>Schleifenkopf</a:t>
            </a:r>
            <a:endParaRPr lang="de-AT" dirty="0">
              <a:solidFill>
                <a:schemeClr val="tx1"/>
              </a:solidFill>
            </a:endParaRPr>
          </a:p>
        </p:txBody>
      </p:sp>
      <p:sp>
        <p:nvSpPr>
          <p:cNvPr id="12" name="Abgerundetes Rechteck 11"/>
          <p:cNvSpPr/>
          <p:nvPr/>
        </p:nvSpPr>
        <p:spPr>
          <a:xfrm>
            <a:off x="539552" y="4949552"/>
            <a:ext cx="8486461" cy="999728"/>
          </a:xfrm>
          <a:prstGeom prst="roundRect">
            <a:avLst/>
          </a:prstGeom>
          <a:solidFill>
            <a:schemeClr val="accent1">
              <a:alpha val="1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AT" dirty="0" smtClean="0">
                <a:solidFill>
                  <a:schemeClr val="tx1"/>
                </a:solidFill>
              </a:rPr>
              <a:t>Schleifenrumpf</a:t>
            </a:r>
            <a:endParaRPr lang="de-AT" dirty="0">
              <a:solidFill>
                <a:schemeClr val="tx1"/>
              </a:solidFill>
            </a:endParaRPr>
          </a:p>
        </p:txBody>
      </p:sp>
      <p:sp>
        <p:nvSpPr>
          <p:cNvPr id="10" name="Abgerundetes Rechteck 9"/>
          <p:cNvSpPr/>
          <p:nvPr/>
        </p:nvSpPr>
        <p:spPr>
          <a:xfrm>
            <a:off x="1259632" y="3413899"/>
            <a:ext cx="1801459" cy="1440160"/>
          </a:xfrm>
          <a:prstGeom prst="roundRect">
            <a:avLst/>
          </a:prstGeom>
          <a:solidFill>
            <a:srgbClr val="92D050">
              <a:alpha val="1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1"/>
                </a:solidFill>
              </a:rPr>
              <a:t>Initialisierung</a:t>
            </a:r>
          </a:p>
          <a:p>
            <a:pPr algn="ctr"/>
            <a:endParaRPr lang="de-AT" dirty="0" smtClean="0"/>
          </a:p>
          <a:p>
            <a:pPr algn="ctr"/>
            <a:endParaRPr lang="de-AT" dirty="0"/>
          </a:p>
        </p:txBody>
      </p:sp>
      <p:sp>
        <p:nvSpPr>
          <p:cNvPr id="14" name="Abgerundetes Rechteck 13"/>
          <p:cNvSpPr/>
          <p:nvPr/>
        </p:nvSpPr>
        <p:spPr>
          <a:xfrm>
            <a:off x="4860032" y="3356992"/>
            <a:ext cx="2016224" cy="1440160"/>
          </a:xfrm>
          <a:prstGeom prst="roundRect">
            <a:avLst/>
          </a:prstGeom>
          <a:solidFill>
            <a:srgbClr val="92D050">
              <a:alpha val="1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 smtClean="0">
                <a:solidFill>
                  <a:schemeClr val="tx1"/>
                </a:solidFill>
              </a:rPr>
              <a:t>Inkrementierung</a:t>
            </a:r>
            <a:endParaRPr lang="de-AT" dirty="0" smtClean="0">
              <a:solidFill>
                <a:schemeClr val="tx1"/>
              </a:solidFill>
            </a:endParaRPr>
          </a:p>
          <a:p>
            <a:pPr algn="ctr"/>
            <a:endParaRPr lang="de-AT" dirty="0" smtClean="0"/>
          </a:p>
          <a:p>
            <a:pPr algn="ctr"/>
            <a:endParaRPr lang="de-AT" dirty="0"/>
          </a:p>
        </p:txBody>
      </p:sp>
      <p:sp>
        <p:nvSpPr>
          <p:cNvPr id="13" name="Titel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for</a:t>
            </a:r>
            <a:r>
              <a:rPr lang="de-AT" dirty="0"/>
              <a:t>-Schleife (Zählschleife)</a:t>
            </a:r>
          </a:p>
        </p:txBody>
      </p:sp>
      <p:sp>
        <p:nvSpPr>
          <p:cNvPr id="17" name="Abgerundetes Rechteck 16"/>
          <p:cNvSpPr/>
          <p:nvPr/>
        </p:nvSpPr>
        <p:spPr>
          <a:xfrm>
            <a:off x="3082795" y="3384121"/>
            <a:ext cx="1777237" cy="1440160"/>
          </a:xfrm>
          <a:prstGeom prst="roundRect">
            <a:avLst/>
          </a:prstGeom>
          <a:solidFill>
            <a:srgbClr val="92D050">
              <a:alpha val="17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smtClean="0">
                <a:solidFill>
                  <a:schemeClr val="tx1"/>
                </a:solidFill>
              </a:rPr>
              <a:t>Bedingung</a:t>
            </a:r>
          </a:p>
          <a:p>
            <a:pPr algn="ctr"/>
            <a:endParaRPr lang="de-AT" dirty="0" smtClean="0"/>
          </a:p>
          <a:p>
            <a:pPr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549356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0" grpId="0" animBg="1"/>
      <p:bldP spid="14" grpId="0" animBg="1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/>
          <p:cNvSpPr txBox="1"/>
          <p:nvPr/>
        </p:nvSpPr>
        <p:spPr>
          <a:xfrm>
            <a:off x="1584400" y="3434887"/>
            <a:ext cx="583685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Console.ReadLine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number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Convert.ToInt32(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de-A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nt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de-AT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&lt;=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number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de-AT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b="1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de-AT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("Reihensumme: " + </a:t>
            </a:r>
            <a:r>
              <a:rPr lang="de-AT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de-AT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de-AT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1619672" y="1988840"/>
            <a:ext cx="388715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b="1" i="1" dirty="0"/>
              <a:t>Kopfgesteuerte </a:t>
            </a:r>
            <a:r>
              <a:rPr lang="de-AT" b="1" i="1" dirty="0" smtClean="0"/>
              <a:t>Schleife - Zählschleife</a:t>
            </a:r>
          </a:p>
          <a:p>
            <a:endParaRPr lang="de-AT" dirty="0" smtClean="0"/>
          </a:p>
          <a:p>
            <a:r>
              <a:rPr lang="de-AT" dirty="0" smtClean="0"/>
              <a:t>Beispiel: </a:t>
            </a:r>
          </a:p>
          <a:p>
            <a:r>
              <a:rPr lang="de-AT" dirty="0" smtClean="0"/>
              <a:t>    Arithmetische Reihe ( 1 + 2 + 3 + . . . )</a:t>
            </a:r>
          </a:p>
        </p:txBody>
      </p:sp>
      <p:sp>
        <p:nvSpPr>
          <p:cNvPr id="3" name="Abgerundetes Rechteck 2"/>
          <p:cNvSpPr/>
          <p:nvPr/>
        </p:nvSpPr>
        <p:spPr>
          <a:xfrm>
            <a:off x="1619672" y="4589049"/>
            <a:ext cx="7128792" cy="784167"/>
          </a:xfrm>
          <a:prstGeom prst="round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de-AT" sz="1600" dirty="0" smtClean="0">
                <a:solidFill>
                  <a:schemeClr val="tx1"/>
                </a:solidFill>
              </a:rPr>
              <a:t>Die Variable </a:t>
            </a:r>
            <a:r>
              <a:rPr lang="de-AT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de-AT" sz="1600" dirty="0" smtClean="0">
                <a:solidFill>
                  <a:schemeClr val="tx1"/>
                </a:solidFill>
              </a:rPr>
              <a:t> ist nur im</a:t>
            </a:r>
            <a:br>
              <a:rPr lang="de-AT" sz="1600" dirty="0" smtClean="0">
                <a:solidFill>
                  <a:schemeClr val="tx1"/>
                </a:solidFill>
              </a:rPr>
            </a:br>
            <a:r>
              <a:rPr lang="de-AT" sz="1600" dirty="0" smtClean="0">
                <a:solidFill>
                  <a:schemeClr val="tx1"/>
                </a:solidFill>
              </a:rPr>
              <a:t>Schleifenrumpf verfügbar!</a:t>
            </a:r>
            <a:endParaRPr lang="de-AT" sz="1600" dirty="0">
              <a:solidFill>
                <a:schemeClr val="tx1"/>
              </a:solidFill>
            </a:endParaRP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for</a:t>
            </a:r>
            <a:r>
              <a:rPr lang="de-AT" dirty="0"/>
              <a:t>-Schleife (Zählschleife)</a:t>
            </a:r>
          </a:p>
        </p:txBody>
      </p:sp>
    </p:spTree>
    <p:extLst>
      <p:ext uri="{BB962C8B-B14F-4D97-AF65-F5344CB8AC3E}">
        <p14:creationId xmlns:p14="http://schemas.microsoft.com/office/powerpoint/2010/main" val="1445711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480</Words>
  <Application>Microsoft Office PowerPoint</Application>
  <PresentationFormat>Bildschirmpräsentation (4:3)</PresentationFormat>
  <Paragraphs>95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5" baseType="lpstr">
      <vt:lpstr>Arial</vt:lpstr>
      <vt:lpstr>Calibri</vt:lpstr>
      <vt:lpstr>Courier New</vt:lpstr>
      <vt:lpstr>Symbol</vt:lpstr>
      <vt:lpstr>Wingdings</vt:lpstr>
      <vt:lpstr>2_Larissa</vt:lpstr>
      <vt:lpstr>Schleifen (Iterationen)</vt:lpstr>
      <vt:lpstr>while-Schleife (kopfgesteuert)</vt:lpstr>
      <vt:lpstr>while-Schleife (kopfgesteuert)</vt:lpstr>
      <vt:lpstr>while-Schleife (fußgesteuert)</vt:lpstr>
      <vt:lpstr>while-Schleife (fußgesteuert)</vt:lpstr>
      <vt:lpstr>while-Schleife (fußgesteuert)</vt:lpstr>
      <vt:lpstr>for-Schleife (Zählschleife)</vt:lpstr>
      <vt:lpstr>for-Schleife (Zählschleife)</vt:lpstr>
      <vt:lpstr>for-Schleife (Zählschleife)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Michael Bucek</dc:creator>
  <cp:lastModifiedBy>Michael Bucek</cp:lastModifiedBy>
  <cp:revision>80</cp:revision>
  <dcterms:created xsi:type="dcterms:W3CDTF">2013-05-11T11:25:57Z</dcterms:created>
  <dcterms:modified xsi:type="dcterms:W3CDTF">2017-11-14T20:52:33Z</dcterms:modified>
</cp:coreProperties>
</file>