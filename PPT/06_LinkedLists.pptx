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7559675" cy="10691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06307-9C56-456E-9C07-6150DE16D4C5}" type="datetimeFigureOut">
              <a:rPr lang="de-AT" smtClean="0"/>
              <a:t>19.11.2019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34E41-9567-41AF-9469-5F2CA6E6F312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52565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734E41-9567-41AF-9469-5F2CA6E6F312}" type="slidenum">
              <a:rPr lang="de-AT" smtClean="0"/>
              <a:t>20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64080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de-A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457200" y="1252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de-A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/>
          <p:cNvSpPr/>
          <p:nvPr/>
        </p:nvSpPr>
        <p:spPr>
          <a:xfrm>
            <a:off x="-7560" y="-12600"/>
            <a:ext cx="9252000" cy="848880"/>
          </a:xfrm>
          <a:prstGeom prst="rect">
            <a:avLst/>
          </a:prstGeom>
          <a:gradFill rotWithShape="0">
            <a:gsLst>
              <a:gs pos="0">
                <a:schemeClr val="tx2"/>
              </a:gs>
              <a:gs pos="27000">
                <a:srgbClr val="4879B4"/>
              </a:gs>
              <a:gs pos="50000">
                <a:schemeClr val="accent1"/>
              </a:gs>
              <a:gs pos="100000">
                <a:schemeClr val="tx2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" name="CustomShape 2"/>
          <p:cNvSpPr/>
          <p:nvPr/>
        </p:nvSpPr>
        <p:spPr>
          <a:xfrm>
            <a:off x="-7920" y="-27000"/>
            <a:ext cx="9253080" cy="80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" name="Grafik 6"/>
          <p:cNvPicPr/>
          <p:nvPr/>
        </p:nvPicPr>
        <p:blipFill>
          <a:blip r:embed="rId14"/>
          <a:stretch/>
        </p:blipFill>
        <p:spPr>
          <a:xfrm>
            <a:off x="6516720" y="6259680"/>
            <a:ext cx="2280960" cy="337680"/>
          </a:xfrm>
          <a:prstGeom prst="rect">
            <a:avLst/>
          </a:prstGeom>
          <a:ln w="9360">
            <a:noFill/>
          </a:ln>
        </p:spPr>
      </p:pic>
      <p:sp>
        <p:nvSpPr>
          <p:cNvPr id="3" name="CustomShape 3"/>
          <p:cNvSpPr/>
          <p:nvPr/>
        </p:nvSpPr>
        <p:spPr>
          <a:xfrm>
            <a:off x="349200" y="6361200"/>
            <a:ext cx="3286440" cy="2361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de-AT" sz="1000" b="0" strike="noStrike" spc="-1">
                <a:solidFill>
                  <a:srgbClr val="808080"/>
                </a:solidFill>
                <a:latin typeface="Arial"/>
              </a:rPr>
              <a:t>II_POS_OO 2018/19 </a:t>
            </a:r>
            <a:r>
              <a:rPr lang="de-AT" sz="1000" b="0" strike="noStrike" spc="-1">
                <a:solidFill>
                  <a:srgbClr val="808080"/>
                </a:solidFill>
                <a:latin typeface="Wingdings"/>
              </a:rPr>
              <a:t></a:t>
            </a:r>
            <a:r>
              <a:rPr lang="de-AT" sz="1000" b="0" strike="noStrike" spc="-1">
                <a:solidFill>
                  <a:srgbClr val="808080"/>
                </a:solidFill>
                <a:latin typeface="Arial"/>
              </a:rPr>
              <a:t> Verkettete Listen </a:t>
            </a:r>
            <a:r>
              <a:rPr lang="de-AT" sz="1000" b="0" strike="noStrike" spc="-1">
                <a:solidFill>
                  <a:srgbClr val="808080"/>
                </a:solidFill>
                <a:latin typeface="Wingdings"/>
              </a:rPr>
              <a:t></a:t>
            </a:r>
            <a:r>
              <a:rPr lang="de-AT" sz="1000" b="0" strike="noStrike" spc="-1">
                <a:solidFill>
                  <a:srgbClr val="808080"/>
                </a:solidFill>
                <a:latin typeface="Arial"/>
              </a:rPr>
              <a:t> Seite </a:t>
            </a:r>
            <a:fld id="{A75F7C61-2D0A-441B-B3DC-DA1A65F24CBE}" type="slidenum">
              <a:rPr lang="de-AT" sz="1000" b="0" strike="noStrike" spc="-1">
                <a:solidFill>
                  <a:srgbClr val="808080"/>
                </a:solidFill>
                <a:latin typeface="Arial"/>
              </a:rPr>
              <a:t>‹#›</a:t>
            </a:fld>
            <a:endParaRPr lang="de-AT" sz="1000" b="0" strike="noStrike" spc="-1"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457200" y="125280"/>
            <a:ext cx="8229240" cy="114264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Titelmasterformat durch Klicken bearbeiten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90000" tIns="45000" rIns="90000" bIns="45000"/>
          <a:lstStyle/>
          <a:p>
            <a:pPr marL="270000" indent="-269640">
              <a:lnSpc>
                <a:spcPct val="100000"/>
              </a:lnSpc>
              <a:spcBef>
                <a:spcPts val="561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800" b="0" strike="noStrike" spc="-1">
                <a:solidFill>
                  <a:srgbClr val="404040"/>
                </a:solidFill>
                <a:latin typeface="Arial"/>
              </a:rPr>
              <a:t>Textmasterformate durch Klicken bearbeiten</a:t>
            </a:r>
          </a:p>
          <a:p>
            <a:pPr marL="895320" lvl="1" indent="-353520">
              <a:lnSpc>
                <a:spcPct val="100000"/>
              </a:lnSpc>
              <a:spcBef>
                <a:spcPts val="499"/>
              </a:spcBef>
              <a:buClr>
                <a:srgbClr val="595959"/>
              </a:buClr>
              <a:buFont typeface="Symbol"/>
              <a:buChar char="-"/>
            </a:pPr>
            <a:r>
              <a:rPr lang="de-DE" sz="2500" b="0" strike="noStrike" spc="-1">
                <a:solidFill>
                  <a:srgbClr val="404040"/>
                </a:solidFill>
                <a:latin typeface="Arial"/>
              </a:rPr>
              <a:t>Zweite Ebene</a:t>
            </a:r>
          </a:p>
          <a:p>
            <a:pPr marL="1343160" lvl="2" indent="-269640">
              <a:lnSpc>
                <a:spcPct val="100000"/>
              </a:lnSpc>
              <a:spcBef>
                <a:spcPts val="439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200" b="0" strike="noStrike" spc="-1">
                <a:solidFill>
                  <a:srgbClr val="404040"/>
                </a:solidFill>
                <a:latin typeface="Arial"/>
              </a:rPr>
              <a:t>Dritte Ebene</a:t>
            </a:r>
          </a:p>
          <a:p>
            <a:pPr marL="1790640" lvl="3" indent="-353520">
              <a:lnSpc>
                <a:spcPct val="100000"/>
              </a:lnSpc>
              <a:spcBef>
                <a:spcPts val="400"/>
              </a:spcBef>
              <a:buClr>
                <a:srgbClr val="595959"/>
              </a:buClr>
              <a:buFont typeface="Symbol"/>
              <a:buChar char="-"/>
            </a:pPr>
            <a:r>
              <a:rPr lang="de-DE" sz="2000" b="0" strike="noStrike" spc="-1">
                <a:solidFill>
                  <a:srgbClr val="404040"/>
                </a:solidFill>
                <a:latin typeface="Arial"/>
              </a:rPr>
              <a:t>Vierte Ebene</a:t>
            </a:r>
            <a:endParaRPr lang="de-DE" sz="2000" b="0" strike="noStrike" spc="-1">
              <a:solidFill>
                <a:srgbClr val="000000"/>
              </a:solidFill>
              <a:latin typeface="Arial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de.wikipedia.org/wiki/Datenstruktur" TargetMode="External"/><Relationship Id="rId2" Type="http://schemas.openxmlformats.org/officeDocument/2006/relationships/hyperlink" Target="http://de.wikipedia.org/wiki/Informatik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de.wikipedia.org/wiki/Arbeitsspeicher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4000" b="1" strike="noStrike" spc="-1">
                <a:solidFill>
                  <a:srgbClr val="FFFFFF"/>
                </a:solidFill>
                <a:latin typeface="Arial"/>
              </a:rPr>
              <a:t>Dynamische Datenstrukturen</a:t>
            </a:r>
            <a:endParaRPr lang="de-DE" sz="40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3" name="Group 2"/>
          <p:cNvGrpSpPr/>
          <p:nvPr/>
        </p:nvGrpSpPr>
        <p:grpSpPr>
          <a:xfrm>
            <a:off x="1331640" y="2573640"/>
            <a:ext cx="2021400" cy="1863000"/>
            <a:chOff x="1331640" y="2573640"/>
            <a:chExt cx="2021400" cy="1863000"/>
          </a:xfrm>
        </p:grpSpPr>
        <p:sp>
          <p:nvSpPr>
            <p:cNvPr id="44" name="CustomShape 3"/>
            <p:cNvSpPr/>
            <p:nvPr/>
          </p:nvSpPr>
          <p:spPr>
            <a:xfrm>
              <a:off x="1331640" y="2573640"/>
              <a:ext cx="1439640" cy="71964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800" b="0" strike="noStrike" spc="-1">
                  <a:solidFill>
                    <a:srgbClr val="4F81BD"/>
                  </a:solidFill>
                  <a:latin typeface="Arial"/>
                </a:rPr>
                <a:t>Node</a:t>
              </a:r>
              <a:endParaRPr lang="de-AT" sz="1800" b="0" strike="noStrike" spc="-1">
                <a:latin typeface="Arial"/>
              </a:endParaRPr>
            </a:p>
          </p:txBody>
        </p:sp>
        <p:sp>
          <p:nvSpPr>
            <p:cNvPr id="45" name="CustomShape 4"/>
            <p:cNvSpPr/>
            <p:nvPr/>
          </p:nvSpPr>
          <p:spPr>
            <a:xfrm>
              <a:off x="1337400" y="3717000"/>
              <a:ext cx="1439640" cy="71964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800" b="0" strike="noStrike" spc="-1">
                  <a:solidFill>
                    <a:srgbClr val="4F81BD"/>
                  </a:solidFill>
                  <a:latin typeface="Arial"/>
                </a:rPr>
                <a:t>DataObject</a:t>
              </a:r>
              <a:endParaRPr lang="de-AT" sz="1800" b="0" strike="noStrike" spc="-1">
                <a:latin typeface="Arial"/>
              </a:endParaRPr>
            </a:p>
          </p:txBody>
        </p:sp>
        <p:sp>
          <p:nvSpPr>
            <p:cNvPr id="46" name="CustomShape 5"/>
            <p:cNvSpPr/>
            <p:nvPr/>
          </p:nvSpPr>
          <p:spPr>
            <a:xfrm>
              <a:off x="2057400" y="3293640"/>
              <a:ext cx="360" cy="4230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7" name="CustomShape 6"/>
            <p:cNvSpPr/>
            <p:nvPr/>
          </p:nvSpPr>
          <p:spPr>
            <a:xfrm>
              <a:off x="2777400" y="2925000"/>
              <a:ext cx="575640" cy="82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48" name="Group 7"/>
          <p:cNvGrpSpPr/>
          <p:nvPr/>
        </p:nvGrpSpPr>
        <p:grpSpPr>
          <a:xfrm>
            <a:off x="3342240" y="2645640"/>
            <a:ext cx="2021400" cy="1863000"/>
            <a:chOff x="3342240" y="2645640"/>
            <a:chExt cx="2021400" cy="1863000"/>
          </a:xfrm>
        </p:grpSpPr>
        <p:sp>
          <p:nvSpPr>
            <p:cNvPr id="49" name="CustomShape 8"/>
            <p:cNvSpPr/>
            <p:nvPr/>
          </p:nvSpPr>
          <p:spPr>
            <a:xfrm>
              <a:off x="3342240" y="2645640"/>
              <a:ext cx="1439640" cy="71964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800" b="0" strike="noStrike" spc="-1">
                  <a:solidFill>
                    <a:srgbClr val="4F81BD"/>
                  </a:solidFill>
                  <a:latin typeface="Arial"/>
                </a:rPr>
                <a:t>Node</a:t>
              </a:r>
              <a:endParaRPr lang="de-AT" sz="1800" b="0" strike="noStrike" spc="-1">
                <a:latin typeface="Arial"/>
              </a:endParaRPr>
            </a:p>
          </p:txBody>
        </p:sp>
        <p:sp>
          <p:nvSpPr>
            <p:cNvPr id="50" name="CustomShape 9"/>
            <p:cNvSpPr/>
            <p:nvPr/>
          </p:nvSpPr>
          <p:spPr>
            <a:xfrm>
              <a:off x="3348000" y="3789000"/>
              <a:ext cx="1439640" cy="71964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800" b="0" strike="noStrike" spc="-1">
                  <a:solidFill>
                    <a:srgbClr val="4F81BD"/>
                  </a:solidFill>
                  <a:latin typeface="Arial"/>
                </a:rPr>
                <a:t>DataObject</a:t>
              </a:r>
              <a:endParaRPr lang="de-AT" sz="1800" b="0" strike="noStrike" spc="-1">
                <a:latin typeface="Arial"/>
              </a:endParaRPr>
            </a:p>
          </p:txBody>
        </p:sp>
        <p:sp>
          <p:nvSpPr>
            <p:cNvPr id="51" name="CustomShape 10"/>
            <p:cNvSpPr/>
            <p:nvPr/>
          </p:nvSpPr>
          <p:spPr>
            <a:xfrm>
              <a:off x="4068000" y="3365640"/>
              <a:ext cx="360" cy="4230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2" name="CustomShape 11"/>
            <p:cNvSpPr/>
            <p:nvPr/>
          </p:nvSpPr>
          <p:spPr>
            <a:xfrm>
              <a:off x="4788000" y="2997000"/>
              <a:ext cx="575640" cy="82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53" name="CustomShape 12"/>
          <p:cNvSpPr/>
          <p:nvPr/>
        </p:nvSpPr>
        <p:spPr>
          <a:xfrm>
            <a:off x="5358240" y="2645640"/>
            <a:ext cx="1439640" cy="719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de-AT" sz="1800" b="0" strike="noStrike" spc="-1">
                <a:solidFill>
                  <a:srgbClr val="4F81BD"/>
                </a:solidFill>
                <a:latin typeface="Arial"/>
              </a:rPr>
              <a:t>Node</a:t>
            </a:r>
            <a:endParaRPr lang="de-AT" sz="1800" b="0" strike="noStrike" spc="-1">
              <a:latin typeface="Arial"/>
            </a:endParaRPr>
          </a:p>
        </p:txBody>
      </p:sp>
      <p:sp>
        <p:nvSpPr>
          <p:cNvPr id="54" name="CustomShape 13"/>
          <p:cNvSpPr/>
          <p:nvPr/>
        </p:nvSpPr>
        <p:spPr>
          <a:xfrm>
            <a:off x="5364000" y="3789000"/>
            <a:ext cx="1439640" cy="719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de-AT" sz="1800" b="0" strike="noStrike" spc="-1">
                <a:solidFill>
                  <a:srgbClr val="4F81BD"/>
                </a:solidFill>
                <a:latin typeface="Arial"/>
              </a:rPr>
              <a:t>DataObject</a:t>
            </a:r>
            <a:endParaRPr lang="de-AT" sz="1800" b="0" strike="noStrike" spc="-1">
              <a:latin typeface="Arial"/>
            </a:endParaRPr>
          </a:p>
        </p:txBody>
      </p:sp>
      <p:sp>
        <p:nvSpPr>
          <p:cNvPr id="55" name="CustomShape 14"/>
          <p:cNvSpPr/>
          <p:nvPr/>
        </p:nvSpPr>
        <p:spPr>
          <a:xfrm>
            <a:off x="6084000" y="3365640"/>
            <a:ext cx="360" cy="423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" name="CustomShape 15"/>
          <p:cNvSpPr/>
          <p:nvPr/>
        </p:nvSpPr>
        <p:spPr>
          <a:xfrm>
            <a:off x="6798600" y="2988360"/>
            <a:ext cx="575640" cy="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" name="CustomShape 16"/>
          <p:cNvSpPr/>
          <p:nvPr/>
        </p:nvSpPr>
        <p:spPr>
          <a:xfrm>
            <a:off x="1043640" y="1884960"/>
            <a:ext cx="1007640" cy="688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8" name="CustomShape 17"/>
          <p:cNvSpPr/>
          <p:nvPr/>
        </p:nvSpPr>
        <p:spPr>
          <a:xfrm>
            <a:off x="546840" y="1340640"/>
            <a:ext cx="10270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de-AT" sz="2400" b="0" strike="noStrike" spc="-1">
                <a:solidFill>
                  <a:srgbClr val="1F497D"/>
                </a:solidFill>
                <a:latin typeface="Arial"/>
              </a:rPr>
              <a:t>_head</a:t>
            </a:r>
            <a:endParaRPr lang="de-AT" sz="2400" b="0" strike="noStrike" spc="-1">
              <a:latin typeface="Arial"/>
            </a:endParaRPr>
          </a:p>
        </p:txBody>
      </p:sp>
      <p:sp>
        <p:nvSpPr>
          <p:cNvPr id="59" name="CustomShape 18"/>
          <p:cNvSpPr/>
          <p:nvPr/>
        </p:nvSpPr>
        <p:spPr>
          <a:xfrm flipV="1">
            <a:off x="7374600" y="2847960"/>
            <a:ext cx="5400" cy="291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" name="CustomShape 19"/>
          <p:cNvSpPr/>
          <p:nvPr/>
        </p:nvSpPr>
        <p:spPr>
          <a:xfrm>
            <a:off x="7530120" y="2781000"/>
            <a:ext cx="65340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de-AT" sz="2400" b="0" strike="noStrike" spc="-1">
                <a:solidFill>
                  <a:srgbClr val="1F497D"/>
                </a:solidFill>
                <a:latin typeface="Arial"/>
              </a:rPr>
              <a:t>null</a:t>
            </a:r>
            <a:endParaRPr lang="de-AT" sz="2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Shape 1"/>
          <p:cNvSpPr txBox="1"/>
          <p:nvPr/>
        </p:nvSpPr>
        <p:spPr>
          <a:xfrm>
            <a:off x="6773760" y="6380280"/>
            <a:ext cx="2195280" cy="340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FEA63846-1B2B-45F1-AC09-1C63F8362A38}" type="slidenum">
              <a:rPr lang="de-AT" sz="1400" b="0" strike="noStrike" spc="-1">
                <a:solidFill>
                  <a:srgbClr val="FFFFFF"/>
                </a:solidFill>
                <a:latin typeface="Times New Roman"/>
              </a:rPr>
              <a:t>2</a:t>
            </a:fld>
            <a:endParaRPr lang="de-AT" sz="1400" b="0" strike="noStrike" spc="-1">
              <a:latin typeface="Times New Roman"/>
            </a:endParaRPr>
          </a:p>
        </p:txBody>
      </p:sp>
      <p:sp>
        <p:nvSpPr>
          <p:cNvPr id="62" name="TextShape 2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Datenstruktur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Shape 3"/>
          <p:cNvSpPr txBox="1"/>
          <p:nvPr/>
        </p:nvSpPr>
        <p:spPr>
          <a:xfrm>
            <a:off x="374760" y="91944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 marL="895320" indent="-353520">
              <a:lnSpc>
                <a:spcPct val="100000"/>
              </a:lnSpc>
              <a:spcBef>
                <a:spcPts val="479"/>
              </a:spcBef>
            </a:pPr>
            <a:r>
              <a:rPr lang="de-DE" sz="2400" b="0" strike="noStrike" spc="-1">
                <a:solidFill>
                  <a:srgbClr val="404040"/>
                </a:solidFill>
                <a:latin typeface="Arial"/>
              </a:rPr>
              <a:t>	</a:t>
            </a:r>
          </a:p>
          <a:p>
            <a:pPr marL="895320" indent="-353520">
              <a:lnSpc>
                <a:spcPct val="100000"/>
              </a:lnSpc>
              <a:spcBef>
                <a:spcPts val="479"/>
              </a:spcBef>
            </a:pPr>
            <a:r>
              <a:rPr lang="de-DE" sz="2400" b="0" strike="noStrike" spc="-1">
                <a:solidFill>
                  <a:srgbClr val="404040"/>
                </a:solidFill>
                <a:latin typeface="Arial"/>
              </a:rPr>
              <a:t>	</a:t>
            </a:r>
          </a:p>
          <a:p>
            <a:pPr marL="895320" indent="-353520">
              <a:lnSpc>
                <a:spcPct val="100000"/>
              </a:lnSpc>
              <a:spcBef>
                <a:spcPts val="479"/>
              </a:spcBef>
            </a:pPr>
            <a:endParaRPr lang="de-DE" sz="2400" b="0" strike="noStrike" spc="-1">
              <a:solidFill>
                <a:srgbClr val="404040"/>
              </a:solidFill>
              <a:latin typeface="Arial"/>
            </a:endParaRPr>
          </a:p>
          <a:p>
            <a:pPr marL="270000" indent="-269640">
              <a:lnSpc>
                <a:spcPct val="100000"/>
              </a:lnSpc>
              <a:spcBef>
                <a:spcPts val="541"/>
              </a:spcBef>
            </a:pPr>
            <a:r>
              <a:rPr lang="de-DE" sz="2700" b="0" strike="noStrike" spc="-1">
                <a:solidFill>
                  <a:srgbClr val="404040"/>
                </a:solidFill>
                <a:latin typeface="Arial"/>
              </a:rPr>
              <a:t>	Unter einer Datenstruktur (auch: Datentyp) versteht man eine Menge von Daten in Verbindung mit den darauf definierten Operationen im Sinne mathematischer Funktionen.</a:t>
            </a:r>
          </a:p>
          <a:p>
            <a:pPr marL="895320" indent="-353520">
              <a:lnSpc>
                <a:spcPct val="100000"/>
              </a:lnSpc>
              <a:spcBef>
                <a:spcPts val="241"/>
              </a:spcBef>
            </a:pPr>
            <a:endParaRPr lang="de-DE" sz="2700" b="0" strike="noStrike" spc="-1">
              <a:solidFill>
                <a:srgbClr val="404040"/>
              </a:solidFill>
              <a:latin typeface="Arial"/>
            </a:endParaRPr>
          </a:p>
          <a:p>
            <a:pPr marL="895320" indent="-353520">
              <a:lnSpc>
                <a:spcPct val="100000"/>
              </a:lnSpc>
              <a:spcBef>
                <a:spcPts val="241"/>
              </a:spcBef>
            </a:pPr>
            <a:endParaRPr lang="de-DE" sz="2700" b="0" strike="noStrike" spc="-1">
              <a:solidFill>
                <a:srgbClr val="404040"/>
              </a:solidFill>
              <a:latin typeface="Arial"/>
            </a:endParaRPr>
          </a:p>
          <a:p>
            <a:pPr marL="895320" indent="-353520">
              <a:lnSpc>
                <a:spcPct val="100000"/>
              </a:lnSpc>
              <a:spcBef>
                <a:spcPts val="241"/>
              </a:spcBef>
            </a:pPr>
            <a:endParaRPr lang="de-DE" sz="2700" b="0" strike="noStrike" spc="-1">
              <a:solidFill>
                <a:srgbClr val="404040"/>
              </a:solidFill>
              <a:latin typeface="Arial"/>
            </a:endParaRPr>
          </a:p>
          <a:p>
            <a:pPr marL="895320" indent="-353520">
              <a:lnSpc>
                <a:spcPct val="100000"/>
              </a:lnSpc>
              <a:spcBef>
                <a:spcPts val="241"/>
              </a:spcBef>
            </a:pPr>
            <a:endParaRPr lang="de-DE" sz="2700" b="0" strike="noStrike" spc="-1">
              <a:solidFill>
                <a:srgbClr val="404040"/>
              </a:solidFill>
              <a:latin typeface="Arial"/>
            </a:endParaRPr>
          </a:p>
          <a:p>
            <a:pPr marL="895320" indent="-353520">
              <a:lnSpc>
                <a:spcPct val="100000"/>
              </a:lnSpc>
              <a:spcBef>
                <a:spcPts val="241"/>
              </a:spcBef>
            </a:pPr>
            <a:endParaRPr lang="de-DE" sz="2700" b="0" strike="noStrike" spc="-1">
              <a:solidFill>
                <a:srgbClr val="40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Shape 1"/>
          <p:cNvSpPr txBox="1"/>
          <p:nvPr/>
        </p:nvSpPr>
        <p:spPr>
          <a:xfrm>
            <a:off x="6773760" y="6380280"/>
            <a:ext cx="2195280" cy="340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3F5B69C2-AC67-404F-B225-F463AA1FE217}" type="slidenum">
              <a:rPr lang="de-AT" sz="1400" b="0" strike="noStrike" spc="-1">
                <a:solidFill>
                  <a:srgbClr val="FFFFFF"/>
                </a:solidFill>
                <a:latin typeface="Times New Roman"/>
              </a:rPr>
              <a:t>3</a:t>
            </a:fld>
            <a:endParaRPr lang="de-AT" sz="1400" b="0" strike="noStrike" spc="-1">
              <a:latin typeface="Times New Roman"/>
            </a:endParaRPr>
          </a:p>
        </p:txBody>
      </p:sp>
      <p:sp>
        <p:nvSpPr>
          <p:cNvPr id="65" name="TextShape 2"/>
          <p:cNvSpPr txBox="1"/>
          <p:nvPr/>
        </p:nvSpPr>
        <p:spPr>
          <a:xfrm>
            <a:off x="457200" y="125280"/>
            <a:ext cx="8229240" cy="6390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55000" lnSpcReduction="20000"/>
          </a:bodyPr>
          <a:lstStyle/>
          <a:p>
            <a:pPr>
              <a:lnSpc>
                <a:spcPct val="100000"/>
              </a:lnSpc>
            </a:pPr>
            <a:r>
              <a:rPr lang="de-DE" sz="3600" b="1" strike="noStrike" spc="-1">
                <a:solidFill>
                  <a:srgbClr val="FFFFFF"/>
                </a:solidFill>
                <a:latin typeface="Arial"/>
              </a:rPr>
              <a:t>Dynamische Datenstruktur</a:t>
            </a:r>
            <a:br/>
            <a:endParaRPr lang="de-DE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Shape 3"/>
          <p:cNvSpPr txBox="1"/>
          <p:nvPr/>
        </p:nvSpPr>
        <p:spPr>
          <a:xfrm>
            <a:off x="158760" y="98064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 marL="895320" indent="-353520">
              <a:lnSpc>
                <a:spcPct val="100000"/>
              </a:lnSpc>
              <a:spcBef>
                <a:spcPts val="561"/>
              </a:spcBef>
            </a:pPr>
            <a:r>
              <a:rPr lang="de-DE" sz="2800" b="0" strike="noStrike" spc="-1">
                <a:solidFill>
                  <a:srgbClr val="404040"/>
                </a:solidFill>
                <a:latin typeface="Arial"/>
              </a:rPr>
              <a:t>	</a:t>
            </a:r>
          </a:p>
          <a:p>
            <a:pPr marL="895320" indent="-353520">
              <a:lnSpc>
                <a:spcPct val="100000"/>
              </a:lnSpc>
              <a:spcBef>
                <a:spcPts val="561"/>
              </a:spcBef>
            </a:pPr>
            <a:r>
              <a:rPr lang="de-DE" sz="2800" b="0" strike="noStrike" spc="-1">
                <a:solidFill>
                  <a:srgbClr val="404040"/>
                </a:solidFill>
                <a:latin typeface="Arial"/>
              </a:rPr>
              <a:t>	</a:t>
            </a:r>
          </a:p>
          <a:p>
            <a:pPr marL="895320" indent="-353520">
              <a:lnSpc>
                <a:spcPct val="100000"/>
              </a:lnSpc>
              <a:spcBef>
                <a:spcPts val="561"/>
              </a:spcBef>
            </a:pPr>
            <a:endParaRPr lang="de-DE" sz="2800" b="0" strike="noStrike" spc="-1">
              <a:solidFill>
                <a:srgbClr val="404040"/>
              </a:solidFill>
              <a:latin typeface="Arial"/>
            </a:endParaRPr>
          </a:p>
          <a:p>
            <a:pPr marL="895320" indent="-353520">
              <a:lnSpc>
                <a:spcPct val="100000"/>
              </a:lnSpc>
              <a:spcBef>
                <a:spcPts val="561"/>
              </a:spcBef>
            </a:pPr>
            <a:r>
              <a:rPr lang="de-DE" sz="2800" b="1" strike="noStrike" spc="-1">
                <a:solidFill>
                  <a:srgbClr val="404040"/>
                </a:solidFill>
                <a:latin typeface="Arial"/>
              </a:rPr>
              <a:t>	Dynamische Datenstrukturen</a:t>
            </a:r>
            <a:r>
              <a:rPr lang="de-DE" sz="2800" b="0" strike="noStrike" spc="-1">
                <a:solidFill>
                  <a:srgbClr val="404040"/>
                </a:solidFill>
                <a:latin typeface="Arial"/>
              </a:rPr>
              <a:t> bezeichnen in der </a:t>
            </a:r>
            <a:r>
              <a:rPr lang="de-DE" sz="2800" b="0" u="sng" strike="noStrike" spc="-1">
                <a:solidFill>
                  <a:srgbClr val="0000FF"/>
                </a:solidFill>
                <a:uFillTx/>
                <a:latin typeface="Arial"/>
                <a:hlinkClick r:id="rId2"/>
              </a:rPr>
              <a:t>Informatik</a:t>
            </a:r>
            <a:r>
              <a:rPr lang="de-DE" sz="2800" b="0" strike="noStrike" spc="-1">
                <a:solidFill>
                  <a:srgbClr val="404040"/>
                </a:solidFill>
                <a:latin typeface="Arial"/>
              </a:rPr>
              <a:t> </a:t>
            </a:r>
            <a:r>
              <a:rPr lang="de-DE" sz="2800" b="0" u="sng" strike="noStrike" spc="-1">
                <a:solidFill>
                  <a:srgbClr val="0000FF"/>
                </a:solidFill>
                <a:uFillTx/>
                <a:latin typeface="Arial"/>
                <a:hlinkClick r:id="rId3"/>
              </a:rPr>
              <a:t>Datenstrukturen</a:t>
            </a:r>
            <a:r>
              <a:rPr lang="de-DE" sz="2800" b="0" strike="noStrike" spc="-1">
                <a:solidFill>
                  <a:srgbClr val="404040"/>
                </a:solidFill>
                <a:latin typeface="Arial"/>
              </a:rPr>
              <a:t>, die eine flexible Menge an </a:t>
            </a:r>
            <a:r>
              <a:rPr lang="de-DE" sz="2800" b="0" u="sng" strike="noStrike" spc="-1">
                <a:solidFill>
                  <a:srgbClr val="0000FF"/>
                </a:solidFill>
                <a:uFillTx/>
                <a:latin typeface="Arial"/>
                <a:hlinkClick r:id="rId4"/>
              </a:rPr>
              <a:t>Arbeitsspeicher</a:t>
            </a:r>
            <a:r>
              <a:rPr lang="de-DE" sz="2800" b="0" strike="noStrike" spc="-1">
                <a:solidFill>
                  <a:srgbClr val="404040"/>
                </a:solidFill>
                <a:latin typeface="Arial"/>
              </a:rPr>
              <a:t> reservieren.</a:t>
            </a:r>
          </a:p>
          <a:p>
            <a:pPr marL="895320" indent="-353520">
              <a:lnSpc>
                <a:spcPct val="100000"/>
              </a:lnSpc>
              <a:spcBef>
                <a:spcPts val="281"/>
              </a:spcBef>
            </a:pPr>
            <a:endParaRPr lang="de-DE" sz="2800" b="0" strike="noStrike" spc="-1">
              <a:solidFill>
                <a:srgbClr val="404040"/>
              </a:solidFill>
              <a:latin typeface="Arial"/>
            </a:endParaRPr>
          </a:p>
          <a:p>
            <a:pPr marL="895320" indent="-353520">
              <a:lnSpc>
                <a:spcPct val="100000"/>
              </a:lnSpc>
              <a:spcBef>
                <a:spcPts val="281"/>
              </a:spcBef>
            </a:pPr>
            <a:endParaRPr lang="de-DE" sz="2800" b="0" strike="noStrike" spc="-1">
              <a:solidFill>
                <a:srgbClr val="404040"/>
              </a:solidFill>
              <a:latin typeface="Arial"/>
            </a:endParaRPr>
          </a:p>
          <a:p>
            <a:pPr marL="895320" indent="-353520">
              <a:lnSpc>
                <a:spcPct val="100000"/>
              </a:lnSpc>
              <a:spcBef>
                <a:spcPts val="281"/>
              </a:spcBef>
            </a:pPr>
            <a:endParaRPr lang="de-DE" sz="2800" b="0" strike="noStrike" spc="-1">
              <a:solidFill>
                <a:srgbClr val="404040"/>
              </a:solidFill>
              <a:latin typeface="Arial"/>
            </a:endParaRPr>
          </a:p>
          <a:p>
            <a:pPr marL="895320" indent="-353520">
              <a:lnSpc>
                <a:spcPct val="100000"/>
              </a:lnSpc>
              <a:spcBef>
                <a:spcPts val="281"/>
              </a:spcBef>
            </a:pPr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Shape 1"/>
          <p:cNvSpPr txBox="1"/>
          <p:nvPr/>
        </p:nvSpPr>
        <p:spPr>
          <a:xfrm>
            <a:off x="6773760" y="6380280"/>
            <a:ext cx="2195280" cy="340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33FCCED6-3039-4B70-9D97-D1F442F4DF39}" type="slidenum">
              <a:rPr lang="de-AT" sz="1400" b="0" strike="noStrike" spc="-1">
                <a:solidFill>
                  <a:srgbClr val="FFFFFF"/>
                </a:solidFill>
                <a:latin typeface="Times New Roman"/>
              </a:rPr>
              <a:t>4</a:t>
            </a:fld>
            <a:endParaRPr lang="de-AT" sz="1400" b="0" strike="noStrike" spc="-1">
              <a:latin typeface="Times New Roman"/>
            </a:endParaRPr>
          </a:p>
        </p:txBody>
      </p:sp>
      <p:sp>
        <p:nvSpPr>
          <p:cNvPr id="68" name="TextShape 2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Motivation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Shape 3"/>
          <p:cNvSpPr txBox="1"/>
          <p:nvPr/>
        </p:nvSpPr>
        <p:spPr>
          <a:xfrm>
            <a:off x="323640" y="1124640"/>
            <a:ext cx="8229240" cy="45691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 marL="270000" indent="-26964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400" b="0" strike="noStrike" spc="-1">
                <a:solidFill>
                  <a:srgbClr val="404040"/>
                </a:solidFill>
                <a:latin typeface="Arial"/>
              </a:rPr>
              <a:t>Verwaltung beliebig vieler Elemente in einem Container</a:t>
            </a:r>
          </a:p>
          <a:p>
            <a:pPr marL="895320" lvl="1" indent="-353520">
              <a:lnSpc>
                <a:spcPct val="100000"/>
              </a:lnSpc>
              <a:spcBef>
                <a:spcPts val="400"/>
              </a:spcBef>
              <a:buClr>
                <a:srgbClr val="595959"/>
              </a:buClr>
              <a:buFont typeface="Symbol"/>
              <a:buChar char="-"/>
            </a:pPr>
            <a:r>
              <a:rPr lang="de-DE" sz="2000" b="0" strike="noStrike" spc="-1">
                <a:solidFill>
                  <a:srgbClr val="404040"/>
                </a:solidFill>
                <a:latin typeface="Arial"/>
              </a:rPr>
              <a:t>Verwendung eines Array</a:t>
            </a:r>
          </a:p>
          <a:p>
            <a:pPr marL="1343160" lvl="2" indent="-269640">
              <a:lnSpc>
                <a:spcPct val="100000"/>
              </a:lnSpc>
              <a:spcBef>
                <a:spcPts val="36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1800" b="0" strike="noStrike" spc="-1">
                <a:solidFill>
                  <a:srgbClr val="404040"/>
                </a:solidFill>
                <a:latin typeface="Arial"/>
              </a:rPr>
              <a:t>Maximale Anzahl der Elemente muss beim Anlegen bekannt sein</a:t>
            </a:r>
          </a:p>
          <a:p>
            <a:pPr marL="1343160" lvl="2" indent="-269640">
              <a:lnSpc>
                <a:spcPct val="100000"/>
              </a:lnSpc>
              <a:spcBef>
                <a:spcPts val="36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1800" b="0" strike="noStrike" spc="-1">
                <a:solidFill>
                  <a:srgbClr val="404040"/>
                </a:solidFill>
                <a:latin typeface="Arial"/>
              </a:rPr>
              <a:t>Auf jeden Fall „groß genug“ dimensionieren</a:t>
            </a:r>
          </a:p>
          <a:p>
            <a:pPr marL="1343160" lvl="2" indent="-269640">
              <a:lnSpc>
                <a:spcPct val="100000"/>
              </a:lnSpc>
              <a:spcBef>
                <a:spcPts val="36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1800" b="0" strike="noStrike" spc="-1">
                <a:solidFill>
                  <a:srgbClr val="404040"/>
                </a:solidFill>
                <a:latin typeface="Arial"/>
              </a:rPr>
              <a:t>Unnötiger Speicherverbrauch</a:t>
            </a:r>
          </a:p>
          <a:p>
            <a:pPr marL="1343160" lvl="2" indent="-269640">
              <a:lnSpc>
                <a:spcPct val="100000"/>
              </a:lnSpc>
              <a:spcBef>
                <a:spcPts val="36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1800" b="0" strike="noStrike" spc="-1">
                <a:solidFill>
                  <a:srgbClr val="404040"/>
                </a:solidFill>
                <a:latin typeface="Arial"/>
              </a:rPr>
              <a:t>Schneller Zugriff</a:t>
            </a:r>
          </a:p>
          <a:p>
            <a:endParaRPr lang="de-DE" sz="1800" b="0" strike="noStrike" spc="-1">
              <a:solidFill>
                <a:srgbClr val="404040"/>
              </a:solidFill>
              <a:latin typeface="Arial"/>
            </a:endParaRPr>
          </a:p>
          <a:p>
            <a:pPr marL="895320" lvl="1" indent="-353520">
              <a:lnSpc>
                <a:spcPct val="100000"/>
              </a:lnSpc>
              <a:spcBef>
                <a:spcPts val="400"/>
              </a:spcBef>
              <a:buClr>
                <a:srgbClr val="595959"/>
              </a:buClr>
              <a:buFont typeface="Symbol"/>
              <a:buChar char="-"/>
            </a:pPr>
            <a:r>
              <a:rPr lang="de-DE" sz="2000" b="0" strike="noStrike" spc="-1">
                <a:solidFill>
                  <a:srgbClr val="404040"/>
                </a:solidFill>
                <a:latin typeface="Arial"/>
              </a:rPr>
              <a:t>Dynamische Strukturen</a:t>
            </a:r>
          </a:p>
          <a:p>
            <a:pPr marL="1343160" lvl="2" indent="-269640">
              <a:lnSpc>
                <a:spcPct val="100000"/>
              </a:lnSpc>
              <a:spcBef>
                <a:spcPts val="36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1800" b="0" strike="noStrike" spc="-1">
                <a:solidFill>
                  <a:srgbClr val="404040"/>
                </a:solidFill>
                <a:latin typeface="Arial"/>
              </a:rPr>
              <a:t>Speicher erst bei Bedarf je Element anfordern </a:t>
            </a:r>
            <a:r>
              <a:rPr lang="de-DE" sz="1800" b="0" strike="noStrike" spc="-1">
                <a:solidFill>
                  <a:srgbClr val="404040"/>
                </a:solidFill>
                <a:latin typeface="Wingdings"/>
              </a:rPr>
              <a:t></a:t>
            </a:r>
            <a:r>
              <a:rPr lang="de-DE" sz="1800" b="0" strike="noStrike" spc="-1">
                <a:solidFill>
                  <a:srgbClr val="404040"/>
                </a:solidFill>
                <a:latin typeface="Arial"/>
              </a:rPr>
              <a:t> Referenz</a:t>
            </a:r>
          </a:p>
          <a:p>
            <a:pPr marL="1343160" lvl="2" indent="-269640">
              <a:lnSpc>
                <a:spcPct val="100000"/>
              </a:lnSpc>
              <a:spcBef>
                <a:spcPts val="36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1800" b="0" strike="noStrike" spc="-1">
                <a:solidFill>
                  <a:srgbClr val="404040"/>
                </a:solidFill>
                <a:latin typeface="Arial"/>
              </a:rPr>
              <a:t>Einfaches positionsgerechtes Einfügen und Löschen</a:t>
            </a:r>
          </a:p>
          <a:p>
            <a:pPr marL="1343160" lvl="2" indent="-269640">
              <a:lnSpc>
                <a:spcPct val="100000"/>
              </a:lnSpc>
              <a:spcBef>
                <a:spcPts val="36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1800" b="0" strike="noStrike" spc="-1">
                <a:solidFill>
                  <a:srgbClr val="404040"/>
                </a:solidFill>
                <a:latin typeface="Arial"/>
              </a:rPr>
              <a:t>Bessere Ausnutzung des Speichers</a:t>
            </a:r>
          </a:p>
          <a:p>
            <a:pPr marL="1343160" lvl="2" indent="-269640">
              <a:lnSpc>
                <a:spcPct val="100000"/>
              </a:lnSpc>
              <a:spcBef>
                <a:spcPts val="36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1800" b="0" strike="noStrike" spc="-1">
                <a:solidFill>
                  <a:srgbClr val="404040"/>
                </a:solidFill>
                <a:latin typeface="Arial"/>
              </a:rPr>
              <a:t>Mehr Verwaltungsaufwand</a:t>
            </a:r>
          </a:p>
          <a:p>
            <a:pPr marL="1790640" lvl="3" indent="-353520">
              <a:lnSpc>
                <a:spcPct val="100000"/>
              </a:lnSpc>
              <a:spcBef>
                <a:spcPts val="360"/>
              </a:spcBef>
              <a:buClr>
                <a:srgbClr val="595959"/>
              </a:buClr>
              <a:buFont typeface="Symbol"/>
              <a:buChar char="-"/>
            </a:pPr>
            <a:r>
              <a:rPr lang="de-DE" sz="1800" b="0" strike="noStrike" spc="-1">
                <a:solidFill>
                  <a:srgbClr val="404040"/>
                </a:solidFill>
                <a:latin typeface="Arial"/>
              </a:rPr>
              <a:t>Code und Speicher</a:t>
            </a:r>
            <a:endParaRPr lang="de-DE" sz="1800" b="0" strike="noStrike" spc="-1">
              <a:solidFill>
                <a:srgbClr val="000000"/>
              </a:solidFill>
              <a:latin typeface="Arial"/>
            </a:endParaRPr>
          </a:p>
          <a:p>
            <a:endParaRPr lang="de-DE" sz="1800" b="0" strike="noStrike" spc="-1">
              <a:solidFill>
                <a:srgbClr val="40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Shape 1"/>
          <p:cNvSpPr txBox="1"/>
          <p:nvPr/>
        </p:nvSpPr>
        <p:spPr>
          <a:xfrm>
            <a:off x="6773760" y="6380280"/>
            <a:ext cx="2195280" cy="340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2FDC8F38-F39B-437C-8279-5967795C6264}" type="slidenum">
              <a:rPr lang="de-AT" sz="1400" b="0" strike="noStrike" spc="-1">
                <a:solidFill>
                  <a:srgbClr val="FFFFFF"/>
                </a:solidFill>
                <a:latin typeface="Times New Roman"/>
              </a:rPr>
              <a:t>5</a:t>
            </a:fld>
            <a:endParaRPr lang="de-AT" sz="1400" b="0" strike="noStrike" spc="-1">
              <a:latin typeface="Times New Roman"/>
            </a:endParaRPr>
          </a:p>
        </p:txBody>
      </p:sp>
      <p:sp>
        <p:nvSpPr>
          <p:cNvPr id="71" name="TextShape 2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Einfach verkettete Liste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Shape 3"/>
          <p:cNvSpPr txBox="1"/>
          <p:nvPr/>
        </p:nvSpPr>
        <p:spPr>
          <a:xfrm>
            <a:off x="457200" y="1077840"/>
            <a:ext cx="8229240" cy="5047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 marL="270000" indent="-269640">
              <a:lnSpc>
                <a:spcPct val="100000"/>
              </a:lnSpc>
              <a:spcBef>
                <a:spcPts val="36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1800" b="0" strike="noStrike" spc="-1">
                <a:solidFill>
                  <a:srgbClr val="404040"/>
                </a:solidFill>
                <a:latin typeface="Arial"/>
              </a:rPr>
              <a:t>Besteht aus Objekten</a:t>
            </a:r>
          </a:p>
          <a:p>
            <a:pPr marL="895320" lvl="1" indent="-353520">
              <a:lnSpc>
                <a:spcPct val="100000"/>
              </a:lnSpc>
              <a:spcBef>
                <a:spcPts val="320"/>
              </a:spcBef>
              <a:buClr>
                <a:srgbClr val="595959"/>
              </a:buClr>
              <a:buFont typeface="Symbol"/>
              <a:buChar char="-"/>
            </a:pPr>
            <a:r>
              <a:rPr lang="de-DE" sz="1600" b="0" strike="noStrike" spc="-1">
                <a:solidFill>
                  <a:srgbClr val="404040"/>
                </a:solidFill>
                <a:latin typeface="Arial"/>
              </a:rPr>
              <a:t>Nutzinhalt</a:t>
            </a:r>
          </a:p>
          <a:p>
            <a:pPr marL="895320" lvl="1" indent="-353520">
              <a:lnSpc>
                <a:spcPct val="100000"/>
              </a:lnSpc>
              <a:spcBef>
                <a:spcPts val="320"/>
              </a:spcBef>
              <a:buClr>
                <a:srgbClr val="595959"/>
              </a:buClr>
              <a:buFont typeface="Symbol"/>
              <a:buChar char="-"/>
            </a:pPr>
            <a:r>
              <a:rPr lang="de-DE" sz="1600" b="0" strike="noStrike" spc="-1">
                <a:solidFill>
                  <a:srgbClr val="404040"/>
                </a:solidFill>
                <a:latin typeface="Arial"/>
              </a:rPr>
              <a:t>Verwaltungsinformation </a:t>
            </a:r>
            <a:r>
              <a:rPr lang="de-DE" sz="1600" b="0" strike="noStrike" spc="-1">
                <a:solidFill>
                  <a:srgbClr val="404040"/>
                </a:solidFill>
                <a:latin typeface="Wingdings"/>
              </a:rPr>
              <a:t></a:t>
            </a:r>
            <a:r>
              <a:rPr lang="de-DE" sz="1600" b="0" strike="noStrike" spc="-1">
                <a:solidFill>
                  <a:srgbClr val="404040"/>
                </a:solidFill>
                <a:latin typeface="Arial"/>
              </a:rPr>
              <a:t> Referenz </a:t>
            </a:r>
            <a:br/>
            <a:r>
              <a:rPr lang="de-DE" sz="1600" b="0" strike="noStrike" spc="-1">
                <a:solidFill>
                  <a:srgbClr val="404040"/>
                </a:solidFill>
                <a:latin typeface="Arial"/>
              </a:rPr>
              <a:t>auf nächstes Element</a:t>
            </a:r>
            <a:br/>
            <a:r>
              <a:rPr lang="de-DE" sz="1600" b="0" strike="noStrike" spc="-1">
                <a:solidFill>
                  <a:srgbClr val="404040"/>
                </a:solidFill>
                <a:latin typeface="Arial"/>
              </a:rPr>
              <a:t> </a:t>
            </a:r>
          </a:p>
          <a:p>
            <a:pPr marL="270000" indent="-269640">
              <a:lnSpc>
                <a:spcPct val="100000"/>
              </a:lnSpc>
              <a:spcBef>
                <a:spcPts val="36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1800" b="0" strike="noStrike" spc="-1">
                <a:solidFill>
                  <a:srgbClr val="404040"/>
                </a:solidFill>
                <a:latin typeface="Arial"/>
              </a:rPr>
              <a:t>Verwaltung</a:t>
            </a:r>
          </a:p>
          <a:p>
            <a:pPr marL="895320" lvl="1" indent="-353520">
              <a:lnSpc>
                <a:spcPct val="100000"/>
              </a:lnSpc>
              <a:spcBef>
                <a:spcPts val="320"/>
              </a:spcBef>
              <a:buClr>
                <a:srgbClr val="595959"/>
              </a:buClr>
              <a:buFont typeface="Symbol"/>
              <a:buChar char="-"/>
            </a:pPr>
            <a:r>
              <a:rPr lang="de-DE" sz="1600" b="0" strike="noStrike" spc="-1">
                <a:solidFill>
                  <a:srgbClr val="404040"/>
                </a:solidFill>
                <a:latin typeface="Arial"/>
              </a:rPr>
              <a:t>Startreferenz zeigt auf Listenanfang</a:t>
            </a:r>
          </a:p>
          <a:p>
            <a:pPr marL="895320" lvl="1" indent="-353520">
              <a:lnSpc>
                <a:spcPct val="100000"/>
              </a:lnSpc>
              <a:spcBef>
                <a:spcPts val="320"/>
              </a:spcBef>
              <a:buClr>
                <a:srgbClr val="595959"/>
              </a:buClr>
              <a:buFont typeface="Symbol"/>
              <a:buChar char="-"/>
            </a:pPr>
            <a:r>
              <a:rPr lang="de-DE" sz="1600" b="0" strike="noStrike" spc="-1">
                <a:solidFill>
                  <a:srgbClr val="404040"/>
                </a:solidFill>
                <a:latin typeface="Arial"/>
              </a:rPr>
              <a:t>Letztes Element zeigt auf null</a:t>
            </a:r>
          </a:p>
          <a:p>
            <a:endParaRPr lang="de-DE" sz="1600" b="0" strike="noStrike" spc="-1">
              <a:solidFill>
                <a:srgbClr val="404040"/>
              </a:solidFill>
              <a:latin typeface="Arial"/>
            </a:endParaRPr>
          </a:p>
          <a:p>
            <a:endParaRPr lang="de-DE" sz="1600" b="0" strike="noStrike" spc="-1">
              <a:solidFill>
                <a:srgbClr val="404040"/>
              </a:solidFill>
              <a:latin typeface="Arial"/>
            </a:endParaRPr>
          </a:p>
          <a:p>
            <a:endParaRPr lang="de-DE" sz="1600" b="0" strike="noStrike" spc="-1">
              <a:solidFill>
                <a:srgbClr val="404040"/>
              </a:solidFill>
              <a:latin typeface="Arial"/>
            </a:endParaRPr>
          </a:p>
          <a:p>
            <a:endParaRPr lang="de-DE" sz="1600" b="0" strike="noStrike" spc="-1">
              <a:solidFill>
                <a:srgbClr val="40404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de-DE" sz="1600" b="0" strike="noStrike" spc="-1">
              <a:solidFill>
                <a:srgbClr val="404040"/>
              </a:solidFill>
              <a:latin typeface="Arial"/>
            </a:endParaRPr>
          </a:p>
        </p:txBody>
      </p:sp>
      <p:grpSp>
        <p:nvGrpSpPr>
          <p:cNvPr id="73" name="Group 4"/>
          <p:cNvGrpSpPr/>
          <p:nvPr/>
        </p:nvGrpSpPr>
        <p:grpSpPr>
          <a:xfrm>
            <a:off x="1619640" y="3573000"/>
            <a:ext cx="5040000" cy="1080000"/>
            <a:chOff x="1619640" y="3573000"/>
            <a:chExt cx="5040000" cy="1080000"/>
          </a:xfrm>
        </p:grpSpPr>
        <p:grpSp>
          <p:nvGrpSpPr>
            <p:cNvPr id="74" name="Group 5"/>
            <p:cNvGrpSpPr/>
            <p:nvPr/>
          </p:nvGrpSpPr>
          <p:grpSpPr>
            <a:xfrm>
              <a:off x="1986120" y="3826800"/>
              <a:ext cx="1562400" cy="795240"/>
              <a:chOff x="1986120" y="3826800"/>
              <a:chExt cx="1562400" cy="795240"/>
            </a:xfrm>
          </p:grpSpPr>
          <p:sp>
            <p:nvSpPr>
              <p:cNvPr id="75" name="CustomShape 6"/>
              <p:cNvSpPr/>
              <p:nvPr/>
            </p:nvSpPr>
            <p:spPr>
              <a:xfrm>
                <a:off x="1986120" y="3826800"/>
                <a:ext cx="1112400" cy="307080"/>
              </a:xfrm>
              <a:prstGeom prst="roundRect">
                <a:avLst>
                  <a:gd name="adj" fmla="val 16667"/>
                </a:avLst>
              </a:prstGeom>
              <a:solidFill>
                <a:schemeClr val="bg2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de-AT" sz="1200" b="0" strike="noStrike" spc="-1">
                    <a:solidFill>
                      <a:srgbClr val="4F81BD"/>
                    </a:solidFill>
                    <a:latin typeface="Arial"/>
                  </a:rPr>
                  <a:t>Node</a:t>
                </a:r>
                <a:endParaRPr lang="de-AT" sz="1200" b="0" strike="noStrike" spc="-1">
                  <a:latin typeface="Arial"/>
                </a:endParaRPr>
              </a:p>
            </p:txBody>
          </p:sp>
          <p:sp>
            <p:nvSpPr>
              <p:cNvPr id="76" name="CustomShape 7"/>
              <p:cNvSpPr/>
              <p:nvPr/>
            </p:nvSpPr>
            <p:spPr>
              <a:xfrm>
                <a:off x="1990800" y="4314960"/>
                <a:ext cx="1112400" cy="307080"/>
              </a:xfrm>
              <a:prstGeom prst="roundRect">
                <a:avLst>
                  <a:gd name="adj" fmla="val 16667"/>
                </a:avLst>
              </a:prstGeom>
              <a:solidFill>
                <a:schemeClr val="bg2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de-AT" sz="1200" b="0" strike="noStrike" spc="-1">
                    <a:solidFill>
                      <a:srgbClr val="4F81BD"/>
                    </a:solidFill>
                    <a:latin typeface="Arial"/>
                  </a:rPr>
                  <a:t>DataObject</a:t>
                </a:r>
                <a:endParaRPr lang="de-AT" sz="1200" b="0" strike="noStrike" spc="-1">
                  <a:latin typeface="Arial"/>
                </a:endParaRPr>
              </a:p>
            </p:txBody>
          </p:sp>
          <p:sp>
            <p:nvSpPr>
              <p:cNvPr id="77" name="CustomShape 8"/>
              <p:cNvSpPr/>
              <p:nvPr/>
            </p:nvSpPr>
            <p:spPr>
              <a:xfrm>
                <a:off x="2547000" y="4134240"/>
                <a:ext cx="360" cy="180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60">
                <a:solidFill>
                  <a:srgbClr val="4A7EBB"/>
                </a:solidFill>
                <a:round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8" name="CustomShape 9"/>
              <p:cNvSpPr/>
              <p:nvPr/>
            </p:nvSpPr>
            <p:spPr>
              <a:xfrm>
                <a:off x="3103560" y="3976920"/>
                <a:ext cx="444960" cy="324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60">
                <a:solidFill>
                  <a:srgbClr val="4A7EBB"/>
                </a:solidFill>
                <a:round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79" name="Group 10"/>
            <p:cNvGrpSpPr/>
            <p:nvPr/>
          </p:nvGrpSpPr>
          <p:grpSpPr>
            <a:xfrm>
              <a:off x="3539880" y="3857400"/>
              <a:ext cx="1562040" cy="795600"/>
              <a:chOff x="3539880" y="3857400"/>
              <a:chExt cx="1562040" cy="795600"/>
            </a:xfrm>
          </p:grpSpPr>
          <p:sp>
            <p:nvSpPr>
              <p:cNvPr id="80" name="CustomShape 11"/>
              <p:cNvSpPr/>
              <p:nvPr/>
            </p:nvSpPr>
            <p:spPr>
              <a:xfrm>
                <a:off x="3539880" y="3857400"/>
                <a:ext cx="1112400" cy="307080"/>
              </a:xfrm>
              <a:prstGeom prst="roundRect">
                <a:avLst>
                  <a:gd name="adj" fmla="val 16667"/>
                </a:avLst>
              </a:prstGeom>
              <a:solidFill>
                <a:schemeClr val="bg2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de-AT" sz="1200" b="0" strike="noStrike" spc="-1">
                    <a:solidFill>
                      <a:srgbClr val="4F81BD"/>
                    </a:solidFill>
                    <a:latin typeface="Arial"/>
                  </a:rPr>
                  <a:t>Node</a:t>
                </a:r>
                <a:endParaRPr lang="de-AT" sz="1200" b="0" strike="noStrike" spc="-1">
                  <a:latin typeface="Arial"/>
                </a:endParaRPr>
              </a:p>
            </p:txBody>
          </p:sp>
          <p:sp>
            <p:nvSpPr>
              <p:cNvPr id="81" name="CustomShape 12"/>
              <p:cNvSpPr/>
              <p:nvPr/>
            </p:nvSpPr>
            <p:spPr>
              <a:xfrm>
                <a:off x="3544200" y="4345920"/>
                <a:ext cx="1112400" cy="307080"/>
              </a:xfrm>
              <a:prstGeom prst="roundRect">
                <a:avLst>
                  <a:gd name="adj" fmla="val 16667"/>
                </a:avLst>
              </a:prstGeom>
              <a:solidFill>
                <a:schemeClr val="bg2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de-AT" sz="1200" b="0" strike="noStrike" spc="-1">
                    <a:solidFill>
                      <a:srgbClr val="4F81BD"/>
                    </a:solidFill>
                    <a:latin typeface="Arial"/>
                  </a:rPr>
                  <a:t>DataObject</a:t>
                </a:r>
                <a:endParaRPr lang="de-AT" sz="1200" b="0" strike="noStrike" spc="-1">
                  <a:latin typeface="Arial"/>
                </a:endParaRPr>
              </a:p>
            </p:txBody>
          </p:sp>
          <p:sp>
            <p:nvSpPr>
              <p:cNvPr id="82" name="CustomShape 13"/>
              <p:cNvSpPr/>
              <p:nvPr/>
            </p:nvSpPr>
            <p:spPr>
              <a:xfrm>
                <a:off x="4100760" y="4164840"/>
                <a:ext cx="360" cy="180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60">
                <a:solidFill>
                  <a:srgbClr val="4A7EBB"/>
                </a:solidFill>
                <a:round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3" name="CustomShape 14"/>
              <p:cNvSpPr/>
              <p:nvPr/>
            </p:nvSpPr>
            <p:spPr>
              <a:xfrm>
                <a:off x="4656960" y="4007520"/>
                <a:ext cx="444960" cy="324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60">
                <a:solidFill>
                  <a:srgbClr val="4A7EBB"/>
                </a:solidFill>
                <a:round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84" name="CustomShape 15"/>
            <p:cNvSpPr/>
            <p:nvPr/>
          </p:nvSpPr>
          <p:spPr>
            <a:xfrm>
              <a:off x="5097960" y="3857400"/>
              <a:ext cx="1112400" cy="30708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Node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85" name="CustomShape 16"/>
            <p:cNvSpPr/>
            <p:nvPr/>
          </p:nvSpPr>
          <p:spPr>
            <a:xfrm>
              <a:off x="5102280" y="4345920"/>
              <a:ext cx="1112400" cy="30708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DataObject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86" name="CustomShape 17"/>
            <p:cNvSpPr/>
            <p:nvPr/>
          </p:nvSpPr>
          <p:spPr>
            <a:xfrm>
              <a:off x="5658840" y="4164840"/>
              <a:ext cx="360" cy="180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7" name="CustomShape 18"/>
            <p:cNvSpPr/>
            <p:nvPr/>
          </p:nvSpPr>
          <p:spPr>
            <a:xfrm>
              <a:off x="6210720" y="4003920"/>
              <a:ext cx="444960" cy="32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8" name="CustomShape 19"/>
            <p:cNvSpPr/>
            <p:nvPr/>
          </p:nvSpPr>
          <p:spPr>
            <a:xfrm>
              <a:off x="1619640" y="3573000"/>
              <a:ext cx="922680" cy="2534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9" name="CustomShape 20"/>
            <p:cNvSpPr/>
            <p:nvPr/>
          </p:nvSpPr>
          <p:spPr>
            <a:xfrm flipV="1">
              <a:off x="6655680" y="3819600"/>
              <a:ext cx="3960" cy="1245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90" name="Group 21"/>
          <p:cNvGrpSpPr/>
          <p:nvPr/>
        </p:nvGrpSpPr>
        <p:grpSpPr>
          <a:xfrm>
            <a:off x="5436000" y="1268640"/>
            <a:ext cx="2628720" cy="1367640"/>
            <a:chOff x="5436000" y="1268640"/>
            <a:chExt cx="2628720" cy="1367640"/>
          </a:xfrm>
        </p:grpSpPr>
        <p:sp>
          <p:nvSpPr>
            <p:cNvPr id="91" name="CustomShape 22"/>
            <p:cNvSpPr/>
            <p:nvPr/>
          </p:nvSpPr>
          <p:spPr>
            <a:xfrm>
              <a:off x="5436000" y="1268640"/>
              <a:ext cx="1415160" cy="52812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Node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92" name="CustomShape 23"/>
            <p:cNvSpPr/>
            <p:nvPr/>
          </p:nvSpPr>
          <p:spPr>
            <a:xfrm>
              <a:off x="5441760" y="2108160"/>
              <a:ext cx="1415160" cy="52812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DataObject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93" name="CustomShape 24"/>
            <p:cNvSpPr/>
            <p:nvPr/>
          </p:nvSpPr>
          <p:spPr>
            <a:xfrm>
              <a:off x="6149520" y="1797480"/>
              <a:ext cx="360" cy="3106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4" name="CustomShape 25"/>
            <p:cNvSpPr/>
            <p:nvPr/>
          </p:nvSpPr>
          <p:spPr>
            <a:xfrm>
              <a:off x="6851520" y="1520640"/>
              <a:ext cx="565920" cy="57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5" name="CustomShape 26"/>
            <p:cNvSpPr/>
            <p:nvPr/>
          </p:nvSpPr>
          <p:spPr>
            <a:xfrm flipV="1">
              <a:off x="7417800" y="1203120"/>
              <a:ext cx="5040" cy="2142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6" name="CustomShape 27"/>
            <p:cNvSpPr/>
            <p:nvPr/>
          </p:nvSpPr>
          <p:spPr>
            <a:xfrm>
              <a:off x="7566480" y="1368360"/>
              <a:ext cx="498240" cy="3337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/>
            <a:lstStyle/>
            <a:p>
              <a:pPr>
                <a:lnSpc>
                  <a:spcPct val="100000"/>
                </a:lnSpc>
              </a:pPr>
              <a:r>
                <a:rPr lang="de-AT" sz="1600" b="0" strike="noStrike" spc="-1">
                  <a:solidFill>
                    <a:srgbClr val="1F497D"/>
                  </a:solidFill>
                  <a:latin typeface="Arial"/>
                </a:rPr>
                <a:t>null</a:t>
              </a:r>
              <a:endParaRPr lang="de-AT" sz="1600" b="0" strike="noStrike" spc="-1">
                <a:latin typeface="Arial"/>
              </a:endParaRPr>
            </a:p>
          </p:txBody>
        </p:sp>
      </p:grpSp>
      <p:sp>
        <p:nvSpPr>
          <p:cNvPr id="97" name="CustomShape 28"/>
          <p:cNvSpPr/>
          <p:nvPr/>
        </p:nvSpPr>
        <p:spPr>
          <a:xfrm>
            <a:off x="799560" y="3429000"/>
            <a:ext cx="81360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de-AT" sz="1800" b="0" strike="noStrike" spc="-1">
                <a:solidFill>
                  <a:srgbClr val="1F497D"/>
                </a:solidFill>
                <a:latin typeface="Arial"/>
              </a:rPr>
              <a:t>_head</a:t>
            </a:r>
            <a:endParaRPr lang="de-AT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Listenoperationen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0000" indent="-269640">
              <a:lnSpc>
                <a:spcPct val="100000"/>
              </a:lnSpc>
              <a:spcBef>
                <a:spcPts val="561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800" b="0" strike="noStrike" spc="-1">
                <a:solidFill>
                  <a:srgbClr val="404040"/>
                </a:solidFill>
                <a:latin typeface="Arial"/>
              </a:rPr>
              <a:t>Insert</a:t>
            </a: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de-DE" sz="2800" b="0" strike="noStrike" spc="-1">
              <a:solidFill>
                <a:srgbClr val="40404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de-DE" sz="2800" b="0" strike="noStrike" spc="-1">
              <a:solidFill>
                <a:srgbClr val="40404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de-DE" sz="2800" b="0" strike="noStrike" spc="-1">
              <a:solidFill>
                <a:srgbClr val="404040"/>
              </a:solidFill>
              <a:latin typeface="Arial"/>
            </a:endParaRPr>
          </a:p>
          <a:p>
            <a:pPr marL="270000" indent="-269640">
              <a:lnSpc>
                <a:spcPct val="100000"/>
              </a:lnSpc>
              <a:spcBef>
                <a:spcPts val="561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800" b="0" strike="noStrike" spc="-1">
                <a:solidFill>
                  <a:srgbClr val="404040"/>
                </a:solidFill>
                <a:latin typeface="Arial"/>
              </a:rPr>
              <a:t>Remove</a:t>
            </a:r>
          </a:p>
        </p:txBody>
      </p:sp>
      <p:pic>
        <p:nvPicPr>
          <p:cNvPr id="100" name="Picture 2"/>
          <p:cNvPicPr/>
          <p:nvPr/>
        </p:nvPicPr>
        <p:blipFill>
          <a:blip r:embed="rId2"/>
          <a:stretch/>
        </p:blipFill>
        <p:spPr>
          <a:xfrm>
            <a:off x="2217240" y="1700640"/>
            <a:ext cx="4514400" cy="1104480"/>
          </a:xfrm>
          <a:prstGeom prst="rect">
            <a:avLst/>
          </a:prstGeom>
          <a:ln>
            <a:noFill/>
          </a:ln>
        </p:spPr>
      </p:pic>
      <p:pic>
        <p:nvPicPr>
          <p:cNvPr id="101" name="Picture 4"/>
          <p:cNvPicPr/>
          <p:nvPr/>
        </p:nvPicPr>
        <p:blipFill>
          <a:blip r:embed="rId3"/>
          <a:stretch/>
        </p:blipFill>
        <p:spPr>
          <a:xfrm>
            <a:off x="2608560" y="3859920"/>
            <a:ext cx="3619080" cy="1657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Beispiel: ListOfPeople - Methoden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pic>
        <p:nvPicPr>
          <p:cNvPr id="104" name="Grafik 4"/>
          <p:cNvPicPr/>
          <p:nvPr/>
        </p:nvPicPr>
        <p:blipFill>
          <a:blip r:embed="rId2"/>
          <a:stretch/>
        </p:blipFill>
        <p:spPr>
          <a:xfrm>
            <a:off x="457200" y="941760"/>
            <a:ext cx="8235360" cy="5184360"/>
          </a:xfrm>
          <a:prstGeom prst="rect">
            <a:avLst/>
          </a:prstGeom>
          <a:ln>
            <a:noFill/>
          </a:ln>
        </p:spPr>
      </p:pic>
      <p:sp>
        <p:nvSpPr>
          <p:cNvPr id="105" name="CustomShape 3"/>
          <p:cNvSpPr/>
          <p:nvPr/>
        </p:nvSpPr>
        <p:spPr>
          <a:xfrm>
            <a:off x="35640" y="2709000"/>
            <a:ext cx="8946720" cy="2876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CustomShape 4"/>
          <p:cNvSpPr/>
          <p:nvPr/>
        </p:nvSpPr>
        <p:spPr>
          <a:xfrm>
            <a:off x="35640" y="4221000"/>
            <a:ext cx="8946720" cy="2876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CustomShape 5"/>
          <p:cNvSpPr/>
          <p:nvPr/>
        </p:nvSpPr>
        <p:spPr>
          <a:xfrm>
            <a:off x="35640" y="5589360"/>
            <a:ext cx="8946720" cy="2876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08" name="Group 6"/>
          <p:cNvGrpSpPr/>
          <p:nvPr/>
        </p:nvGrpSpPr>
        <p:grpSpPr>
          <a:xfrm>
            <a:off x="7675560" y="5085360"/>
            <a:ext cx="1234080" cy="981720"/>
            <a:chOff x="7675560" y="5085360"/>
            <a:chExt cx="1234080" cy="981720"/>
          </a:xfrm>
        </p:grpSpPr>
        <p:sp>
          <p:nvSpPr>
            <p:cNvPr id="109" name="CustomShape 7"/>
            <p:cNvSpPr/>
            <p:nvPr/>
          </p:nvSpPr>
          <p:spPr>
            <a:xfrm rot="20109600">
              <a:off x="7745760" y="5288400"/>
              <a:ext cx="1093320" cy="57564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0" name="CustomShape 8"/>
            <p:cNvSpPr/>
            <p:nvPr/>
          </p:nvSpPr>
          <p:spPr>
            <a:xfrm rot="20109600">
              <a:off x="7746480" y="5351400"/>
              <a:ext cx="1077120" cy="455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/>
            <a:lstStyle/>
            <a:p>
              <a:pPr>
                <a:lnSpc>
                  <a:spcPct val="100000"/>
                </a:lnSpc>
              </a:pPr>
              <a:r>
                <a:rPr lang="de-AT" sz="2400" b="0" strike="noStrike" spc="-1">
                  <a:solidFill>
                    <a:srgbClr val="FF0000"/>
                  </a:solidFill>
                  <a:latin typeface="Arial"/>
                </a:rPr>
                <a:t>Übung</a:t>
              </a:r>
              <a:endParaRPr lang="de-AT" sz="2400" b="0" strike="noStrike" spc="-1"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Shape 1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de-DE" sz="2800" b="1" strike="noStrike" spc="-1">
                <a:solidFill>
                  <a:srgbClr val="FFFFFF"/>
                </a:solidFill>
                <a:latin typeface="Arial"/>
              </a:rPr>
              <a:t>Beispiel: ListOfPeople - Klassendiagramm</a:t>
            </a:r>
            <a:endParaRPr lang="de-DE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endParaRPr lang="de-DE" sz="2800" b="0" strike="noStrike" spc="-1">
              <a:solidFill>
                <a:srgbClr val="404040"/>
              </a:solidFill>
              <a:latin typeface="Arial"/>
            </a:endParaRPr>
          </a:p>
        </p:txBody>
      </p:sp>
      <p:pic>
        <p:nvPicPr>
          <p:cNvPr id="113" name="Grafik 3"/>
          <p:cNvPicPr/>
          <p:nvPr/>
        </p:nvPicPr>
        <p:blipFill>
          <a:blip r:embed="rId2"/>
          <a:stretch/>
        </p:blipFill>
        <p:spPr>
          <a:xfrm>
            <a:off x="337680" y="1484640"/>
            <a:ext cx="8357040" cy="2592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Sortierte einfach verkettete Liste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Shape 2"/>
          <p:cNvSpPr txBox="1"/>
          <p:nvPr/>
        </p:nvSpPr>
        <p:spPr>
          <a:xfrm>
            <a:off x="395640" y="11246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0000" indent="-26964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400" b="0" strike="noStrike" spc="-1">
                <a:solidFill>
                  <a:srgbClr val="404040"/>
                </a:solidFill>
                <a:latin typeface="Arial"/>
              </a:rPr>
              <a:t>Vergleich: sortiertes Einfügen in Array und Listen</a:t>
            </a:r>
          </a:p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400" b="0" strike="noStrike" spc="-1">
                <a:solidFill>
                  <a:srgbClr val="404040"/>
                </a:solidFill>
                <a:latin typeface="Arial"/>
              </a:rPr>
              <a:t>Array</a:t>
            </a:r>
          </a:p>
          <a:p>
            <a:pPr marL="1343160" lvl="2" indent="-269640">
              <a:lnSpc>
                <a:spcPct val="100000"/>
              </a:lnSpc>
              <a:spcBef>
                <a:spcPts val="40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000" b="0" strike="noStrike" spc="-1">
                <a:solidFill>
                  <a:srgbClr val="404040"/>
                </a:solidFill>
                <a:latin typeface="Arial"/>
              </a:rPr>
              <a:t>Position suchen</a:t>
            </a:r>
          </a:p>
          <a:p>
            <a:pPr marL="1343160" lvl="2" indent="-269640">
              <a:lnSpc>
                <a:spcPct val="100000"/>
              </a:lnSpc>
              <a:spcBef>
                <a:spcPts val="40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000" b="0" strike="noStrike" spc="-1">
                <a:solidFill>
                  <a:srgbClr val="404040"/>
                </a:solidFill>
                <a:latin typeface="Arial"/>
              </a:rPr>
              <a:t>Platz freimachen (Rest nach hinten verschieben)</a:t>
            </a:r>
          </a:p>
          <a:p>
            <a:pPr marL="1343160" lvl="2" indent="-269640">
              <a:lnSpc>
                <a:spcPct val="100000"/>
              </a:lnSpc>
              <a:spcBef>
                <a:spcPts val="40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000" b="0" strike="noStrike" spc="-1">
                <a:solidFill>
                  <a:srgbClr val="404040"/>
                </a:solidFill>
                <a:latin typeface="Arial"/>
              </a:rPr>
              <a:t>Einfügen</a:t>
            </a:r>
          </a:p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400" b="0" strike="noStrike" spc="-1">
                <a:solidFill>
                  <a:srgbClr val="404040"/>
                </a:solidFill>
                <a:latin typeface="Arial"/>
              </a:rPr>
              <a:t>Liste</a:t>
            </a:r>
          </a:p>
          <a:p>
            <a:pPr marL="1343160" lvl="2" indent="-269640">
              <a:lnSpc>
                <a:spcPct val="100000"/>
              </a:lnSpc>
              <a:spcBef>
                <a:spcPts val="40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000" b="0" strike="noStrike" spc="-1">
                <a:solidFill>
                  <a:srgbClr val="404040"/>
                </a:solidFill>
                <a:latin typeface="Arial"/>
              </a:rPr>
              <a:t>Position suchen</a:t>
            </a:r>
          </a:p>
          <a:p>
            <a:pPr marL="1343160" lvl="2" indent="-269640">
              <a:lnSpc>
                <a:spcPct val="100000"/>
              </a:lnSpc>
              <a:spcBef>
                <a:spcPts val="40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000" b="0" strike="noStrike" spc="-1">
                <a:solidFill>
                  <a:srgbClr val="404040"/>
                </a:solidFill>
                <a:latin typeface="Arial"/>
              </a:rPr>
              <a:t>Knoten „einlinken“</a:t>
            </a:r>
          </a:p>
          <a:p>
            <a:pPr marL="270000" indent="-26964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400" b="0" strike="noStrike" spc="-1">
                <a:solidFill>
                  <a:srgbClr val="404040"/>
                </a:solidFill>
                <a:latin typeface="Arial"/>
              </a:rPr>
              <a:t>Einfügen in Listen an definierten Positionen ist weniger aufwändig als bei Arrays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Shape 1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Sortiertes Einfügen in Listen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Shape 2"/>
          <p:cNvSpPr txBox="1"/>
          <p:nvPr/>
        </p:nvSpPr>
        <p:spPr>
          <a:xfrm>
            <a:off x="251640" y="9806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0000" indent="-269640">
              <a:lnSpc>
                <a:spcPct val="100000"/>
              </a:lnSpc>
              <a:spcBef>
                <a:spcPts val="40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000" b="0" strike="noStrike" spc="-1">
                <a:solidFill>
                  <a:srgbClr val="404040"/>
                </a:solidFill>
                <a:latin typeface="Arial"/>
              </a:rPr>
              <a:t>Fall 1: Liste ist leer </a:t>
            </a:r>
            <a:r>
              <a:rPr lang="de-DE" sz="2000" b="0" strike="noStrike" spc="-1">
                <a:solidFill>
                  <a:srgbClr val="404040"/>
                </a:solidFill>
                <a:latin typeface="Wingdings"/>
              </a:rPr>
              <a:t></a:t>
            </a:r>
            <a:r>
              <a:rPr lang="de-DE" sz="2000" b="0" strike="noStrike" spc="-1">
                <a:solidFill>
                  <a:srgbClr val="404040"/>
                </a:solidFill>
                <a:latin typeface="Arial"/>
              </a:rPr>
              <a:t> trivial</a:t>
            </a:r>
          </a:p>
          <a:p>
            <a:pPr marL="270000" indent="-269640">
              <a:lnSpc>
                <a:spcPct val="100000"/>
              </a:lnSpc>
              <a:spcBef>
                <a:spcPts val="40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000" b="0" strike="noStrike" spc="-1">
                <a:solidFill>
                  <a:srgbClr val="404040"/>
                </a:solidFill>
                <a:latin typeface="Arial"/>
              </a:rPr>
              <a:t>Fall 2: neues „kleinstes“ Element</a:t>
            </a:r>
          </a:p>
          <a:p>
            <a:pPr marL="895320" lvl="1" indent="-353520">
              <a:lnSpc>
                <a:spcPct val="100000"/>
              </a:lnSpc>
              <a:spcBef>
                <a:spcPts val="400"/>
              </a:spcBef>
              <a:buClr>
                <a:srgbClr val="595959"/>
              </a:buClr>
              <a:buFont typeface="Symbol"/>
              <a:buChar char="-"/>
            </a:pPr>
            <a:r>
              <a:rPr lang="de-DE" sz="2000" b="0" strike="noStrike" spc="-1">
                <a:solidFill>
                  <a:srgbClr val="404040"/>
                </a:solidFill>
                <a:latin typeface="Arial"/>
              </a:rPr>
              <a:t>Wird neuer Listenkopf</a:t>
            </a:r>
          </a:p>
        </p:txBody>
      </p:sp>
      <p:grpSp>
        <p:nvGrpSpPr>
          <p:cNvPr id="118" name="Group 3"/>
          <p:cNvGrpSpPr/>
          <p:nvPr/>
        </p:nvGrpSpPr>
        <p:grpSpPr>
          <a:xfrm>
            <a:off x="3452760" y="3102480"/>
            <a:ext cx="1673640" cy="1007280"/>
            <a:chOff x="3452760" y="3102480"/>
            <a:chExt cx="1673640" cy="1007280"/>
          </a:xfrm>
        </p:grpSpPr>
        <p:sp>
          <p:nvSpPr>
            <p:cNvPr id="119" name="CustomShape 4"/>
            <p:cNvSpPr/>
            <p:nvPr/>
          </p:nvSpPr>
          <p:spPr>
            <a:xfrm>
              <a:off x="3452760" y="3102480"/>
              <a:ext cx="1191960" cy="38916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Node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120" name="CustomShape 5"/>
            <p:cNvSpPr/>
            <p:nvPr/>
          </p:nvSpPr>
          <p:spPr>
            <a:xfrm>
              <a:off x="3457440" y="3720600"/>
              <a:ext cx="1191960" cy="38916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7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121" name="CustomShape 6"/>
            <p:cNvSpPr/>
            <p:nvPr/>
          </p:nvSpPr>
          <p:spPr>
            <a:xfrm>
              <a:off x="4053600" y="3491640"/>
              <a:ext cx="360" cy="228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2" name="CustomShape 7"/>
            <p:cNvSpPr/>
            <p:nvPr/>
          </p:nvSpPr>
          <p:spPr>
            <a:xfrm>
              <a:off x="4649760" y="3292560"/>
              <a:ext cx="476640" cy="43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3" name="Group 8"/>
          <p:cNvGrpSpPr/>
          <p:nvPr/>
        </p:nvGrpSpPr>
        <p:grpSpPr>
          <a:xfrm>
            <a:off x="5117040" y="3141360"/>
            <a:ext cx="1673640" cy="1007640"/>
            <a:chOff x="5117040" y="3141360"/>
            <a:chExt cx="1673640" cy="1007640"/>
          </a:xfrm>
        </p:grpSpPr>
        <p:sp>
          <p:nvSpPr>
            <p:cNvPr id="124" name="CustomShape 9"/>
            <p:cNvSpPr/>
            <p:nvPr/>
          </p:nvSpPr>
          <p:spPr>
            <a:xfrm>
              <a:off x="5117040" y="3141360"/>
              <a:ext cx="1191960" cy="38916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Node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125" name="CustomShape 10"/>
            <p:cNvSpPr/>
            <p:nvPr/>
          </p:nvSpPr>
          <p:spPr>
            <a:xfrm>
              <a:off x="5121720" y="3759840"/>
              <a:ext cx="1191960" cy="38916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12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126" name="CustomShape 11"/>
            <p:cNvSpPr/>
            <p:nvPr/>
          </p:nvSpPr>
          <p:spPr>
            <a:xfrm>
              <a:off x="5717880" y="3530880"/>
              <a:ext cx="360" cy="228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7" name="CustomShape 12"/>
            <p:cNvSpPr/>
            <p:nvPr/>
          </p:nvSpPr>
          <p:spPr>
            <a:xfrm>
              <a:off x="6314040" y="3331440"/>
              <a:ext cx="476640" cy="43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28" name="CustomShape 13"/>
          <p:cNvSpPr/>
          <p:nvPr/>
        </p:nvSpPr>
        <p:spPr>
          <a:xfrm>
            <a:off x="6786360" y="3141360"/>
            <a:ext cx="1191960" cy="38916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de-AT" sz="1200" b="0" strike="noStrike" spc="-1">
                <a:solidFill>
                  <a:srgbClr val="4F81BD"/>
                </a:solidFill>
                <a:latin typeface="Arial"/>
              </a:rPr>
              <a:t>Node</a:t>
            </a:r>
            <a:endParaRPr lang="de-AT" sz="1200" b="0" strike="noStrike" spc="-1">
              <a:latin typeface="Arial"/>
            </a:endParaRPr>
          </a:p>
        </p:txBody>
      </p:sp>
      <p:sp>
        <p:nvSpPr>
          <p:cNvPr id="129" name="CustomShape 14"/>
          <p:cNvSpPr/>
          <p:nvPr/>
        </p:nvSpPr>
        <p:spPr>
          <a:xfrm>
            <a:off x="6791040" y="3759840"/>
            <a:ext cx="1191960" cy="38916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de-AT" sz="1200" b="0" strike="noStrike" spc="-1">
                <a:solidFill>
                  <a:srgbClr val="4F81BD"/>
                </a:solidFill>
                <a:latin typeface="Arial"/>
              </a:rPr>
              <a:t>25</a:t>
            </a:r>
            <a:endParaRPr lang="de-AT" sz="1200" b="0" strike="noStrike" spc="-1">
              <a:latin typeface="Arial"/>
            </a:endParaRPr>
          </a:p>
        </p:txBody>
      </p:sp>
      <p:sp>
        <p:nvSpPr>
          <p:cNvPr id="130" name="CustomShape 15"/>
          <p:cNvSpPr/>
          <p:nvPr/>
        </p:nvSpPr>
        <p:spPr>
          <a:xfrm>
            <a:off x="7387200" y="3530880"/>
            <a:ext cx="360" cy="22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1" name="CustomShape 16"/>
          <p:cNvSpPr/>
          <p:nvPr/>
        </p:nvSpPr>
        <p:spPr>
          <a:xfrm>
            <a:off x="7978680" y="3326760"/>
            <a:ext cx="476640" cy="4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2" name="CustomShape 17"/>
          <p:cNvSpPr/>
          <p:nvPr/>
        </p:nvSpPr>
        <p:spPr>
          <a:xfrm>
            <a:off x="3060000" y="2781000"/>
            <a:ext cx="988560" cy="321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3" name="CustomShape 18"/>
          <p:cNvSpPr/>
          <p:nvPr/>
        </p:nvSpPr>
        <p:spPr>
          <a:xfrm flipV="1">
            <a:off x="8455680" y="3251160"/>
            <a:ext cx="4320" cy="157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4" name="CustomShape 19"/>
          <p:cNvSpPr/>
          <p:nvPr/>
        </p:nvSpPr>
        <p:spPr>
          <a:xfrm>
            <a:off x="2383920" y="2421000"/>
            <a:ext cx="81360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de-AT" sz="1800" b="0" strike="noStrike" spc="-1">
                <a:solidFill>
                  <a:srgbClr val="1F497D"/>
                </a:solidFill>
                <a:latin typeface="Arial"/>
              </a:rPr>
              <a:t>_head</a:t>
            </a:r>
            <a:endParaRPr lang="de-AT" sz="1800" b="0" strike="noStrike" spc="-1">
              <a:latin typeface="Arial"/>
            </a:endParaRPr>
          </a:p>
        </p:txBody>
      </p:sp>
      <p:grpSp>
        <p:nvGrpSpPr>
          <p:cNvPr id="135" name="Group 20"/>
          <p:cNvGrpSpPr/>
          <p:nvPr/>
        </p:nvGrpSpPr>
        <p:grpSpPr>
          <a:xfrm>
            <a:off x="1187640" y="3115080"/>
            <a:ext cx="2021040" cy="995040"/>
            <a:chOff x="1187640" y="3115080"/>
            <a:chExt cx="2021040" cy="995040"/>
          </a:xfrm>
        </p:grpSpPr>
        <p:sp>
          <p:nvSpPr>
            <p:cNvPr id="136" name="CustomShape 21"/>
            <p:cNvSpPr/>
            <p:nvPr/>
          </p:nvSpPr>
          <p:spPr>
            <a:xfrm>
              <a:off x="1187640" y="3115080"/>
              <a:ext cx="1054080" cy="38412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Node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137" name="CustomShape 22"/>
            <p:cNvSpPr/>
            <p:nvPr/>
          </p:nvSpPr>
          <p:spPr>
            <a:xfrm>
              <a:off x="1191600" y="3726000"/>
              <a:ext cx="1054080" cy="38412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3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138" name="CustomShape 23"/>
            <p:cNvSpPr/>
            <p:nvPr/>
          </p:nvSpPr>
          <p:spPr>
            <a:xfrm>
              <a:off x="1719000" y="3499560"/>
              <a:ext cx="360" cy="2257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9" name="CustomShape 24"/>
            <p:cNvSpPr/>
            <p:nvPr/>
          </p:nvSpPr>
          <p:spPr>
            <a:xfrm>
              <a:off x="2242080" y="3298320"/>
              <a:ext cx="421560" cy="43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0" name="CustomShape 25"/>
            <p:cNvSpPr/>
            <p:nvPr/>
          </p:nvSpPr>
          <p:spPr>
            <a:xfrm flipV="1">
              <a:off x="2663640" y="3066840"/>
              <a:ext cx="3960" cy="1558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1" name="CustomShape 26"/>
            <p:cNvSpPr/>
            <p:nvPr/>
          </p:nvSpPr>
          <p:spPr>
            <a:xfrm>
              <a:off x="2711880" y="3187440"/>
              <a:ext cx="496800" cy="3330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/>
            <a:lstStyle/>
            <a:p>
              <a:pPr>
                <a:lnSpc>
                  <a:spcPct val="100000"/>
                </a:lnSpc>
              </a:pPr>
              <a:r>
                <a:rPr lang="de-AT" sz="1600" b="0" strike="noStrike" spc="-1">
                  <a:solidFill>
                    <a:srgbClr val="1F497D"/>
                  </a:solidFill>
                  <a:latin typeface="Arial"/>
                </a:rPr>
                <a:t>null</a:t>
              </a:r>
              <a:endParaRPr lang="de-AT" sz="1600" b="0" strike="noStrike" spc="-1">
                <a:latin typeface="Arial"/>
              </a:endParaRPr>
            </a:p>
          </p:txBody>
        </p:sp>
      </p:grpSp>
      <p:sp>
        <p:nvSpPr>
          <p:cNvPr id="142" name="CustomShape 27"/>
          <p:cNvSpPr/>
          <p:nvPr/>
        </p:nvSpPr>
        <p:spPr>
          <a:xfrm>
            <a:off x="789480" y="2781000"/>
            <a:ext cx="988560" cy="321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3" name="CustomShape 28"/>
          <p:cNvSpPr/>
          <p:nvPr/>
        </p:nvSpPr>
        <p:spPr>
          <a:xfrm>
            <a:off x="116280" y="2459520"/>
            <a:ext cx="12693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de-AT" sz="1800" b="0" strike="noStrike" spc="-1" dirty="0">
                <a:solidFill>
                  <a:srgbClr val="1F497D"/>
                </a:solidFill>
                <a:latin typeface="Arial"/>
              </a:rPr>
              <a:t>_</a:t>
            </a:r>
            <a:r>
              <a:rPr lang="de-AT" sz="1800" b="0" strike="noStrike" spc="-1" dirty="0" err="1">
                <a:solidFill>
                  <a:srgbClr val="1F497D"/>
                </a:solidFill>
                <a:latin typeface="Arial"/>
              </a:rPr>
              <a:t>newNode</a:t>
            </a:r>
            <a:endParaRPr lang="de-AT" sz="1800" b="0" strike="noStrike" spc="-1" dirty="0">
              <a:latin typeface="Arial"/>
            </a:endParaRPr>
          </a:p>
        </p:txBody>
      </p:sp>
      <p:grpSp>
        <p:nvGrpSpPr>
          <p:cNvPr id="144" name="Group 29"/>
          <p:cNvGrpSpPr/>
          <p:nvPr/>
        </p:nvGrpSpPr>
        <p:grpSpPr>
          <a:xfrm>
            <a:off x="3308760" y="4974480"/>
            <a:ext cx="1673640" cy="1007640"/>
            <a:chOff x="3308760" y="4974480"/>
            <a:chExt cx="1673640" cy="1007640"/>
          </a:xfrm>
        </p:grpSpPr>
        <p:sp>
          <p:nvSpPr>
            <p:cNvPr id="145" name="CustomShape 30"/>
            <p:cNvSpPr/>
            <p:nvPr/>
          </p:nvSpPr>
          <p:spPr>
            <a:xfrm>
              <a:off x="3308760" y="4974480"/>
              <a:ext cx="1191960" cy="38916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Node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146" name="CustomShape 31"/>
            <p:cNvSpPr/>
            <p:nvPr/>
          </p:nvSpPr>
          <p:spPr>
            <a:xfrm>
              <a:off x="3313440" y="5592960"/>
              <a:ext cx="1191960" cy="38916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7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147" name="CustomShape 32"/>
            <p:cNvSpPr/>
            <p:nvPr/>
          </p:nvSpPr>
          <p:spPr>
            <a:xfrm>
              <a:off x="3909600" y="5364000"/>
              <a:ext cx="360" cy="2286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8" name="CustomShape 33"/>
            <p:cNvSpPr/>
            <p:nvPr/>
          </p:nvSpPr>
          <p:spPr>
            <a:xfrm>
              <a:off x="4505760" y="5164560"/>
              <a:ext cx="476640" cy="43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49" name="CustomShape 34"/>
          <p:cNvSpPr/>
          <p:nvPr/>
        </p:nvSpPr>
        <p:spPr>
          <a:xfrm>
            <a:off x="4973040" y="5013720"/>
            <a:ext cx="1191960" cy="38916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de-AT" sz="1200" b="0" strike="noStrike" spc="-1">
                <a:solidFill>
                  <a:srgbClr val="4F81BD"/>
                </a:solidFill>
                <a:latin typeface="Arial"/>
              </a:rPr>
              <a:t>Node</a:t>
            </a:r>
            <a:endParaRPr lang="de-AT" sz="1200" b="0" strike="noStrike" spc="-1">
              <a:latin typeface="Arial"/>
            </a:endParaRPr>
          </a:p>
        </p:txBody>
      </p:sp>
      <p:sp>
        <p:nvSpPr>
          <p:cNvPr id="150" name="CustomShape 35"/>
          <p:cNvSpPr/>
          <p:nvPr/>
        </p:nvSpPr>
        <p:spPr>
          <a:xfrm>
            <a:off x="4977720" y="5631840"/>
            <a:ext cx="1191960" cy="38916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de-AT" sz="1200" b="0" strike="noStrike" spc="-1">
                <a:solidFill>
                  <a:srgbClr val="4F81BD"/>
                </a:solidFill>
                <a:latin typeface="Arial"/>
              </a:rPr>
              <a:t>12</a:t>
            </a:r>
            <a:endParaRPr lang="de-AT" sz="1200" b="0" strike="noStrike" spc="-1">
              <a:latin typeface="Arial"/>
            </a:endParaRPr>
          </a:p>
        </p:txBody>
      </p:sp>
      <p:sp>
        <p:nvSpPr>
          <p:cNvPr id="151" name="CustomShape 36"/>
          <p:cNvSpPr/>
          <p:nvPr/>
        </p:nvSpPr>
        <p:spPr>
          <a:xfrm>
            <a:off x="5573880" y="5402880"/>
            <a:ext cx="360" cy="22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2" name="CustomShape 37"/>
          <p:cNvSpPr/>
          <p:nvPr/>
        </p:nvSpPr>
        <p:spPr>
          <a:xfrm>
            <a:off x="6170040" y="5203440"/>
            <a:ext cx="476640" cy="4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3" name="CustomShape 38"/>
          <p:cNvSpPr/>
          <p:nvPr/>
        </p:nvSpPr>
        <p:spPr>
          <a:xfrm>
            <a:off x="6642360" y="5013720"/>
            <a:ext cx="1191960" cy="38916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de-AT" sz="1200" b="0" strike="noStrike" spc="-1">
                <a:solidFill>
                  <a:srgbClr val="4F81BD"/>
                </a:solidFill>
                <a:latin typeface="Arial"/>
              </a:rPr>
              <a:t>Node</a:t>
            </a:r>
            <a:endParaRPr lang="de-AT" sz="1200" b="0" strike="noStrike" spc="-1">
              <a:latin typeface="Arial"/>
            </a:endParaRPr>
          </a:p>
        </p:txBody>
      </p:sp>
      <p:sp>
        <p:nvSpPr>
          <p:cNvPr id="154" name="CustomShape 39"/>
          <p:cNvSpPr/>
          <p:nvPr/>
        </p:nvSpPr>
        <p:spPr>
          <a:xfrm>
            <a:off x="6647040" y="5631840"/>
            <a:ext cx="1191960" cy="38916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de-AT" sz="1200" b="0" strike="noStrike" spc="-1">
                <a:solidFill>
                  <a:srgbClr val="4F81BD"/>
                </a:solidFill>
                <a:latin typeface="Arial"/>
              </a:rPr>
              <a:t>25</a:t>
            </a:r>
            <a:endParaRPr lang="de-AT" sz="1200" b="0" strike="noStrike" spc="-1">
              <a:latin typeface="Arial"/>
            </a:endParaRPr>
          </a:p>
        </p:txBody>
      </p:sp>
      <p:sp>
        <p:nvSpPr>
          <p:cNvPr id="155" name="CustomShape 40"/>
          <p:cNvSpPr/>
          <p:nvPr/>
        </p:nvSpPr>
        <p:spPr>
          <a:xfrm>
            <a:off x="7243200" y="5402880"/>
            <a:ext cx="360" cy="22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" name="CustomShape 41"/>
          <p:cNvSpPr/>
          <p:nvPr/>
        </p:nvSpPr>
        <p:spPr>
          <a:xfrm>
            <a:off x="7834680" y="5199120"/>
            <a:ext cx="476640" cy="4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7" name="CustomShape 42"/>
          <p:cNvSpPr/>
          <p:nvPr/>
        </p:nvSpPr>
        <p:spPr>
          <a:xfrm flipV="1">
            <a:off x="8311680" y="5123520"/>
            <a:ext cx="4320" cy="157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8" name="CustomShape 43"/>
          <p:cNvSpPr/>
          <p:nvPr/>
        </p:nvSpPr>
        <p:spPr>
          <a:xfrm>
            <a:off x="1801800" y="4987080"/>
            <a:ext cx="1054080" cy="38412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de-AT" sz="1200" b="0" strike="noStrike" spc="-1">
                <a:solidFill>
                  <a:srgbClr val="4F81BD"/>
                </a:solidFill>
                <a:latin typeface="Arial"/>
              </a:rPr>
              <a:t>Node</a:t>
            </a:r>
            <a:endParaRPr lang="de-AT" sz="1200" b="0" strike="noStrike" spc="-1">
              <a:latin typeface="Arial"/>
            </a:endParaRPr>
          </a:p>
        </p:txBody>
      </p:sp>
      <p:sp>
        <p:nvSpPr>
          <p:cNvPr id="159" name="CustomShape 44"/>
          <p:cNvSpPr/>
          <p:nvPr/>
        </p:nvSpPr>
        <p:spPr>
          <a:xfrm>
            <a:off x="1806120" y="5598000"/>
            <a:ext cx="1054080" cy="38412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de-AT" sz="1200" b="0" strike="noStrike" spc="-1">
                <a:solidFill>
                  <a:srgbClr val="4F81BD"/>
                </a:solidFill>
                <a:latin typeface="Arial"/>
              </a:rPr>
              <a:t>3</a:t>
            </a:r>
            <a:endParaRPr lang="de-AT" sz="1200" b="0" strike="noStrike" spc="-1">
              <a:latin typeface="Arial"/>
            </a:endParaRPr>
          </a:p>
        </p:txBody>
      </p:sp>
      <p:sp>
        <p:nvSpPr>
          <p:cNvPr id="160" name="CustomShape 45"/>
          <p:cNvSpPr/>
          <p:nvPr/>
        </p:nvSpPr>
        <p:spPr>
          <a:xfrm>
            <a:off x="2333160" y="5371920"/>
            <a:ext cx="360" cy="225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1" name="CustomShape 46"/>
          <p:cNvSpPr/>
          <p:nvPr/>
        </p:nvSpPr>
        <p:spPr>
          <a:xfrm>
            <a:off x="1403640" y="4653000"/>
            <a:ext cx="988560" cy="321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2" name="CustomShape 47"/>
          <p:cNvSpPr/>
          <p:nvPr/>
        </p:nvSpPr>
        <p:spPr>
          <a:xfrm>
            <a:off x="583560" y="4331520"/>
            <a:ext cx="81360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de-AT" sz="1800" b="0" strike="noStrike" spc="-1">
                <a:solidFill>
                  <a:srgbClr val="1F497D"/>
                </a:solidFill>
                <a:latin typeface="Arial"/>
              </a:rPr>
              <a:t>_head</a:t>
            </a:r>
            <a:endParaRPr lang="de-AT" sz="1800" b="0" strike="noStrike" spc="-1">
              <a:latin typeface="Arial"/>
            </a:endParaRPr>
          </a:p>
        </p:txBody>
      </p:sp>
      <p:sp>
        <p:nvSpPr>
          <p:cNvPr id="163" name="CustomShape 48"/>
          <p:cNvSpPr/>
          <p:nvPr/>
        </p:nvSpPr>
        <p:spPr>
          <a:xfrm>
            <a:off x="2843640" y="5157360"/>
            <a:ext cx="476640" cy="4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Shape 1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Fall3 : In Mitte einfügen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Shape 2"/>
          <p:cNvSpPr txBox="1"/>
          <p:nvPr/>
        </p:nvSpPr>
        <p:spPr>
          <a:xfrm>
            <a:off x="323640" y="9914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0000" indent="-269640">
              <a:lnSpc>
                <a:spcPct val="100000"/>
              </a:lnSpc>
              <a:spcBef>
                <a:spcPts val="40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000" b="0" strike="noStrike" spc="-1">
                <a:solidFill>
                  <a:srgbClr val="404040"/>
                </a:solidFill>
                <a:latin typeface="Arial"/>
              </a:rPr>
              <a:t>Einfügeposition suchen</a:t>
            </a:r>
          </a:p>
          <a:p>
            <a:pPr marL="270000" indent="-269640">
              <a:lnSpc>
                <a:spcPct val="100000"/>
              </a:lnSpc>
              <a:spcBef>
                <a:spcPts val="40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000" b="0" strike="noStrike" spc="-1">
                <a:solidFill>
                  <a:srgbClr val="404040"/>
                </a:solidFill>
                <a:latin typeface="Arial"/>
              </a:rPr>
              <a:t>„Restliste“ an neuen Knoten anhängen (1)</a:t>
            </a:r>
          </a:p>
          <a:p>
            <a:pPr marL="270000" indent="-269640">
              <a:lnSpc>
                <a:spcPct val="100000"/>
              </a:lnSpc>
              <a:spcBef>
                <a:spcPts val="40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000" b="0" strike="noStrike" spc="-1">
                <a:solidFill>
                  <a:srgbClr val="404040"/>
                </a:solidFill>
                <a:latin typeface="Arial"/>
              </a:rPr>
              <a:t>Neuen Knoten an _search anketten</a:t>
            </a:r>
          </a:p>
        </p:txBody>
      </p:sp>
      <p:grpSp>
        <p:nvGrpSpPr>
          <p:cNvPr id="166" name="Group 3"/>
          <p:cNvGrpSpPr/>
          <p:nvPr/>
        </p:nvGrpSpPr>
        <p:grpSpPr>
          <a:xfrm>
            <a:off x="2093040" y="2924640"/>
            <a:ext cx="1911600" cy="1170000"/>
            <a:chOff x="2093040" y="2924640"/>
            <a:chExt cx="1911600" cy="1170000"/>
          </a:xfrm>
        </p:grpSpPr>
        <p:sp>
          <p:nvSpPr>
            <p:cNvPr id="167" name="CustomShape 4"/>
            <p:cNvSpPr/>
            <p:nvPr/>
          </p:nvSpPr>
          <p:spPr>
            <a:xfrm>
              <a:off x="2093040" y="2924640"/>
              <a:ext cx="1361520" cy="45180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Node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168" name="CustomShape 5"/>
            <p:cNvSpPr/>
            <p:nvPr/>
          </p:nvSpPr>
          <p:spPr>
            <a:xfrm>
              <a:off x="2098440" y="3642840"/>
              <a:ext cx="1361520" cy="45180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7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169" name="CustomShape 6"/>
            <p:cNvSpPr/>
            <p:nvPr/>
          </p:nvSpPr>
          <p:spPr>
            <a:xfrm>
              <a:off x="2779200" y="3376800"/>
              <a:ext cx="360" cy="2656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0" name="CustomShape 7"/>
            <p:cNvSpPr/>
            <p:nvPr/>
          </p:nvSpPr>
          <p:spPr>
            <a:xfrm>
              <a:off x="3460320" y="3145320"/>
              <a:ext cx="544320" cy="50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71" name="CustomShape 8"/>
          <p:cNvSpPr/>
          <p:nvPr/>
        </p:nvSpPr>
        <p:spPr>
          <a:xfrm>
            <a:off x="3994200" y="2969640"/>
            <a:ext cx="1361520" cy="4518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de-AT" sz="1200" b="0" strike="noStrike" spc="-1">
                <a:solidFill>
                  <a:srgbClr val="4F81BD"/>
                </a:solidFill>
                <a:latin typeface="Arial"/>
              </a:rPr>
              <a:t>Node</a:t>
            </a:r>
            <a:endParaRPr lang="de-AT" sz="1200" b="0" strike="noStrike" spc="-1">
              <a:latin typeface="Arial"/>
            </a:endParaRPr>
          </a:p>
        </p:txBody>
      </p:sp>
      <p:sp>
        <p:nvSpPr>
          <p:cNvPr id="172" name="CustomShape 9"/>
          <p:cNvSpPr/>
          <p:nvPr/>
        </p:nvSpPr>
        <p:spPr>
          <a:xfrm>
            <a:off x="3999600" y="3687840"/>
            <a:ext cx="1361520" cy="4518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de-AT" sz="1200" b="0" strike="noStrike" spc="-1">
                <a:solidFill>
                  <a:srgbClr val="4F81BD"/>
                </a:solidFill>
                <a:latin typeface="Arial"/>
              </a:rPr>
              <a:t>12</a:t>
            </a:r>
            <a:endParaRPr lang="de-AT" sz="1200" b="0" strike="noStrike" spc="-1">
              <a:latin typeface="Arial"/>
            </a:endParaRPr>
          </a:p>
        </p:txBody>
      </p:sp>
      <p:sp>
        <p:nvSpPr>
          <p:cNvPr id="173" name="CustomShape 10"/>
          <p:cNvSpPr/>
          <p:nvPr/>
        </p:nvSpPr>
        <p:spPr>
          <a:xfrm>
            <a:off x="4680360" y="3421800"/>
            <a:ext cx="360" cy="265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4" name="CustomShape 11"/>
          <p:cNvSpPr/>
          <p:nvPr/>
        </p:nvSpPr>
        <p:spPr>
          <a:xfrm>
            <a:off x="5361120" y="3190320"/>
            <a:ext cx="1474920" cy="5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5" name="CustomShape 12"/>
          <p:cNvSpPr/>
          <p:nvPr/>
        </p:nvSpPr>
        <p:spPr>
          <a:xfrm>
            <a:off x="1644480" y="2550960"/>
            <a:ext cx="1128960" cy="372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76" name="Group 13"/>
          <p:cNvGrpSpPr/>
          <p:nvPr/>
        </p:nvGrpSpPr>
        <p:grpSpPr>
          <a:xfrm>
            <a:off x="6836760" y="2969640"/>
            <a:ext cx="1911240" cy="1170000"/>
            <a:chOff x="6836760" y="2969640"/>
            <a:chExt cx="1911240" cy="1170000"/>
          </a:xfrm>
        </p:grpSpPr>
        <p:sp>
          <p:nvSpPr>
            <p:cNvPr id="177" name="CustomShape 14"/>
            <p:cNvSpPr/>
            <p:nvPr/>
          </p:nvSpPr>
          <p:spPr>
            <a:xfrm>
              <a:off x="6836760" y="2969640"/>
              <a:ext cx="1361520" cy="45180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Node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178" name="CustomShape 15"/>
            <p:cNvSpPr/>
            <p:nvPr/>
          </p:nvSpPr>
          <p:spPr>
            <a:xfrm>
              <a:off x="6842160" y="3687840"/>
              <a:ext cx="1361520" cy="45180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25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179" name="CustomShape 16"/>
            <p:cNvSpPr/>
            <p:nvPr/>
          </p:nvSpPr>
          <p:spPr>
            <a:xfrm>
              <a:off x="7522920" y="3421800"/>
              <a:ext cx="360" cy="2656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0" name="CustomShape 17"/>
            <p:cNvSpPr/>
            <p:nvPr/>
          </p:nvSpPr>
          <p:spPr>
            <a:xfrm>
              <a:off x="8198280" y="3184920"/>
              <a:ext cx="544320" cy="50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1" name="CustomShape 18"/>
            <p:cNvSpPr/>
            <p:nvPr/>
          </p:nvSpPr>
          <p:spPr>
            <a:xfrm flipV="1">
              <a:off x="8742960" y="2913480"/>
              <a:ext cx="5040" cy="1832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82" name="CustomShape 19"/>
          <p:cNvSpPr/>
          <p:nvPr/>
        </p:nvSpPr>
        <p:spPr>
          <a:xfrm>
            <a:off x="930240" y="2133000"/>
            <a:ext cx="81360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de-AT" sz="1800" b="0" strike="noStrike" spc="-1">
                <a:solidFill>
                  <a:srgbClr val="1F497D"/>
                </a:solidFill>
                <a:latin typeface="Arial"/>
              </a:rPr>
              <a:t>_head</a:t>
            </a:r>
            <a:endParaRPr lang="de-AT" sz="1800" b="0" strike="noStrike" spc="-1">
              <a:latin typeface="Arial"/>
            </a:endParaRPr>
          </a:p>
        </p:txBody>
      </p:sp>
      <p:grpSp>
        <p:nvGrpSpPr>
          <p:cNvPr id="183" name="Group 20"/>
          <p:cNvGrpSpPr/>
          <p:nvPr/>
        </p:nvGrpSpPr>
        <p:grpSpPr>
          <a:xfrm>
            <a:off x="5780520" y="5097960"/>
            <a:ext cx="2021040" cy="994680"/>
            <a:chOff x="5780520" y="5097960"/>
            <a:chExt cx="2021040" cy="994680"/>
          </a:xfrm>
        </p:grpSpPr>
        <p:sp>
          <p:nvSpPr>
            <p:cNvPr id="184" name="CustomShape 21"/>
            <p:cNvSpPr/>
            <p:nvPr/>
          </p:nvSpPr>
          <p:spPr>
            <a:xfrm>
              <a:off x="5780520" y="5097960"/>
              <a:ext cx="1054080" cy="38412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Node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185" name="CustomShape 22"/>
            <p:cNvSpPr/>
            <p:nvPr/>
          </p:nvSpPr>
          <p:spPr>
            <a:xfrm>
              <a:off x="5784840" y="5708520"/>
              <a:ext cx="1054080" cy="38412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/>
            <a:lstStyle/>
            <a:p>
              <a:pPr algn="ctr">
                <a:lnSpc>
                  <a:spcPct val="100000"/>
                </a:lnSpc>
              </a:pPr>
              <a:r>
                <a:rPr lang="de-AT" sz="1200" b="0" strike="noStrike" spc="-1">
                  <a:solidFill>
                    <a:srgbClr val="4F81BD"/>
                  </a:solidFill>
                  <a:latin typeface="Arial"/>
                </a:rPr>
                <a:t>3</a:t>
              </a:r>
              <a:endParaRPr lang="de-AT" sz="1200" b="0" strike="noStrike" spc="-1">
                <a:latin typeface="Arial"/>
              </a:endParaRPr>
            </a:p>
          </p:txBody>
        </p:sp>
        <p:sp>
          <p:nvSpPr>
            <p:cNvPr id="186" name="CustomShape 23"/>
            <p:cNvSpPr/>
            <p:nvPr/>
          </p:nvSpPr>
          <p:spPr>
            <a:xfrm>
              <a:off x="6311880" y="5482440"/>
              <a:ext cx="360" cy="2257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7" name="CustomShape 24"/>
            <p:cNvSpPr/>
            <p:nvPr/>
          </p:nvSpPr>
          <p:spPr>
            <a:xfrm>
              <a:off x="6834960" y="5280840"/>
              <a:ext cx="421560" cy="43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8" name="CustomShape 25"/>
            <p:cNvSpPr/>
            <p:nvPr/>
          </p:nvSpPr>
          <p:spPr>
            <a:xfrm flipV="1">
              <a:off x="7256880" y="5049720"/>
              <a:ext cx="3960" cy="1558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6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9" name="CustomShape 26"/>
            <p:cNvSpPr/>
            <p:nvPr/>
          </p:nvSpPr>
          <p:spPr>
            <a:xfrm>
              <a:off x="7304760" y="5170320"/>
              <a:ext cx="496800" cy="3330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/>
            <a:lstStyle/>
            <a:p>
              <a:pPr>
                <a:lnSpc>
                  <a:spcPct val="100000"/>
                </a:lnSpc>
              </a:pPr>
              <a:r>
                <a:rPr lang="de-AT" sz="1600" b="0" strike="noStrike" spc="-1">
                  <a:solidFill>
                    <a:srgbClr val="1F497D"/>
                  </a:solidFill>
                  <a:latin typeface="Arial"/>
                </a:rPr>
                <a:t>null</a:t>
              </a:r>
              <a:endParaRPr lang="de-AT" sz="1600" b="0" strike="noStrike" spc="-1">
                <a:latin typeface="Arial"/>
              </a:endParaRPr>
            </a:p>
          </p:txBody>
        </p:sp>
      </p:grpSp>
      <p:sp>
        <p:nvSpPr>
          <p:cNvPr id="190" name="CustomShape 27"/>
          <p:cNvSpPr/>
          <p:nvPr/>
        </p:nvSpPr>
        <p:spPr>
          <a:xfrm>
            <a:off x="4851360" y="5280840"/>
            <a:ext cx="928800" cy="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1" name="CustomShape 28"/>
          <p:cNvSpPr/>
          <p:nvPr/>
        </p:nvSpPr>
        <p:spPr>
          <a:xfrm>
            <a:off x="3572640" y="5076000"/>
            <a:ext cx="12693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de-AT" sz="1800" b="0" strike="noStrike" spc="-1">
                <a:solidFill>
                  <a:srgbClr val="1F497D"/>
                </a:solidFill>
                <a:latin typeface="Arial"/>
              </a:rPr>
              <a:t>_newNode</a:t>
            </a:r>
            <a:endParaRPr lang="de-AT" sz="1800" b="0" strike="noStrike" spc="-1">
              <a:latin typeface="Arial"/>
            </a:endParaRPr>
          </a:p>
        </p:txBody>
      </p:sp>
      <p:sp>
        <p:nvSpPr>
          <p:cNvPr id="192" name="CustomShape 29"/>
          <p:cNvSpPr/>
          <p:nvPr/>
        </p:nvSpPr>
        <p:spPr>
          <a:xfrm>
            <a:off x="4581000" y="2550240"/>
            <a:ext cx="26640" cy="446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3" name="CustomShape 30"/>
          <p:cNvSpPr/>
          <p:nvPr/>
        </p:nvSpPr>
        <p:spPr>
          <a:xfrm>
            <a:off x="3995280" y="2133000"/>
            <a:ext cx="99180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de-AT" sz="1800" b="0" strike="noStrike" spc="-1">
                <a:solidFill>
                  <a:srgbClr val="1F497D"/>
                </a:solidFill>
                <a:latin typeface="Arial"/>
              </a:rPr>
              <a:t>_search</a:t>
            </a:r>
            <a:endParaRPr lang="de-AT" sz="1800" b="0" strike="noStrike" spc="-1">
              <a:latin typeface="Arial"/>
            </a:endParaRPr>
          </a:p>
        </p:txBody>
      </p:sp>
      <p:sp>
        <p:nvSpPr>
          <p:cNvPr id="194" name="CustomShape 31"/>
          <p:cNvSpPr/>
          <p:nvPr/>
        </p:nvSpPr>
        <p:spPr>
          <a:xfrm>
            <a:off x="5355720" y="3195720"/>
            <a:ext cx="691200" cy="1901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FF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5" name="CustomShape 32"/>
          <p:cNvSpPr/>
          <p:nvPr/>
        </p:nvSpPr>
        <p:spPr>
          <a:xfrm flipV="1">
            <a:off x="6552000" y="3195720"/>
            <a:ext cx="284400" cy="1887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FF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6" name="CustomShape 33"/>
          <p:cNvSpPr/>
          <p:nvPr/>
        </p:nvSpPr>
        <p:spPr>
          <a:xfrm>
            <a:off x="5726520" y="3779640"/>
            <a:ext cx="3074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de-AT" sz="1800" b="0" strike="noStrike" spc="-1">
                <a:solidFill>
                  <a:srgbClr val="FF0000"/>
                </a:solidFill>
                <a:latin typeface="Arial"/>
              </a:rPr>
              <a:t>2</a:t>
            </a:r>
            <a:endParaRPr lang="de-AT" sz="1800" b="0" strike="noStrike" spc="-1">
              <a:latin typeface="Arial"/>
            </a:endParaRPr>
          </a:p>
        </p:txBody>
      </p:sp>
      <p:sp>
        <p:nvSpPr>
          <p:cNvPr id="197" name="CustomShape 34"/>
          <p:cNvSpPr/>
          <p:nvPr/>
        </p:nvSpPr>
        <p:spPr>
          <a:xfrm>
            <a:off x="6421680" y="3789000"/>
            <a:ext cx="3074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de-AT" sz="1800" b="0" strike="noStrike" spc="-1">
                <a:solidFill>
                  <a:srgbClr val="FF0000"/>
                </a:solidFill>
                <a:latin typeface="Arial"/>
              </a:rPr>
              <a:t>1</a:t>
            </a:r>
            <a:endParaRPr lang="de-AT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Shape 1"/>
          <p:cNvSpPr txBox="1"/>
          <p:nvPr/>
        </p:nvSpPr>
        <p:spPr>
          <a:xfrm>
            <a:off x="6773760" y="6380280"/>
            <a:ext cx="2195280" cy="340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349DDE1C-333D-4928-8F06-6505C7E7E57D}" type="slidenum">
              <a:rPr lang="de-AT" sz="1400" b="0" strike="noStrike" spc="-1">
                <a:solidFill>
                  <a:srgbClr val="FFFFFF"/>
                </a:solidFill>
                <a:latin typeface="Times New Roman"/>
              </a:rPr>
              <a:t>12</a:t>
            </a:fld>
            <a:endParaRPr lang="de-AT" sz="1400" b="0" strike="noStrike" spc="-1">
              <a:latin typeface="Times New Roman"/>
            </a:endParaRPr>
          </a:p>
        </p:txBody>
      </p:sp>
      <p:sp>
        <p:nvSpPr>
          <p:cNvPr id="199" name="TextShape 2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de-DE" sz="2800" b="1" strike="noStrike" spc="-1">
                <a:solidFill>
                  <a:srgbClr val="FFFFFF"/>
                </a:solidFill>
                <a:latin typeface="Arial"/>
              </a:rPr>
              <a:t>Beispiel – Sortierte einfach verkettete Liste</a:t>
            </a:r>
            <a:endParaRPr lang="de-DE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Shape 3"/>
          <p:cNvSpPr txBox="1"/>
          <p:nvPr/>
        </p:nvSpPr>
        <p:spPr>
          <a:xfrm>
            <a:off x="457200" y="1052640"/>
            <a:ext cx="8229240" cy="50731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 marL="270000" indent="-26964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400" b="0" strike="noStrike" spc="-1">
                <a:solidFill>
                  <a:srgbClr val="404040"/>
                </a:solidFill>
                <a:latin typeface="Arial"/>
              </a:rPr>
              <a:t>Definition Listenelement</a:t>
            </a: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lang="de-DE" sz="2400" b="0" strike="noStrike" spc="-1">
              <a:solidFill>
                <a:srgbClr val="40404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lang="de-DE" sz="2400" b="0" strike="noStrike" spc="-1">
              <a:solidFill>
                <a:srgbClr val="40404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lang="de-DE" sz="2400" b="0" strike="noStrike" spc="-1">
              <a:solidFill>
                <a:srgbClr val="404040"/>
              </a:solidFill>
              <a:latin typeface="Arial"/>
            </a:endParaRPr>
          </a:p>
        </p:txBody>
      </p:sp>
      <p:pic>
        <p:nvPicPr>
          <p:cNvPr id="201" name="Picture 7"/>
          <p:cNvPicPr/>
          <p:nvPr/>
        </p:nvPicPr>
        <p:blipFill>
          <a:blip r:embed="rId2"/>
          <a:stretch/>
        </p:blipFill>
        <p:spPr>
          <a:xfrm>
            <a:off x="683640" y="1680907"/>
            <a:ext cx="7029000" cy="4304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Shape 1"/>
          <p:cNvSpPr txBox="1"/>
          <p:nvPr/>
        </p:nvSpPr>
        <p:spPr>
          <a:xfrm>
            <a:off x="6773760" y="6380280"/>
            <a:ext cx="2195280" cy="340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6BFA8A96-D9F3-4D29-A398-13F2E6DDB3B1}" type="slidenum">
              <a:rPr lang="de-AT" sz="1400" b="0" strike="noStrike" spc="-1">
                <a:solidFill>
                  <a:srgbClr val="FFFFFF"/>
                </a:solidFill>
                <a:latin typeface="Times New Roman"/>
              </a:rPr>
              <a:t>13</a:t>
            </a:fld>
            <a:endParaRPr lang="de-AT" sz="1400" b="0" strike="noStrike" spc="-1">
              <a:latin typeface="Times New Roman"/>
            </a:endParaRPr>
          </a:p>
        </p:txBody>
      </p:sp>
      <p:sp>
        <p:nvSpPr>
          <p:cNvPr id="203" name="TextShape 2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Beispiel – Einfach verkettete Liste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4" name="Picture 6"/>
          <p:cNvPicPr/>
          <p:nvPr/>
        </p:nvPicPr>
        <p:blipFill>
          <a:blip r:embed="rId2"/>
          <a:stretch/>
        </p:blipFill>
        <p:spPr>
          <a:xfrm>
            <a:off x="457200" y="1134360"/>
            <a:ext cx="7337160" cy="5209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Shape 1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ACHTUNG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Shape 2"/>
          <p:cNvSpPr txBox="1"/>
          <p:nvPr/>
        </p:nvSpPr>
        <p:spPr>
          <a:xfrm>
            <a:off x="323640" y="12074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70000" indent="-26964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400" b="0" strike="noStrike" spc="-1">
                <a:solidFill>
                  <a:srgbClr val="404040"/>
                </a:solidFill>
                <a:latin typeface="Arial"/>
              </a:rPr>
              <a:t>Listenklasse verwaltet nur Referenz auf erstes Knotenobjekt (_head)</a:t>
            </a:r>
          </a:p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400" b="0" strike="noStrike" spc="-1">
                <a:solidFill>
                  <a:srgbClr val="404040"/>
                </a:solidFill>
                <a:latin typeface="Arial"/>
              </a:rPr>
              <a:t>Bietet Methoden zur Manipulation und Abfrage der Liste</a:t>
            </a:r>
          </a:p>
          <a:p>
            <a:pPr marL="270000" indent="-26964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400" b="0" strike="noStrike" spc="-1">
                <a:solidFill>
                  <a:srgbClr val="404040"/>
                </a:solidFill>
                <a:latin typeface="Arial"/>
              </a:rPr>
              <a:t>Knotenobjekt verweist auf seinen Nachfolger (oder null wenn es der letzte Knoten ist)</a:t>
            </a:r>
          </a:p>
          <a:p>
            <a:pPr marL="270000" indent="-26964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400" b="0" strike="noStrike" spc="-1">
                <a:solidFill>
                  <a:srgbClr val="404040"/>
                </a:solidFill>
                <a:latin typeface="Arial"/>
              </a:rPr>
              <a:t>Knotenobjekt verweist auf das Datenobjekt</a:t>
            </a:r>
          </a:p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400" b="0" strike="noStrike" spc="-1">
                <a:solidFill>
                  <a:srgbClr val="404040"/>
                </a:solidFill>
                <a:latin typeface="Arial"/>
              </a:rPr>
              <a:t>Datenobjekt wird eingefügt, entnommen, gesucht, 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Shape 1"/>
          <p:cNvSpPr txBox="1"/>
          <p:nvPr/>
        </p:nvSpPr>
        <p:spPr>
          <a:xfrm>
            <a:off x="6773760" y="6380280"/>
            <a:ext cx="2195280" cy="340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914B6AB4-6408-461A-B25F-20DEDDF4FEE7}" type="slidenum">
              <a:rPr lang="de-AT" sz="1400" b="0" strike="noStrike" spc="-1">
                <a:solidFill>
                  <a:srgbClr val="FFFFFF"/>
                </a:solidFill>
                <a:latin typeface="Times New Roman"/>
              </a:rPr>
              <a:t>15</a:t>
            </a:fld>
            <a:endParaRPr lang="de-AT" sz="1400" b="0" strike="noStrike" spc="-1">
              <a:latin typeface="Times New Roman"/>
            </a:endParaRPr>
          </a:p>
        </p:txBody>
      </p:sp>
      <p:sp>
        <p:nvSpPr>
          <p:cNvPr id="208" name="TextShape 2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Einfach verkettete Listen - Überlegungen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Shape 3"/>
          <p:cNvSpPr txBox="1"/>
          <p:nvPr/>
        </p:nvSpPr>
        <p:spPr>
          <a:xfrm>
            <a:off x="457200" y="1024118"/>
            <a:ext cx="8511840" cy="4732737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 marL="270000" indent="-269640">
              <a:lnSpc>
                <a:spcPct val="100000"/>
              </a:lnSpc>
              <a:spcBef>
                <a:spcPts val="561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800" b="0" strike="noStrike" spc="-1" dirty="0">
                <a:solidFill>
                  <a:srgbClr val="404040"/>
                </a:solidFill>
                <a:latin typeface="Arial"/>
              </a:rPr>
              <a:t>Operationen</a:t>
            </a:r>
          </a:p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400" b="0" strike="noStrike" spc="-1" dirty="0">
                <a:solidFill>
                  <a:srgbClr val="404040"/>
                </a:solidFill>
                <a:latin typeface="Arial"/>
              </a:rPr>
              <a:t>Anlegen, Einfügen, Löschen, Suchen, Sortieren</a:t>
            </a:r>
          </a:p>
          <a:p>
            <a:pPr marL="270000" indent="-269640">
              <a:lnSpc>
                <a:spcPct val="100000"/>
              </a:lnSpc>
              <a:spcBef>
                <a:spcPts val="561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800" b="0" strike="noStrike" spc="-1" dirty="0">
                <a:solidFill>
                  <a:srgbClr val="404040"/>
                </a:solidFill>
                <a:latin typeface="Arial"/>
              </a:rPr>
              <a:t>Eigenschaften</a:t>
            </a:r>
          </a:p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400" b="0" strike="noStrike" spc="-1" dirty="0">
                <a:solidFill>
                  <a:srgbClr val="404040"/>
                </a:solidFill>
                <a:latin typeface="Arial"/>
              </a:rPr>
              <a:t>Durchlauf rein sequentiell (Vergleich Array)</a:t>
            </a:r>
          </a:p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400" b="0" strike="noStrike" spc="-1" dirty="0">
                <a:solidFill>
                  <a:srgbClr val="404040"/>
                </a:solidFill>
                <a:latin typeface="Arial"/>
              </a:rPr>
              <a:t>Sonderbehandlung für erstes/letztes Element</a:t>
            </a:r>
          </a:p>
          <a:p>
            <a:pPr marL="270000" indent="-269640">
              <a:lnSpc>
                <a:spcPct val="100000"/>
              </a:lnSpc>
              <a:spcBef>
                <a:spcPts val="561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800" b="0" strike="noStrike" spc="-1" dirty="0">
                <a:solidFill>
                  <a:srgbClr val="404040"/>
                </a:solidFill>
                <a:latin typeface="Arial"/>
              </a:rPr>
              <a:t>Erweiterungsmöglichkeiten</a:t>
            </a:r>
          </a:p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400" b="0" strike="noStrike" spc="-1" dirty="0">
                <a:solidFill>
                  <a:srgbClr val="404040"/>
                </a:solidFill>
                <a:latin typeface="Arial"/>
              </a:rPr>
              <a:t>Zusätzlich Referenz auf Ende</a:t>
            </a:r>
          </a:p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400" b="0" strike="noStrike" spc="-1" dirty="0">
                <a:solidFill>
                  <a:srgbClr val="404040"/>
                </a:solidFill>
                <a:latin typeface="Arial"/>
              </a:rPr>
              <a:t>Stoppelemente am Beginn und/oder Ende der Liste</a:t>
            </a:r>
          </a:p>
          <a:p>
            <a:endParaRPr lang="de-DE" sz="2400" b="0" strike="noStrike" spc="-1" dirty="0">
              <a:solidFill>
                <a:srgbClr val="40404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Shape 1"/>
          <p:cNvSpPr txBox="1"/>
          <p:nvPr/>
        </p:nvSpPr>
        <p:spPr>
          <a:xfrm>
            <a:off x="6773760" y="6380280"/>
            <a:ext cx="2195280" cy="340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26121351-1C9B-4941-B49F-7B2C15A4FE30}" type="slidenum">
              <a:rPr lang="de-AT" sz="1400" b="0" strike="noStrike" spc="-1">
                <a:solidFill>
                  <a:srgbClr val="FFFFFF"/>
                </a:solidFill>
                <a:latin typeface="Times New Roman"/>
              </a:rPr>
              <a:t>16</a:t>
            </a:fld>
            <a:endParaRPr lang="de-AT" sz="1400" b="0" strike="noStrike" spc="-1">
              <a:latin typeface="Times New Roman"/>
            </a:endParaRPr>
          </a:p>
        </p:txBody>
      </p:sp>
      <p:sp>
        <p:nvSpPr>
          <p:cNvPr id="211" name="TextShape 2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de-DE" sz="2800" b="1" strike="noStrike" spc="-1">
                <a:solidFill>
                  <a:srgbClr val="FFFFFF"/>
                </a:solidFill>
                <a:latin typeface="Arial"/>
              </a:rPr>
              <a:t>Klassendiagramm zur Klassenliste erstellen</a:t>
            </a:r>
            <a:endParaRPr lang="de-DE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" name="Grafik 1"/>
          <p:cNvPicPr/>
          <p:nvPr/>
        </p:nvPicPr>
        <p:blipFill>
          <a:blip r:embed="rId2"/>
          <a:stretch/>
        </p:blipFill>
        <p:spPr>
          <a:xfrm>
            <a:off x="827640" y="1124640"/>
            <a:ext cx="7164360" cy="4950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Shape 1"/>
          <p:cNvSpPr txBox="1"/>
          <p:nvPr/>
        </p:nvSpPr>
        <p:spPr>
          <a:xfrm>
            <a:off x="6773760" y="6380280"/>
            <a:ext cx="2195280" cy="340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8013E346-5C61-41E5-B561-623388607C31}" type="slidenum">
              <a:rPr lang="de-AT" sz="1400" b="0" strike="noStrike" spc="-1">
                <a:solidFill>
                  <a:srgbClr val="FFFFFF"/>
                </a:solidFill>
                <a:latin typeface="Times New Roman"/>
              </a:rPr>
              <a:t>17</a:t>
            </a:fld>
            <a:endParaRPr lang="de-AT" sz="1400" b="0" strike="noStrike" spc="-1">
              <a:latin typeface="Times New Roman"/>
            </a:endParaRPr>
          </a:p>
        </p:txBody>
      </p:sp>
      <p:sp>
        <p:nvSpPr>
          <p:cNvPr id="214" name="TextShape 2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Doppelt verkettete Listen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Shape 3"/>
          <p:cNvSpPr txBox="1"/>
          <p:nvPr/>
        </p:nvSpPr>
        <p:spPr>
          <a:xfrm>
            <a:off x="593898" y="916379"/>
            <a:ext cx="7545549" cy="3900319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561"/>
              </a:spcBef>
            </a:pPr>
            <a:endParaRPr lang="de-DE" sz="2800" b="0" strike="noStrike" spc="-1" dirty="0">
              <a:solidFill>
                <a:srgbClr val="40404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de-DE" sz="2800" b="0" strike="noStrike" spc="-1" dirty="0">
              <a:solidFill>
                <a:srgbClr val="40404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de-DE" sz="2800" b="0" strike="noStrike" spc="-1" dirty="0">
              <a:solidFill>
                <a:srgbClr val="404040"/>
              </a:solidFill>
              <a:latin typeface="Arial"/>
            </a:endParaRPr>
          </a:p>
          <a:p>
            <a:pPr marL="270000" indent="-269640">
              <a:lnSpc>
                <a:spcPct val="100000"/>
              </a:lnSpc>
              <a:spcBef>
                <a:spcPts val="561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800" b="0" strike="noStrike" spc="-1" dirty="0">
                <a:solidFill>
                  <a:srgbClr val="404040"/>
                </a:solidFill>
                <a:latin typeface="Arial"/>
              </a:rPr>
              <a:t>Vorteile</a:t>
            </a:r>
          </a:p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400" b="0" strike="noStrike" spc="-1" dirty="0">
                <a:solidFill>
                  <a:srgbClr val="404040"/>
                </a:solidFill>
                <a:latin typeface="Arial"/>
              </a:rPr>
              <a:t>Einfacheres Navigieren</a:t>
            </a:r>
          </a:p>
          <a:p>
            <a:pPr marL="270000" indent="-269640">
              <a:lnSpc>
                <a:spcPct val="100000"/>
              </a:lnSpc>
              <a:spcBef>
                <a:spcPts val="561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800" b="0" strike="noStrike" spc="-1" dirty="0">
                <a:solidFill>
                  <a:srgbClr val="404040"/>
                </a:solidFill>
                <a:latin typeface="Arial"/>
              </a:rPr>
              <a:t>Nachteile</a:t>
            </a:r>
          </a:p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400" b="0" strike="noStrike" spc="-1" dirty="0">
                <a:solidFill>
                  <a:srgbClr val="404040"/>
                </a:solidFill>
                <a:latin typeface="Arial"/>
              </a:rPr>
              <a:t>Höherer Speicheraufwand</a:t>
            </a:r>
          </a:p>
        </p:txBody>
      </p:sp>
      <p:pic>
        <p:nvPicPr>
          <p:cNvPr id="216" name="Picture 4"/>
          <p:cNvPicPr/>
          <p:nvPr/>
        </p:nvPicPr>
        <p:blipFill>
          <a:blip r:embed="rId2"/>
          <a:stretch/>
        </p:blipFill>
        <p:spPr>
          <a:xfrm>
            <a:off x="781200" y="1273320"/>
            <a:ext cx="6760800" cy="744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Shape 1"/>
          <p:cNvSpPr txBox="1"/>
          <p:nvPr/>
        </p:nvSpPr>
        <p:spPr>
          <a:xfrm>
            <a:off x="6773760" y="6380280"/>
            <a:ext cx="2195280" cy="340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EF341592-927A-431A-BA61-0A7209AE6116}" type="slidenum">
              <a:rPr lang="de-AT" sz="1400" b="0" strike="noStrike" spc="-1">
                <a:solidFill>
                  <a:srgbClr val="FFFFFF"/>
                </a:solidFill>
                <a:latin typeface="Times New Roman"/>
              </a:rPr>
              <a:t>18</a:t>
            </a:fld>
            <a:endParaRPr lang="de-AT" sz="1400" b="0" strike="noStrike" spc="-1">
              <a:latin typeface="Times New Roman"/>
            </a:endParaRPr>
          </a:p>
        </p:txBody>
      </p:sp>
      <p:sp>
        <p:nvSpPr>
          <p:cNvPr id="218" name="TextShape 2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Sonderform Skipliste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Shape 3"/>
          <p:cNvSpPr txBox="1"/>
          <p:nvPr/>
        </p:nvSpPr>
        <p:spPr>
          <a:xfrm>
            <a:off x="271925" y="1480107"/>
            <a:ext cx="7880401" cy="1958552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 marL="270000" indent="-269640">
              <a:lnSpc>
                <a:spcPct val="100000"/>
              </a:lnSpc>
              <a:spcBef>
                <a:spcPts val="561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800" b="0" strike="noStrike" spc="-1" dirty="0">
                <a:solidFill>
                  <a:srgbClr val="404040"/>
                </a:solidFill>
                <a:latin typeface="Arial"/>
              </a:rPr>
              <a:t>Vergleichbar mit Regionaltelefonbüchern</a:t>
            </a:r>
          </a:p>
          <a:p>
            <a:pPr marL="895320" lvl="1" indent="-353520">
              <a:lnSpc>
                <a:spcPct val="100000"/>
              </a:lnSpc>
              <a:spcBef>
                <a:spcPts val="499"/>
              </a:spcBef>
              <a:buClr>
                <a:srgbClr val="595959"/>
              </a:buClr>
              <a:buFont typeface="Symbol"/>
              <a:buChar char="-"/>
            </a:pPr>
            <a:r>
              <a:rPr lang="de-DE" sz="2500" b="0" strike="noStrike" spc="-1" dirty="0">
                <a:solidFill>
                  <a:srgbClr val="404040"/>
                </a:solidFill>
                <a:latin typeface="Arial"/>
              </a:rPr>
              <a:t>Index liegt über der Liste</a:t>
            </a:r>
          </a:p>
          <a:p>
            <a:pPr marL="895320" lvl="1" indent="-353520">
              <a:lnSpc>
                <a:spcPct val="100000"/>
              </a:lnSpc>
              <a:spcBef>
                <a:spcPts val="499"/>
              </a:spcBef>
              <a:buClr>
                <a:srgbClr val="595959"/>
              </a:buClr>
              <a:buFont typeface="Symbol"/>
              <a:buChar char="-"/>
            </a:pPr>
            <a:r>
              <a:rPr lang="de-DE" sz="2500" b="0" strike="noStrike" spc="-1" dirty="0">
                <a:solidFill>
                  <a:srgbClr val="404040"/>
                </a:solidFill>
                <a:latin typeface="Arial"/>
              </a:rPr>
              <a:t>Höherer Aufwand aber schnellerer Zugriff</a:t>
            </a:r>
          </a:p>
        </p:txBody>
      </p:sp>
      <p:pic>
        <p:nvPicPr>
          <p:cNvPr id="220" name="Picture 4"/>
          <p:cNvPicPr/>
          <p:nvPr/>
        </p:nvPicPr>
        <p:blipFill>
          <a:blip r:embed="rId2"/>
          <a:stretch/>
        </p:blipFill>
        <p:spPr>
          <a:xfrm>
            <a:off x="447120" y="3645000"/>
            <a:ext cx="8219880" cy="1320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Shape 1"/>
          <p:cNvSpPr txBox="1"/>
          <p:nvPr/>
        </p:nvSpPr>
        <p:spPr>
          <a:xfrm>
            <a:off x="6773760" y="6380280"/>
            <a:ext cx="2195280" cy="340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721049B3-F86B-4E15-AB78-B490632CBCCE}" type="slidenum">
              <a:rPr lang="de-AT" sz="1400" b="0" strike="noStrike" spc="-1">
                <a:solidFill>
                  <a:srgbClr val="FFFFFF"/>
                </a:solidFill>
                <a:latin typeface="Times New Roman"/>
              </a:rPr>
              <a:t>19</a:t>
            </a:fld>
            <a:endParaRPr lang="de-AT" sz="1400" b="0" strike="noStrike" spc="-1">
              <a:latin typeface="Times New Roman"/>
            </a:endParaRPr>
          </a:p>
        </p:txBody>
      </p:sp>
      <p:sp>
        <p:nvSpPr>
          <p:cNvPr id="222" name="TextShape 2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Listenanwendungen - Queue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Shape 3"/>
          <p:cNvSpPr txBox="1"/>
          <p:nvPr/>
        </p:nvSpPr>
        <p:spPr>
          <a:xfrm>
            <a:off x="543118" y="1267920"/>
            <a:ext cx="8143322" cy="2975983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400" b="0" strike="noStrike" spc="-1" dirty="0">
                <a:solidFill>
                  <a:srgbClr val="404040"/>
                </a:solidFill>
                <a:latin typeface="Arial"/>
              </a:rPr>
              <a:t>Eine Queue (auch Schlange, Puffer) ist ein abstrakter Datentyp, bei dem Elemente eingefügt und wieder entfernt werden können.</a:t>
            </a:r>
          </a:p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400" b="0" strike="noStrike" spc="-1" dirty="0">
                <a:solidFill>
                  <a:srgbClr val="404040"/>
                </a:solidFill>
                <a:latin typeface="Arial"/>
              </a:rPr>
              <a:t>Direkt zugegriffen werden kann immer nur das älteste Element. </a:t>
            </a:r>
          </a:p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400" b="0" strike="noStrike" spc="-1" dirty="0">
                <a:solidFill>
                  <a:srgbClr val="404040"/>
                </a:solidFill>
                <a:latin typeface="Arial"/>
              </a:rPr>
              <a:t>Dieses Zugriffsprinzip heißt First-in-First-Out (FIFO)</a:t>
            </a: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de-DE" sz="2400" b="0" strike="noStrike" spc="-1" dirty="0">
              <a:solidFill>
                <a:srgbClr val="404040"/>
              </a:solidFill>
              <a:latin typeface="Arial"/>
            </a:endParaRPr>
          </a:p>
        </p:txBody>
      </p:sp>
      <p:pic>
        <p:nvPicPr>
          <p:cNvPr id="224" name="Picture 4"/>
          <p:cNvPicPr/>
          <p:nvPr/>
        </p:nvPicPr>
        <p:blipFill>
          <a:blip r:embed="rId2"/>
          <a:stretch/>
        </p:blipFill>
        <p:spPr>
          <a:xfrm>
            <a:off x="1600200" y="3962520"/>
            <a:ext cx="4723920" cy="1468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Shape 1"/>
          <p:cNvSpPr txBox="1"/>
          <p:nvPr/>
        </p:nvSpPr>
        <p:spPr>
          <a:xfrm>
            <a:off x="6773760" y="6380280"/>
            <a:ext cx="2195280" cy="340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0EF942AF-7BD9-4670-AEEB-23A7934C3A17}" type="slidenum">
              <a:rPr lang="de-AT" sz="1400" b="0" strike="noStrike" spc="-1">
                <a:solidFill>
                  <a:srgbClr val="FFFFFF"/>
                </a:solidFill>
                <a:latin typeface="Times New Roman"/>
              </a:rPr>
              <a:t>20</a:t>
            </a:fld>
            <a:endParaRPr lang="de-AT" sz="1400" b="0" strike="noStrike" spc="-1">
              <a:latin typeface="Times New Roman"/>
            </a:endParaRPr>
          </a:p>
        </p:txBody>
      </p:sp>
      <p:sp>
        <p:nvSpPr>
          <p:cNvPr id="226" name="TextShape 2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Listenanwendungen – Stack (Stapel) 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Shape 3"/>
          <p:cNvSpPr txBox="1"/>
          <p:nvPr/>
        </p:nvSpPr>
        <p:spPr>
          <a:xfrm>
            <a:off x="457200" y="1031760"/>
            <a:ext cx="8511840" cy="322920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 marL="270000" indent="-269640">
              <a:lnSpc>
                <a:spcPct val="100000"/>
              </a:lnSpc>
              <a:spcBef>
                <a:spcPts val="561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400" b="0" strike="noStrike" spc="-1" dirty="0">
                <a:solidFill>
                  <a:srgbClr val="404040"/>
                </a:solidFill>
                <a:latin typeface="Arial"/>
              </a:rPr>
              <a:t>LIFO-Datenstruktur (last in </a:t>
            </a:r>
            <a:r>
              <a:rPr lang="de-DE" sz="2400" b="0" strike="noStrike" spc="-1" dirty="0" err="1">
                <a:solidFill>
                  <a:srgbClr val="404040"/>
                </a:solidFill>
                <a:latin typeface="Arial"/>
              </a:rPr>
              <a:t>first</a:t>
            </a:r>
            <a:r>
              <a:rPr lang="de-DE" sz="2400" b="0" strike="noStrike" spc="-1" dirty="0">
                <a:solidFill>
                  <a:srgbClr val="404040"/>
                </a:solidFill>
                <a:latin typeface="Arial"/>
              </a:rPr>
              <a:t> out)</a:t>
            </a:r>
          </a:p>
          <a:p>
            <a:pPr marL="270000" indent="-269640">
              <a:lnSpc>
                <a:spcPct val="100000"/>
              </a:lnSpc>
              <a:spcBef>
                <a:spcPts val="561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2400" b="0" strike="noStrike" spc="-1" dirty="0">
                <a:solidFill>
                  <a:srgbClr val="404040"/>
                </a:solidFill>
                <a:latin typeface="Arial"/>
              </a:rPr>
              <a:t>Operationen:</a:t>
            </a:r>
          </a:p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000" b="0" strike="noStrike" spc="-1" dirty="0">
                <a:solidFill>
                  <a:srgbClr val="404040"/>
                </a:solidFill>
                <a:latin typeface="Arial"/>
              </a:rPr>
              <a:t>push (x)	Einfügen eines Elements x an oberster Stelle</a:t>
            </a:r>
          </a:p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000" b="0" strike="noStrike" spc="-1" dirty="0">
                <a:solidFill>
                  <a:srgbClr val="404040"/>
                </a:solidFill>
                <a:latin typeface="Arial"/>
              </a:rPr>
              <a:t>Pop	Lesen und Entfernen des Elements an oberster Stelle</a:t>
            </a:r>
          </a:p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000" b="0" strike="noStrike" spc="-1" dirty="0">
                <a:solidFill>
                  <a:srgbClr val="404040"/>
                </a:solidFill>
                <a:latin typeface="Arial"/>
              </a:rPr>
              <a:t>Top	Lesen des Elements an höchster Stelle </a:t>
            </a:r>
          </a:p>
          <a:p>
            <a:pPr marL="895320" lvl="1" indent="-353520">
              <a:lnSpc>
                <a:spcPct val="100000"/>
              </a:lnSpc>
              <a:spcBef>
                <a:spcPts val="479"/>
              </a:spcBef>
              <a:buClr>
                <a:srgbClr val="595959"/>
              </a:buClr>
              <a:buFont typeface="Symbol"/>
              <a:buChar char="-"/>
            </a:pPr>
            <a:r>
              <a:rPr lang="de-DE" sz="2000" b="0" strike="noStrike" spc="-1" dirty="0" err="1">
                <a:solidFill>
                  <a:srgbClr val="404040"/>
                </a:solidFill>
                <a:latin typeface="Arial"/>
              </a:rPr>
              <a:t>IsEmpty</a:t>
            </a:r>
            <a:r>
              <a:rPr lang="de-DE" sz="2000" b="0" strike="noStrike" spc="-1" dirty="0">
                <a:solidFill>
                  <a:srgbClr val="404040"/>
                </a:solidFill>
                <a:latin typeface="Arial"/>
              </a:rPr>
              <a:t>	</a:t>
            </a:r>
            <a:r>
              <a:rPr lang="de-DE" sz="2000" b="0" strike="noStrike" spc="-1" dirty="0" err="1">
                <a:solidFill>
                  <a:srgbClr val="404040"/>
                </a:solidFill>
                <a:latin typeface="Arial"/>
              </a:rPr>
              <a:t>true</a:t>
            </a:r>
            <a:r>
              <a:rPr lang="de-DE" sz="2000" b="0" strike="noStrike" spc="-1" dirty="0">
                <a:solidFill>
                  <a:srgbClr val="404040"/>
                </a:solidFill>
                <a:latin typeface="Arial"/>
              </a:rPr>
              <a:t>, wenn sich kein Element im Stack befindet</a:t>
            </a: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de-DE" sz="2000" b="0" strike="noStrike" spc="-1" dirty="0">
              <a:solidFill>
                <a:srgbClr val="404040"/>
              </a:solidFill>
              <a:latin typeface="Arial"/>
            </a:endParaRPr>
          </a:p>
        </p:txBody>
      </p:sp>
      <p:pic>
        <p:nvPicPr>
          <p:cNvPr id="228" name="Picture 4"/>
          <p:cNvPicPr/>
          <p:nvPr/>
        </p:nvPicPr>
        <p:blipFill>
          <a:blip r:embed="rId3"/>
          <a:stretch/>
        </p:blipFill>
        <p:spPr>
          <a:xfrm>
            <a:off x="365040" y="4260960"/>
            <a:ext cx="8260920" cy="1672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Shape 1"/>
          <p:cNvSpPr txBox="1"/>
          <p:nvPr/>
        </p:nvSpPr>
        <p:spPr>
          <a:xfrm>
            <a:off x="6773760" y="6380280"/>
            <a:ext cx="2195280" cy="340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8EAC7A1D-FA4B-4345-8293-88A3C51F9E26}" type="slidenum">
              <a:rPr lang="de-AT" sz="1400" b="0" strike="noStrike" spc="-1">
                <a:solidFill>
                  <a:srgbClr val="FFFFFF"/>
                </a:solidFill>
                <a:latin typeface="Times New Roman"/>
              </a:rPr>
              <a:t>21</a:t>
            </a:fld>
            <a:endParaRPr lang="de-AT" sz="1400" b="0" strike="noStrike" spc="-1">
              <a:latin typeface="Times New Roman"/>
            </a:endParaRPr>
          </a:p>
        </p:txBody>
      </p:sp>
      <p:sp>
        <p:nvSpPr>
          <p:cNvPr id="230" name="TextShape 2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Beispiel: UPN-Rechner mit Integerstack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Shape 3"/>
          <p:cNvSpPr txBox="1"/>
          <p:nvPr/>
        </p:nvSpPr>
        <p:spPr>
          <a:xfrm>
            <a:off x="457200" y="1031759"/>
            <a:ext cx="8229240" cy="2299297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 marL="270000" indent="-269640">
              <a:lnSpc>
                <a:spcPct val="100000"/>
              </a:lnSpc>
              <a:spcBef>
                <a:spcPts val="360"/>
              </a:spcBef>
              <a:buClr>
                <a:srgbClr val="595959"/>
              </a:buClr>
              <a:buSzPct val="80000"/>
              <a:buFont typeface="Wingdings" charset="2"/>
              <a:buChar char=""/>
            </a:pPr>
            <a:r>
              <a:rPr lang="de-DE" sz="1800" b="0" strike="noStrike" spc="-1" dirty="0">
                <a:solidFill>
                  <a:srgbClr val="404040"/>
                </a:solidFill>
                <a:latin typeface="Arial"/>
              </a:rPr>
              <a:t>Die Auswertung eines Ausdrucks in Postfix-Notation läuft wie folgt ab:</a:t>
            </a:r>
          </a:p>
          <a:p>
            <a:pPr marL="895320" lvl="1" indent="-353520">
              <a:lnSpc>
                <a:spcPct val="100000"/>
              </a:lnSpc>
              <a:spcBef>
                <a:spcPts val="320"/>
              </a:spcBef>
              <a:buClr>
                <a:srgbClr val="595959"/>
              </a:buClr>
              <a:buFont typeface="Symbol"/>
              <a:buChar char="-"/>
            </a:pPr>
            <a:r>
              <a:rPr lang="de-DE" sz="1600" b="0" strike="noStrike" spc="-1" dirty="0">
                <a:solidFill>
                  <a:srgbClr val="404040"/>
                </a:solidFill>
                <a:latin typeface="Arial"/>
              </a:rPr>
              <a:t>Zahlen werden direkt auf den Stack gelegt</a:t>
            </a:r>
          </a:p>
          <a:p>
            <a:pPr marL="895320" lvl="1" indent="-353520">
              <a:lnSpc>
                <a:spcPct val="100000"/>
              </a:lnSpc>
              <a:spcBef>
                <a:spcPts val="320"/>
              </a:spcBef>
              <a:buClr>
                <a:srgbClr val="595959"/>
              </a:buClr>
              <a:buFont typeface="Symbol"/>
              <a:buChar char="-"/>
            </a:pPr>
            <a:r>
              <a:rPr lang="de-DE" sz="1600" b="0" strike="noStrike" spc="-1" dirty="0">
                <a:solidFill>
                  <a:srgbClr val="404040"/>
                </a:solidFill>
                <a:latin typeface="Arial"/>
              </a:rPr>
              <a:t>Operatoren werden sofort ausgewertet, dazu werden 2 Elemente vom Stack geholt</a:t>
            </a:r>
          </a:p>
          <a:p>
            <a:pPr marL="895320" lvl="1" indent="-353520">
              <a:lnSpc>
                <a:spcPct val="100000"/>
              </a:lnSpc>
              <a:spcBef>
                <a:spcPts val="320"/>
              </a:spcBef>
              <a:buClr>
                <a:srgbClr val="595959"/>
              </a:buClr>
              <a:buFont typeface="Symbol"/>
              <a:buChar char="-"/>
            </a:pPr>
            <a:r>
              <a:rPr lang="de-DE" sz="1600" b="0" strike="noStrike" spc="-1" dirty="0">
                <a:solidFill>
                  <a:srgbClr val="404040"/>
                </a:solidFill>
                <a:latin typeface="Arial"/>
              </a:rPr>
              <a:t>Das Resultat wird auf den Stack gelegt</a:t>
            </a:r>
          </a:p>
          <a:p>
            <a:pPr marL="895320" lvl="1" indent="-353520">
              <a:lnSpc>
                <a:spcPct val="100000"/>
              </a:lnSpc>
              <a:spcBef>
                <a:spcPts val="320"/>
              </a:spcBef>
              <a:buClr>
                <a:srgbClr val="595959"/>
              </a:buClr>
              <a:buFont typeface="Symbol"/>
              <a:buChar char="-"/>
            </a:pPr>
            <a:r>
              <a:rPr lang="de-DE" sz="1600" b="0" strike="noStrike" spc="-1" dirty="0">
                <a:solidFill>
                  <a:srgbClr val="404040"/>
                </a:solidFill>
                <a:latin typeface="Arial"/>
              </a:rPr>
              <a:t>Am Ende enthält der Stack das Schlussresultat</a:t>
            </a:r>
          </a:p>
          <a:p>
            <a:pPr marL="895320" lvl="1" indent="-353520">
              <a:lnSpc>
                <a:spcPct val="100000"/>
              </a:lnSpc>
              <a:spcBef>
                <a:spcPts val="320"/>
              </a:spcBef>
              <a:buClr>
                <a:srgbClr val="595959"/>
              </a:buClr>
              <a:buFont typeface="Symbol"/>
              <a:buChar char="-"/>
            </a:pPr>
            <a:r>
              <a:rPr lang="de-DE" sz="1600" b="0" strike="noStrike" spc="-1" dirty="0">
                <a:solidFill>
                  <a:srgbClr val="404040"/>
                </a:solidFill>
                <a:latin typeface="Arial"/>
              </a:rPr>
              <a:t>6* (5 + (2 + 3) * 8 + 3)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de-DE" sz="1600" b="0" strike="noStrike" spc="-1" dirty="0">
              <a:solidFill>
                <a:srgbClr val="404040"/>
              </a:solidFill>
              <a:latin typeface="Arial"/>
            </a:endParaRPr>
          </a:p>
        </p:txBody>
      </p:sp>
      <p:pic>
        <p:nvPicPr>
          <p:cNvPr id="232" name="Picture 4"/>
          <p:cNvPicPr/>
          <p:nvPr/>
        </p:nvPicPr>
        <p:blipFill>
          <a:blip r:embed="rId2"/>
          <a:stretch/>
        </p:blipFill>
        <p:spPr>
          <a:xfrm>
            <a:off x="899640" y="3644280"/>
            <a:ext cx="6687720" cy="2096640"/>
          </a:xfrm>
          <a:prstGeom prst="rect">
            <a:avLst/>
          </a:prstGeom>
          <a:ln>
            <a:noFill/>
          </a:ln>
        </p:spPr>
      </p:pic>
      <p:grpSp>
        <p:nvGrpSpPr>
          <p:cNvPr id="233" name="Group 4"/>
          <p:cNvGrpSpPr/>
          <p:nvPr/>
        </p:nvGrpSpPr>
        <p:grpSpPr>
          <a:xfrm>
            <a:off x="7675560" y="5085360"/>
            <a:ext cx="1234080" cy="981720"/>
            <a:chOff x="7675560" y="5085360"/>
            <a:chExt cx="1234080" cy="981720"/>
          </a:xfrm>
        </p:grpSpPr>
        <p:sp>
          <p:nvSpPr>
            <p:cNvPr id="234" name="CustomShape 5"/>
            <p:cNvSpPr/>
            <p:nvPr/>
          </p:nvSpPr>
          <p:spPr>
            <a:xfrm rot="20109600">
              <a:off x="7745760" y="5288400"/>
              <a:ext cx="1093320" cy="57564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5" name="CustomShape 6"/>
            <p:cNvSpPr/>
            <p:nvPr/>
          </p:nvSpPr>
          <p:spPr>
            <a:xfrm rot="20109600">
              <a:off x="7746480" y="5351400"/>
              <a:ext cx="1077120" cy="455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/>
            <a:lstStyle/>
            <a:p>
              <a:pPr>
                <a:lnSpc>
                  <a:spcPct val="100000"/>
                </a:lnSpc>
              </a:pPr>
              <a:r>
                <a:rPr lang="de-AT" sz="2400" b="0" strike="noStrike" spc="-1">
                  <a:solidFill>
                    <a:srgbClr val="FF0000"/>
                  </a:solidFill>
                  <a:latin typeface="Arial"/>
                </a:rPr>
                <a:t>Übung</a:t>
              </a:r>
              <a:endParaRPr lang="de-AT" sz="24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Shape 1"/>
          <p:cNvSpPr txBox="1"/>
          <p:nvPr/>
        </p:nvSpPr>
        <p:spPr>
          <a:xfrm>
            <a:off x="6773760" y="6380280"/>
            <a:ext cx="2195280" cy="34092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7A2886B9-522E-4D8C-A2C5-19EE3283870B}" type="slidenum">
              <a:rPr lang="de-AT" sz="1400" b="0" strike="noStrike" spc="-1">
                <a:solidFill>
                  <a:srgbClr val="FFFFFF"/>
                </a:solidFill>
                <a:latin typeface="Times New Roman"/>
              </a:rPr>
              <a:t>22</a:t>
            </a:fld>
            <a:endParaRPr lang="de-AT" sz="1400" b="0" strike="noStrike" spc="-1">
              <a:latin typeface="Times New Roman"/>
            </a:endParaRPr>
          </a:p>
        </p:txBody>
      </p:sp>
      <p:sp>
        <p:nvSpPr>
          <p:cNvPr id="237" name="TextShape 2"/>
          <p:cNvSpPr txBox="1"/>
          <p:nvPr/>
        </p:nvSpPr>
        <p:spPr>
          <a:xfrm>
            <a:off x="457200" y="125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3200" b="1" strike="noStrike" spc="-1">
                <a:solidFill>
                  <a:srgbClr val="FFFFFF"/>
                </a:solidFill>
                <a:latin typeface="Arial"/>
              </a:rPr>
              <a:t>UPN-Rechner - Klassendiagramm</a:t>
            </a:r>
            <a:endParaRPr lang="de-DE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8" name="Picture 6"/>
          <p:cNvPicPr/>
          <p:nvPr/>
        </p:nvPicPr>
        <p:blipFill>
          <a:blip r:embed="rId2"/>
          <a:stretch/>
        </p:blipFill>
        <p:spPr>
          <a:xfrm>
            <a:off x="0" y="2065320"/>
            <a:ext cx="9143640" cy="2727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614</Words>
  <Application>Microsoft Office PowerPoint</Application>
  <PresentationFormat>On-screen Show (4:3)</PresentationFormat>
  <Paragraphs>186</Paragraphs>
  <Slides>22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Michael Bucek</dc:creator>
  <dc:description/>
  <cp:lastModifiedBy>Michael Bucek</cp:lastModifiedBy>
  <cp:revision>698</cp:revision>
  <cp:lastPrinted>2014-09-10T13:20:23Z</cp:lastPrinted>
  <dcterms:created xsi:type="dcterms:W3CDTF">2011-08-18T07:37:01Z</dcterms:created>
  <dcterms:modified xsi:type="dcterms:W3CDTF">2019-11-19T09:18:19Z</dcterms:modified>
  <dc:language>de-AT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1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Bildschirmpräsentation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22</vt:i4>
  </property>
</Properties>
</file>