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1" r:id="rId1"/>
  </p:sldMasterIdLst>
  <p:notesMasterIdLst>
    <p:notesMasterId r:id="rId25"/>
  </p:notesMasterIdLst>
  <p:sldIdLst>
    <p:sldId id="279" r:id="rId2"/>
    <p:sldId id="280" r:id="rId3"/>
    <p:sldId id="281" r:id="rId4"/>
    <p:sldId id="292" r:id="rId5"/>
    <p:sldId id="282" r:id="rId6"/>
    <p:sldId id="283" r:id="rId7"/>
    <p:sldId id="264" r:id="rId8"/>
    <p:sldId id="284" r:id="rId9"/>
    <p:sldId id="286" r:id="rId10"/>
    <p:sldId id="263" r:id="rId11"/>
    <p:sldId id="267" r:id="rId12"/>
    <p:sldId id="268" r:id="rId13"/>
    <p:sldId id="269" r:id="rId14"/>
    <p:sldId id="270" r:id="rId15"/>
    <p:sldId id="288" r:id="rId16"/>
    <p:sldId id="271" r:id="rId17"/>
    <p:sldId id="274" r:id="rId18"/>
    <p:sldId id="272" r:id="rId19"/>
    <p:sldId id="273" r:id="rId20"/>
    <p:sldId id="289" r:id="rId21"/>
    <p:sldId id="291" r:id="rId22"/>
    <p:sldId id="275" r:id="rId23"/>
    <p:sldId id="277" r:id="rId24"/>
  </p:sldIdLst>
  <p:sldSz cx="9144000" cy="6858000" type="screen4x3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C3300"/>
    <a:srgbClr val="00FF00"/>
    <a:srgbClr val="79BB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00" d="100"/>
          <a:sy n="100" d="100"/>
        </p:scale>
        <p:origin x="1018" y="5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36004" cy="36004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36932-01FD-45AF-B110-84880AA37D65}" type="datetimeFigureOut">
              <a:rPr lang="de-AT" smtClean="0"/>
              <a:t>01.10.2021</a:t>
            </a:fld>
            <a:endParaRPr lang="de-AT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Textmasterformat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AT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AT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2364C66-90D0-45FE-9B3B-EB18F2272AED}" type="slidenum">
              <a:rPr lang="de-AT" smtClean="0"/>
              <a:t>‹Nr.›</a:t>
            </a:fld>
            <a:endParaRPr lang="de-AT"/>
          </a:p>
        </p:txBody>
      </p:sp>
    </p:spTree>
    <p:extLst>
      <p:ext uri="{BB962C8B-B14F-4D97-AF65-F5344CB8AC3E}">
        <p14:creationId xmlns:p14="http://schemas.microsoft.com/office/powerpoint/2010/main" val="254748457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Fließ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>
            <a:normAutofit/>
          </a:bodyPr>
          <a:lstStyle>
            <a:lvl1pPr marL="0" indent="0">
              <a:buNone/>
              <a:defRPr sz="2200"/>
            </a:lvl1pPr>
            <a:lvl2pPr marL="541337" indent="0">
              <a:buNone/>
              <a:defRPr sz="2400"/>
            </a:lvl2pPr>
            <a:lvl3pPr marL="1073150" indent="0">
              <a:buNone/>
              <a:defRPr sz="2200"/>
            </a:lvl3pPr>
            <a:lvl4pPr marL="1436687" indent="0">
              <a:buNone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</p:txBody>
      </p:sp>
    </p:spTree>
    <p:extLst>
      <p:ext uri="{BB962C8B-B14F-4D97-AF65-F5344CB8AC3E}">
        <p14:creationId xmlns:p14="http://schemas.microsoft.com/office/powerpoint/2010/main" val="451500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lie mit Aufzählung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6" name="Inhaltsplatzhalter 5"/>
          <p:cNvSpPr>
            <a:spLocks noGrp="1"/>
          </p:cNvSpPr>
          <p:nvPr>
            <p:ph sz="quarter" idx="11"/>
          </p:nvPr>
        </p:nvSpPr>
        <p:spPr>
          <a:xfrm>
            <a:off x="467544" y="1268761"/>
            <a:ext cx="8208912" cy="4680520"/>
          </a:xfrm>
          <a:prstGeom prst="rect">
            <a:avLst/>
          </a:prstGeom>
        </p:spPr>
        <p:txBody>
          <a:bodyPr/>
          <a:lstStyle>
            <a:lvl1pPr marL="514350" indent="-514350">
              <a:buClr>
                <a:schemeClr val="tx1">
                  <a:lumMod val="50000"/>
                  <a:lumOff val="50000"/>
                </a:schemeClr>
              </a:buClr>
              <a:buSzPct val="100000"/>
              <a:buFont typeface="+mj-lt"/>
              <a:buAutoNum type="arabicPeriod"/>
              <a:defRPr sz="2600" baseline="0"/>
            </a:lvl1pPr>
            <a:lvl2pPr marL="998537" indent="-457200">
              <a:buClr>
                <a:schemeClr val="tx1">
                  <a:lumMod val="65000"/>
                  <a:lumOff val="35000"/>
                </a:schemeClr>
              </a:buClr>
              <a:buFont typeface="+mj-lt"/>
              <a:buAutoNum type="alphaLcPeriod"/>
              <a:defRPr sz="2300"/>
            </a:lvl2pPr>
            <a:lvl3pPr marL="1530350" indent="-457200">
              <a:buSzPct val="100000"/>
              <a:buFont typeface="Wingdings" pitchFamily="2" charset="2"/>
              <a:buChar char="§"/>
              <a:defRPr sz="2000" baseline="0"/>
            </a:lvl3pPr>
            <a:lvl4pPr marL="1893887" indent="-457200">
              <a:buFont typeface="+mj-lt"/>
              <a:buAutoNum type="arabicPeriod"/>
              <a:defRPr/>
            </a:lvl4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  <a:p>
            <a:pPr lvl="4"/>
            <a:r>
              <a:rPr lang="en-US" dirty="0"/>
              <a:t>Fünfte Ebene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461206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uflis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  <p:sp>
        <p:nvSpPr>
          <p:cNvPr id="4" name="Textplatzhalter 3"/>
          <p:cNvSpPr>
            <a:spLocks noGrp="1"/>
          </p:cNvSpPr>
          <p:nvPr>
            <p:ph type="body" sz="quarter" idx="10"/>
          </p:nvPr>
        </p:nvSpPr>
        <p:spPr>
          <a:xfrm>
            <a:off x="468313" y="1268760"/>
            <a:ext cx="8207375" cy="4608165"/>
          </a:xfrm>
          <a:prstGeom prst="rect">
            <a:avLst/>
          </a:prstGeom>
        </p:spPr>
        <p:txBody>
          <a:bodyPr/>
          <a:lstStyle>
            <a:lvl1pPr>
              <a:defRPr sz="2600"/>
            </a:lvl1pPr>
            <a:lvl2pPr>
              <a:defRPr sz="2400"/>
            </a:lvl2pPr>
          </a:lstStyle>
          <a:p>
            <a:pPr lvl="0"/>
            <a:r>
              <a:rPr lang="en-US" dirty="0"/>
              <a:t>Textmasterformate durch Klicken bearbeiten</a:t>
            </a:r>
          </a:p>
          <a:p>
            <a:pPr lvl="1"/>
            <a:r>
              <a:rPr lang="en-US" dirty="0"/>
              <a:t>Zweite Ebene</a:t>
            </a:r>
          </a:p>
          <a:p>
            <a:pPr lvl="2"/>
            <a:r>
              <a:rPr lang="en-US" dirty="0"/>
              <a:t>Dritte Ebene</a:t>
            </a:r>
          </a:p>
          <a:p>
            <a:pPr lvl="3"/>
            <a:r>
              <a:rPr lang="en-US" dirty="0"/>
              <a:t>Vierte Ebene</a:t>
            </a:r>
          </a:p>
        </p:txBody>
      </p:sp>
    </p:spTree>
    <p:extLst>
      <p:ext uri="{BB962C8B-B14F-4D97-AF65-F5344CB8AC3E}">
        <p14:creationId xmlns:p14="http://schemas.microsoft.com/office/powerpoint/2010/main" val="39709857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enutzerdefiniertes Layou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/>
            </a:lvl1pPr>
          </a:lstStyle>
          <a:p>
            <a:r>
              <a:rPr lang="en-US" dirty="0"/>
              <a:t>Titelmasterformat durch Klicken bearbeiten</a:t>
            </a:r>
            <a:endParaRPr lang="de-AT" dirty="0"/>
          </a:p>
        </p:txBody>
      </p:sp>
    </p:spTree>
    <p:extLst>
      <p:ext uri="{BB962C8B-B14F-4D97-AF65-F5344CB8AC3E}">
        <p14:creationId xmlns:p14="http://schemas.microsoft.com/office/powerpoint/2010/main" val="5199387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324429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</p:spPr>
        <p:txBody>
          <a:bodyPr/>
          <a:lstStyle/>
          <a:p>
            <a:r>
              <a:rPr lang="en-US"/>
              <a:t>Titelmasterformat durch Klicken bearbeiten</a:t>
            </a:r>
            <a:endParaRPr lang="de-DE"/>
          </a:p>
        </p:txBody>
      </p:sp>
      <p:sp>
        <p:nvSpPr>
          <p:cNvPr id="3" name="Inhaltsplatzhalt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en-US"/>
              <a:t>Textmasterformate durch Klicken bearbeiten</a:t>
            </a:r>
          </a:p>
          <a:p>
            <a:pPr lvl="1"/>
            <a:r>
              <a:rPr lang="en-US"/>
              <a:t>Zweite Ebene</a:t>
            </a:r>
          </a:p>
          <a:p>
            <a:pPr lvl="2"/>
            <a:r>
              <a:rPr lang="en-US"/>
              <a:t>Dritte Ebene</a:t>
            </a:r>
          </a:p>
          <a:p>
            <a:pPr lvl="3"/>
            <a:r>
              <a:rPr lang="en-US"/>
              <a:t>Vierte Ebene</a:t>
            </a:r>
          </a:p>
          <a:p>
            <a:pPr lvl="4"/>
            <a:r>
              <a:rPr lang="en-US"/>
              <a:t>Fünfte Ebene</a:t>
            </a:r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6320270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Title &amp;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14"/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 spc="0">
                <a:solidFill>
                  <a:srgbClr val="000000"/>
                </a:solidFill>
              </a:defRPr>
            </a:pPr>
            <a:r>
              <a:rPr sz="4500" spc="-90">
                <a:solidFill>
                  <a:srgbClr val="314864"/>
                </a:solidFill>
              </a:rPr>
              <a:t>Title Text</a:t>
            </a:r>
          </a:p>
        </p:txBody>
      </p:sp>
      <p:sp>
        <p:nvSpPr>
          <p:cNvPr id="15" name="Shape 15"/>
          <p:cNvSpPr>
            <a:spLocks noGrp="1"/>
          </p:cNvSpPr>
          <p:nvPr>
            <p:ph type="body" idx="1"/>
          </p:nvPr>
        </p:nvSpPr>
        <p:spPr>
          <a:xfrm>
            <a:off x="250031" y="2098477"/>
            <a:ext cx="8643938" cy="4446984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sz="2109"/>
              <a:t>Body Level One</a:t>
            </a:r>
          </a:p>
          <a:p>
            <a:pPr lvl="1">
              <a:defRPr sz="1800"/>
            </a:pPr>
            <a:r>
              <a:rPr sz="2109"/>
              <a:t>Body Level Two</a:t>
            </a:r>
          </a:p>
          <a:p>
            <a:pPr lvl="2">
              <a:defRPr sz="1800"/>
            </a:pPr>
            <a:r>
              <a:rPr sz="2109"/>
              <a:t>Body Level Three</a:t>
            </a:r>
          </a:p>
          <a:p>
            <a:pPr lvl="3">
              <a:defRPr sz="1800"/>
            </a:pPr>
            <a:r>
              <a:rPr sz="2109"/>
              <a:t>Body Level Four</a:t>
            </a:r>
          </a:p>
          <a:p>
            <a:pPr lvl="4">
              <a:defRPr sz="1800"/>
            </a:pPr>
            <a:r>
              <a:rPr sz="2109"/>
              <a:t>Body Level Five</a:t>
            </a:r>
          </a:p>
        </p:txBody>
      </p:sp>
    </p:spTree>
    <p:extLst>
      <p:ext uri="{BB962C8B-B14F-4D97-AF65-F5344CB8AC3E}">
        <p14:creationId xmlns:p14="http://schemas.microsoft.com/office/powerpoint/2010/main" val="1877749962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1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gradFill flip="none" rotWithShape="1">
          <a:gsLst>
            <a:gs pos="70000">
              <a:schemeClr val="bg1">
                <a:tint val="80000"/>
                <a:satMod val="300000"/>
                <a:lumMod val="85000"/>
                <a:lumOff val="15000"/>
              </a:schemeClr>
            </a:gs>
            <a:gs pos="100000">
              <a:schemeClr val="bg1">
                <a:lumMod val="85000"/>
              </a:schemeClr>
            </a:gs>
          </a:gsLst>
          <a:path path="circle">
            <a:fillToRect l="100000" t="100000"/>
          </a:path>
          <a:tileRect r="-100000" b="-10000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hteck 9"/>
          <p:cNvSpPr/>
          <p:nvPr userDrawn="1"/>
        </p:nvSpPr>
        <p:spPr>
          <a:xfrm>
            <a:off x="-7455" y="-12449"/>
            <a:ext cx="9252520" cy="849161"/>
          </a:xfrm>
          <a:prstGeom prst="rect">
            <a:avLst/>
          </a:prstGeom>
          <a:gradFill flip="none" rotWithShape="1">
            <a:gsLst>
              <a:gs pos="27000">
                <a:srgbClr val="4879B4"/>
              </a:gs>
              <a:gs pos="0">
                <a:schemeClr val="tx2"/>
              </a:gs>
              <a:gs pos="50000">
                <a:schemeClr val="accent1"/>
              </a:gs>
              <a:gs pos="100000">
                <a:schemeClr val="tx2"/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sp>
        <p:nvSpPr>
          <p:cNvPr id="12" name="Rechteck 11"/>
          <p:cNvSpPr/>
          <p:nvPr userDrawn="1"/>
        </p:nvSpPr>
        <p:spPr>
          <a:xfrm>
            <a:off x="-7938" y="-26988"/>
            <a:ext cx="9253538" cy="80963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de-AT"/>
          </a:p>
        </p:txBody>
      </p:sp>
      <p:pic>
        <p:nvPicPr>
          <p:cNvPr id="10246" name="Grafik 6"/>
          <p:cNvPicPr>
            <a:picLocks noChangeAspect="1"/>
          </p:cNvPicPr>
          <p:nvPr userDrawn="1"/>
        </p:nvPicPr>
        <p:blipFill>
          <a:blip r:embed="rId9" cstate="print"/>
          <a:srcRect/>
          <a:stretch>
            <a:fillRect/>
          </a:stretch>
        </p:blipFill>
        <p:spPr bwMode="auto">
          <a:xfrm>
            <a:off x="6516688" y="6259513"/>
            <a:ext cx="2281237" cy="3381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itelplatzhalter 4"/>
          <p:cNvSpPr>
            <a:spLocks noGrp="1"/>
          </p:cNvSpPr>
          <p:nvPr>
            <p:ph type="title"/>
          </p:nvPr>
        </p:nvSpPr>
        <p:spPr>
          <a:xfrm>
            <a:off x="457200" y="125413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de-DE" dirty="0"/>
              <a:t>Masterfolie</a:t>
            </a:r>
            <a:endParaRPr lang="de-AT" dirty="0"/>
          </a:p>
        </p:txBody>
      </p:sp>
      <p:sp>
        <p:nvSpPr>
          <p:cNvPr id="11" name="Rectangle 10"/>
          <p:cNvSpPr>
            <a:spLocks noChangeArrowheads="1"/>
          </p:cNvSpPr>
          <p:nvPr userDrawn="1"/>
        </p:nvSpPr>
        <p:spPr bwMode="gray">
          <a:xfrm>
            <a:off x="349250" y="6361113"/>
            <a:ext cx="2962610" cy="2365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/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I_POS 2015/16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</a:t>
            </a:r>
            <a:r>
              <a:rPr lang="de-DE" sz="1000" baseline="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t> Selektion </a:t>
            </a:r>
            <a:r>
              <a:rPr lang="de-DE" sz="1000" dirty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  <a:sym typeface="Wingdings" pitchFamily="2" charset="2"/>
              </a:rPr>
              <a:t> Seite </a:t>
            </a:r>
            <a:fld id="{C5A4FFB9-E613-43CD-964A-AE1E9E6225EE}" type="slidenum">
              <a:rPr lang="de-DE" sz="1000" smtClean="0">
                <a:solidFill>
                  <a:schemeClr val="bg1">
                    <a:lumMod val="50000"/>
                  </a:schemeClr>
                </a:solidFill>
                <a:latin typeface="+mn-lt"/>
                <a:cs typeface="Arial" charset="0"/>
              </a:rPr>
              <a:pPr fontAlgn="auto">
                <a:spcBef>
                  <a:spcPts val="0"/>
                </a:spcBef>
                <a:spcAft>
                  <a:spcPts val="0"/>
                </a:spcAft>
                <a:defRPr/>
              </a:pPr>
              <a:t>‹Nr.›</a:t>
            </a:fld>
            <a:endParaRPr lang="de-DE" sz="1000" dirty="0">
              <a:solidFill>
                <a:schemeClr val="bg1">
                  <a:lumMod val="50000"/>
                </a:schemeClr>
              </a:solidFill>
              <a:latin typeface="+mn-lt"/>
              <a:cs typeface="Arial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427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2" r:id="rId1"/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</p:sldLayoutIdLst>
  <p:hf hdr="0" ftr="0" dt="0"/>
  <p:txStyles>
    <p:titleStyle>
      <a:lvl1pPr algn="l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effectLst>
            <a:outerShdw blurRad="38100" dist="38100" dir="2700000" algn="tl">
              <a:srgbClr val="000000">
                <a:alpha val="43137"/>
              </a:srgbClr>
            </a:outerShdw>
          </a:effectLst>
          <a:latin typeface="Arial" pitchFamily="34" charset="0"/>
          <a:ea typeface="+mj-ea"/>
          <a:cs typeface="Arial" pitchFamily="34" charset="0"/>
        </a:defRPr>
      </a:lvl1pPr>
      <a:lvl2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2pPr>
      <a:lvl3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3pPr>
      <a:lvl4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4pPr>
      <a:lvl5pPr algn="l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5pPr>
      <a:lvl6pPr marL="4572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6pPr>
      <a:lvl7pPr marL="9144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7pPr>
      <a:lvl8pPr marL="13716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8pPr>
      <a:lvl9pPr marL="1828800" algn="l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Arial" charset="0"/>
          <a:cs typeface="Arial" charset="0"/>
        </a:defRPr>
      </a:lvl9pPr>
    </p:titleStyle>
    <p:bodyStyle>
      <a:lvl1pPr marL="26987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8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1pPr>
      <a:lvl2pPr marL="89535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5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2pPr>
      <a:lvl3pPr marL="1343025" indent="-269875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SzPct val="80000"/>
        <a:buFont typeface="Wingdings" pitchFamily="2" charset="2"/>
        <a:buChar char="§"/>
        <a:defRPr sz="22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3pPr>
      <a:lvl4pPr marL="1790700" indent="-354013" algn="l" rtl="0" eaLnBrk="0" fontAlgn="base" hangingPunct="0">
        <a:spcBef>
          <a:spcPct val="20000"/>
        </a:spcBef>
        <a:spcAft>
          <a:spcPct val="0"/>
        </a:spcAft>
        <a:buClr>
          <a:srgbClr val="595959"/>
        </a:buClr>
        <a:buFont typeface="Symbol" pitchFamily="18" charset="2"/>
        <a:buChar char="-"/>
        <a:defRPr sz="2000" kern="1200">
          <a:solidFill>
            <a:srgbClr val="404040"/>
          </a:solidFill>
          <a:latin typeface="Arial" pitchFamily="34" charset="0"/>
          <a:ea typeface="+mn-ea"/>
          <a:cs typeface="Arial" pitchFamily="34" charset="0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Arial" pitchFamily="34" charset="0"/>
          <a:ea typeface="+mn-ea"/>
          <a:cs typeface="Arial" pitchFamily="34" charset="0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hyperlink" Target="https://app.diagrams.net/" TargetMode="Externa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 etwas frecher „</a:t>
            </a:r>
            <a:r>
              <a:rPr lang="de-AT" dirty="0" err="1"/>
              <a:t>GrownUpCalculator</a:t>
            </a:r>
            <a:r>
              <a:rPr lang="de-AT" dirty="0"/>
              <a:t>“</a:t>
            </a:r>
          </a:p>
        </p:txBody>
      </p:sp>
      <p:sp>
        <p:nvSpPr>
          <p:cNvPr id="4" name="Textfeld 3"/>
          <p:cNvSpPr txBox="1"/>
          <p:nvPr/>
        </p:nvSpPr>
        <p:spPr>
          <a:xfrm>
            <a:off x="611560" y="4977172"/>
            <a:ext cx="6814751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Das Programm prüft, ob das eingegebene Alter 18 Jahre beträgt.</a:t>
            </a:r>
          </a:p>
          <a:p>
            <a:r>
              <a:rPr lang="de-AT" dirty="0"/>
              <a:t>Nur dann wird die Differenz ausgerechnet und ausgegeben.</a:t>
            </a:r>
          </a:p>
        </p:txBody>
      </p:sp>
      <p:pic>
        <p:nvPicPr>
          <p:cNvPr id="5" name="Grafik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2320" y="1412776"/>
            <a:ext cx="7608071" cy="3125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489127"/>
      </p:ext>
    </p:extLst>
  </p:cSld>
  <p:clrMapOvr>
    <a:masterClrMapping/>
  </p:clrMapOvr>
  <p:transition spd="med"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Shape 72"/>
          <p:cNvSpPr>
            <a:spLocks noGrp="1"/>
          </p:cNvSpPr>
          <p:nvPr>
            <p:ph type="body" idx="1"/>
          </p:nvPr>
        </p:nvSpPr>
        <p:spPr>
          <a:xfrm>
            <a:off x="250031" y="1484784"/>
            <a:ext cx="8643938" cy="4772645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using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System;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const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GROWN_UP_AGE = 18;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"How old are you? 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Convert.ToInt32(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userInput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diff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= GROWN_UP_AGE - 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($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"In approx. </a:t>
            </a:r>
            <a:r>
              <a:rPr lang="en-US" sz="1800" dirty="0">
                <a:solidFill>
                  <a:schemeClr val="tx1"/>
                </a:solidFill>
                <a:latin typeface="Consolas" panose="020B0609020204030204" pitchFamily="49" charset="0"/>
              </a:rPr>
              <a:t>{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diff}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 years you will be grown-up"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 defTabSz="402536">
              <a:lnSpc>
                <a:spcPct val="50000"/>
              </a:lnSpc>
              <a:spcBef>
                <a:spcPts val="1406"/>
              </a:spcBef>
              <a:buSzTx/>
              <a:buNone/>
              <a:defRPr sz="1800"/>
            </a:pPr>
            <a:endParaRPr sz="2067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Der einfache Teil</a:t>
            </a:r>
          </a:p>
        </p:txBody>
      </p:sp>
    </p:spTree>
    <p:extLst>
      <p:ext uri="{BB962C8B-B14F-4D97-AF65-F5344CB8AC3E}">
        <p14:creationId xmlns:p14="http://schemas.microsoft.com/office/powerpoint/2010/main" val="805754609"/>
      </p:ext>
    </p:extLst>
  </p:cSld>
  <p:clrMapOvr>
    <a:masterClrMapping/>
  </p:clrMapOvr>
  <p:transition spd="med"/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Shape 82"/>
          <p:cNvSpPr/>
          <p:nvPr/>
        </p:nvSpPr>
        <p:spPr>
          <a:xfrm>
            <a:off x="4402281" y="1016732"/>
            <a:ext cx="7220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endParaRPr sz="2109" dirty="0">
              <a:solidFill>
                <a:srgbClr val="324863"/>
              </a:solidFill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Ablaufdiagramm / </a:t>
            </a:r>
            <a:r>
              <a:rPr lang="de-AT" dirty="0" err="1"/>
              <a:t>Flowchart</a:t>
            </a:r>
            <a:endParaRPr lang="de-AT" dirty="0"/>
          </a:p>
        </p:txBody>
      </p:sp>
      <p:sp>
        <p:nvSpPr>
          <p:cNvPr id="3" name="Textfeld 2"/>
          <p:cNvSpPr txBox="1"/>
          <p:nvPr/>
        </p:nvSpPr>
        <p:spPr>
          <a:xfrm>
            <a:off x="215516" y="1268413"/>
            <a:ext cx="5917004" cy="535531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Font typeface="+mj-lt"/>
              <a:buAutoNum type="arabicPeriod"/>
            </a:pPr>
            <a:r>
              <a:rPr lang="de-AT" dirty="0">
                <a:hlinkClick r:id="rId2"/>
              </a:rPr>
              <a:t>https://app.diagrams.net</a:t>
            </a:r>
            <a:br>
              <a:rPr lang="de-AT" dirty="0"/>
            </a:br>
            <a:endParaRPr lang="de-AT" dirty="0"/>
          </a:p>
          <a:p>
            <a:pPr marL="342900" indent="-342900">
              <a:buFont typeface="+mj-lt"/>
              <a:buAutoNum type="arabicPeriod"/>
            </a:pPr>
            <a:r>
              <a:rPr lang="de-AT" dirty="0"/>
              <a:t>Create New </a:t>
            </a:r>
            <a:r>
              <a:rPr lang="de-AT" dirty="0" err="1"/>
              <a:t>Diagram</a:t>
            </a:r>
            <a:br>
              <a:rPr lang="de-AT" dirty="0"/>
            </a:br>
            <a:br>
              <a:rPr lang="de-AT" dirty="0"/>
            </a:br>
            <a:br>
              <a:rPr lang="de-AT" dirty="0"/>
            </a:br>
            <a:br>
              <a:rPr lang="de-AT" dirty="0"/>
            </a:br>
            <a:br>
              <a:rPr lang="de-AT" dirty="0"/>
            </a:br>
            <a:br>
              <a:rPr lang="de-AT" dirty="0"/>
            </a:br>
            <a:br>
              <a:rPr lang="de-AT" dirty="0"/>
            </a:br>
            <a:endParaRPr lang="de-AT" dirty="0"/>
          </a:p>
          <a:p>
            <a:pPr marL="342900" indent="-342900">
              <a:buFont typeface="+mj-lt"/>
              <a:buAutoNum type="arabicPeriod"/>
            </a:pPr>
            <a:r>
              <a:rPr lang="de-AT" dirty="0"/>
              <a:t>Select „</a:t>
            </a:r>
            <a:r>
              <a:rPr lang="de-AT" dirty="0" err="1"/>
              <a:t>Flowcharts</a:t>
            </a:r>
            <a:r>
              <a:rPr lang="de-AT" dirty="0"/>
              <a:t>“</a:t>
            </a:r>
            <a:br>
              <a:rPr lang="de-AT" dirty="0"/>
            </a:br>
            <a:endParaRPr lang="de-AT" dirty="0"/>
          </a:p>
          <a:p>
            <a:pPr marL="342900" indent="-342900">
              <a:buFont typeface="+mj-lt"/>
              <a:buAutoNum type="arabicPeriod"/>
            </a:pPr>
            <a:r>
              <a:rPr lang="de-AT" dirty="0"/>
              <a:t>Press „Create“</a:t>
            </a:r>
            <a:br>
              <a:rPr lang="de-AT" dirty="0"/>
            </a:br>
            <a:endParaRPr lang="de-AT" dirty="0"/>
          </a:p>
          <a:p>
            <a:pPr marL="342900" indent="-342900">
              <a:buFont typeface="+mj-lt"/>
              <a:buAutoNum type="arabicPeriod"/>
            </a:pPr>
            <a:r>
              <a:rPr lang="de-AT" dirty="0"/>
              <a:t>Draw </a:t>
            </a:r>
            <a:r>
              <a:rPr lang="de-AT" dirty="0" err="1"/>
              <a:t>diagram</a:t>
            </a:r>
            <a:br>
              <a:rPr lang="de-AT" dirty="0"/>
            </a:br>
            <a:br>
              <a:rPr lang="de-AT" dirty="0"/>
            </a:br>
            <a:endParaRPr lang="de-AT" dirty="0"/>
          </a:p>
          <a:p>
            <a:r>
              <a:rPr lang="de-AT" dirty="0"/>
              <a:t>Oder: https://github.com/jgraph/drawio-desktop/releases</a:t>
            </a:r>
            <a:br>
              <a:rPr lang="de-AT" dirty="0"/>
            </a:br>
            <a:endParaRPr lang="de-AT" dirty="0"/>
          </a:p>
        </p:txBody>
      </p:sp>
      <p:pic>
        <p:nvPicPr>
          <p:cNvPr id="4" name="Grafik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11660" y="2348880"/>
            <a:ext cx="1943371" cy="1433713"/>
          </a:xfrm>
          <a:prstGeom prst="rect">
            <a:avLst/>
          </a:prstGeom>
        </p:spPr>
      </p:pic>
      <p:pic>
        <p:nvPicPr>
          <p:cNvPr id="5" name="Grafik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3888" y="1908048"/>
            <a:ext cx="5464048" cy="3749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956344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2" grpId="0" animBg="1" advAuto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Shape 74"/>
          <p:cNvSpPr/>
          <p:nvPr/>
        </p:nvSpPr>
        <p:spPr>
          <a:xfrm>
            <a:off x="4398850" y="2079365"/>
            <a:ext cx="29816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...</a:t>
            </a:r>
          </a:p>
        </p:txBody>
      </p:sp>
      <p:sp>
        <p:nvSpPr>
          <p:cNvPr id="76" name="Shape 76"/>
          <p:cNvSpPr/>
          <p:nvPr/>
        </p:nvSpPr>
        <p:spPr>
          <a:xfrm>
            <a:off x="3237990" y="1527626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("How old are you? ");</a:t>
            </a:r>
          </a:p>
        </p:txBody>
      </p:sp>
      <p:sp>
        <p:nvSpPr>
          <p:cNvPr id="77" name="Shape 77"/>
          <p:cNvSpPr/>
          <p:nvPr/>
        </p:nvSpPr>
        <p:spPr>
          <a:xfrm>
            <a:off x="3686929" y="3599314"/>
            <a:ext cx="1712045" cy="89296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10800"/>
                </a:moveTo>
                <a:lnTo>
                  <a:pt x="10800" y="21600"/>
                </a:lnTo>
                <a:lnTo>
                  <a:pt x="21600" y="10800"/>
                </a:lnTo>
                <a:lnTo>
                  <a:pt x="10800" y="0"/>
                </a:lnTo>
                <a:close/>
              </a:path>
            </a:pathLst>
          </a:cu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 algn="ctr">
              <a:defRPr sz="1800">
                <a:solidFill>
                  <a:srgbClr val="000000"/>
                </a:solidFill>
              </a:defRPr>
            </a:pPr>
            <a:r>
              <a:rPr sz="1687" dirty="0">
                <a:solidFill>
                  <a:schemeClr val="bg1"/>
                </a:solidFill>
              </a:rPr>
              <a:t>diff &gt; 0</a:t>
            </a:r>
          </a:p>
        </p:txBody>
      </p:sp>
      <p:sp>
        <p:nvSpPr>
          <p:cNvPr id="78" name="Shape 78"/>
          <p:cNvSpPr/>
          <p:nvPr/>
        </p:nvSpPr>
        <p:spPr>
          <a:xfrm>
            <a:off x="3237990" y="2563470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int</a:t>
            </a:r>
            <a:r>
              <a:rPr sz="1687" dirty="0">
                <a:solidFill>
                  <a:schemeClr val="bg1"/>
                </a:solidFill>
              </a:rPr>
              <a:t> diff = GROWN_UP_AGE - age;</a:t>
            </a:r>
          </a:p>
        </p:txBody>
      </p:sp>
      <p:sp>
        <p:nvSpPr>
          <p:cNvPr id="79" name="Shape 79"/>
          <p:cNvSpPr/>
          <p:nvPr/>
        </p:nvSpPr>
        <p:spPr>
          <a:xfrm>
            <a:off x="6032983" y="4894119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(“Difference “ + diff);</a:t>
            </a:r>
          </a:p>
        </p:txBody>
      </p:sp>
      <p:sp>
        <p:nvSpPr>
          <p:cNvPr id="80" name="Shape 80"/>
          <p:cNvSpPr/>
          <p:nvPr/>
        </p:nvSpPr>
        <p:spPr>
          <a:xfrm>
            <a:off x="442998" y="4894119"/>
            <a:ext cx="2607469" cy="634008"/>
          </a:xfrm>
          <a:prstGeom prst="rect">
            <a:avLst/>
          </a:prstGeom>
          <a:blipFill>
            <a:blip r:embed="rId2"/>
          </a:blipFill>
          <a:ln w="254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0" tIns="0" rIns="0" bIns="0" anchor="ctr"/>
          <a:lstStyle>
            <a:lvl1pPr>
              <a:defRPr sz="2400">
                <a:solidFill>
                  <a:srgbClr val="FFFFFF"/>
                </a:solidFill>
              </a:defRPr>
            </a:lvl1pPr>
          </a:lstStyle>
          <a:p>
            <a:pPr lvl="0">
              <a:defRPr sz="1800">
                <a:solidFill>
                  <a:srgbClr val="000000"/>
                </a:solidFill>
              </a:defRPr>
            </a:pPr>
            <a:r>
              <a:rPr sz="1687" dirty="0" err="1">
                <a:solidFill>
                  <a:schemeClr val="bg1"/>
                </a:solidFill>
              </a:rPr>
              <a:t>Console.WriteLine</a:t>
            </a:r>
            <a:r>
              <a:rPr sz="1687" dirty="0">
                <a:solidFill>
                  <a:schemeClr val="bg1"/>
                </a:solidFill>
              </a:rPr>
              <a:t>(“You are too old”);</a:t>
            </a:r>
          </a:p>
        </p:txBody>
      </p:sp>
      <p:sp>
        <p:nvSpPr>
          <p:cNvPr id="81" name="Shape 81"/>
          <p:cNvSpPr/>
          <p:nvPr/>
        </p:nvSpPr>
        <p:spPr>
          <a:xfrm flipV="1">
            <a:off x="4541725" y="2172053"/>
            <a:ext cx="0" cy="16303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2" name="Shape 82"/>
          <p:cNvSpPr/>
          <p:nvPr/>
        </p:nvSpPr>
        <p:spPr>
          <a:xfrm>
            <a:off x="4402281" y="1016732"/>
            <a:ext cx="29816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...</a:t>
            </a:r>
          </a:p>
        </p:txBody>
      </p:sp>
      <p:sp>
        <p:nvSpPr>
          <p:cNvPr id="83" name="Shape 83"/>
          <p:cNvSpPr/>
          <p:nvPr/>
        </p:nvSpPr>
        <p:spPr>
          <a:xfrm flipV="1">
            <a:off x="4541725" y="2405830"/>
            <a:ext cx="0" cy="15615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4" name="Shape 84"/>
          <p:cNvSpPr/>
          <p:nvPr/>
        </p:nvSpPr>
        <p:spPr>
          <a:xfrm flipV="1">
            <a:off x="4541725" y="1366892"/>
            <a:ext cx="0" cy="163030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5" name="Shape 85"/>
          <p:cNvSpPr/>
          <p:nvPr/>
        </p:nvSpPr>
        <p:spPr>
          <a:xfrm flipV="1">
            <a:off x="4541725" y="3215337"/>
            <a:ext cx="0" cy="371713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86" name="Shape 86"/>
          <p:cNvSpPr/>
          <p:nvPr/>
        </p:nvSpPr>
        <p:spPr>
          <a:xfrm>
            <a:off x="5405463" y="4047472"/>
            <a:ext cx="1859830" cy="813240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87" name="Shape 87"/>
          <p:cNvSpPr/>
          <p:nvPr/>
        </p:nvSpPr>
        <p:spPr>
          <a:xfrm flipH="1">
            <a:off x="1827100" y="4045799"/>
            <a:ext cx="1859830" cy="81323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88" name="Shape 88"/>
          <p:cNvSpPr/>
          <p:nvPr/>
        </p:nvSpPr>
        <p:spPr>
          <a:xfrm>
            <a:off x="4461357" y="5804946"/>
            <a:ext cx="160735" cy="1607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19679" h="19679" extrusionOk="0">
                <a:moveTo>
                  <a:pt x="16796" y="2882"/>
                </a:moveTo>
                <a:cubicBezTo>
                  <a:pt x="20639" y="6724"/>
                  <a:pt x="20639" y="12954"/>
                  <a:pt x="16796" y="16796"/>
                </a:cubicBezTo>
                <a:cubicBezTo>
                  <a:pt x="12954" y="20639"/>
                  <a:pt x="6724" y="20639"/>
                  <a:pt x="2882" y="16796"/>
                </a:cubicBezTo>
                <a:cubicBezTo>
                  <a:pt x="-961" y="12954"/>
                  <a:pt x="-961" y="6724"/>
                  <a:pt x="2882" y="2882"/>
                </a:cubicBezTo>
                <a:cubicBezTo>
                  <a:pt x="6724" y="-961"/>
                  <a:pt x="12954" y="-961"/>
                  <a:pt x="16796" y="2882"/>
                </a:cubicBezTo>
              </a:path>
            </a:pathLst>
          </a:custGeom>
          <a:blipFill>
            <a:blip r:embed="rId2"/>
          </a:blipFill>
          <a:ln w="25400">
            <a:miter lim="400000"/>
          </a:ln>
        </p:spPr>
        <p:txBody>
          <a:bodyPr lIns="0" tIns="0" rIns="0" bIns="0" anchor="ctr"/>
          <a:lstStyle/>
          <a:p>
            <a:pPr lvl="0">
              <a:defRPr>
                <a:solidFill>
                  <a:srgbClr val="FFFFFF"/>
                </a:solidFill>
              </a:defRPr>
            </a:pPr>
            <a:endParaRPr sz="1266"/>
          </a:p>
        </p:txBody>
      </p:sp>
      <p:sp>
        <p:nvSpPr>
          <p:cNvPr id="89" name="Shape 89"/>
          <p:cNvSpPr/>
          <p:nvPr/>
        </p:nvSpPr>
        <p:spPr>
          <a:xfrm>
            <a:off x="1836320" y="5553973"/>
            <a:ext cx="2589610" cy="348259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90" name="Shape 90"/>
          <p:cNvSpPr/>
          <p:nvPr/>
        </p:nvSpPr>
        <p:spPr>
          <a:xfrm flipH="1">
            <a:off x="4657811" y="5554915"/>
            <a:ext cx="2589609" cy="34825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0" y="21600"/>
                </a:lnTo>
                <a:lnTo>
                  <a:pt x="21600" y="21600"/>
                </a:lnTo>
              </a:path>
            </a:pathLst>
          </a:custGeom>
          <a:ln w="25400">
            <a:solidFill>
              <a:srgbClr val="48556C"/>
            </a:solidFill>
            <a:miter lim="400000"/>
            <a:tailEnd type="triangle"/>
          </a:ln>
        </p:spPr>
        <p:txBody>
          <a:bodyPr lIns="0" tIns="0" rIns="0" bIns="0" anchor="ctr"/>
          <a:lstStyle/>
          <a:p>
            <a:pPr lvl="0"/>
            <a:endParaRPr sz="1266"/>
          </a:p>
        </p:txBody>
      </p:sp>
      <p:sp>
        <p:nvSpPr>
          <p:cNvPr id="91" name="Shape 91"/>
          <p:cNvSpPr/>
          <p:nvPr/>
        </p:nvSpPr>
        <p:spPr>
          <a:xfrm flipV="1">
            <a:off x="4541725" y="5974610"/>
            <a:ext cx="0" cy="156151"/>
          </a:xfrm>
          <a:prstGeom prst="line">
            <a:avLst/>
          </a:prstGeom>
          <a:ln w="25400">
            <a:solidFill>
              <a:srgbClr val="48556C"/>
            </a:solidFill>
            <a:miter lim="400000"/>
            <a:headEnd type="stealth"/>
          </a:ln>
        </p:spPr>
        <p:txBody>
          <a:bodyPr lIns="0" tIns="0" rIns="0" bIns="0"/>
          <a:lstStyle/>
          <a:p>
            <a:pPr defTabSz="321457"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844"/>
          </a:p>
        </p:txBody>
      </p:sp>
      <p:sp>
        <p:nvSpPr>
          <p:cNvPr id="92" name="Shape 92"/>
          <p:cNvSpPr/>
          <p:nvPr/>
        </p:nvSpPr>
        <p:spPr>
          <a:xfrm>
            <a:off x="6120043" y="3597412"/>
            <a:ext cx="492122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yes</a:t>
            </a:r>
          </a:p>
        </p:txBody>
      </p:sp>
      <p:sp>
        <p:nvSpPr>
          <p:cNvPr id="93" name="Shape 93"/>
          <p:cNvSpPr/>
          <p:nvPr/>
        </p:nvSpPr>
        <p:spPr>
          <a:xfrm>
            <a:off x="2532240" y="3597412"/>
            <a:ext cx="373500" cy="39671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35719" tIns="35719" rIns="35719" bIns="35719" anchor="ctr">
            <a:spAutoFit/>
          </a:bodyPr>
          <a:lstStyle/>
          <a:p>
            <a:pPr lvl="0">
              <a:defRPr sz="1800">
                <a:solidFill>
                  <a:srgbClr val="000000"/>
                </a:solidFill>
              </a:defRPr>
            </a:pPr>
            <a:r>
              <a:rPr sz="2109">
                <a:solidFill>
                  <a:srgbClr val="324863"/>
                </a:solidFill>
              </a:rPr>
              <a:t>no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Verzweigung - Selektion</a:t>
            </a:r>
          </a:p>
        </p:txBody>
      </p:sp>
    </p:spTree>
    <p:extLst>
      <p:ext uri="{BB962C8B-B14F-4D97-AF65-F5344CB8AC3E}">
        <p14:creationId xmlns:p14="http://schemas.microsoft.com/office/powerpoint/2010/main" val="54004731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9" fill="hold"/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0" dur="1000"/>
                                        <p:tgtEl>
                                          <p:spTgt spid="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00"/>
                            </p:stCondLst>
                            <p:childTnLst>
                              <p:par>
                                <p:cTn id="22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3" fill="hold"/>
                                        <p:tgtEl>
                                          <p:spTgt spid="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4" dur="1000"/>
                                        <p:tgtEl>
                                          <p:spTgt spid="7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2000"/>
                            </p:stCondLst>
                            <p:childTnLst>
                              <p:par>
                                <p:cTn id="26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8" dur="1000"/>
                                        <p:tgtEl>
                                          <p:spTgt spid="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9" fill="hold">
                            <p:stCondLst>
                              <p:cond delay="3000"/>
                            </p:stCondLst>
                            <p:childTnLst>
                              <p:par>
                                <p:cTn id="3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1" fill="hold"/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10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7" dur="1000"/>
                                        <p:tgtEl>
                                          <p:spTgt spid="8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1000"/>
                            </p:stCondLst>
                            <p:childTnLst>
                              <p:par>
                                <p:cTn id="39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1" dur="1000"/>
                                        <p:tgtEl>
                                          <p:spTgt spid="7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8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0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9" fill="hold"/>
                                        <p:tgtEl>
                                          <p:spTgt spid="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5" dur="1000"/>
                                        <p:tgtEl>
                                          <p:spTgt spid="7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9" fill="hold"/>
                                        <p:tgtEl>
                                          <p:spTgt spid="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0" dur="1000"/>
                                        <p:tgtEl>
                                          <p:spTgt spid="8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1000"/>
                            </p:stCondLst>
                            <p:childTnLst>
                              <p:par>
                                <p:cTn id="62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3" fill="hold"/>
                                        <p:tgtEl>
                                          <p:spTgt spid="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4" dur="1000"/>
                                        <p:tgtEl>
                                          <p:spTgt spid="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8" fill="hold"/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69" dur="1000"/>
                                        <p:tgtEl>
                                          <p:spTgt spid="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3" fill="hold"/>
                                        <p:tgtEl>
                                          <p:spTgt spid="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4" dur="1000"/>
                                        <p:tgtEl>
                                          <p:spTgt spid="8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000"/>
                            </p:stCondLst>
                            <p:childTnLst>
                              <p:par>
                                <p:cTn id="76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77" fill="hold"/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78" dur="1000"/>
                                        <p:tgtEl>
                                          <p:spTgt spid="9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2000"/>
                            </p:stCondLst>
                            <p:childTnLst>
                              <p:par>
                                <p:cTn id="80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1" fill="hold"/>
                                        <p:tgtEl>
                                          <p:spTgt spid="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2" dur="1000"/>
                                        <p:tgtEl>
                                          <p:spTgt spid="8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3" fill="hold">
                            <p:stCondLst>
                              <p:cond delay="3000"/>
                            </p:stCondLst>
                            <p:childTnLst>
                              <p:par>
                                <p:cTn id="8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5" fill="hold"/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86" dur="1000"/>
                                        <p:tgtEl>
                                          <p:spTgt spid="9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4" grpId="0" animBg="1" advAuto="0"/>
      <p:bldP spid="76" grpId="0" animBg="1" advAuto="0"/>
      <p:bldP spid="77" grpId="0" animBg="1" advAuto="0"/>
      <p:bldP spid="78" grpId="0" animBg="1" advAuto="0"/>
      <p:bldP spid="79" grpId="0" animBg="1" advAuto="0"/>
      <p:bldP spid="80" grpId="0" animBg="1" advAuto="0"/>
      <p:bldP spid="81" grpId="0" animBg="1" advAuto="0"/>
      <p:bldP spid="82" grpId="0" animBg="1" advAuto="0"/>
      <p:bldP spid="83" grpId="0" animBg="1" advAuto="0"/>
      <p:bldP spid="84" grpId="0" animBg="1" advAuto="0"/>
      <p:bldP spid="85" grpId="0" animBg="1" advAuto="0"/>
      <p:bldP spid="86" grpId="0" animBg="1" advAuto="0"/>
      <p:bldP spid="87" grpId="0" animBg="1" advAuto="0"/>
      <p:bldP spid="88" grpId="0" animBg="1" advAuto="0"/>
      <p:bldP spid="89" grpId="0" animBg="1" advAuto="0"/>
      <p:bldP spid="90" grpId="0" animBg="1" advAuto="0"/>
      <p:bldP spid="91" grpId="0" animBg="1" advAuto="0"/>
      <p:bldP spid="92" grpId="0" animBg="1" advAuto="0"/>
      <p:bldP spid="93" grpId="0" animBg="1" advAuto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Shape 96"/>
          <p:cNvSpPr>
            <a:spLocks noGrp="1"/>
          </p:cNvSpPr>
          <p:nvPr>
            <p:ph type="body" idx="1"/>
          </p:nvPr>
        </p:nvSpPr>
        <p:spPr>
          <a:xfrm>
            <a:off x="251520" y="1520788"/>
            <a:ext cx="8750461" cy="4446984"/>
          </a:xfrm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diff</a:t>
            </a: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 &gt; 0)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$"In approx.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{diff}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 years you will be grown-up"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buNone/>
            </a:pPr>
            <a:r>
              <a:rPr lang="de-AT" sz="1800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sz="18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"You are too old to use that program"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sz="1800" dirty="0">
              <a:latin typeface="Courier New" panose="02070309020205020404" pitchFamily="49" charset="0"/>
              <a:ea typeface="Monaco"/>
              <a:cs typeface="Courier New" panose="02070309020205020404" pitchFamily="49" charset="0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Selektion in C#</a:t>
            </a:r>
          </a:p>
        </p:txBody>
      </p:sp>
    </p:spTree>
    <p:extLst>
      <p:ext uri="{BB962C8B-B14F-4D97-AF65-F5344CB8AC3E}">
        <p14:creationId xmlns:p14="http://schemas.microsoft.com/office/powerpoint/2010/main" val="692217883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9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9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9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9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9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9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9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9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9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6" grpId="0" build="p" bldLvl="5" animBg="1" advAuto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9" name="Table 99"/>
          <p:cNvGraphicFramePr/>
          <p:nvPr>
            <p:extLst>
              <p:ext uri="{D42A27DB-BD31-4B8C-83A1-F6EECF244321}">
                <p14:modId xmlns:p14="http://schemas.microsoft.com/office/powerpoint/2010/main" val="2284860363"/>
              </p:ext>
            </p:extLst>
          </p:nvPr>
        </p:nvGraphicFramePr>
        <p:xfrm>
          <a:off x="1871700" y="1412776"/>
          <a:ext cx="5544616" cy="4446984"/>
        </p:xfrm>
        <a:graphic>
          <a:graphicData uri="http://schemas.openxmlformats.org/drawingml/2006/table">
            <a:tbl>
              <a:tblPr/>
              <a:tblGrid>
                <a:gridCol w="25922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9523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&lt;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  <a:lnT w="12700">
                      <a:miter lim="400000"/>
                    </a:lnT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Kleiner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  <a:lnT w="12700">
                      <a:miter lim="400000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&gt;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Größer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 dirty="0">
                          <a:solidFill>
                            <a:srgbClr val="314864"/>
                          </a:solidFill>
                        </a:rPr>
                        <a:t>&lt;=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Kleiner oder 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&gt;=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Größer oder 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==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41164"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sz="2500">
                          <a:solidFill>
                            <a:srgbClr val="314864"/>
                          </a:solidFill>
                        </a:rPr>
                        <a:t>!=</a:t>
                      </a:r>
                    </a:p>
                  </a:txBody>
                  <a:tcPr marL="35719" marR="35719" marT="35719" marB="35719" anchor="ctr" horzOverflow="overflow">
                    <a:lnL w="12700">
                      <a:miter lim="400000"/>
                    </a:lnL>
                    <a:lnB w="12700">
                      <a:miter lim="400000"/>
                    </a:lnB>
                  </a:tcPr>
                </a:tc>
                <a:tc>
                  <a:txBody>
                    <a:bodyPr/>
                    <a:lstStyle/>
                    <a:p>
                      <a:pPr lvl="0" algn="ctr" defTabSz="914400">
                        <a:tabLst>
                          <a:tab pos="914400" algn="l"/>
                        </a:tabLst>
                        <a:defRPr sz="1800">
                          <a:solidFill>
                            <a:srgbClr val="000000"/>
                          </a:solidFill>
                        </a:defRPr>
                      </a:pPr>
                      <a:r>
                        <a:rPr lang="de-AT" sz="2500" dirty="0">
                          <a:solidFill>
                            <a:srgbClr val="314864"/>
                          </a:solidFill>
                        </a:rPr>
                        <a:t>ungleich</a:t>
                      </a:r>
                      <a:endParaRPr sz="2500" dirty="0">
                        <a:solidFill>
                          <a:srgbClr val="314864"/>
                        </a:solidFill>
                      </a:endParaRPr>
                    </a:p>
                  </a:txBody>
                  <a:tcPr marL="35719" marR="35719" marT="35719" marB="35719" anchor="ctr" horzOverflow="overflow">
                    <a:lnR w="12700">
                      <a:miter lim="400000"/>
                    </a:lnR>
                    <a:lnB w="12700">
                      <a:miter lim="400000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Bedingungen (</a:t>
            </a:r>
            <a:r>
              <a:rPr lang="de-AT" dirty="0" err="1"/>
              <a:t>Conditions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110074937"/>
      </p:ext>
    </p:extLst>
  </p:cSld>
  <p:clrMapOvr>
    <a:masterClrMapping/>
  </p:clrMapOvr>
  <p:transition spd="med"/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1223628" y="1088740"/>
            <a:ext cx="7092788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AT" dirty="0"/>
              <a:t>Eine </a:t>
            </a:r>
            <a:r>
              <a:rPr lang="de-AT" dirty="0">
                <a:solidFill>
                  <a:srgbClr val="FF0000"/>
                </a:solidFill>
              </a:rPr>
              <a:t>Bedingung </a:t>
            </a:r>
            <a:r>
              <a:rPr lang="de-AT" dirty="0"/>
              <a:t>ist ein logischer Ausdruck.</a:t>
            </a:r>
          </a:p>
          <a:p>
            <a:r>
              <a:rPr lang="de-AT" dirty="0"/>
              <a:t>Ein logischer Ausdruck besteht aus </a:t>
            </a:r>
            <a:r>
              <a:rPr lang="de-AT" i="1" dirty="0">
                <a:solidFill>
                  <a:srgbClr val="FF0000"/>
                </a:solidFill>
              </a:rPr>
              <a:t>Operanden</a:t>
            </a:r>
            <a:r>
              <a:rPr lang="de-AT" dirty="0"/>
              <a:t>, die mit  </a:t>
            </a:r>
            <a:r>
              <a:rPr lang="de-AT" i="1" dirty="0"/>
              <a:t>relationalen oder logischen </a:t>
            </a:r>
            <a:r>
              <a:rPr lang="de-AT" i="1" dirty="0">
                <a:solidFill>
                  <a:srgbClr val="FF0000"/>
                </a:solidFill>
              </a:rPr>
              <a:t>Operatoren </a:t>
            </a:r>
            <a:r>
              <a:rPr lang="de-AT" i="1" dirty="0"/>
              <a:t>verglichen werden.</a:t>
            </a:r>
          </a:p>
          <a:p>
            <a:endParaRPr lang="de-AT" i="1" dirty="0">
              <a:solidFill>
                <a:srgbClr val="FF0000"/>
              </a:solidFill>
            </a:endParaRPr>
          </a:p>
          <a:p>
            <a:r>
              <a:rPr lang="de-AT" i="1" dirty="0"/>
              <a:t>Vergleichsoperatoren (relationale Operatoren):</a:t>
            </a:r>
          </a:p>
          <a:p>
            <a:endParaRPr lang="de-AT" dirty="0"/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==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de-AT" dirty="0"/>
              <a:t>	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gleich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!=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 </a:t>
            </a:r>
            <a:r>
              <a:rPr lang="de-AT" dirty="0"/>
              <a:t>	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nicht gleich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 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größer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&gt;=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größer oder gleich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kleiner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a </a:t>
            </a:r>
            <a:r>
              <a:rPr lang="de-AT" b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&lt;=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	</a:t>
            </a:r>
            <a:r>
              <a:rPr lang="de-AT" dirty="0"/>
              <a:t>	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a</a:t>
            </a:r>
            <a:r>
              <a:rPr lang="de-AT" dirty="0"/>
              <a:t> ist kleiner oder gleich als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Bedingungen – Logischer Ausdruck</a:t>
            </a:r>
          </a:p>
        </p:txBody>
      </p:sp>
    </p:spTree>
    <p:extLst>
      <p:ext uri="{BB962C8B-B14F-4D97-AF65-F5344CB8AC3E}">
        <p14:creationId xmlns:p14="http://schemas.microsoft.com/office/powerpoint/2010/main" val="1297097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Shape 102"/>
          <p:cNvSpPr>
            <a:spLocks noGrp="1"/>
          </p:cNvSpPr>
          <p:nvPr>
            <p:ph type="body" idx="1"/>
          </p:nvPr>
        </p:nvSpPr>
        <p:spPr>
          <a:xfrm>
            <a:off x="250031" y="1268413"/>
            <a:ext cx="8643938" cy="5060677"/>
          </a:xfrm>
          <a:prstGeom prst="rect">
            <a:avLst/>
          </a:prstGeom>
        </p:spPr>
        <p:txBody>
          <a:bodyPr lIns="0" tIns="0" rIns="0" bIns="0">
            <a:normAutofit fontScale="77500" lnSpcReduction="20000"/>
          </a:bodyPr>
          <a:lstStyle/>
          <a:p>
            <a:pPr lvl="0">
              <a:defRPr sz="1800"/>
            </a:pPr>
            <a:r>
              <a:rPr sz="2109" dirty="0"/>
              <a:t>Situation</a:t>
            </a:r>
          </a:p>
          <a:p>
            <a:pPr lvl="1">
              <a:defRPr sz="1800"/>
            </a:pPr>
            <a:r>
              <a:rPr lang="de-AT" sz="2109" dirty="0"/>
              <a:t>Wenn das Alter zwischen </a:t>
            </a:r>
            <a:r>
              <a:rPr sz="2109" dirty="0"/>
              <a:t>18 </a:t>
            </a:r>
            <a:r>
              <a:rPr lang="de-AT" sz="2109" dirty="0"/>
              <a:t>und </a:t>
            </a:r>
            <a:r>
              <a:rPr sz="2109" dirty="0"/>
              <a:t>20 </a:t>
            </a:r>
            <a:r>
              <a:rPr lang="de-AT" sz="2109" dirty="0"/>
              <a:t>Jahren liegt</a:t>
            </a:r>
            <a:r>
              <a:rPr sz="2109" dirty="0"/>
              <a:t>, </a:t>
            </a:r>
            <a:r>
              <a:rPr lang="de-AT" sz="2109" dirty="0"/>
              <a:t>schreiben wir </a:t>
            </a:r>
            <a:r>
              <a:rPr sz="2109" dirty="0"/>
              <a:t>“You are grown up”</a:t>
            </a:r>
          </a:p>
          <a:p>
            <a:pPr lvl="0">
              <a:defRPr sz="1800"/>
            </a:pPr>
            <a:r>
              <a:rPr lang="de-AT" sz="2109" dirty="0"/>
              <a:t>Siehe Mathematik</a:t>
            </a:r>
            <a:endParaRPr sz="2109" dirty="0"/>
          </a:p>
          <a:p>
            <a:pPr lvl="1">
              <a:defRPr sz="1800"/>
            </a:pPr>
            <a:r>
              <a:rPr sz="2109" dirty="0">
                <a:latin typeface="Monaco"/>
                <a:ea typeface="Monaco"/>
                <a:cs typeface="Monaco"/>
                <a:sym typeface="Monaco"/>
              </a:rPr>
              <a:t>if (18 ≤ age ≤ 20)</a:t>
            </a:r>
          </a:p>
          <a:p>
            <a:pPr lvl="1">
              <a:defRPr sz="1800"/>
            </a:pPr>
            <a:r>
              <a:rPr lang="de-AT" sz="2109" dirty="0"/>
              <a:t>Das ist die Kurzform für:</a:t>
            </a:r>
          </a:p>
          <a:p>
            <a:pPr lvl="2">
              <a:defRPr sz="1800"/>
            </a:pPr>
            <a:r>
              <a:rPr sz="1809" dirty="0">
                <a:latin typeface="Monaco"/>
                <a:ea typeface="Monaco"/>
                <a:cs typeface="Monaco"/>
                <a:sym typeface="Monaco"/>
              </a:rPr>
              <a:t>if (18 ≤ age </a:t>
            </a:r>
            <a:r>
              <a:rPr sz="18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and</a:t>
            </a:r>
            <a:r>
              <a:rPr sz="1809" dirty="0">
                <a:latin typeface="Monaco"/>
                <a:ea typeface="Monaco"/>
                <a:cs typeface="Monaco"/>
                <a:sym typeface="Monaco"/>
              </a:rPr>
              <a:t> age ≤ 20)</a:t>
            </a:r>
          </a:p>
          <a:p>
            <a:pPr lvl="2">
              <a:defRPr sz="1800"/>
            </a:pPr>
            <a:r>
              <a:rPr sz="1809" dirty="0">
                <a:latin typeface="Monaco"/>
                <a:ea typeface="Monaco"/>
                <a:cs typeface="Monaco"/>
                <a:sym typeface="Monaco"/>
              </a:rPr>
              <a:t>if (age ≥ 18 </a:t>
            </a:r>
            <a:r>
              <a:rPr sz="18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and</a:t>
            </a:r>
            <a:r>
              <a:rPr sz="1809" dirty="0">
                <a:latin typeface="Monaco"/>
                <a:ea typeface="Monaco"/>
                <a:cs typeface="Monaco"/>
                <a:sym typeface="Monaco"/>
              </a:rPr>
              <a:t> age ≤ 20)</a:t>
            </a:r>
            <a:endParaRPr lang="de-AT" sz="1809" dirty="0">
              <a:latin typeface="Monaco"/>
              <a:ea typeface="Monaco"/>
              <a:cs typeface="Monaco"/>
              <a:sym typeface="Monaco"/>
            </a:endParaRPr>
          </a:p>
          <a:p>
            <a:pPr>
              <a:defRPr sz="1800"/>
            </a:pPr>
            <a:r>
              <a:rPr lang="de-AT" sz="2900" b="1" spc="-90" dirty="0" err="1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and</a:t>
            </a:r>
            <a:r>
              <a:rPr lang="de-AT" sz="2900" b="1" spc="-90" dirty="0">
                <a:solidFill>
                  <a:srgbClr val="1C54F4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 </a:t>
            </a:r>
            <a:r>
              <a:rPr lang="de-AT" sz="2109" b="1" dirty="0"/>
              <a:t>in C#</a:t>
            </a:r>
            <a:endParaRPr lang="de-AT" sz="2109" b="1" dirty="0">
              <a:sym typeface="Monaco"/>
            </a:endParaRPr>
          </a:p>
          <a:p>
            <a:pPr marL="625475" lvl="1" indent="0">
              <a:buNone/>
            </a:pPr>
            <a:br>
              <a:rPr lang="en-US" sz="1509" b="1" dirty="0">
                <a:solidFill>
                  <a:schemeClr val="accent1"/>
                </a:solidFill>
                <a:latin typeface="Courier New" panose="02070309020205020404" pitchFamily="49" charset="0"/>
                <a:ea typeface="Monaco"/>
                <a:cs typeface="Courier New" panose="02070309020205020404" pitchFamily="49" charset="0"/>
                <a:sym typeface="Monaco"/>
              </a:rPr>
            </a:b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(18 &lt;= age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&amp;&amp;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&lt;= 20)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(…)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625475" lvl="1" indent="0">
              <a:buNone/>
            </a:pP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625475" lvl="1" indent="0">
              <a:buNone/>
            </a:pPr>
            <a:r>
              <a:rPr lang="en-US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(age &gt;= 18 </a:t>
            </a:r>
            <a:r>
              <a:rPr lang="en-US" dirty="0">
                <a:solidFill>
                  <a:srgbClr val="FF0000"/>
                </a:solidFill>
                <a:latin typeface="Consolas" panose="020B0609020204030204" pitchFamily="49" charset="0"/>
              </a:rPr>
              <a:t>&amp;&amp;</a:t>
            </a:r>
            <a:r>
              <a:rPr lang="en-US" dirty="0">
                <a:solidFill>
                  <a:srgbClr val="000000"/>
                </a:solidFill>
                <a:latin typeface="Consolas" panose="020B0609020204030204" pitchFamily="49" charset="0"/>
              </a:rPr>
              <a:t> age &lt;= 20)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(…)</a:t>
            </a:r>
          </a:p>
          <a:p>
            <a:pPr marL="625475" lvl="1" indent="0">
              <a:buNone/>
            </a:pP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lvl="2">
              <a:defRPr sz="1800"/>
            </a:pPr>
            <a:endParaRPr sz="1809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>
          <a:xfrm>
            <a:off x="250031" y="125413"/>
            <a:ext cx="8893969" cy="1143000"/>
          </a:xfrm>
        </p:spPr>
        <p:txBody>
          <a:bodyPr/>
          <a:lstStyle/>
          <a:p>
            <a:r>
              <a:rPr lang="de-AT" dirty="0"/>
              <a:t>Verknüpfung von Bedingungen mit &amp;&amp; (</a:t>
            </a:r>
            <a:r>
              <a:rPr lang="de-AT" sz="2800" spc="-90" dirty="0"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ea typeface="+mn-ea"/>
              </a:rPr>
              <a:t>AND)</a:t>
            </a:r>
            <a:endParaRPr lang="de-AT" sz="2400" spc="-90" dirty="0">
              <a:effectLst>
                <a:outerShdw blurRad="127000" dist="76200" dir="2700000" rotWithShape="0">
                  <a:srgbClr val="000000">
                    <a:alpha val="75000"/>
                  </a:srgbClr>
                </a:outerShdw>
              </a:effectLst>
              <a:ea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0491794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3" fill="hold"/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0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0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02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02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02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102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02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102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8" fill="hold"/>
                                        <p:tgtEl>
                                          <p:spTgt spid="102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1" fill="hold"/>
                                        <p:tgtEl>
                                          <p:spTgt spid="102">
                                            <p:txEl>
                                              <p:pRg st="15" end="1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4" fill="hold"/>
                                        <p:tgtEl>
                                          <p:spTgt spid="102">
                                            <p:txEl>
                                              <p:pRg st="16" end="1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 bldLvl="5" advAuto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108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lIns="0" tIns="0" rIns="0" bIns="0">
            <a:normAutofit/>
          </a:bodyPr>
          <a:lstStyle/>
          <a:p>
            <a:pPr lvl="0">
              <a:defRPr sz="1800"/>
            </a:pPr>
            <a:r>
              <a:rPr sz="2109" dirty="0"/>
              <a:t>Situation</a:t>
            </a:r>
          </a:p>
          <a:p>
            <a:pPr lvl="1">
              <a:defRPr sz="1800"/>
            </a:pPr>
            <a:r>
              <a:rPr lang="de-AT" sz="2109" dirty="0"/>
              <a:t>Wenn das Alter entweder </a:t>
            </a:r>
            <a:r>
              <a:rPr sz="2109" dirty="0"/>
              <a:t>25</a:t>
            </a:r>
            <a:r>
              <a:rPr lang="de-AT" sz="2109" dirty="0"/>
              <a:t> oder </a:t>
            </a:r>
            <a:r>
              <a:rPr sz="2109" dirty="0"/>
              <a:t>50</a:t>
            </a:r>
            <a:r>
              <a:rPr lang="de-AT" sz="2109" dirty="0"/>
              <a:t> ist</a:t>
            </a:r>
            <a:r>
              <a:rPr sz="2109" dirty="0"/>
              <a:t>, </a:t>
            </a:r>
            <a:r>
              <a:rPr lang="de-AT" sz="2109" dirty="0"/>
              <a:t>schreiben wir </a:t>
            </a:r>
            <a:r>
              <a:rPr sz="2109" dirty="0"/>
              <a:t>“Congratulations for your round birthday”</a:t>
            </a:r>
          </a:p>
          <a:p>
            <a:pPr lvl="0">
              <a:defRPr sz="1800"/>
            </a:pPr>
            <a:r>
              <a:rPr lang="de-AT" sz="2109" dirty="0"/>
              <a:t>Wieder Mathematik</a:t>
            </a:r>
            <a:endParaRPr sz="2109" dirty="0"/>
          </a:p>
          <a:p>
            <a:pPr lvl="1">
              <a:defRPr sz="1800"/>
            </a:pPr>
            <a:r>
              <a:rPr sz="2109" dirty="0">
                <a:latin typeface="Monaco"/>
                <a:ea typeface="Monaco"/>
                <a:cs typeface="Monaco"/>
                <a:sym typeface="Monaco"/>
              </a:rPr>
              <a:t>if (age == 25 </a:t>
            </a:r>
            <a:r>
              <a:rPr sz="2109" dirty="0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latin typeface="Monaco"/>
                <a:ea typeface="Monaco"/>
                <a:cs typeface="Monaco"/>
                <a:sym typeface="Monaco"/>
              </a:rPr>
              <a:t>or</a:t>
            </a:r>
            <a:r>
              <a:rPr sz="2109" dirty="0">
                <a:latin typeface="Monaco"/>
                <a:ea typeface="Monaco"/>
                <a:cs typeface="Monaco"/>
                <a:sym typeface="Monaco"/>
              </a:rPr>
              <a:t> age == 50)</a:t>
            </a:r>
            <a:endParaRPr lang="de-AT" sz="2109" dirty="0">
              <a:latin typeface="Monaco"/>
              <a:ea typeface="Monaco"/>
              <a:cs typeface="Monaco"/>
              <a:sym typeface="Monaco"/>
            </a:endParaRPr>
          </a:p>
          <a:p>
            <a:pPr>
              <a:defRPr sz="1800"/>
            </a:pPr>
            <a:r>
              <a:rPr lang="de-AT" sz="2700" b="1" spc="-90" dirty="0" err="1">
                <a:solidFill>
                  <a:srgbClr val="FF0000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or</a:t>
            </a:r>
            <a:r>
              <a:rPr lang="de-AT" sz="2700" b="1" spc="-90" dirty="0">
                <a:solidFill>
                  <a:srgbClr val="1C54F4"/>
                </a:solidFill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</a:rPr>
              <a:t> </a:t>
            </a:r>
            <a:r>
              <a:rPr lang="de-AT" sz="2409" b="1" dirty="0"/>
              <a:t>in C#</a:t>
            </a:r>
            <a:endParaRPr lang="de-AT" sz="2409" b="1" dirty="0">
              <a:sym typeface="Monaco"/>
            </a:endParaRPr>
          </a:p>
          <a:p>
            <a:pPr lvl="1">
              <a:defRPr sz="1800"/>
            </a:pPr>
            <a:endParaRPr lang="de-AT" sz="2109" dirty="0">
              <a:latin typeface="Monaco"/>
              <a:ea typeface="Monaco"/>
              <a:cs typeface="Monaco"/>
              <a:sym typeface="Monaco"/>
            </a:endParaRPr>
          </a:p>
          <a:p>
            <a:pPr marL="0" indent="0">
              <a:buNone/>
            </a:pPr>
            <a:r>
              <a:rPr lang="en-US" sz="1800" dirty="0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(age == 25 </a:t>
            </a:r>
            <a:r>
              <a:rPr lang="en-US" sz="1800" dirty="0">
                <a:solidFill>
                  <a:srgbClr val="FF0000"/>
                </a:solidFill>
                <a:latin typeface="Consolas" panose="020B0609020204030204" pitchFamily="49" charset="0"/>
              </a:rPr>
              <a:t>||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age == 50)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1800" dirty="0">
                <a:solidFill>
                  <a:srgbClr val="A31515"/>
                </a:solidFill>
                <a:latin typeface="Consolas" panose="020B0609020204030204" pitchFamily="49" charset="0"/>
              </a:rPr>
              <a:t>"Congratulations for your round birthday"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18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  <a:endParaRPr sz="2109" dirty="0">
              <a:latin typeface="Monaco"/>
              <a:ea typeface="Monaco"/>
              <a:cs typeface="Monaco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Verknüpfung von Bedingungen mit II (</a:t>
            </a:r>
            <a:r>
              <a:rPr lang="de-AT" sz="2800" spc="-90" dirty="0">
                <a:effectLst>
                  <a:outerShdw blurRad="127000" dist="76200" dir="2700000" rotWithShape="0">
                    <a:srgbClr val="000000">
                      <a:alpha val="75000"/>
                    </a:srgbClr>
                  </a:outerShdw>
                </a:effectLst>
                <a:ea typeface="+mn-ea"/>
              </a:rPr>
              <a:t>OR)</a:t>
            </a:r>
          </a:p>
        </p:txBody>
      </p:sp>
    </p:spTree>
    <p:extLst>
      <p:ext uri="{BB962C8B-B14F-4D97-AF65-F5344CB8AC3E}">
        <p14:creationId xmlns:p14="http://schemas.microsoft.com/office/powerpoint/2010/main" val="2715633384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0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0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0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0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7" fill="hold"/>
                                        <p:tgtEl>
                                          <p:spTgt spid="10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8" grpId="0" build="p" advAuto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7169" y="1261240"/>
            <a:ext cx="745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Einseitige Verzweigung</a:t>
            </a:r>
          </a:p>
          <a:p>
            <a:r>
              <a:rPr lang="de-AT" dirty="0"/>
              <a:t>Trifft eine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i="1" dirty="0">
                <a:solidFill>
                  <a:srgbClr val="FF0000"/>
                </a:solidFill>
              </a:rPr>
              <a:t>Bedingung&gt;</a:t>
            </a:r>
            <a:r>
              <a:rPr lang="de-AT" dirty="0"/>
              <a:t> zu, so werden bestimmte </a:t>
            </a:r>
            <a:r>
              <a:rPr lang="de-AT" dirty="0">
                <a:solidFill>
                  <a:srgbClr val="CC3300"/>
                </a:solidFill>
              </a:rPr>
              <a:t>&lt;</a:t>
            </a:r>
            <a:r>
              <a:rPr lang="de-AT" i="1" dirty="0">
                <a:solidFill>
                  <a:srgbClr val="CC3300"/>
                </a:solidFill>
              </a:rPr>
              <a:t>Anweisungen&gt;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12" name="Flussdiagramm: Verzweigung 11"/>
          <p:cNvSpPr/>
          <p:nvPr/>
        </p:nvSpPr>
        <p:spPr>
          <a:xfrm>
            <a:off x="2735796" y="2701400"/>
            <a:ext cx="3348371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&lt;Bedingung&gt;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 flipH="1">
            <a:off x="4409982" y="2197344"/>
            <a:ext cx="1592" cy="50405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Gewinkelte Verbindung 16"/>
          <p:cNvCxnSpPr>
            <a:stCxn id="12" idx="3"/>
          </p:cNvCxnSpPr>
          <p:nvPr/>
        </p:nvCxnSpPr>
        <p:spPr>
          <a:xfrm>
            <a:off x="6084167" y="3079442"/>
            <a:ext cx="289626" cy="1494165"/>
          </a:xfrm>
          <a:prstGeom prst="bentConnector2">
            <a:avLst/>
          </a:prstGeom>
          <a:ln w="22225">
            <a:solidFill>
              <a:schemeClr val="tx2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2447764" y="3079442"/>
            <a:ext cx="288032" cy="630070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403018" y="3709512"/>
            <a:ext cx="208949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230759" y="2430573"/>
            <a:ext cx="360039" cy="3926028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428613" y="4573608"/>
            <a:ext cx="0" cy="6480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Textfeld 2"/>
          <p:cNvSpPr txBox="1"/>
          <p:nvPr/>
        </p:nvSpPr>
        <p:spPr>
          <a:xfrm>
            <a:off x="2341345" y="2764116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18" name="Textfeld 17"/>
          <p:cNvSpPr txBox="1"/>
          <p:nvPr/>
        </p:nvSpPr>
        <p:spPr>
          <a:xfrm>
            <a:off x="5773821" y="2764116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Einseitige Verzweigung</a:t>
            </a:r>
          </a:p>
        </p:txBody>
      </p:sp>
    </p:spTree>
    <p:extLst>
      <p:ext uri="{BB962C8B-B14F-4D97-AF65-F5344CB8AC3E}">
        <p14:creationId xmlns:p14="http://schemas.microsoft.com/office/powerpoint/2010/main" val="266689765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597521" y="1412776"/>
            <a:ext cx="7453259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Einseitige Verzweigung</a:t>
            </a:r>
          </a:p>
          <a:p>
            <a:r>
              <a:rPr lang="de-AT" dirty="0"/>
              <a:t>Trifft eine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i="1" dirty="0">
                <a:solidFill>
                  <a:srgbClr val="FF0000"/>
                </a:solidFill>
              </a:rPr>
              <a:t>Bedingung&gt;</a:t>
            </a:r>
            <a:r>
              <a:rPr lang="de-AT" dirty="0"/>
              <a:t> zu, so werden bestimmte </a:t>
            </a:r>
            <a:r>
              <a:rPr lang="de-AT" dirty="0">
                <a:solidFill>
                  <a:srgbClr val="CC3300"/>
                </a:solidFill>
              </a:rPr>
              <a:t>&lt;</a:t>
            </a:r>
            <a:r>
              <a:rPr lang="de-AT" i="1" dirty="0">
                <a:solidFill>
                  <a:srgbClr val="CC3300"/>
                </a:solidFill>
              </a:rPr>
              <a:t>Anweisungen&gt;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3" name="Textfeld 2"/>
          <p:cNvSpPr txBox="1"/>
          <p:nvPr/>
        </p:nvSpPr>
        <p:spPr>
          <a:xfrm>
            <a:off x="2409616" y="2276872"/>
            <a:ext cx="2401619" cy="1200329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none" rtlCol="0">
            <a:spAutoFit/>
          </a:bodyPr>
          <a:lstStyle/>
          <a:p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Bedingung&gt;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</a:p>
        </p:txBody>
      </p:sp>
      <p:sp>
        <p:nvSpPr>
          <p:cNvPr id="10" name="Textfeld 9"/>
          <p:cNvSpPr txBox="1"/>
          <p:nvPr/>
        </p:nvSpPr>
        <p:spPr>
          <a:xfrm>
            <a:off x="458337" y="3967896"/>
            <a:ext cx="790953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input = Console.ReadLine();</a:t>
            </a:r>
          </a:p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mark = Convert.ToInt32(input);</a:t>
            </a:r>
          </a:p>
          <a:p>
            <a:r>
              <a:rPr lang="de-AT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 (mark &gt; 5)</a:t>
            </a:r>
          </a:p>
          <a:p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    Console.WriteLine(</a:t>
            </a:r>
            <a:r>
              <a:rPr lang="de-DE">
                <a:solidFill>
                  <a:srgbClr val="A31515"/>
                </a:solidFill>
                <a:latin typeface="Consolas" panose="020B0609020204030204" pitchFamily="49" charset="0"/>
              </a:rPr>
              <a:t>$"Die Note </a:t>
            </a:r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{mark}</a:t>
            </a:r>
            <a:r>
              <a:rPr lang="de-DE">
                <a:solidFill>
                  <a:srgbClr val="A31515"/>
                </a:solidFill>
                <a:latin typeface="Consolas" panose="020B0609020204030204" pitchFamily="49" charset="0"/>
              </a:rPr>
              <a:t> ist nicht möglich."</a:t>
            </a:r>
            <a:r>
              <a:rPr lang="de-DE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</p:txBody>
      </p:sp>
      <p:sp>
        <p:nvSpPr>
          <p:cNvPr id="11" name="Titel 10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Einseitige Verzweigung (</a:t>
            </a:r>
            <a:r>
              <a:rPr lang="de-AT" dirty="0" err="1"/>
              <a:t>if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4935608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934967" y="1260955"/>
            <a:ext cx="6750631" cy="147732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Zweiseitige Verzweigung</a:t>
            </a:r>
          </a:p>
          <a:p>
            <a:r>
              <a:rPr lang="de-AT" dirty="0"/>
              <a:t>Trifft eine </a:t>
            </a:r>
            <a:r>
              <a:rPr lang="de-AT" i="1" dirty="0">
                <a:solidFill>
                  <a:srgbClr val="FF0000"/>
                </a:solidFill>
              </a:rPr>
              <a:t>Bedingung</a:t>
            </a:r>
            <a:r>
              <a:rPr lang="de-AT" dirty="0"/>
              <a:t> zu, so werden 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ausgeführt,</a:t>
            </a:r>
            <a:br>
              <a:rPr lang="de-AT" dirty="0"/>
            </a:br>
            <a:r>
              <a:rPr lang="de-AT" dirty="0"/>
              <a:t>trifft sie nicht zu, so werden 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  <a:p>
            <a:endParaRPr lang="de-AT" dirty="0"/>
          </a:p>
          <a:p>
            <a:r>
              <a:rPr lang="de-AT" dirty="0"/>
              <a:t>Programmablaufplan (PAP):</a:t>
            </a:r>
          </a:p>
        </p:txBody>
      </p:sp>
      <p:sp>
        <p:nvSpPr>
          <p:cNvPr id="12" name="Flussdiagramm: Verzweigung 11"/>
          <p:cNvSpPr/>
          <p:nvPr/>
        </p:nvSpPr>
        <p:spPr>
          <a:xfrm>
            <a:off x="2663788" y="2872573"/>
            <a:ext cx="3240360" cy="728642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&lt;Bedingung&gt;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 flipH="1">
            <a:off x="4283968" y="2328301"/>
            <a:ext cx="1114" cy="5442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2357440" y="3236893"/>
            <a:ext cx="306348" cy="616349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222999" y="3853243"/>
            <a:ext cx="226888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149908" y="2564831"/>
            <a:ext cx="360040" cy="3944976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248594" y="4717339"/>
            <a:ext cx="0" cy="648072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21" idx="0"/>
          </p:cNvCxnSpPr>
          <p:nvPr/>
        </p:nvCxnSpPr>
        <p:spPr>
          <a:xfrm>
            <a:off x="5904148" y="3236894"/>
            <a:ext cx="396044" cy="551204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ussdiagramm: Prozess 20"/>
          <p:cNvSpPr/>
          <p:nvPr/>
        </p:nvSpPr>
        <p:spPr>
          <a:xfrm>
            <a:off x="5076056" y="3788098"/>
            <a:ext cx="244827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28" name="Gerade Verbindung 27"/>
          <p:cNvCxnSpPr>
            <a:stCxn id="21" idx="2"/>
          </p:cNvCxnSpPr>
          <p:nvPr/>
        </p:nvCxnSpPr>
        <p:spPr>
          <a:xfrm>
            <a:off x="6300192" y="4292154"/>
            <a:ext cx="2226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2159103" y="2907847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5702542" y="2907847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(</a:t>
            </a:r>
            <a:r>
              <a:rPr lang="de-AT" dirty="0" err="1"/>
              <a:t>if</a:t>
            </a:r>
            <a:r>
              <a:rPr lang="de-AT" dirty="0"/>
              <a:t> .. </a:t>
            </a:r>
            <a:r>
              <a:rPr lang="de-AT" dirty="0" err="1"/>
              <a:t>else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140463505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1079612" y="1484784"/>
            <a:ext cx="617643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Zweiseitige Verzweigung</a:t>
            </a:r>
          </a:p>
          <a:p>
            <a:r>
              <a:rPr lang="de-AT" dirty="0"/>
              <a:t>Trifft eine </a:t>
            </a:r>
            <a:r>
              <a:rPr lang="de-AT" i="1" dirty="0">
                <a:solidFill>
                  <a:srgbClr val="FF0000"/>
                </a:solidFill>
              </a:rPr>
              <a:t>Bedingung</a:t>
            </a:r>
            <a:r>
              <a:rPr lang="de-AT" dirty="0"/>
              <a:t> zu, so werden </a:t>
            </a:r>
            <a:r>
              <a:rPr lang="de-AT" i="1" dirty="0" err="1">
                <a:solidFill>
                  <a:srgbClr val="CC3300"/>
                </a:solidFill>
              </a:rPr>
              <a:t>Anweisungen_A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ausgeführt,</a:t>
            </a:r>
            <a:br>
              <a:rPr lang="de-AT" dirty="0"/>
            </a:br>
            <a:r>
              <a:rPr lang="de-AT" dirty="0"/>
              <a:t>trifft sie nicht zu, so werden </a:t>
            </a:r>
            <a:r>
              <a:rPr lang="de-AT" i="1" dirty="0" err="1">
                <a:solidFill>
                  <a:srgbClr val="CC3300"/>
                </a:solidFill>
              </a:rPr>
              <a:t>Anweisungen_B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</a:p>
        </p:txBody>
      </p:sp>
      <p:sp>
        <p:nvSpPr>
          <p:cNvPr id="22" name="Textfeld 21"/>
          <p:cNvSpPr txBox="1"/>
          <p:nvPr/>
        </p:nvSpPr>
        <p:spPr>
          <a:xfrm>
            <a:off x="2447764" y="2804735"/>
            <a:ext cx="3312367" cy="2308324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if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Bedingung&gt;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Anweisungen_A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</a:t>
            </a:r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Anweisungen_B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(</a:t>
            </a:r>
            <a:r>
              <a:rPr lang="de-AT" dirty="0" err="1"/>
              <a:t>if</a:t>
            </a:r>
            <a:r>
              <a:rPr lang="de-AT" dirty="0"/>
              <a:t>..</a:t>
            </a:r>
            <a:r>
              <a:rPr lang="de-AT" dirty="0" err="1"/>
              <a:t>else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424857075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/>
          <p:cNvSpPr/>
          <p:nvPr/>
        </p:nvSpPr>
        <p:spPr>
          <a:xfrm>
            <a:off x="457200" y="1960377"/>
            <a:ext cx="8686800" cy="286232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"Es wurde A gewählt!"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DE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DE" dirty="0">
                <a:solidFill>
                  <a:srgbClr val="A31515"/>
                </a:solidFill>
                <a:latin typeface="Consolas" panose="020B0609020204030204" pitchFamily="49" charset="0"/>
              </a:rPr>
              <a:t>"Es wurde etwas anderes als A gewählt!"</a:t>
            </a:r>
            <a:r>
              <a:rPr lang="de-DE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10" name="Titel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Zweiseitige Verzweigung - Beispiel</a:t>
            </a:r>
          </a:p>
        </p:txBody>
      </p:sp>
    </p:spTree>
    <p:extLst>
      <p:ext uri="{BB962C8B-B14F-4D97-AF65-F5344CB8AC3E}">
        <p14:creationId xmlns:p14="http://schemas.microsoft.com/office/powerpoint/2010/main" val="145784474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Shape 114"/>
          <p:cNvSpPr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de-AT" sz="2109" dirty="0"/>
              <a:t>Wenn das Alter unter </a:t>
            </a:r>
            <a:r>
              <a:rPr sz="2109" dirty="0"/>
              <a:t>18</a:t>
            </a:r>
            <a:r>
              <a:rPr lang="de-AT" sz="2109" dirty="0"/>
              <a:t> 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In </a:t>
            </a:r>
            <a:r>
              <a:rPr sz="2109" dirty="0" err="1"/>
              <a:t>approx</a:t>
            </a:r>
            <a:r>
              <a:rPr sz="2109" dirty="0"/>
              <a:t> &lt;diff&gt; years you will be grown-up</a:t>
            </a:r>
            <a:r>
              <a:rPr lang="de-AT" sz="2109" dirty="0"/>
              <a:t>"</a:t>
            </a:r>
            <a:endParaRPr sz="2109" dirty="0"/>
          </a:p>
          <a:p>
            <a:pPr lvl="0">
              <a:defRPr sz="1800"/>
            </a:pPr>
            <a:r>
              <a:rPr lang="de-AT" sz="2109" dirty="0"/>
              <a:t>Wenn das Alter zwischen </a:t>
            </a:r>
            <a:r>
              <a:rPr sz="2109" dirty="0"/>
              <a:t>18 </a:t>
            </a:r>
            <a:r>
              <a:rPr lang="de-AT" sz="2109" dirty="0"/>
              <a:t>und </a:t>
            </a:r>
            <a:r>
              <a:rPr sz="2109" dirty="0"/>
              <a:t>20 </a:t>
            </a:r>
            <a:r>
              <a:rPr lang="de-AT" sz="2109" dirty="0"/>
              <a:t>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You are grown up</a:t>
            </a:r>
            <a:r>
              <a:rPr lang="de-AT" sz="2109" dirty="0"/>
              <a:t>"</a:t>
            </a:r>
            <a:endParaRPr sz="2109" dirty="0"/>
          </a:p>
          <a:p>
            <a:pPr lvl="0">
              <a:defRPr sz="1800"/>
            </a:pPr>
            <a:r>
              <a:rPr lang="de-AT" sz="2109" dirty="0"/>
              <a:t>Wenn der User noch älter ist</a:t>
            </a:r>
            <a:endParaRPr sz="2109" dirty="0"/>
          </a:p>
          <a:p>
            <a:pPr lvl="1">
              <a:defRPr sz="1800"/>
            </a:pPr>
            <a:r>
              <a:rPr lang="de-AT" sz="2109" dirty="0"/>
              <a:t>"</a:t>
            </a:r>
            <a:r>
              <a:rPr sz="2109" dirty="0"/>
              <a:t>You are too old</a:t>
            </a:r>
            <a:r>
              <a:rPr lang="de-AT" sz="2109" dirty="0"/>
              <a:t>"</a:t>
            </a:r>
            <a:endParaRPr sz="2109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Erweiterung</a:t>
            </a:r>
          </a:p>
        </p:txBody>
      </p:sp>
    </p:spTree>
    <p:extLst>
      <p:ext uri="{BB962C8B-B14F-4D97-AF65-F5344CB8AC3E}">
        <p14:creationId xmlns:p14="http://schemas.microsoft.com/office/powerpoint/2010/main" val="388018757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0" fill="hold"/>
                                        <p:tgtEl>
                                          <p:spTgt spid="11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4" fill="hold"/>
                                        <p:tgtEl>
                                          <p:spTgt spid="1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6" fill="hold"/>
                                        <p:tgtEl>
                                          <p:spTgt spid="11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2" fill="hold"/>
                                        <p:tgtEl>
                                          <p:spTgt spid="11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4" grpId="0" build="p" animBg="1" advAuto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4163117" y="2757698"/>
            <a:ext cx="2807052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>
            <a:off x="5566643" y="2456892"/>
            <a:ext cx="0" cy="30080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4" idx="0"/>
          </p:cNvCxnSpPr>
          <p:nvPr/>
        </p:nvCxnSpPr>
        <p:spPr>
          <a:xfrm rot="10800000" flipV="1">
            <a:off x="3503755" y="3135739"/>
            <a:ext cx="659362" cy="530673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862018" y="4617132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305917" y="2276285"/>
            <a:ext cx="360040" cy="6049846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4499992" y="5481228"/>
            <a:ext cx="0" cy="360040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46" idx="0"/>
          </p:cNvCxnSpPr>
          <p:nvPr/>
        </p:nvCxnSpPr>
        <p:spPr>
          <a:xfrm>
            <a:off x="6970169" y="3135740"/>
            <a:ext cx="531227" cy="1409384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27"/>
          <p:cNvCxnSpPr/>
          <p:nvPr/>
        </p:nvCxnSpPr>
        <p:spPr>
          <a:xfrm>
            <a:off x="7510860" y="5049180"/>
            <a:ext cx="0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3367547" y="2820414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6910986" y="2820414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Verzweigung 23"/>
          <p:cNvSpPr/>
          <p:nvPr/>
        </p:nvSpPr>
        <p:spPr>
          <a:xfrm>
            <a:off x="2074885" y="3666413"/>
            <a:ext cx="2857739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5" name="Gewinkelte Verbindung 24"/>
          <p:cNvCxnSpPr>
            <a:stCxn id="24" idx="1"/>
            <a:endCxn id="20" idx="0"/>
          </p:cNvCxnSpPr>
          <p:nvPr/>
        </p:nvCxnSpPr>
        <p:spPr>
          <a:xfrm rot="10800000" flipV="1">
            <a:off x="1461015" y="4044454"/>
            <a:ext cx="613871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/>
          <p:cNvSpPr txBox="1"/>
          <p:nvPr/>
        </p:nvSpPr>
        <p:spPr>
          <a:xfrm>
            <a:off x="1424590" y="372913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42" name="Gewinkelte Verbindung 41"/>
          <p:cNvCxnSpPr>
            <a:stCxn id="24" idx="3"/>
            <a:endCxn id="47" idx="0"/>
          </p:cNvCxnSpPr>
          <p:nvPr/>
        </p:nvCxnSpPr>
        <p:spPr>
          <a:xfrm>
            <a:off x="4932624" y="4044455"/>
            <a:ext cx="564942" cy="500669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/>
          <p:cNvSpPr txBox="1"/>
          <p:nvPr/>
        </p:nvSpPr>
        <p:spPr>
          <a:xfrm>
            <a:off x="4860032" y="3743744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46" name="Flussdiagramm: Prozess 45"/>
          <p:cNvSpPr/>
          <p:nvPr/>
        </p:nvSpPr>
        <p:spPr>
          <a:xfrm>
            <a:off x="6902400" y="4545124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Anw_C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sp>
        <p:nvSpPr>
          <p:cNvPr id="47" name="Flussdiagramm: Prozess 46"/>
          <p:cNvSpPr/>
          <p:nvPr/>
        </p:nvSpPr>
        <p:spPr>
          <a:xfrm>
            <a:off x="4898570" y="4545124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61" name="Gerade Verbindung 60"/>
          <p:cNvCxnSpPr/>
          <p:nvPr/>
        </p:nvCxnSpPr>
        <p:spPr>
          <a:xfrm>
            <a:off x="5508104" y="5049180"/>
            <a:ext cx="0" cy="425184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feld 61"/>
          <p:cNvSpPr txBox="1"/>
          <p:nvPr/>
        </p:nvSpPr>
        <p:spPr>
          <a:xfrm>
            <a:off x="971600" y="1376772"/>
            <a:ext cx="6086474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Einschränkung</a:t>
            </a:r>
          </a:p>
          <a:p>
            <a:r>
              <a:rPr lang="de-AT" dirty="0"/>
              <a:t>Eine Bedingung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dirty="0" err="1">
                <a:solidFill>
                  <a:srgbClr val="FF0000"/>
                </a:solidFill>
              </a:rPr>
              <a:t>Bed_A</a:t>
            </a:r>
            <a:r>
              <a:rPr lang="de-AT" dirty="0">
                <a:solidFill>
                  <a:srgbClr val="FF0000"/>
                </a:solidFill>
              </a:rPr>
              <a:t>&gt;</a:t>
            </a:r>
            <a:r>
              <a:rPr lang="de-AT" dirty="0"/>
              <a:t> wird noch einmal genauer durch eine </a:t>
            </a:r>
            <a:br>
              <a:rPr lang="de-AT" dirty="0"/>
            </a:br>
            <a:r>
              <a:rPr lang="de-AT" dirty="0"/>
              <a:t>Bedingung </a:t>
            </a:r>
            <a:r>
              <a:rPr lang="de-AT" dirty="0">
                <a:solidFill>
                  <a:srgbClr val="FF0000"/>
                </a:solidFill>
              </a:rPr>
              <a:t>&lt;</a:t>
            </a:r>
            <a:r>
              <a:rPr lang="de-AT" dirty="0" err="1">
                <a:solidFill>
                  <a:srgbClr val="FF0000"/>
                </a:solidFill>
              </a:rPr>
              <a:t>Bed_AA</a:t>
            </a:r>
            <a:r>
              <a:rPr lang="de-AT" dirty="0">
                <a:solidFill>
                  <a:srgbClr val="FF0000"/>
                </a:solidFill>
              </a:rPr>
              <a:t>&gt;</a:t>
            </a:r>
            <a:r>
              <a:rPr lang="de-AT" dirty="0"/>
              <a:t> geprüft.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</a:t>
            </a:r>
          </a:p>
        </p:txBody>
      </p:sp>
    </p:spTree>
    <p:extLst>
      <p:ext uri="{BB962C8B-B14F-4D97-AF65-F5344CB8AC3E}">
        <p14:creationId xmlns:p14="http://schemas.microsoft.com/office/powerpoint/2010/main" val="28967131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feld 61"/>
          <p:cNvSpPr txBox="1"/>
          <p:nvPr/>
        </p:nvSpPr>
        <p:spPr>
          <a:xfrm>
            <a:off x="991375" y="1268760"/>
            <a:ext cx="106952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Beispiel</a:t>
            </a:r>
          </a:p>
        </p:txBody>
      </p:sp>
      <p:sp>
        <p:nvSpPr>
          <p:cNvPr id="29" name="Rechteck 28"/>
          <p:cNvSpPr/>
          <p:nvPr/>
        </p:nvSpPr>
        <p:spPr>
          <a:xfrm>
            <a:off x="1007604" y="1756964"/>
            <a:ext cx="7344816" cy="397031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"Hauptschule! Alter ?"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input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int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= Convert.ToInt32(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input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7)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"1.Klasse Hauptschule"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    ...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}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...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 </a:t>
            </a:r>
          </a:p>
        </p:txBody>
      </p:sp>
    </p:spTree>
    <p:extLst>
      <p:ext uri="{BB962C8B-B14F-4D97-AF65-F5344CB8AC3E}">
        <p14:creationId xmlns:p14="http://schemas.microsoft.com/office/powerpoint/2010/main" val="3068506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2483768" y="2706299"/>
            <a:ext cx="2807052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Bed_A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14" name="Gerade Verbindung mit Pfeil 13"/>
          <p:cNvCxnSpPr>
            <a:endCxn id="12" idx="0"/>
          </p:cNvCxnSpPr>
          <p:nvPr/>
        </p:nvCxnSpPr>
        <p:spPr>
          <a:xfrm>
            <a:off x="3887294" y="2333485"/>
            <a:ext cx="0" cy="372814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Gewinkelte Verbindung 18"/>
          <p:cNvCxnSpPr>
            <a:stCxn id="12" idx="1"/>
            <a:endCxn id="20" idx="0"/>
          </p:cNvCxnSpPr>
          <p:nvPr/>
        </p:nvCxnSpPr>
        <p:spPr>
          <a:xfrm rot="10800000" flipV="1">
            <a:off x="1869898" y="3084341"/>
            <a:ext cx="613871" cy="1481392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Flussdiagramm: Prozess 19"/>
          <p:cNvSpPr/>
          <p:nvPr/>
        </p:nvSpPr>
        <p:spPr>
          <a:xfrm>
            <a:off x="1270901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Anw_A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1025" name="Gewinkelte Verbindung 1024"/>
          <p:cNvCxnSpPr>
            <a:stCxn id="20" idx="2"/>
          </p:cNvCxnSpPr>
          <p:nvPr/>
        </p:nvCxnSpPr>
        <p:spPr>
          <a:xfrm rot="16200000" flipH="1">
            <a:off x="4649643" y="2290042"/>
            <a:ext cx="360042" cy="5919535"/>
          </a:xfrm>
          <a:prstGeom prst="bentConnector2">
            <a:avLst/>
          </a:prstGeom>
          <a:ln w="22225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/>
          <p:nvPr/>
        </p:nvCxnSpPr>
        <p:spPr>
          <a:xfrm>
            <a:off x="5004048" y="5429829"/>
            <a:ext cx="0" cy="432048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winkelte Verbindung 17"/>
          <p:cNvCxnSpPr>
            <a:stCxn id="12" idx="3"/>
            <a:endCxn id="24" idx="0"/>
          </p:cNvCxnSpPr>
          <p:nvPr/>
        </p:nvCxnSpPr>
        <p:spPr>
          <a:xfrm>
            <a:off x="5290820" y="3084341"/>
            <a:ext cx="660623" cy="530673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Gerade Verbindung 27"/>
          <p:cNvCxnSpPr>
            <a:stCxn id="47" idx="2"/>
          </p:cNvCxnSpPr>
          <p:nvPr/>
        </p:nvCxnSpPr>
        <p:spPr>
          <a:xfrm>
            <a:off x="7789428" y="5069789"/>
            <a:ext cx="4" cy="360042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1907704" y="2769015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5220072" y="276901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Verzweigung 23"/>
          <p:cNvSpPr/>
          <p:nvPr/>
        </p:nvSpPr>
        <p:spPr>
          <a:xfrm>
            <a:off x="4522573" y="3615014"/>
            <a:ext cx="2857739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</a:t>
            </a:r>
            <a:r>
              <a:rPr lang="de-AT" i="1" dirty="0" err="1">
                <a:solidFill>
                  <a:srgbClr val="FF0000"/>
                </a:solidFill>
              </a:rPr>
              <a:t>Bed_B</a:t>
            </a:r>
            <a:r>
              <a:rPr lang="de-AT" i="1" dirty="0">
                <a:solidFill>
                  <a:srgbClr val="FF0000"/>
                </a:solidFill>
              </a:rPr>
              <a:t>&gt;</a:t>
            </a:r>
          </a:p>
        </p:txBody>
      </p:sp>
      <p:cxnSp>
        <p:nvCxnSpPr>
          <p:cNvPr id="25" name="Gewinkelte Verbindung 24"/>
          <p:cNvCxnSpPr>
            <a:stCxn id="24" idx="1"/>
            <a:endCxn id="46" idx="0"/>
          </p:cNvCxnSpPr>
          <p:nvPr/>
        </p:nvCxnSpPr>
        <p:spPr>
          <a:xfrm rot="10800000" flipV="1">
            <a:off x="3982235" y="3993055"/>
            <a:ext cx="540339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feld 25"/>
          <p:cNvSpPr txBox="1"/>
          <p:nvPr/>
        </p:nvSpPr>
        <p:spPr>
          <a:xfrm>
            <a:off x="3923928" y="3677731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42" name="Gewinkelte Verbindung 41"/>
          <p:cNvCxnSpPr>
            <a:endCxn id="47" idx="0"/>
          </p:cNvCxnSpPr>
          <p:nvPr/>
        </p:nvCxnSpPr>
        <p:spPr>
          <a:xfrm>
            <a:off x="7380312" y="3993056"/>
            <a:ext cx="409116" cy="572677"/>
          </a:xfrm>
          <a:prstGeom prst="bentConnector2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Textfeld 42"/>
          <p:cNvSpPr txBox="1"/>
          <p:nvPr/>
        </p:nvSpPr>
        <p:spPr>
          <a:xfrm>
            <a:off x="7236296" y="369234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46" name="Flussdiagramm: Prozess 45"/>
          <p:cNvSpPr/>
          <p:nvPr/>
        </p:nvSpPr>
        <p:spPr>
          <a:xfrm>
            <a:off x="3383238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Anw_B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sp>
        <p:nvSpPr>
          <p:cNvPr id="47" name="Flussdiagramm: Prozess 46"/>
          <p:cNvSpPr/>
          <p:nvPr/>
        </p:nvSpPr>
        <p:spPr>
          <a:xfrm>
            <a:off x="7190432" y="4565733"/>
            <a:ext cx="1197992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</a:t>
            </a:r>
            <a:r>
              <a:rPr lang="de-AT" i="1" dirty="0" err="1">
                <a:solidFill>
                  <a:srgbClr val="CC3300"/>
                </a:solidFill>
              </a:rPr>
              <a:t>Anw_C</a:t>
            </a:r>
            <a:r>
              <a:rPr lang="de-AT" i="1" dirty="0">
                <a:solidFill>
                  <a:srgbClr val="CC3300"/>
                </a:solidFill>
              </a:rPr>
              <a:t>&gt;</a:t>
            </a:r>
          </a:p>
        </p:txBody>
      </p:sp>
      <p:cxnSp>
        <p:nvCxnSpPr>
          <p:cNvPr id="41" name="Gerade Verbindung 40"/>
          <p:cNvCxnSpPr>
            <a:stCxn id="46" idx="2"/>
          </p:cNvCxnSpPr>
          <p:nvPr/>
        </p:nvCxnSpPr>
        <p:spPr>
          <a:xfrm>
            <a:off x="3982234" y="5069789"/>
            <a:ext cx="0" cy="360042"/>
          </a:xfrm>
          <a:prstGeom prst="line">
            <a:avLst/>
          </a:prstGeom>
          <a:ln w="2540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Textfeld 48"/>
          <p:cNvSpPr txBox="1"/>
          <p:nvPr/>
        </p:nvSpPr>
        <p:spPr>
          <a:xfrm>
            <a:off x="1331640" y="1397381"/>
            <a:ext cx="5897640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Alternative (</a:t>
            </a:r>
            <a:r>
              <a:rPr lang="de-AT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else-if</a:t>
            </a:r>
            <a:r>
              <a:rPr lang="de-AT" b="1" i="1" dirty="0"/>
              <a:t> Kette</a:t>
            </a:r>
            <a:r>
              <a:rPr lang="de-AT" dirty="0"/>
              <a:t>)</a:t>
            </a:r>
          </a:p>
          <a:p>
            <a:r>
              <a:rPr lang="de-AT" dirty="0"/>
              <a:t>Es gibt mehr als zwei Alternativen zur Programmausführung .</a:t>
            </a: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Verschachtelung von Verzweigungen</a:t>
            </a:r>
          </a:p>
        </p:txBody>
      </p:sp>
    </p:spTree>
    <p:extLst>
      <p:ext uri="{BB962C8B-B14F-4D97-AF65-F5344CB8AC3E}">
        <p14:creationId xmlns:p14="http://schemas.microsoft.com/office/powerpoint/2010/main" val="8484125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Textfeld 48"/>
          <p:cNvSpPr txBox="1"/>
          <p:nvPr/>
        </p:nvSpPr>
        <p:spPr>
          <a:xfrm>
            <a:off x="1138023" y="1084094"/>
            <a:ext cx="29750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b="1" i="1" dirty="0"/>
              <a:t>Alternative (</a:t>
            </a:r>
            <a:r>
              <a:rPr lang="de-AT" b="1" i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else-if</a:t>
            </a:r>
            <a:r>
              <a:rPr lang="de-AT" b="1" i="1" dirty="0"/>
              <a:t> Kette</a:t>
            </a:r>
            <a:r>
              <a:rPr lang="de-AT" dirty="0"/>
              <a:t>)</a:t>
            </a:r>
          </a:p>
        </p:txBody>
      </p:sp>
      <p:sp>
        <p:nvSpPr>
          <p:cNvPr id="29" name="Rechteck 28"/>
          <p:cNvSpPr/>
          <p:nvPr/>
        </p:nvSpPr>
        <p:spPr>
          <a:xfrm>
            <a:off x="1155165" y="1456571"/>
            <a:ext cx="7740860" cy="507831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string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Console.ReadLine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();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"AHS"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"B"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"Hauptschule"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if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choice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== 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"C"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"Neue Mittelschule"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r>
              <a:rPr lang="de-AT" dirty="0" err="1">
                <a:solidFill>
                  <a:srgbClr val="0000FF"/>
                </a:solidFill>
                <a:latin typeface="Consolas" panose="020B0609020204030204" pitchFamily="49" charset="0"/>
              </a:rPr>
              <a:t>else</a:t>
            </a:r>
            <a:endParaRPr lang="de-AT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dirty="0">
                <a:solidFill>
                  <a:srgbClr val="A31515"/>
                </a:solidFill>
                <a:latin typeface="Consolas" panose="020B0609020204030204" pitchFamily="49" charset="0"/>
              </a:rPr>
              <a:t>"ungültige Eingabe"</a:t>
            </a:r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r>
              <a:rPr lang="de-AT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endParaRPr lang="de-AT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Beispiel </a:t>
            </a:r>
            <a:r>
              <a:rPr lang="de-AT" dirty="0" err="1"/>
              <a:t>else-if</a:t>
            </a:r>
            <a:r>
              <a:rPr lang="de-AT" dirty="0"/>
              <a:t> Kette</a:t>
            </a:r>
          </a:p>
        </p:txBody>
      </p:sp>
    </p:spTree>
    <p:extLst>
      <p:ext uri="{BB962C8B-B14F-4D97-AF65-F5344CB8AC3E}">
        <p14:creationId xmlns:p14="http://schemas.microsoft.com/office/powerpoint/2010/main" val="345321090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e Legende 9"/>
          <p:cNvSpPr/>
          <p:nvPr/>
        </p:nvSpPr>
        <p:spPr>
          <a:xfrm>
            <a:off x="3301516" y="3284984"/>
            <a:ext cx="5770984" cy="360040"/>
          </a:xfrm>
          <a:prstGeom prst="wedgeEllipseCallout">
            <a:avLst>
              <a:gd name="adj1" fmla="val 9830"/>
              <a:gd name="adj2" fmla="val -165479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/>
              <a:t>Lauter sprechen, hört nicht mehr so gut …</a:t>
            </a:r>
          </a:p>
        </p:txBody>
      </p:sp>
      <p:sp>
        <p:nvSpPr>
          <p:cNvPr id="9" name="Ovale Legende 8"/>
          <p:cNvSpPr/>
          <p:nvPr/>
        </p:nvSpPr>
        <p:spPr>
          <a:xfrm>
            <a:off x="7853272" y="1052736"/>
            <a:ext cx="1261629" cy="396044"/>
          </a:xfrm>
          <a:prstGeom prst="wedgeEllipseCallout">
            <a:avLst>
              <a:gd name="adj1" fmla="val -49165"/>
              <a:gd name="adj2" fmla="val 175714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400" dirty="0"/>
              <a:t>Mother?</a:t>
            </a:r>
          </a:p>
        </p:txBody>
      </p:sp>
      <p:sp>
        <p:nvSpPr>
          <p:cNvPr id="117" name="Shape 117"/>
          <p:cNvSpPr>
            <a:spLocks noGrp="1"/>
          </p:cNvSpPr>
          <p:nvPr>
            <p:ph type="body" idx="1"/>
          </p:nvPr>
        </p:nvSpPr>
        <p:spPr>
          <a:xfrm>
            <a:off x="250031" y="1160748"/>
            <a:ext cx="8643938" cy="5384713"/>
          </a:xfrm>
          <a:prstGeom prst="rect">
            <a:avLst/>
          </a:prstGeom>
        </p:spPr>
        <p:txBody>
          <a:bodyPr/>
          <a:lstStyle/>
          <a:p>
            <a:pPr lvl="0">
              <a:defRPr sz="1800"/>
            </a:pPr>
            <a:r>
              <a:rPr lang="de-AT" sz="2109" dirty="0"/>
              <a:t>Neue Anforderungen</a:t>
            </a:r>
            <a:endParaRPr sz="2109" dirty="0"/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15 </a:t>
            </a:r>
            <a:r>
              <a:rPr lang="de-AT" sz="1800" dirty="0"/>
              <a:t>ist schreiben wir</a:t>
            </a:r>
            <a:r>
              <a:rPr sz="1800" dirty="0"/>
              <a:t> “Hey, you could be my brother”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40 </a:t>
            </a:r>
            <a:r>
              <a:rPr lang="de-AT" sz="1800" dirty="0"/>
              <a:t>ist schreiben wir </a:t>
            </a:r>
            <a:r>
              <a:rPr sz="1800" dirty="0"/>
              <a:t>“Hey, you could be my father”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65 </a:t>
            </a:r>
            <a:r>
              <a:rPr lang="de-AT" sz="1800" dirty="0"/>
              <a:t>ist schreiben wir </a:t>
            </a:r>
            <a:r>
              <a:rPr sz="1800" dirty="0"/>
              <a:t>“Hey, you could be my grand father”</a:t>
            </a:r>
          </a:p>
          <a:p>
            <a:pPr lvl="1">
              <a:defRPr sz="1800"/>
            </a:pPr>
            <a:r>
              <a:rPr lang="de-AT" sz="1800" dirty="0"/>
              <a:t>Wenn das Alter </a:t>
            </a:r>
            <a:r>
              <a:rPr sz="1800" dirty="0"/>
              <a:t>80 </a:t>
            </a:r>
            <a:r>
              <a:rPr lang="de-AT" sz="1800" dirty="0"/>
              <a:t>ist schreiben wir </a:t>
            </a:r>
            <a:r>
              <a:rPr sz="1800" dirty="0"/>
              <a:t>“HEY, GRAND </a:t>
            </a:r>
            <a:r>
              <a:rPr sz="1800" dirty="0" err="1"/>
              <a:t>GRAND</a:t>
            </a:r>
            <a:r>
              <a:rPr sz="1800" dirty="0"/>
              <a:t> FATHER!!”</a:t>
            </a:r>
          </a:p>
          <a:p>
            <a:pPr lvl="1">
              <a:defRPr sz="1800"/>
            </a:pPr>
            <a:r>
              <a:rPr lang="de-AT" sz="1800" dirty="0"/>
              <a:t>Andernfalls schreiben wir </a:t>
            </a:r>
            <a:r>
              <a:rPr sz="1800" dirty="0"/>
              <a:t>“No silly comment available for your age”</a:t>
            </a:r>
            <a:endParaRPr lang="de-AT" sz="1800" dirty="0"/>
          </a:p>
          <a:p>
            <a:pPr lvl="1">
              <a:defRPr sz="1800"/>
            </a:pPr>
            <a:endParaRPr lang="de-AT" sz="1800" dirty="0"/>
          </a:p>
          <a:p>
            <a:pPr lvl="1">
              <a:defRPr sz="1800"/>
            </a:pPr>
            <a:endParaRPr lang="de-AT" sz="1800" dirty="0"/>
          </a:p>
          <a:p>
            <a:pPr>
              <a:defRPr sz="1800"/>
            </a:pPr>
            <a:r>
              <a:rPr lang="de-AT" sz="2100" dirty="0"/>
              <a:t>Lösung mit </a:t>
            </a:r>
            <a:r>
              <a:rPr lang="de-AT" sz="2100" dirty="0" err="1"/>
              <a:t>if</a:t>
            </a:r>
            <a:r>
              <a:rPr lang="de-AT" sz="2100" dirty="0"/>
              <a:t>?</a:t>
            </a:r>
          </a:p>
          <a:p>
            <a:pPr lvl="1">
              <a:defRPr sz="1800"/>
            </a:pPr>
            <a:r>
              <a:rPr lang="de-AT" sz="1800" dirty="0"/>
              <a:t>Naja, es ist möglich</a:t>
            </a:r>
          </a:p>
          <a:p>
            <a:pPr lvl="1">
              <a:defRPr sz="1800"/>
            </a:pPr>
            <a:r>
              <a:rPr lang="de-AT" sz="1800" dirty="0"/>
              <a:t>Aber besser mit Switch!</a:t>
            </a:r>
          </a:p>
          <a:p>
            <a:pPr lvl="1">
              <a:defRPr sz="1800"/>
            </a:pPr>
            <a:endParaRPr sz="1800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Noch mehr Varianten</a:t>
            </a:r>
          </a:p>
        </p:txBody>
      </p:sp>
      <p:sp>
        <p:nvSpPr>
          <p:cNvPr id="3" name="Ovale Legende 2"/>
          <p:cNvSpPr/>
          <p:nvPr/>
        </p:nvSpPr>
        <p:spPr>
          <a:xfrm>
            <a:off x="5472100" y="1016732"/>
            <a:ext cx="1656184" cy="324036"/>
          </a:xfrm>
          <a:prstGeom prst="wedgeEllipseCallout">
            <a:avLst>
              <a:gd name="adj1" fmla="val 51066"/>
              <a:gd name="adj2" fmla="val 133048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 err="1"/>
              <a:t>or</a:t>
            </a:r>
            <a:r>
              <a:rPr lang="de-AT" sz="1600" dirty="0"/>
              <a:t> </a:t>
            </a:r>
            <a:r>
              <a:rPr lang="de-AT" sz="1600" dirty="0" err="1"/>
              <a:t>sister</a:t>
            </a:r>
            <a:r>
              <a:rPr lang="de-AT" sz="1600" dirty="0"/>
              <a:t> …</a:t>
            </a:r>
          </a:p>
        </p:txBody>
      </p:sp>
    </p:spTree>
    <p:extLst>
      <p:ext uri="{BB962C8B-B14F-4D97-AF65-F5344CB8AC3E}">
        <p14:creationId xmlns:p14="http://schemas.microsoft.com/office/powerpoint/2010/main" val="3655315296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17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8" fill="hold"/>
                                        <p:tgtEl>
                                          <p:spTgt spid="11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1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0" fill="hold"/>
                                        <p:tgtEl>
                                          <p:spTgt spid="11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8" fill="hold"/>
                                        <p:tgtEl>
                                          <p:spTgt spid="11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2" fill="hold"/>
                                        <p:tgtEl>
                                          <p:spTgt spid="11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0" fill="hold"/>
                                        <p:tgtEl>
                                          <p:spTgt spid="117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4" fill="hold"/>
                                        <p:tgtEl>
                                          <p:spTgt spid="117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7" fill="hold"/>
                                        <p:tgtEl>
                                          <p:spTgt spid="117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50" fill="hold"/>
                                        <p:tgtEl>
                                          <p:spTgt spid="117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9" grpId="0" animBg="1"/>
      <p:bldP spid="117" grpId="0" uiExpand="1" build="p" bldLvl="5" animBg="1" advAuto="0"/>
      <p:bldP spid="3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126"/>
          <p:cNvSpPr>
            <a:spLocks noGrp="1"/>
          </p:cNvSpPr>
          <p:nvPr>
            <p:ph type="body" idx="1"/>
          </p:nvPr>
        </p:nvSpPr>
        <p:spPr>
          <a:xfrm>
            <a:off x="250031" y="1124744"/>
            <a:ext cx="8643938" cy="5420717"/>
          </a:xfrm>
          <a:prstGeom prst="rect">
            <a:avLst/>
          </a:prstGeom>
        </p:spPr>
        <p:txBody>
          <a:bodyPr/>
          <a:lstStyle/>
          <a:p>
            <a:pPr marL="0" indent="0">
              <a:buNone/>
            </a:pP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switch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(</a:t>
            </a:r>
            <a:r>
              <a:rPr lang="de-AT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age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{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case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15: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"Hey you could be my brother"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case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40:</a:t>
            </a:r>
          </a:p>
          <a:p>
            <a:pPr marL="0" indent="0">
              <a:buNone/>
            </a:pP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en-US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sz="2000" dirty="0">
                <a:solidFill>
                  <a:srgbClr val="A31515"/>
                </a:solidFill>
                <a:latin typeface="Consolas" panose="020B0609020204030204" pitchFamily="49" charset="0"/>
              </a:rPr>
              <a:t>"Hey you could be my father"</a:t>
            </a:r>
            <a:r>
              <a:rPr lang="en-US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>
                <a:solidFill>
                  <a:srgbClr val="000000"/>
                </a:solidFill>
                <a:latin typeface="Consolas" panose="020B0609020204030204" pitchFamily="49" charset="0"/>
              </a:rPr>
              <a:t>    …</a:t>
            </a:r>
            <a:endParaRPr lang="de-AT" sz="2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de-AT" sz="2000" dirty="0" err="1">
                <a:solidFill>
                  <a:srgbClr val="0000FF"/>
                </a:solidFill>
                <a:latin typeface="Consolas" panose="020B0609020204030204" pitchFamily="49" charset="0"/>
              </a:rPr>
              <a:t>default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 err="1">
                <a:solidFill>
                  <a:srgbClr val="000000"/>
                </a:solidFill>
                <a:latin typeface="Consolas" panose="020B0609020204030204" pitchFamily="49" charset="0"/>
              </a:rPr>
              <a:t>Console.WriteLine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No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silly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comment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 </a:t>
            </a:r>
            <a:r>
              <a:rPr lang="de-AT" sz="2000" dirty="0" err="1">
                <a:solidFill>
                  <a:srgbClr val="A31515"/>
                </a:solidFill>
                <a:latin typeface="Consolas" panose="020B0609020204030204" pitchFamily="49" charset="0"/>
              </a:rPr>
              <a:t>available</a:t>
            </a:r>
            <a:r>
              <a:rPr lang="de-AT" sz="2000" dirty="0">
                <a:solidFill>
                  <a:srgbClr val="A31515"/>
                </a:solidFill>
                <a:latin typeface="Consolas" panose="020B0609020204030204" pitchFamily="49" charset="0"/>
              </a:rPr>
              <a:t>"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);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        </a:t>
            </a:r>
            <a:r>
              <a:rPr lang="de-AT" sz="2000" dirty="0">
                <a:solidFill>
                  <a:srgbClr val="0000FF"/>
                </a:solidFill>
                <a:latin typeface="Consolas" panose="020B0609020204030204" pitchFamily="49" charset="0"/>
              </a:rPr>
              <a:t>break</a:t>
            </a: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0" indent="0">
              <a:buNone/>
            </a:pPr>
            <a:r>
              <a:rPr lang="de-AT" sz="2000" dirty="0">
                <a:solidFill>
                  <a:srgbClr val="000000"/>
                </a:solidFill>
                <a:latin typeface="Consolas" panose="020B0609020204030204" pitchFamily="49" charset="0"/>
              </a:rPr>
              <a:t>}</a:t>
            </a:r>
          </a:p>
          <a:p>
            <a:pPr marL="0" indent="0">
              <a:lnSpc>
                <a:spcPct val="80000"/>
              </a:lnSpc>
              <a:spcBef>
                <a:spcPts val="1125"/>
              </a:spcBef>
              <a:buSzTx/>
              <a:buNone/>
              <a:defRPr sz="1800"/>
            </a:pPr>
            <a:endParaRPr sz="2109" dirty="0">
              <a:latin typeface="Monaco"/>
              <a:ea typeface="Monaco"/>
              <a:cs typeface="Monaco"/>
              <a:sym typeface="Monaco"/>
            </a:endParaRP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Switch in C#</a:t>
            </a:r>
          </a:p>
        </p:txBody>
      </p:sp>
      <p:sp>
        <p:nvSpPr>
          <p:cNvPr id="3" name="Ovale Legende 2"/>
          <p:cNvSpPr/>
          <p:nvPr/>
        </p:nvSpPr>
        <p:spPr>
          <a:xfrm>
            <a:off x="3131840" y="3835102"/>
            <a:ext cx="3636404" cy="576064"/>
          </a:xfrm>
          <a:prstGeom prst="wedgeEllipseCallout">
            <a:avLst>
              <a:gd name="adj1" fmla="val -89388"/>
              <a:gd name="adj2" fmla="val 25741"/>
            </a:avLst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sz="1600" dirty="0"/>
              <a:t>Gleiches Muster für die anderen Fälle</a:t>
            </a:r>
          </a:p>
        </p:txBody>
      </p:sp>
    </p:spTree>
    <p:extLst>
      <p:ext uri="{BB962C8B-B14F-4D97-AF65-F5344CB8AC3E}">
        <p14:creationId xmlns:p14="http://schemas.microsoft.com/office/powerpoint/2010/main" val="3164379634"/>
      </p:ext>
    </p:extLst>
  </p:cSld>
  <p:clrMapOvr>
    <a:masterClrMapping/>
  </p:clrMapOvr>
  <p:transition spd="med"/>
  <p:timing>
    <p:tnLst>
      <p:par>
        <p:cTn id="1" dur="indefinite" restart="never" fill="hold" nodeType="tmRoot">
          <p:childTnLst>
            <p:seq concurrent="1" prevAc="none" nextAc="seek">
              <p:cTn id="2" dur="indefinite" fill="hold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6" fill="hold"/>
                                        <p:tgtEl>
                                          <p:spTgt spid="12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9" fill="hold"/>
                                        <p:tgtEl>
                                          <p:spTgt spid="1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2" fill="hold"/>
                                        <p:tgtEl>
                                          <p:spTgt spid="12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5" fill="hold"/>
                                        <p:tgtEl>
                                          <p:spTgt spid="12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18" fill="hold"/>
                                        <p:tgtEl>
                                          <p:spTgt spid="12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1" fill="hold"/>
                                        <p:tgtEl>
                                          <p:spTgt spid="12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4" fill="hold"/>
                                        <p:tgtEl>
                                          <p:spTgt spid="12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27" fill="hold"/>
                                        <p:tgtEl>
                                          <p:spTgt spid="12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0" fill="hold"/>
                                        <p:tgtEl>
                                          <p:spTgt spid="126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3" fill="hold"/>
                                        <p:tgtEl>
                                          <p:spTgt spid="126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6" fill="hold"/>
                                        <p:tgtEl>
                                          <p:spTgt spid="126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39" fill="hold"/>
                                        <p:tgtEl>
                                          <p:spTgt spid="126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2" fill="hold"/>
                                        <p:tgtEl>
                                          <p:spTgt spid="126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iterate>
                                    <p:tmAbs val="0"/>
                                  </p:iterate>
                                  <p:childTnLst>
                                    <p:set>
                                      <p:cBhvr>
                                        <p:cTn id="45" fill="hold"/>
                                        <p:tgtEl>
                                          <p:spTgt spid="126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6" grpId="0" uiExpand="1" build="p" bldLvl="5" animBg="1" advAuto="0"/>
      <p:bldP spid="3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Flussdiagramm: Verzweigung 11"/>
          <p:cNvSpPr/>
          <p:nvPr/>
        </p:nvSpPr>
        <p:spPr>
          <a:xfrm>
            <a:off x="1080242" y="2103654"/>
            <a:ext cx="2952328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= &lt;Wert_1&gt;</a:t>
            </a:r>
          </a:p>
        </p:txBody>
      </p:sp>
      <p:cxnSp>
        <p:nvCxnSpPr>
          <p:cNvPr id="14" name="Gerade Verbindung mit Pfeil 13"/>
          <p:cNvCxnSpPr>
            <a:stCxn id="24" idx="2"/>
            <a:endCxn id="12" idx="0"/>
          </p:cNvCxnSpPr>
          <p:nvPr/>
        </p:nvCxnSpPr>
        <p:spPr>
          <a:xfrm>
            <a:off x="2556406" y="1772816"/>
            <a:ext cx="0" cy="330838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9" name="Gerade Verbindung mit Pfeil 1028"/>
          <p:cNvCxnSpPr>
            <a:stCxn id="12" idx="2"/>
            <a:endCxn id="47" idx="0"/>
          </p:cNvCxnSpPr>
          <p:nvPr/>
        </p:nvCxnSpPr>
        <p:spPr>
          <a:xfrm>
            <a:off x="2556406" y="2859738"/>
            <a:ext cx="2816" cy="325203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lussdiagramm: Prozess 20"/>
          <p:cNvSpPr/>
          <p:nvPr/>
        </p:nvSpPr>
        <p:spPr>
          <a:xfrm>
            <a:off x="4734810" y="2191115"/>
            <a:ext cx="2089491" cy="624219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&lt;Anweisungen_1&gt;</a:t>
            </a:r>
          </a:p>
          <a:p>
            <a:pPr algn="ctr"/>
            <a:r>
              <a:rPr lang="de-AT" i="1" dirty="0">
                <a:solidFill>
                  <a:srgbClr val="00B050"/>
                </a:solidFill>
              </a:rPr>
              <a:t>[ break ]</a:t>
            </a:r>
          </a:p>
        </p:txBody>
      </p:sp>
      <p:cxnSp>
        <p:nvCxnSpPr>
          <p:cNvPr id="28" name="Gerade Verbindung 27"/>
          <p:cNvCxnSpPr>
            <a:stCxn id="21" idx="2"/>
            <a:endCxn id="49" idx="0"/>
          </p:cNvCxnSpPr>
          <p:nvPr/>
        </p:nvCxnSpPr>
        <p:spPr>
          <a:xfrm>
            <a:off x="5779556" y="2815334"/>
            <a:ext cx="2816" cy="458785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feld 21"/>
          <p:cNvSpPr txBox="1"/>
          <p:nvPr/>
        </p:nvSpPr>
        <p:spPr>
          <a:xfrm>
            <a:off x="3870937" y="204288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sp>
        <p:nvSpPr>
          <p:cNvPr id="23" name="Textfeld 22"/>
          <p:cNvSpPr txBox="1"/>
          <p:nvPr/>
        </p:nvSpPr>
        <p:spPr>
          <a:xfrm>
            <a:off x="2575124" y="280937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24" name="Flussdiagramm: Prozess 23"/>
          <p:cNvSpPr/>
          <p:nvPr/>
        </p:nvSpPr>
        <p:spPr>
          <a:xfrm>
            <a:off x="1511660" y="1268760"/>
            <a:ext cx="2089491" cy="50405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&lt;Ausdruck&gt;</a:t>
            </a:r>
          </a:p>
        </p:txBody>
      </p:sp>
      <p:cxnSp>
        <p:nvCxnSpPr>
          <p:cNvPr id="44" name="Gerade Verbindung mit Pfeil 43"/>
          <p:cNvCxnSpPr>
            <a:stCxn id="12" idx="3"/>
            <a:endCxn id="21" idx="1"/>
          </p:cNvCxnSpPr>
          <p:nvPr/>
        </p:nvCxnSpPr>
        <p:spPr>
          <a:xfrm>
            <a:off x="4032570" y="2481696"/>
            <a:ext cx="702240" cy="21529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Flussdiagramm: Verzweigung 46"/>
          <p:cNvSpPr/>
          <p:nvPr/>
        </p:nvSpPr>
        <p:spPr>
          <a:xfrm>
            <a:off x="1083058" y="3184941"/>
            <a:ext cx="2952328" cy="756084"/>
          </a:xfrm>
          <a:prstGeom prst="flowChartDecision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FF0000"/>
                </a:solidFill>
              </a:rPr>
              <a:t>= &lt;Wert_2&gt;</a:t>
            </a:r>
          </a:p>
        </p:txBody>
      </p:sp>
      <p:cxnSp>
        <p:nvCxnSpPr>
          <p:cNvPr id="48" name="Gerade Verbindung mit Pfeil 47"/>
          <p:cNvCxnSpPr>
            <a:stCxn id="47" idx="2"/>
            <a:endCxn id="32" idx="0"/>
          </p:cNvCxnSpPr>
          <p:nvPr/>
        </p:nvCxnSpPr>
        <p:spPr>
          <a:xfrm>
            <a:off x="2559222" y="3941025"/>
            <a:ext cx="457" cy="296755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Flussdiagramm: Prozess 48"/>
          <p:cNvSpPr/>
          <p:nvPr/>
        </p:nvSpPr>
        <p:spPr>
          <a:xfrm>
            <a:off x="4737626" y="3274119"/>
            <a:ext cx="2089491" cy="574796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&lt;Anweisungen_2&gt;</a:t>
            </a:r>
          </a:p>
          <a:p>
            <a:pPr algn="ctr"/>
            <a:r>
              <a:rPr lang="de-AT" i="1" dirty="0">
                <a:solidFill>
                  <a:srgbClr val="00B050"/>
                </a:solidFill>
              </a:rPr>
              <a:t> [ break ]</a:t>
            </a:r>
            <a:endParaRPr lang="de-AT" i="1" dirty="0">
              <a:solidFill>
                <a:srgbClr val="CC3300"/>
              </a:solidFill>
            </a:endParaRPr>
          </a:p>
        </p:txBody>
      </p:sp>
      <p:sp>
        <p:nvSpPr>
          <p:cNvPr id="51" name="Textfeld 50"/>
          <p:cNvSpPr txBox="1"/>
          <p:nvPr/>
        </p:nvSpPr>
        <p:spPr>
          <a:xfrm>
            <a:off x="3921459" y="3068510"/>
            <a:ext cx="5999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True</a:t>
            </a:r>
          </a:p>
        </p:txBody>
      </p:sp>
      <p:cxnSp>
        <p:nvCxnSpPr>
          <p:cNvPr id="52" name="Gerade Verbindung mit Pfeil 51"/>
          <p:cNvCxnSpPr>
            <a:stCxn id="47" idx="3"/>
            <a:endCxn id="49" idx="1"/>
          </p:cNvCxnSpPr>
          <p:nvPr/>
        </p:nvCxnSpPr>
        <p:spPr>
          <a:xfrm flipV="1">
            <a:off x="4035386" y="3561517"/>
            <a:ext cx="702240" cy="1466"/>
          </a:xfrm>
          <a:prstGeom prst="straightConnector1">
            <a:avLst/>
          </a:prstGeom>
          <a:ln w="22225">
            <a:solidFill>
              <a:schemeClr val="tx2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Flussdiagramm: Prozess 54"/>
          <p:cNvSpPr/>
          <p:nvPr/>
        </p:nvSpPr>
        <p:spPr>
          <a:xfrm>
            <a:off x="4738084" y="4571723"/>
            <a:ext cx="2089491" cy="624219"/>
          </a:xfrm>
          <a:prstGeom prst="flowChartProcess">
            <a:avLst/>
          </a:prstGeom>
          <a:solidFill>
            <a:schemeClr val="accent5">
              <a:lumMod val="20000"/>
              <a:lumOff val="8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de-AT" i="1" dirty="0">
                <a:solidFill>
                  <a:srgbClr val="CC3300"/>
                </a:solidFill>
              </a:rPr>
              <a:t>[ &lt;Standard-Anweisungen&gt; ]</a:t>
            </a:r>
          </a:p>
        </p:txBody>
      </p:sp>
      <p:cxnSp>
        <p:nvCxnSpPr>
          <p:cNvPr id="63" name="Gerade Verbindung 62"/>
          <p:cNvCxnSpPr>
            <a:stCxn id="49" idx="2"/>
            <a:endCxn id="55" idx="0"/>
          </p:cNvCxnSpPr>
          <p:nvPr/>
        </p:nvCxnSpPr>
        <p:spPr>
          <a:xfrm>
            <a:off x="5782372" y="3848915"/>
            <a:ext cx="458" cy="722808"/>
          </a:xfrm>
          <a:prstGeom prst="line">
            <a:avLst/>
          </a:prstGeom>
          <a:ln w="25400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Gerade Verbindung mit Pfeil 75"/>
          <p:cNvCxnSpPr>
            <a:stCxn id="49" idx="3"/>
          </p:cNvCxnSpPr>
          <p:nvPr/>
        </p:nvCxnSpPr>
        <p:spPr>
          <a:xfrm>
            <a:off x="6827117" y="3561517"/>
            <a:ext cx="680645" cy="0"/>
          </a:xfrm>
          <a:prstGeom prst="straightConnector1">
            <a:avLst/>
          </a:prstGeom>
          <a:ln w="22225">
            <a:solidFill>
              <a:srgbClr val="00B05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/>
          <p:cNvSpPr txBox="1"/>
          <p:nvPr/>
        </p:nvSpPr>
        <p:spPr>
          <a:xfrm>
            <a:off x="2258090" y="4237780"/>
            <a:ext cx="60317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usw.</a:t>
            </a:r>
          </a:p>
        </p:txBody>
      </p:sp>
      <p:cxnSp>
        <p:nvCxnSpPr>
          <p:cNvPr id="81" name="Gewinkelte Verbindung 80"/>
          <p:cNvCxnSpPr>
            <a:stCxn id="32" idx="2"/>
            <a:endCxn id="55" idx="1"/>
          </p:cNvCxnSpPr>
          <p:nvPr/>
        </p:nvCxnSpPr>
        <p:spPr>
          <a:xfrm rot="16200000" flipH="1">
            <a:off x="3510521" y="3656269"/>
            <a:ext cx="276721" cy="2178405"/>
          </a:xfrm>
          <a:prstGeom prst="bentConnector2">
            <a:avLst/>
          </a:prstGeom>
          <a:ln w="22225">
            <a:solidFill>
              <a:schemeClr val="tx2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winkelte Verbindung 37"/>
          <p:cNvCxnSpPr>
            <a:stCxn id="21" idx="3"/>
          </p:cNvCxnSpPr>
          <p:nvPr/>
        </p:nvCxnSpPr>
        <p:spPr>
          <a:xfrm>
            <a:off x="6824301" y="2503225"/>
            <a:ext cx="683461" cy="2380608"/>
          </a:xfrm>
          <a:prstGeom prst="bentConnector2">
            <a:avLst/>
          </a:prstGeom>
          <a:ln w="22225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Gewinkelte Verbindung 41"/>
          <p:cNvCxnSpPr>
            <a:stCxn id="55" idx="3"/>
          </p:cNvCxnSpPr>
          <p:nvPr/>
        </p:nvCxnSpPr>
        <p:spPr>
          <a:xfrm>
            <a:off x="6827575" y="4883833"/>
            <a:ext cx="680187" cy="618733"/>
          </a:xfrm>
          <a:prstGeom prst="bentConnector3">
            <a:avLst>
              <a:gd name="adj1" fmla="val 100267"/>
            </a:avLst>
          </a:prstGeom>
          <a:ln w="22225">
            <a:solidFill>
              <a:schemeClr val="accent1">
                <a:lumMod val="75000"/>
              </a:schemeClr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7" name="Textfeld 96"/>
          <p:cNvSpPr txBox="1"/>
          <p:nvPr/>
        </p:nvSpPr>
        <p:spPr>
          <a:xfrm>
            <a:off x="2624161" y="3836385"/>
            <a:ext cx="6529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 err="1"/>
              <a:t>False</a:t>
            </a:r>
            <a:endParaRPr lang="de-AT" dirty="0"/>
          </a:p>
        </p:txBody>
      </p:sp>
      <p:sp>
        <p:nvSpPr>
          <p:cNvPr id="3" name="Titel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AT" dirty="0"/>
              <a:t>Mehrfachverzweigung (</a:t>
            </a:r>
            <a:r>
              <a:rPr lang="de-AT" dirty="0" err="1"/>
              <a:t>switch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93603881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feld 6"/>
          <p:cNvSpPr txBox="1"/>
          <p:nvPr/>
        </p:nvSpPr>
        <p:spPr>
          <a:xfrm>
            <a:off x="755576" y="1268760"/>
            <a:ext cx="8215711" cy="203132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AT" dirty="0"/>
              <a:t>Ergibt die Auswertung von </a:t>
            </a:r>
            <a:r>
              <a:rPr lang="de-AT" i="1" dirty="0">
                <a:solidFill>
                  <a:srgbClr val="FF0000"/>
                </a:solidFill>
              </a:rPr>
              <a:t>Ausdruck</a:t>
            </a:r>
            <a:r>
              <a:rPr lang="de-AT" dirty="0"/>
              <a:t> den Wert 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Wert_N</a:t>
            </a:r>
            <a:r>
              <a:rPr lang="de-AT" dirty="0"/>
              <a:t>,  </a:t>
            </a:r>
            <a:br>
              <a:rPr lang="de-AT" dirty="0"/>
            </a:br>
            <a:r>
              <a:rPr lang="de-AT" dirty="0"/>
              <a:t>so werden </a:t>
            </a:r>
            <a:r>
              <a:rPr lang="de-AT" i="1" dirty="0" err="1">
                <a:solidFill>
                  <a:srgbClr val="CC3300"/>
                </a:solidFill>
              </a:rPr>
              <a:t>Anweisungen_N</a:t>
            </a:r>
            <a:r>
              <a:rPr lang="de-AT" dirty="0">
                <a:solidFill>
                  <a:srgbClr val="CC3300"/>
                </a:solidFill>
              </a:rPr>
              <a:t> </a:t>
            </a:r>
            <a:r>
              <a:rPr lang="de-AT" dirty="0"/>
              <a:t>ausgeführt.</a:t>
            </a:r>
            <a:br>
              <a:rPr lang="de-AT" dirty="0"/>
            </a:br>
            <a:r>
              <a:rPr lang="de-AT" dirty="0"/>
              <a:t>Wird keine Übereinstimmung gefunden, so werden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Standard_Anweisungen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b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</a:br>
            <a:r>
              <a:rPr lang="de-AT" dirty="0"/>
              <a:t>ausgeführt, wenn das Schlüsselwort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de-AT" dirty="0"/>
              <a:t> angegeben wird.</a:t>
            </a:r>
          </a:p>
          <a:p>
            <a:endParaRPr lang="de-AT" dirty="0"/>
          </a:p>
          <a:p>
            <a:r>
              <a:rPr lang="de-AT" dirty="0"/>
              <a:t>Ein </a:t>
            </a:r>
            <a:r>
              <a:rPr lang="de-AT" b="1" dirty="0"/>
              <a:t>break</a:t>
            </a:r>
            <a:r>
              <a:rPr lang="de-AT" dirty="0"/>
              <a:t> muss nach jedem </a:t>
            </a:r>
            <a:r>
              <a:rPr lang="de-AT" dirty="0" err="1"/>
              <a:t>case</a:t>
            </a:r>
            <a:r>
              <a:rPr lang="de-AT" dirty="0"/>
              <a:t>-Fall und am Ende des </a:t>
            </a:r>
            <a:r>
              <a:rPr lang="de-AT" dirty="0" err="1"/>
              <a:t>default</a:t>
            </a:r>
            <a:r>
              <a:rPr lang="de-AT" dirty="0"/>
              <a:t>-Falles</a:t>
            </a:r>
          </a:p>
          <a:p>
            <a:r>
              <a:rPr lang="de-AT" dirty="0"/>
              <a:t>angeführt werden!</a:t>
            </a:r>
          </a:p>
        </p:txBody>
      </p:sp>
      <p:sp>
        <p:nvSpPr>
          <p:cNvPr id="22" name="Textfeld 21"/>
          <p:cNvSpPr txBox="1"/>
          <p:nvPr/>
        </p:nvSpPr>
        <p:spPr>
          <a:xfrm>
            <a:off x="770160" y="3465004"/>
            <a:ext cx="6588732" cy="2862322"/>
          </a:xfrm>
          <a:prstGeom prst="rect">
            <a:avLst/>
          </a:prstGeom>
          <a:noFill/>
          <a:ln w="22225">
            <a:solidFill>
              <a:schemeClr val="accent1">
                <a:shade val="50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switch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( 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FF0000"/>
                </a:solidFill>
                <a:cs typeface="Courier New" panose="02070309020205020404" pitchFamily="49" charset="0"/>
              </a:rPr>
              <a:t>Ausdruck</a:t>
            </a:r>
            <a:r>
              <a:rPr lang="de-AT" b="1" i="1" dirty="0">
                <a:solidFill>
                  <a:srgbClr val="FF0000"/>
                </a:solidFill>
                <a:cs typeface="Courier New" panose="02070309020205020404" pitchFamily="49" charset="0"/>
              </a:rPr>
              <a:t>&gt;</a:t>
            </a:r>
            <a:r>
              <a:rPr lang="de-AT" b="1" i="1" dirty="0">
                <a:solidFill>
                  <a:srgbClr val="FF00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)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{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Wert_1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Anweisungen_1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                                              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break; </a:t>
            </a:r>
            <a:endParaRPr lang="de-AT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case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Wert_2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>
                <a:solidFill>
                  <a:srgbClr val="CC3300"/>
                </a:solidFill>
                <a:cs typeface="Courier New" panose="02070309020205020404" pitchFamily="49" charset="0"/>
              </a:rPr>
              <a:t>Anweisungen_2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</a:t>
            </a:r>
          </a:p>
          <a:p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                                              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break; </a:t>
            </a:r>
            <a:endParaRPr lang="de-AT" b="1" dirty="0">
              <a:solidFill>
                <a:srgbClr val="00B050"/>
              </a:solidFill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. . .</a:t>
            </a: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</a:t>
            </a:r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[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  <a:r>
              <a:rPr lang="de-AT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default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: </a:t>
            </a:r>
            <a:r>
              <a:rPr lang="de-AT" b="1" i="1" dirty="0">
                <a:solidFill>
                  <a:srgbClr val="CC330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&lt;</a:t>
            </a:r>
            <a:r>
              <a:rPr lang="de-AT" i="1" dirty="0" err="1">
                <a:solidFill>
                  <a:srgbClr val="CC3300"/>
                </a:solidFill>
                <a:cs typeface="Courier New" panose="02070309020205020404" pitchFamily="49" charset="0"/>
              </a:rPr>
              <a:t>Standard_Anweisungen</a:t>
            </a:r>
            <a:r>
              <a:rPr lang="de-AT" b="1" i="1" dirty="0">
                <a:solidFill>
                  <a:srgbClr val="CC3300"/>
                </a:solidFill>
                <a:cs typeface="Courier New" panose="02070309020205020404" pitchFamily="49" charset="0"/>
              </a:rPr>
              <a:t>&gt;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</a:t>
            </a:r>
          </a:p>
          <a:p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			     </a:t>
            </a:r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break;       </a:t>
            </a:r>
            <a:r>
              <a:rPr lang="de-AT" b="1" dirty="0">
                <a:solidFill>
                  <a:srgbClr val="00B050"/>
                </a:solidFill>
                <a:latin typeface="Courier New" panose="02070309020205020404" pitchFamily="49" charset="0"/>
                <a:cs typeface="Courier New" panose="02070309020205020404" pitchFamily="49" charset="0"/>
              </a:rPr>
              <a:t>]</a:t>
            </a:r>
            <a:endParaRPr lang="de-AT" b="1" i="1" dirty="0">
              <a:solidFill>
                <a:srgbClr val="00B050"/>
              </a:solidFill>
              <a:cs typeface="Courier New" panose="02070309020205020404" pitchFamily="49" charset="0"/>
            </a:endParaRPr>
          </a:p>
          <a:p>
            <a:r>
              <a:rPr lang="de-AT" b="1" dirty="0">
                <a:latin typeface="Courier New" panose="02070309020205020404" pitchFamily="49" charset="0"/>
                <a:cs typeface="Courier New" panose="02070309020205020404" pitchFamily="49" charset="0"/>
              </a:rPr>
              <a:t>  }</a:t>
            </a:r>
          </a:p>
        </p:txBody>
      </p:sp>
      <p:sp>
        <p:nvSpPr>
          <p:cNvPr id="13" name="Titel 2"/>
          <p:cNvSpPr>
            <a:spLocks noGrp="1"/>
          </p:cNvSpPr>
          <p:nvPr>
            <p:ph type="title"/>
          </p:nvPr>
        </p:nvSpPr>
        <p:spPr>
          <a:xfrm>
            <a:off x="457200" y="125760"/>
            <a:ext cx="8229600" cy="1143000"/>
          </a:xfrm>
        </p:spPr>
        <p:txBody>
          <a:bodyPr/>
          <a:lstStyle/>
          <a:p>
            <a:r>
              <a:rPr lang="de-AT" dirty="0"/>
              <a:t>Mehrfachverzweigung (</a:t>
            </a:r>
            <a:r>
              <a:rPr lang="de-AT" dirty="0" err="1"/>
              <a:t>switch</a:t>
            </a:r>
            <a:r>
              <a:rPr lang="de-AT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3958555047"/>
      </p:ext>
    </p:extLst>
  </p:cSld>
  <p:clrMapOvr>
    <a:masterClrMapping/>
  </p:clrMapOvr>
</p:sld>
</file>

<file path=ppt/theme/theme1.xml><?xml version="1.0" encoding="utf-8"?>
<a:theme xmlns:a="http://schemas.openxmlformats.org/drawingml/2006/main" name="2_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 Klassisch 2">
      <a:maj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1436</Words>
  <Application>Microsoft Office PowerPoint</Application>
  <PresentationFormat>Bildschirmpräsentation (4:3)</PresentationFormat>
  <Paragraphs>275</Paragraphs>
  <Slides>23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8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23</vt:i4>
      </vt:variant>
    </vt:vector>
  </HeadingPairs>
  <TitlesOfParts>
    <vt:vector size="32" baseType="lpstr">
      <vt:lpstr>Arial</vt:lpstr>
      <vt:lpstr>Calibri</vt:lpstr>
      <vt:lpstr>Consolas</vt:lpstr>
      <vt:lpstr>Courier New</vt:lpstr>
      <vt:lpstr>Helvetica</vt:lpstr>
      <vt:lpstr>Monaco</vt:lpstr>
      <vt:lpstr>Symbol</vt:lpstr>
      <vt:lpstr>Wingdings</vt:lpstr>
      <vt:lpstr>2_Larissa</vt:lpstr>
      <vt:lpstr>Ein etwas frecher „GrownUpCalculator“</vt:lpstr>
      <vt:lpstr>Der einfache Teil</vt:lpstr>
      <vt:lpstr>Ablaufdiagramm / Flowchart</vt:lpstr>
      <vt:lpstr>Verzweigung - Selektion</vt:lpstr>
      <vt:lpstr>Selektion in C#</vt:lpstr>
      <vt:lpstr>Bedingungen (Conditions)</vt:lpstr>
      <vt:lpstr>Bedingungen – Logischer Ausdruck</vt:lpstr>
      <vt:lpstr>Verknüpfung von Bedingungen mit &amp;&amp; (AND)</vt:lpstr>
      <vt:lpstr>Verknüpfung von Bedingungen mit II (OR)</vt:lpstr>
      <vt:lpstr>Einseitige Verzweigung</vt:lpstr>
      <vt:lpstr>Einseitige Verzweigung (if)</vt:lpstr>
      <vt:lpstr>Zweiseitige Verzweigung (if .. else)</vt:lpstr>
      <vt:lpstr>Zweiseitige Verzweigung (if..else)</vt:lpstr>
      <vt:lpstr>Zweiseitige Verzweigung - Beispiel</vt:lpstr>
      <vt:lpstr>Erweiterung</vt:lpstr>
      <vt:lpstr>Verschachtelung von Verzweigungen</vt:lpstr>
      <vt:lpstr>Verschachtelung von Verzweigungen </vt:lpstr>
      <vt:lpstr>Verschachtelung von Verzweigungen</vt:lpstr>
      <vt:lpstr>Beispiel else-if Kette</vt:lpstr>
      <vt:lpstr>Noch mehr Varianten</vt:lpstr>
      <vt:lpstr>Switch in C#</vt:lpstr>
      <vt:lpstr>Mehrfachverzweigung (switch)</vt:lpstr>
      <vt:lpstr>Mehrfachverzweigung (switch)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PowerPoint-Präsentation</dc:title>
  <dc:creator>Michael Bucek</dc:creator>
  <cp:lastModifiedBy>Aitenbichler Herbert</cp:lastModifiedBy>
  <cp:revision>133</cp:revision>
  <dcterms:created xsi:type="dcterms:W3CDTF">2013-05-11T11:25:57Z</dcterms:created>
  <dcterms:modified xsi:type="dcterms:W3CDTF">2021-10-01T19:45:15Z</dcterms:modified>
</cp:coreProperties>
</file>