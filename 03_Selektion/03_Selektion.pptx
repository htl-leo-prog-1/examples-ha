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25"/>
  </p:notesMasterIdLst>
  <p:sldIdLst>
    <p:sldId id="279" r:id="rId2"/>
    <p:sldId id="280" r:id="rId3"/>
    <p:sldId id="292" r:id="rId4"/>
    <p:sldId id="282" r:id="rId5"/>
    <p:sldId id="283" r:id="rId6"/>
    <p:sldId id="264" r:id="rId7"/>
    <p:sldId id="284" r:id="rId8"/>
    <p:sldId id="293" r:id="rId9"/>
    <p:sldId id="286" r:id="rId10"/>
    <p:sldId id="263" r:id="rId11"/>
    <p:sldId id="267" r:id="rId12"/>
    <p:sldId id="268" r:id="rId13"/>
    <p:sldId id="269" r:id="rId14"/>
    <p:sldId id="270" r:id="rId15"/>
    <p:sldId id="288" r:id="rId16"/>
    <p:sldId id="271" r:id="rId17"/>
    <p:sldId id="274" r:id="rId18"/>
    <p:sldId id="272" r:id="rId19"/>
    <p:sldId id="273" r:id="rId20"/>
    <p:sldId id="289" r:id="rId21"/>
    <p:sldId id="291" r:id="rId22"/>
    <p:sldId id="275" r:id="rId23"/>
    <p:sldId id="277" r:id="rId2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8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12.10.2021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5150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612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7098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993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44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02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250031" y="2098477"/>
            <a:ext cx="8643938" cy="444698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109"/>
              <a:t>Body Level One</a:t>
            </a:r>
          </a:p>
          <a:p>
            <a:pPr lvl="1">
              <a:defRPr sz="1800"/>
            </a:pPr>
            <a:r>
              <a:rPr sz="2109"/>
              <a:t>Body Level Two</a:t>
            </a:r>
          </a:p>
          <a:p>
            <a:pPr lvl="2">
              <a:defRPr sz="1800"/>
            </a:pPr>
            <a:r>
              <a:rPr sz="2109"/>
              <a:t>Body Level Three</a:t>
            </a:r>
          </a:p>
          <a:p>
            <a:pPr lvl="3">
              <a:defRPr sz="1800"/>
            </a:pPr>
            <a:r>
              <a:rPr sz="2109"/>
              <a:t>Body Level Four</a:t>
            </a:r>
          </a:p>
          <a:p>
            <a:pPr lvl="4">
              <a:defRPr sz="1800"/>
            </a:pPr>
            <a:r>
              <a:rPr sz="2109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8777499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296261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baseline="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Selektion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42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 etwas frecher „</a:t>
            </a:r>
            <a:r>
              <a:rPr lang="de-AT" dirty="0" err="1"/>
              <a:t>GrownUpCalculator</a:t>
            </a:r>
            <a:r>
              <a:rPr lang="de-AT" dirty="0"/>
              <a:t>“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11560" y="4977172"/>
            <a:ext cx="6814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Das Programm prüft, ob das eingegebene Alter 18 Jahre beträgt.</a:t>
            </a:r>
          </a:p>
          <a:p>
            <a:r>
              <a:rPr lang="de-AT" dirty="0"/>
              <a:t>Nur dann wird die Differenz ausgerechnet und ausgegeben.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C81548B-F0F7-4B3F-8320-1BAFBA82C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6792"/>
            <a:ext cx="8230752" cy="244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912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250031" y="1484784"/>
            <a:ext cx="8643938" cy="477264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GROWN_UP_AGE = 18;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"How old are you?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userInput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Convert.ToInt32(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userInput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diff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= GROWN_UP_AGE - 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($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"In approx.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diff}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years you will be grown-up"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402536">
              <a:lnSpc>
                <a:spcPct val="50000"/>
              </a:lnSpc>
              <a:spcBef>
                <a:spcPts val="1406"/>
              </a:spcBef>
              <a:buSzTx/>
              <a:buNone/>
              <a:defRPr sz="1800"/>
            </a:pPr>
            <a:endParaRPr sz="2067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Der einfache Teil</a:t>
            </a:r>
          </a:p>
        </p:txBody>
      </p:sp>
    </p:spTree>
    <p:extLst>
      <p:ext uri="{BB962C8B-B14F-4D97-AF65-F5344CB8AC3E}">
        <p14:creationId xmlns:p14="http://schemas.microsoft.com/office/powerpoint/2010/main" val="8057546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4398850" y="2079365"/>
            <a:ext cx="29816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109">
                <a:solidFill>
                  <a:srgbClr val="324863"/>
                </a:solidFill>
              </a:rPr>
              <a:t>...</a:t>
            </a:r>
          </a:p>
        </p:txBody>
      </p:sp>
      <p:sp>
        <p:nvSpPr>
          <p:cNvPr id="76" name="Shape 76"/>
          <p:cNvSpPr/>
          <p:nvPr/>
        </p:nvSpPr>
        <p:spPr>
          <a:xfrm>
            <a:off x="3237990" y="1527626"/>
            <a:ext cx="2607469" cy="634008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dirty="0" err="1">
                <a:solidFill>
                  <a:schemeClr val="bg1"/>
                </a:solidFill>
              </a:rPr>
              <a:t>Console.WriteLine</a:t>
            </a:r>
            <a:r>
              <a:rPr sz="1687" dirty="0">
                <a:solidFill>
                  <a:schemeClr val="bg1"/>
                </a:solidFill>
              </a:rPr>
              <a:t>("How old are you? ");</a:t>
            </a:r>
          </a:p>
        </p:txBody>
      </p:sp>
      <p:sp>
        <p:nvSpPr>
          <p:cNvPr id="77" name="Shape 77"/>
          <p:cNvSpPr/>
          <p:nvPr/>
        </p:nvSpPr>
        <p:spPr>
          <a:xfrm>
            <a:off x="3686929" y="3599314"/>
            <a:ext cx="1712045" cy="892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bg1"/>
                </a:solidFill>
              </a:rPr>
              <a:t>diff &gt; 0</a:t>
            </a:r>
          </a:p>
        </p:txBody>
      </p:sp>
      <p:sp>
        <p:nvSpPr>
          <p:cNvPr id="78" name="Shape 78"/>
          <p:cNvSpPr/>
          <p:nvPr/>
        </p:nvSpPr>
        <p:spPr>
          <a:xfrm>
            <a:off x="3237990" y="2563470"/>
            <a:ext cx="2607469" cy="634008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dirty="0" err="1">
                <a:solidFill>
                  <a:schemeClr val="bg1"/>
                </a:solidFill>
              </a:rPr>
              <a:t>int</a:t>
            </a:r>
            <a:r>
              <a:rPr sz="1687" dirty="0">
                <a:solidFill>
                  <a:schemeClr val="bg1"/>
                </a:solidFill>
              </a:rPr>
              <a:t> diff = GROWN_UP_AGE - age;</a:t>
            </a:r>
          </a:p>
        </p:txBody>
      </p:sp>
      <p:sp>
        <p:nvSpPr>
          <p:cNvPr id="79" name="Shape 79"/>
          <p:cNvSpPr/>
          <p:nvPr/>
        </p:nvSpPr>
        <p:spPr>
          <a:xfrm>
            <a:off x="6032983" y="4894119"/>
            <a:ext cx="2607469" cy="634008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dirty="0" err="1">
                <a:solidFill>
                  <a:schemeClr val="bg1"/>
                </a:solidFill>
              </a:rPr>
              <a:t>Console.WriteLine</a:t>
            </a:r>
            <a:r>
              <a:rPr sz="1687" dirty="0">
                <a:solidFill>
                  <a:schemeClr val="bg1"/>
                </a:solidFill>
              </a:rPr>
              <a:t>(“Difference “ + diff);</a:t>
            </a:r>
          </a:p>
        </p:txBody>
      </p:sp>
      <p:sp>
        <p:nvSpPr>
          <p:cNvPr id="80" name="Shape 80"/>
          <p:cNvSpPr/>
          <p:nvPr/>
        </p:nvSpPr>
        <p:spPr>
          <a:xfrm>
            <a:off x="442998" y="4894119"/>
            <a:ext cx="2607469" cy="634008"/>
          </a:xfrm>
          <a:prstGeom prst="rect">
            <a:avLst/>
          </a:prstGeom>
          <a:blipFill>
            <a:blip r:embed="rId2"/>
          </a:blipFill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87" dirty="0" err="1">
                <a:solidFill>
                  <a:schemeClr val="bg1"/>
                </a:solidFill>
              </a:rPr>
              <a:t>Console.WriteLine</a:t>
            </a:r>
            <a:r>
              <a:rPr sz="1687" dirty="0">
                <a:solidFill>
                  <a:schemeClr val="bg1"/>
                </a:solidFill>
              </a:rPr>
              <a:t>(“You are too old”);</a:t>
            </a:r>
          </a:p>
        </p:txBody>
      </p:sp>
      <p:sp>
        <p:nvSpPr>
          <p:cNvPr id="81" name="Shape 81"/>
          <p:cNvSpPr/>
          <p:nvPr/>
        </p:nvSpPr>
        <p:spPr>
          <a:xfrm flipV="1">
            <a:off x="4541725" y="2172053"/>
            <a:ext cx="0" cy="163031"/>
          </a:xfrm>
          <a:prstGeom prst="line">
            <a:avLst/>
          </a:prstGeom>
          <a:ln w="25400">
            <a:solidFill>
              <a:srgbClr val="48556C"/>
            </a:solidFill>
            <a:miter lim="400000"/>
            <a:headEnd type="stealth"/>
          </a:ln>
        </p:spPr>
        <p:txBody>
          <a:bodyPr lIns="0" tIns="0" rIns="0" bIns="0"/>
          <a:lstStyle/>
          <a:p>
            <a:pPr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2" name="Shape 82"/>
          <p:cNvSpPr/>
          <p:nvPr/>
        </p:nvSpPr>
        <p:spPr>
          <a:xfrm>
            <a:off x="4402281" y="1016732"/>
            <a:ext cx="29816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109">
                <a:solidFill>
                  <a:srgbClr val="324863"/>
                </a:solidFill>
              </a:rPr>
              <a:t>...</a:t>
            </a:r>
          </a:p>
        </p:txBody>
      </p:sp>
      <p:sp>
        <p:nvSpPr>
          <p:cNvPr id="83" name="Shape 83"/>
          <p:cNvSpPr/>
          <p:nvPr/>
        </p:nvSpPr>
        <p:spPr>
          <a:xfrm flipV="1">
            <a:off x="4541725" y="2405830"/>
            <a:ext cx="0" cy="156151"/>
          </a:xfrm>
          <a:prstGeom prst="line">
            <a:avLst/>
          </a:prstGeom>
          <a:ln w="25400">
            <a:solidFill>
              <a:srgbClr val="48556C"/>
            </a:solidFill>
            <a:miter lim="400000"/>
            <a:headEnd type="stealth"/>
          </a:ln>
        </p:spPr>
        <p:txBody>
          <a:bodyPr lIns="0" tIns="0" rIns="0" bIns="0"/>
          <a:lstStyle/>
          <a:p>
            <a:pPr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4" name="Shape 84"/>
          <p:cNvSpPr/>
          <p:nvPr/>
        </p:nvSpPr>
        <p:spPr>
          <a:xfrm flipV="1">
            <a:off x="4541725" y="1366892"/>
            <a:ext cx="0" cy="163030"/>
          </a:xfrm>
          <a:prstGeom prst="line">
            <a:avLst/>
          </a:prstGeom>
          <a:ln w="25400">
            <a:solidFill>
              <a:srgbClr val="48556C"/>
            </a:solidFill>
            <a:miter lim="400000"/>
            <a:headEnd type="stealth"/>
          </a:ln>
        </p:spPr>
        <p:txBody>
          <a:bodyPr lIns="0" tIns="0" rIns="0" bIns="0"/>
          <a:lstStyle/>
          <a:p>
            <a:pPr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5" name="Shape 85"/>
          <p:cNvSpPr/>
          <p:nvPr/>
        </p:nvSpPr>
        <p:spPr>
          <a:xfrm flipV="1">
            <a:off x="4541725" y="3215337"/>
            <a:ext cx="0" cy="371713"/>
          </a:xfrm>
          <a:prstGeom prst="line">
            <a:avLst/>
          </a:prstGeom>
          <a:ln w="25400">
            <a:solidFill>
              <a:srgbClr val="48556C"/>
            </a:solidFill>
            <a:miter lim="400000"/>
            <a:headEnd type="stealth"/>
          </a:ln>
        </p:spPr>
        <p:txBody>
          <a:bodyPr lIns="0" tIns="0" rIns="0" bIns="0"/>
          <a:lstStyle/>
          <a:p>
            <a:pPr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6" name="Shape 86"/>
          <p:cNvSpPr/>
          <p:nvPr/>
        </p:nvSpPr>
        <p:spPr>
          <a:xfrm>
            <a:off x="5405463" y="4047472"/>
            <a:ext cx="1859830" cy="8132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48556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/>
            <a:endParaRPr sz="1266"/>
          </a:p>
        </p:txBody>
      </p:sp>
      <p:sp>
        <p:nvSpPr>
          <p:cNvPr id="87" name="Shape 87"/>
          <p:cNvSpPr/>
          <p:nvPr/>
        </p:nvSpPr>
        <p:spPr>
          <a:xfrm flipH="1">
            <a:off x="1827100" y="4045799"/>
            <a:ext cx="1859830" cy="813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48556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/>
            <a:endParaRPr sz="1266"/>
          </a:p>
        </p:txBody>
      </p:sp>
      <p:sp>
        <p:nvSpPr>
          <p:cNvPr id="88" name="Shape 88"/>
          <p:cNvSpPr/>
          <p:nvPr/>
        </p:nvSpPr>
        <p:spPr>
          <a:xfrm>
            <a:off x="4461357" y="5804946"/>
            <a:ext cx="160735" cy="160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blipFill>
            <a:blip r:embed="rId2"/>
          </a:blipFill>
          <a:ln w="25400">
            <a:miter lim="400000"/>
          </a:ln>
        </p:spPr>
        <p:txBody>
          <a:bodyPr lIns="0" tIns="0" rIns="0" bIns="0" anchor="ctr"/>
          <a:lstStyle/>
          <a:p>
            <a:pPr lvl="0">
              <a:defRPr>
                <a:solidFill>
                  <a:srgbClr val="FFFFFF"/>
                </a:solidFill>
              </a:defRPr>
            </a:pPr>
            <a:endParaRPr sz="1266"/>
          </a:p>
        </p:txBody>
      </p:sp>
      <p:sp>
        <p:nvSpPr>
          <p:cNvPr id="89" name="Shape 89"/>
          <p:cNvSpPr/>
          <p:nvPr/>
        </p:nvSpPr>
        <p:spPr>
          <a:xfrm>
            <a:off x="1836320" y="5553973"/>
            <a:ext cx="2589610" cy="34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48556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/>
            <a:endParaRPr sz="1266"/>
          </a:p>
        </p:txBody>
      </p:sp>
      <p:sp>
        <p:nvSpPr>
          <p:cNvPr id="90" name="Shape 90"/>
          <p:cNvSpPr/>
          <p:nvPr/>
        </p:nvSpPr>
        <p:spPr>
          <a:xfrm flipH="1">
            <a:off x="4657811" y="5554915"/>
            <a:ext cx="2589609" cy="348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48556C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/>
            <a:endParaRPr sz="1266"/>
          </a:p>
        </p:txBody>
      </p:sp>
      <p:sp>
        <p:nvSpPr>
          <p:cNvPr id="91" name="Shape 91"/>
          <p:cNvSpPr/>
          <p:nvPr/>
        </p:nvSpPr>
        <p:spPr>
          <a:xfrm flipV="1">
            <a:off x="4541725" y="5974610"/>
            <a:ext cx="0" cy="156151"/>
          </a:xfrm>
          <a:prstGeom prst="line">
            <a:avLst/>
          </a:prstGeom>
          <a:ln w="25400">
            <a:solidFill>
              <a:srgbClr val="48556C"/>
            </a:solidFill>
            <a:miter lim="400000"/>
            <a:headEnd type="stealth"/>
          </a:ln>
        </p:spPr>
        <p:txBody>
          <a:bodyPr lIns="0" tIns="0" rIns="0" bIns="0"/>
          <a:lstStyle/>
          <a:p>
            <a:pPr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92" name="Shape 92"/>
          <p:cNvSpPr/>
          <p:nvPr/>
        </p:nvSpPr>
        <p:spPr>
          <a:xfrm>
            <a:off x="6120043" y="3597412"/>
            <a:ext cx="492122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109">
                <a:solidFill>
                  <a:srgbClr val="324863"/>
                </a:solidFill>
              </a:rPr>
              <a:t>yes</a:t>
            </a:r>
          </a:p>
        </p:txBody>
      </p:sp>
      <p:sp>
        <p:nvSpPr>
          <p:cNvPr id="93" name="Shape 93"/>
          <p:cNvSpPr/>
          <p:nvPr/>
        </p:nvSpPr>
        <p:spPr>
          <a:xfrm>
            <a:off x="2532240" y="3597412"/>
            <a:ext cx="37350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2109">
                <a:solidFill>
                  <a:srgbClr val="324863"/>
                </a:solidFill>
              </a:rPr>
              <a:t>no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Verzweigung - Selektion</a:t>
            </a:r>
          </a:p>
        </p:txBody>
      </p:sp>
    </p:spTree>
    <p:extLst>
      <p:ext uri="{BB962C8B-B14F-4D97-AF65-F5344CB8AC3E}">
        <p14:creationId xmlns:p14="http://schemas.microsoft.com/office/powerpoint/2010/main" val="5400473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 advAuto="0"/>
      <p:bldP spid="76" grpId="0" animBg="1" advAuto="0"/>
      <p:bldP spid="77" grpId="0" animBg="1" advAuto="0"/>
      <p:bldP spid="78" grpId="0" animBg="1" advAuto="0"/>
      <p:bldP spid="79" grpId="0" animBg="1" advAuto="0"/>
      <p:bldP spid="80" grpId="0" animBg="1" advAuto="0"/>
      <p:bldP spid="81" grpId="0" animBg="1" advAuto="0"/>
      <p:bldP spid="82" grpId="0" animBg="1" advAuto="0"/>
      <p:bldP spid="83" grpId="0" animBg="1" advAuto="0"/>
      <p:bldP spid="84" grpId="0" animBg="1" advAuto="0"/>
      <p:bldP spid="85" grpId="0" animBg="1" advAuto="0"/>
      <p:bldP spid="86" grpId="0" animBg="1" advAuto="0"/>
      <p:bldP spid="87" grpId="0" animBg="1" advAuto="0"/>
      <p:bldP spid="88" grpId="0" animBg="1" advAuto="0"/>
      <p:bldP spid="89" grpId="0" animBg="1" advAuto="0"/>
      <p:bldP spid="90" grpId="0" animBg="1" advAuto="0"/>
      <p:bldP spid="91" grpId="0" animBg="1" advAuto="0"/>
      <p:bldP spid="92" grpId="0" animBg="1" advAuto="0"/>
      <p:bldP spid="93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/>
          </p:cNvSpPr>
          <p:nvPr>
            <p:ph type="body" idx="1"/>
          </p:nvPr>
        </p:nvSpPr>
        <p:spPr>
          <a:xfrm>
            <a:off x="251520" y="1520788"/>
            <a:ext cx="8750461" cy="444698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diff</a:t>
            </a: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 &gt; 0)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$"In approx.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{diff}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years you will be grown-up"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de-AT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"You are too old to use that program"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sz="18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Selektion in C#</a:t>
            </a:r>
          </a:p>
        </p:txBody>
      </p:sp>
    </p:spTree>
    <p:extLst>
      <p:ext uri="{BB962C8B-B14F-4D97-AF65-F5344CB8AC3E}">
        <p14:creationId xmlns:p14="http://schemas.microsoft.com/office/powerpoint/2010/main" val="69221788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Table 99"/>
          <p:cNvGraphicFramePr/>
          <p:nvPr>
            <p:extLst>
              <p:ext uri="{D42A27DB-BD31-4B8C-83A1-F6EECF244321}">
                <p14:modId xmlns:p14="http://schemas.microsoft.com/office/powerpoint/2010/main" val="2284860363"/>
              </p:ext>
            </p:extLst>
          </p:nvPr>
        </p:nvGraphicFramePr>
        <p:xfrm>
          <a:off x="1871700" y="1412776"/>
          <a:ext cx="5544616" cy="4446984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164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500" dirty="0">
                          <a:solidFill>
                            <a:srgbClr val="314864"/>
                          </a:solidFill>
                        </a:rPr>
                        <a:t>&lt;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de-AT" sz="2500" dirty="0">
                          <a:solidFill>
                            <a:srgbClr val="314864"/>
                          </a:solidFill>
                        </a:rPr>
                        <a:t>Kleiner</a:t>
                      </a:r>
                      <a:endParaRPr sz="2500" dirty="0">
                        <a:solidFill>
                          <a:srgbClr val="314864"/>
                        </a:solidFill>
                      </a:endParaRPr>
                    </a:p>
                  </a:txBody>
                  <a:tcPr marL="35719" marR="35719" marT="35719" marB="35719" anchor="ctr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164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500" dirty="0">
                          <a:solidFill>
                            <a:srgbClr val="314864"/>
                          </a:solidFill>
                        </a:rPr>
                        <a:t>&gt;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de-AT" sz="2500" dirty="0">
                          <a:solidFill>
                            <a:srgbClr val="314864"/>
                          </a:solidFill>
                        </a:rPr>
                        <a:t>Größer</a:t>
                      </a:r>
                      <a:endParaRPr sz="2500" dirty="0">
                        <a:solidFill>
                          <a:srgbClr val="314864"/>
                        </a:solidFill>
                      </a:endParaRPr>
                    </a:p>
                  </a:txBody>
                  <a:tcPr marL="35719" marR="35719" marT="35719" marB="35719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164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500" dirty="0">
                          <a:solidFill>
                            <a:srgbClr val="314864"/>
                          </a:solidFill>
                        </a:rPr>
                        <a:t>&lt;=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de-AT" sz="2500" dirty="0">
                          <a:solidFill>
                            <a:srgbClr val="314864"/>
                          </a:solidFill>
                        </a:rPr>
                        <a:t>Kleiner oder gleich</a:t>
                      </a:r>
                      <a:endParaRPr sz="2500" dirty="0">
                        <a:solidFill>
                          <a:srgbClr val="314864"/>
                        </a:solidFill>
                      </a:endParaRPr>
                    </a:p>
                  </a:txBody>
                  <a:tcPr marL="35719" marR="35719" marT="35719" marB="35719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164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314864"/>
                          </a:solidFill>
                        </a:rPr>
                        <a:t>&gt;=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de-AT" sz="2500" dirty="0">
                          <a:solidFill>
                            <a:srgbClr val="314864"/>
                          </a:solidFill>
                        </a:rPr>
                        <a:t>Größer oder gleich</a:t>
                      </a:r>
                      <a:endParaRPr sz="2500" dirty="0">
                        <a:solidFill>
                          <a:srgbClr val="314864"/>
                        </a:solidFill>
                      </a:endParaRPr>
                    </a:p>
                  </a:txBody>
                  <a:tcPr marL="35719" marR="35719" marT="35719" marB="35719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164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314864"/>
                          </a:solidFill>
                        </a:rPr>
                        <a:t>==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de-AT" sz="2500" dirty="0">
                          <a:solidFill>
                            <a:srgbClr val="314864"/>
                          </a:solidFill>
                        </a:rPr>
                        <a:t>gleich</a:t>
                      </a:r>
                      <a:endParaRPr sz="2500" dirty="0">
                        <a:solidFill>
                          <a:srgbClr val="314864"/>
                        </a:solidFill>
                      </a:endParaRPr>
                    </a:p>
                  </a:txBody>
                  <a:tcPr marL="35719" marR="35719" marT="35719" marB="35719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164"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314864"/>
                          </a:solidFill>
                        </a:rPr>
                        <a:t>!=</a:t>
                      </a:r>
                    </a:p>
                  </a:txBody>
                  <a:tcPr marL="35719" marR="35719" marT="35719" marB="35719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tabLst>
                          <a:tab pos="914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de-AT" sz="2500" dirty="0">
                          <a:solidFill>
                            <a:srgbClr val="314864"/>
                          </a:solidFill>
                        </a:rPr>
                        <a:t>ungleich</a:t>
                      </a:r>
                      <a:endParaRPr sz="2500" dirty="0">
                        <a:solidFill>
                          <a:srgbClr val="314864"/>
                        </a:solidFill>
                      </a:endParaRPr>
                    </a:p>
                  </a:txBody>
                  <a:tcPr marL="35719" marR="35719" marT="35719" marB="35719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Bedingungen (</a:t>
            </a:r>
            <a:r>
              <a:rPr lang="de-AT" dirty="0" err="1"/>
              <a:t>Conditions</a:t>
            </a:r>
            <a:r>
              <a:rPr lang="de-A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007493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223628" y="1088740"/>
            <a:ext cx="70927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Eine </a:t>
            </a:r>
            <a:r>
              <a:rPr lang="de-AT" dirty="0">
                <a:solidFill>
                  <a:srgbClr val="FF0000"/>
                </a:solidFill>
              </a:rPr>
              <a:t>Bedingung </a:t>
            </a:r>
            <a:r>
              <a:rPr lang="de-AT" dirty="0"/>
              <a:t>ist ein logischer Ausdruck.</a:t>
            </a:r>
          </a:p>
          <a:p>
            <a:r>
              <a:rPr lang="de-AT" dirty="0"/>
              <a:t>Ein logischer Ausdruck besteht aus </a:t>
            </a:r>
            <a:r>
              <a:rPr lang="de-AT" i="1" dirty="0">
                <a:solidFill>
                  <a:srgbClr val="FF0000"/>
                </a:solidFill>
              </a:rPr>
              <a:t>Operanden</a:t>
            </a:r>
            <a:r>
              <a:rPr lang="de-AT" dirty="0"/>
              <a:t>, die mit  </a:t>
            </a:r>
            <a:r>
              <a:rPr lang="de-AT" i="1" dirty="0"/>
              <a:t>relationalen oder logischen </a:t>
            </a:r>
            <a:r>
              <a:rPr lang="de-AT" i="1" dirty="0">
                <a:solidFill>
                  <a:srgbClr val="FF0000"/>
                </a:solidFill>
              </a:rPr>
              <a:t>Operatoren </a:t>
            </a:r>
            <a:r>
              <a:rPr lang="de-AT" i="1" dirty="0"/>
              <a:t>verglichen werden.</a:t>
            </a:r>
          </a:p>
          <a:p>
            <a:endParaRPr lang="de-AT" i="1" dirty="0">
              <a:solidFill>
                <a:srgbClr val="FF0000"/>
              </a:solidFill>
            </a:endParaRPr>
          </a:p>
          <a:p>
            <a:r>
              <a:rPr lang="de-AT" i="1" dirty="0"/>
              <a:t>Vergleichsoperatoren (relationale Operatoren):</a:t>
            </a:r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gleich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nicht gleich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größer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größer oder gleich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kleiner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kleiner oder gleich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Bedingungen – Logischer Ausdruck</a:t>
            </a:r>
          </a:p>
        </p:txBody>
      </p:sp>
    </p:spTree>
    <p:extLst>
      <p:ext uri="{BB962C8B-B14F-4D97-AF65-F5344CB8AC3E}">
        <p14:creationId xmlns:p14="http://schemas.microsoft.com/office/powerpoint/2010/main" val="1297097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250031" y="1268413"/>
            <a:ext cx="8643938" cy="5060677"/>
          </a:xfrm>
          <a:prstGeom prst="rect">
            <a:avLst/>
          </a:prstGeom>
        </p:spPr>
        <p:txBody>
          <a:bodyPr lIns="0" tIns="0" rIns="0" bIns="0">
            <a:normAutofit fontScale="77500" lnSpcReduction="20000"/>
          </a:bodyPr>
          <a:lstStyle/>
          <a:p>
            <a:pPr lvl="0">
              <a:defRPr sz="1800"/>
            </a:pPr>
            <a:r>
              <a:rPr sz="2109" dirty="0"/>
              <a:t>Situation</a:t>
            </a:r>
          </a:p>
          <a:p>
            <a:pPr lvl="1">
              <a:defRPr sz="1800"/>
            </a:pPr>
            <a:r>
              <a:rPr lang="de-AT" sz="2109" dirty="0"/>
              <a:t>Wenn das Alter zwischen </a:t>
            </a:r>
            <a:r>
              <a:rPr sz="2109" dirty="0"/>
              <a:t>18 </a:t>
            </a:r>
            <a:r>
              <a:rPr lang="de-AT" sz="2109" dirty="0"/>
              <a:t>und </a:t>
            </a:r>
            <a:r>
              <a:rPr sz="2109" dirty="0"/>
              <a:t>20 </a:t>
            </a:r>
            <a:r>
              <a:rPr lang="de-AT" sz="2109" dirty="0"/>
              <a:t>Jahren liegt</a:t>
            </a:r>
            <a:r>
              <a:rPr sz="2109" dirty="0"/>
              <a:t>, </a:t>
            </a:r>
            <a:r>
              <a:rPr lang="de-AT" sz="2109" dirty="0"/>
              <a:t>schreiben wir </a:t>
            </a:r>
            <a:r>
              <a:rPr sz="2109" dirty="0"/>
              <a:t>“You are grown up”</a:t>
            </a:r>
          </a:p>
          <a:p>
            <a:pPr lvl="0">
              <a:defRPr sz="1800"/>
            </a:pPr>
            <a:r>
              <a:rPr lang="de-AT" sz="2109" dirty="0"/>
              <a:t>Siehe Mathematik</a:t>
            </a:r>
            <a:endParaRPr sz="2109" dirty="0"/>
          </a:p>
          <a:p>
            <a:pPr lvl="1">
              <a:defRPr sz="1800"/>
            </a:pPr>
            <a:r>
              <a:rPr sz="2109" dirty="0">
                <a:latin typeface="Monaco"/>
                <a:ea typeface="Monaco"/>
                <a:cs typeface="Monaco"/>
                <a:sym typeface="Monaco"/>
              </a:rPr>
              <a:t>if (18 ≤ age ≤ 20)</a:t>
            </a:r>
          </a:p>
          <a:p>
            <a:pPr lvl="1">
              <a:defRPr sz="1800"/>
            </a:pPr>
            <a:r>
              <a:rPr lang="de-AT" sz="2109" dirty="0"/>
              <a:t>Das ist die Kurzform für:</a:t>
            </a:r>
          </a:p>
          <a:p>
            <a:pPr lvl="2">
              <a:defRPr sz="1800"/>
            </a:pPr>
            <a:r>
              <a:rPr sz="1809" dirty="0">
                <a:latin typeface="Monaco"/>
                <a:ea typeface="Monaco"/>
                <a:cs typeface="Monaco"/>
                <a:sym typeface="Monaco"/>
              </a:rPr>
              <a:t>if (18 ≤ age </a:t>
            </a:r>
            <a:r>
              <a:rPr sz="1809" dirty="0">
                <a:solidFill>
                  <a:srgbClr val="FF0000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  <a:latin typeface="Monaco"/>
                <a:ea typeface="Monaco"/>
                <a:cs typeface="Monaco"/>
                <a:sym typeface="Monaco"/>
              </a:rPr>
              <a:t>and</a:t>
            </a:r>
            <a:r>
              <a:rPr sz="1809" dirty="0">
                <a:latin typeface="Monaco"/>
                <a:ea typeface="Monaco"/>
                <a:cs typeface="Monaco"/>
                <a:sym typeface="Monaco"/>
              </a:rPr>
              <a:t> age ≤ 20)</a:t>
            </a:r>
          </a:p>
          <a:p>
            <a:pPr lvl="2">
              <a:defRPr sz="1800"/>
            </a:pPr>
            <a:r>
              <a:rPr sz="1809" dirty="0">
                <a:latin typeface="Monaco"/>
                <a:ea typeface="Monaco"/>
                <a:cs typeface="Monaco"/>
                <a:sym typeface="Monaco"/>
              </a:rPr>
              <a:t>if (age ≥ 18 </a:t>
            </a:r>
            <a:r>
              <a:rPr sz="1809" dirty="0">
                <a:solidFill>
                  <a:srgbClr val="FF0000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  <a:latin typeface="Monaco"/>
                <a:ea typeface="Monaco"/>
                <a:cs typeface="Monaco"/>
                <a:sym typeface="Monaco"/>
              </a:rPr>
              <a:t>and</a:t>
            </a:r>
            <a:r>
              <a:rPr sz="1809" dirty="0">
                <a:latin typeface="Monaco"/>
                <a:ea typeface="Monaco"/>
                <a:cs typeface="Monaco"/>
                <a:sym typeface="Monaco"/>
              </a:rPr>
              <a:t> age ≤ 20)</a:t>
            </a:r>
            <a:endParaRPr lang="de-AT" sz="1809" dirty="0">
              <a:latin typeface="Monaco"/>
              <a:ea typeface="Monaco"/>
              <a:cs typeface="Monaco"/>
              <a:sym typeface="Monaco"/>
            </a:endParaRPr>
          </a:p>
          <a:p>
            <a:pPr>
              <a:defRPr sz="1800"/>
            </a:pPr>
            <a:r>
              <a:rPr lang="de-AT" sz="2900" b="1" spc="-90" dirty="0" err="1">
                <a:solidFill>
                  <a:srgbClr val="FF0000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</a:rPr>
              <a:t>and</a:t>
            </a:r>
            <a:r>
              <a:rPr lang="de-AT" sz="2900" b="1" spc="-90" dirty="0">
                <a:solidFill>
                  <a:srgbClr val="1C54F4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</a:rPr>
              <a:t> </a:t>
            </a:r>
            <a:r>
              <a:rPr lang="de-AT" sz="2109" b="1" dirty="0"/>
              <a:t>in C#</a:t>
            </a:r>
            <a:endParaRPr lang="de-AT" sz="2109" b="1" dirty="0">
              <a:sym typeface="Monaco"/>
            </a:endParaRPr>
          </a:p>
          <a:p>
            <a:pPr marL="625475" lvl="1" indent="0">
              <a:buNone/>
            </a:pPr>
            <a:br>
              <a:rPr lang="en-US" sz="1509" b="1" dirty="0">
                <a:solidFill>
                  <a:schemeClr val="accent1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(18 &lt;= age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age &lt;= 20)</a:t>
            </a:r>
          </a:p>
          <a:p>
            <a:pPr marL="625475" lvl="1" indent="0">
              <a:buNone/>
            </a:pP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625475" lvl="1" indent="0">
              <a:buNone/>
            </a:pP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(…)</a:t>
            </a:r>
          </a:p>
          <a:p>
            <a:pPr marL="625475" lvl="1" indent="0">
              <a:buNone/>
            </a:pP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625475" lvl="1" indent="0">
              <a:buNone/>
            </a:pPr>
            <a:endParaRPr lang="de-A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25475" lvl="1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(age &gt;= 18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&amp;&amp;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age &lt;= 20)</a:t>
            </a:r>
          </a:p>
          <a:p>
            <a:pPr marL="625475" lvl="1" indent="0">
              <a:buNone/>
            </a:pP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625475" lvl="1" indent="0">
              <a:buNone/>
            </a:pP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(…)</a:t>
            </a:r>
          </a:p>
          <a:p>
            <a:pPr marL="625475" lvl="1" indent="0">
              <a:buNone/>
            </a:pP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>
              <a:defRPr sz="1800"/>
            </a:pPr>
            <a:endParaRPr sz="1809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0031" y="125413"/>
            <a:ext cx="8893969" cy="1143000"/>
          </a:xfrm>
        </p:spPr>
        <p:txBody>
          <a:bodyPr/>
          <a:lstStyle/>
          <a:p>
            <a:r>
              <a:rPr lang="de-AT" dirty="0"/>
              <a:t>Verknüpfung von Bedingungen mit &amp;&amp; (</a:t>
            </a:r>
            <a:r>
              <a:rPr lang="de-AT" sz="2800" spc="-90" dirty="0"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  <a:ea typeface="+mn-ea"/>
              </a:rPr>
              <a:t>AND)</a:t>
            </a:r>
            <a:endParaRPr lang="de-AT" sz="2400" spc="-90" dirty="0">
              <a:effectLst>
                <a:outerShdw blurRad="127000" dist="76200" dir="2700000" rotWithShape="0">
                  <a:srgbClr val="000000">
                    <a:alpha val="75000"/>
                  </a:srgbClr>
                </a:outer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491794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 bldLvl="5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250031" y="1205508"/>
            <a:ext cx="8643938" cy="444698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endParaRPr lang="de-A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(age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(&gt;= 18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&lt;= 20))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"You are 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gropwn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 up"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sz="2109" dirty="0">
              <a:latin typeface="Monaco"/>
              <a:ea typeface="Monaco"/>
              <a:cs typeface="Monaco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 in </a:t>
            </a:r>
            <a:r>
              <a:rPr lang="de-AT" dirty="0" err="1"/>
              <a:t>c#</a:t>
            </a:r>
            <a:r>
              <a:rPr lang="de-AT" dirty="0"/>
              <a:t> 9.0</a:t>
            </a:r>
            <a:endParaRPr lang="de-AT" sz="2800" spc="-90" dirty="0">
              <a:effectLst>
                <a:outerShdw blurRad="127000" dist="76200" dir="2700000" rotWithShape="0">
                  <a:srgbClr val="000000">
                    <a:alpha val="75000"/>
                  </a:srgbClr>
                </a:outerShdw>
              </a:effectLst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45355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defRPr sz="1800"/>
            </a:pPr>
            <a:r>
              <a:rPr sz="2109" dirty="0"/>
              <a:t>Situation</a:t>
            </a:r>
          </a:p>
          <a:p>
            <a:pPr lvl="1">
              <a:defRPr sz="1800"/>
            </a:pPr>
            <a:r>
              <a:rPr lang="de-AT" sz="2109" dirty="0"/>
              <a:t>Wenn das Alter entweder </a:t>
            </a:r>
            <a:r>
              <a:rPr sz="2109" dirty="0"/>
              <a:t>25</a:t>
            </a:r>
            <a:r>
              <a:rPr lang="de-AT" sz="2109" dirty="0"/>
              <a:t> oder </a:t>
            </a:r>
            <a:r>
              <a:rPr sz="2109" dirty="0"/>
              <a:t>50</a:t>
            </a:r>
            <a:r>
              <a:rPr lang="de-AT" sz="2109" dirty="0"/>
              <a:t> ist</a:t>
            </a:r>
            <a:r>
              <a:rPr sz="2109" dirty="0"/>
              <a:t>, </a:t>
            </a:r>
            <a:r>
              <a:rPr lang="de-AT" sz="2109" dirty="0"/>
              <a:t>schreiben wir </a:t>
            </a:r>
            <a:r>
              <a:rPr sz="2109" dirty="0"/>
              <a:t>“Congratulations for your round birthday”</a:t>
            </a:r>
          </a:p>
          <a:p>
            <a:pPr lvl="0">
              <a:defRPr sz="1800"/>
            </a:pPr>
            <a:r>
              <a:rPr lang="de-AT" sz="2109" dirty="0"/>
              <a:t>Wieder Mathematik</a:t>
            </a:r>
            <a:endParaRPr sz="2109" dirty="0"/>
          </a:p>
          <a:p>
            <a:pPr lvl="1">
              <a:defRPr sz="1800"/>
            </a:pPr>
            <a:r>
              <a:rPr sz="2109" dirty="0">
                <a:latin typeface="Monaco"/>
                <a:ea typeface="Monaco"/>
                <a:cs typeface="Monaco"/>
                <a:sym typeface="Monaco"/>
              </a:rPr>
              <a:t>if (age == 25 </a:t>
            </a:r>
            <a:r>
              <a:rPr sz="2109" dirty="0">
                <a:solidFill>
                  <a:srgbClr val="FF0000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  <a:latin typeface="Monaco"/>
                <a:ea typeface="Monaco"/>
                <a:cs typeface="Monaco"/>
                <a:sym typeface="Monaco"/>
              </a:rPr>
              <a:t>or</a:t>
            </a:r>
            <a:r>
              <a:rPr sz="2109" dirty="0">
                <a:latin typeface="Monaco"/>
                <a:ea typeface="Monaco"/>
                <a:cs typeface="Monaco"/>
                <a:sym typeface="Monaco"/>
              </a:rPr>
              <a:t> age == 50)</a:t>
            </a:r>
            <a:endParaRPr lang="de-AT" sz="2109" dirty="0">
              <a:latin typeface="Monaco"/>
              <a:ea typeface="Monaco"/>
              <a:cs typeface="Monaco"/>
              <a:sym typeface="Monaco"/>
            </a:endParaRPr>
          </a:p>
          <a:p>
            <a:pPr>
              <a:defRPr sz="1800"/>
            </a:pPr>
            <a:r>
              <a:rPr lang="de-AT" sz="2700" b="1" spc="-90" dirty="0" err="1">
                <a:solidFill>
                  <a:srgbClr val="FF0000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</a:rPr>
              <a:t>or</a:t>
            </a:r>
            <a:r>
              <a:rPr lang="de-AT" sz="2700" b="1" spc="-90" dirty="0">
                <a:solidFill>
                  <a:srgbClr val="1C54F4"/>
                </a:solidFill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</a:rPr>
              <a:t> </a:t>
            </a:r>
            <a:r>
              <a:rPr lang="de-AT" sz="2409" b="1" dirty="0"/>
              <a:t>in C#</a:t>
            </a:r>
            <a:endParaRPr lang="de-AT" sz="2409" b="1" dirty="0">
              <a:sym typeface="Monaco"/>
            </a:endParaRPr>
          </a:p>
          <a:p>
            <a:pPr lvl="1">
              <a:defRPr sz="1800"/>
            </a:pPr>
            <a:endParaRPr lang="de-AT" sz="2109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(age == 25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||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age == 50)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"Congratulations for your round birthday"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sz="2109" dirty="0">
              <a:latin typeface="Monaco"/>
              <a:ea typeface="Monaco"/>
              <a:cs typeface="Monaco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Verknüpfung von Bedingungen mit II (</a:t>
            </a:r>
            <a:r>
              <a:rPr lang="de-AT" sz="2800" spc="-90" dirty="0">
                <a:effectLst>
                  <a:outerShdw blurRad="127000" dist="76200" dir="2700000" rotWithShape="0">
                    <a:srgbClr val="000000">
                      <a:alpha val="75000"/>
                    </a:srgbClr>
                  </a:outerShdw>
                </a:effectLst>
                <a:ea typeface="+mn-ea"/>
              </a:rPr>
              <a:t>OR)</a:t>
            </a:r>
          </a:p>
        </p:txBody>
      </p:sp>
    </p:spTree>
    <p:extLst>
      <p:ext uri="{BB962C8B-B14F-4D97-AF65-F5344CB8AC3E}">
        <p14:creationId xmlns:p14="http://schemas.microsoft.com/office/powerpoint/2010/main" val="271563338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uild="p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7169" y="1261240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Einseitige Verzweigung</a:t>
            </a:r>
          </a:p>
          <a:p>
            <a:r>
              <a:rPr lang="de-AT" dirty="0"/>
              <a:t>Trifft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zu, so werden bestimmte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ausgeführt.</a:t>
            </a:r>
          </a:p>
        </p:txBody>
      </p:sp>
      <p:sp>
        <p:nvSpPr>
          <p:cNvPr id="12" name="Flussdiagramm: Verzweigung 11"/>
          <p:cNvSpPr/>
          <p:nvPr/>
        </p:nvSpPr>
        <p:spPr>
          <a:xfrm>
            <a:off x="2735796" y="2701400"/>
            <a:ext cx="3348371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&lt;Bedingung&gt;</a:t>
            </a: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 flipH="1">
            <a:off x="4409982" y="2197344"/>
            <a:ext cx="1592" cy="50405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winkelte Verbindung 16"/>
          <p:cNvCxnSpPr>
            <a:stCxn id="12" idx="3"/>
          </p:cNvCxnSpPr>
          <p:nvPr/>
        </p:nvCxnSpPr>
        <p:spPr>
          <a:xfrm>
            <a:off x="6084167" y="3079442"/>
            <a:ext cx="289626" cy="1494165"/>
          </a:xfrm>
          <a:prstGeom prst="bentConnector2">
            <a:avLst/>
          </a:prstGeom>
          <a:ln w="2222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0" idx="0"/>
          </p:cNvCxnSpPr>
          <p:nvPr/>
        </p:nvCxnSpPr>
        <p:spPr>
          <a:xfrm rot="10800000" flipV="1">
            <a:off x="2447764" y="3079442"/>
            <a:ext cx="288032" cy="630070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1403018" y="3709512"/>
            <a:ext cx="2089491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&lt;Anweisungen&gt;</a:t>
            </a: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230759" y="2430573"/>
            <a:ext cx="360039" cy="3926028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4428613" y="4573608"/>
            <a:ext cx="0" cy="648072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/>
          <p:cNvSpPr txBox="1"/>
          <p:nvPr/>
        </p:nvSpPr>
        <p:spPr>
          <a:xfrm>
            <a:off x="2341345" y="2764116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5773821" y="2764116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Einseitige Verzweigung</a:t>
            </a:r>
          </a:p>
        </p:txBody>
      </p:sp>
    </p:spTree>
    <p:extLst>
      <p:ext uri="{BB962C8B-B14F-4D97-AF65-F5344CB8AC3E}">
        <p14:creationId xmlns:p14="http://schemas.microsoft.com/office/powerpoint/2010/main" val="2666897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597521" y="1412776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Einseitige Verzweigung</a:t>
            </a:r>
          </a:p>
          <a:p>
            <a:r>
              <a:rPr lang="de-AT" dirty="0"/>
              <a:t>Trifft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zu, so werden bestimmte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ausgeführt.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2409616" y="2276872"/>
            <a:ext cx="2401619" cy="1200329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458337" y="3967896"/>
            <a:ext cx="79095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e-AT">
                <a:solidFill>
                  <a:srgbClr val="000000"/>
                </a:solidFill>
                <a:latin typeface="Consolas" panose="020B0609020204030204" pitchFamily="49" charset="0"/>
              </a:rPr>
              <a:t> input = Console.ReadLine();</a:t>
            </a:r>
          </a:p>
          <a:p>
            <a:r>
              <a:rPr lang="de-AT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AT">
                <a:solidFill>
                  <a:srgbClr val="000000"/>
                </a:solidFill>
                <a:latin typeface="Consolas" panose="020B0609020204030204" pitchFamily="49" charset="0"/>
              </a:rPr>
              <a:t> mark = Convert.ToInt32(input);</a:t>
            </a:r>
          </a:p>
          <a:p>
            <a:r>
              <a:rPr lang="de-AT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>
                <a:solidFill>
                  <a:srgbClr val="000000"/>
                </a:solidFill>
                <a:latin typeface="Consolas" panose="020B0609020204030204" pitchFamily="49" charset="0"/>
              </a:rPr>
              <a:t> (mark &gt; 5)</a:t>
            </a:r>
          </a:p>
          <a:p>
            <a:r>
              <a:rPr lang="de-AT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>
                <a:solidFill>
                  <a:srgbClr val="000000"/>
                </a:solidFill>
                <a:latin typeface="Consolas" panose="020B0609020204030204" pitchFamily="49" charset="0"/>
              </a:rPr>
              <a:t>    Console.WriteLine(</a:t>
            </a:r>
            <a:r>
              <a:rPr lang="de-DE">
                <a:solidFill>
                  <a:srgbClr val="A31515"/>
                </a:solidFill>
                <a:latin typeface="Consolas" panose="020B0609020204030204" pitchFamily="49" charset="0"/>
              </a:rPr>
              <a:t>$"Die Note </a:t>
            </a:r>
            <a:r>
              <a:rPr lang="de-DE">
                <a:solidFill>
                  <a:srgbClr val="000000"/>
                </a:solidFill>
                <a:latin typeface="Consolas" panose="020B0609020204030204" pitchFamily="49" charset="0"/>
              </a:rPr>
              <a:t>{mark}</a:t>
            </a:r>
            <a:r>
              <a:rPr lang="de-DE">
                <a:solidFill>
                  <a:srgbClr val="A31515"/>
                </a:solidFill>
                <a:latin typeface="Consolas" panose="020B0609020204030204" pitchFamily="49" charset="0"/>
              </a:rPr>
              <a:t> ist nicht möglich."</a:t>
            </a:r>
            <a:r>
              <a:rPr lang="de-DE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Einseitige Verzweigung (</a:t>
            </a:r>
            <a:r>
              <a:rPr lang="de-AT" dirty="0" err="1"/>
              <a:t>if</a:t>
            </a:r>
            <a:r>
              <a:rPr lang="de-A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9356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934967" y="1260955"/>
            <a:ext cx="67506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Zweiseitige Verzweigung</a:t>
            </a:r>
          </a:p>
          <a:p>
            <a:r>
              <a:rPr lang="de-AT" dirty="0"/>
              <a:t>Trifft eine </a:t>
            </a:r>
            <a:r>
              <a:rPr lang="de-AT" i="1" dirty="0">
                <a:solidFill>
                  <a:srgbClr val="FF0000"/>
                </a:solidFill>
              </a:rPr>
              <a:t>Bedingung</a:t>
            </a:r>
            <a:r>
              <a:rPr lang="de-AT" dirty="0"/>
              <a:t> zu, so werden </a:t>
            </a:r>
            <a:r>
              <a:rPr lang="de-AT" i="1" dirty="0" err="1">
                <a:solidFill>
                  <a:srgbClr val="CC3300"/>
                </a:solidFill>
              </a:rPr>
              <a:t>Anweisungen_A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ausgeführt,</a:t>
            </a:r>
            <a:br>
              <a:rPr lang="de-AT" dirty="0"/>
            </a:br>
            <a:r>
              <a:rPr lang="de-AT" dirty="0"/>
              <a:t>trifft sie nicht zu, so werden </a:t>
            </a:r>
            <a:r>
              <a:rPr lang="de-AT" i="1" dirty="0" err="1">
                <a:solidFill>
                  <a:srgbClr val="CC3300"/>
                </a:solidFill>
              </a:rPr>
              <a:t>Anweisungen_B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ausgeführt.</a:t>
            </a:r>
          </a:p>
          <a:p>
            <a:endParaRPr lang="de-AT" dirty="0"/>
          </a:p>
          <a:p>
            <a:r>
              <a:rPr lang="de-AT" dirty="0"/>
              <a:t>Programmablaufplan (PAP):</a:t>
            </a:r>
          </a:p>
        </p:txBody>
      </p:sp>
      <p:sp>
        <p:nvSpPr>
          <p:cNvPr id="12" name="Flussdiagramm: Verzweigung 11"/>
          <p:cNvSpPr/>
          <p:nvPr/>
        </p:nvSpPr>
        <p:spPr>
          <a:xfrm>
            <a:off x="2663788" y="2872573"/>
            <a:ext cx="3240360" cy="728642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&lt;Bedingung&gt;</a:t>
            </a: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 flipH="1">
            <a:off x="4283968" y="2328301"/>
            <a:ext cx="1114" cy="544272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0" idx="0"/>
          </p:cNvCxnSpPr>
          <p:nvPr/>
        </p:nvCxnSpPr>
        <p:spPr>
          <a:xfrm rot="10800000" flipV="1">
            <a:off x="2357440" y="3236893"/>
            <a:ext cx="306348" cy="616349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1222999" y="3853243"/>
            <a:ext cx="2268881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Anweisungen_A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149908" y="2564831"/>
            <a:ext cx="360040" cy="3944976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4248594" y="4717339"/>
            <a:ext cx="0" cy="648072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12" idx="3"/>
            <a:endCxn id="21" idx="0"/>
          </p:cNvCxnSpPr>
          <p:nvPr/>
        </p:nvCxnSpPr>
        <p:spPr>
          <a:xfrm>
            <a:off x="5904148" y="3236894"/>
            <a:ext cx="396044" cy="551204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ussdiagramm: Prozess 20"/>
          <p:cNvSpPr/>
          <p:nvPr/>
        </p:nvSpPr>
        <p:spPr>
          <a:xfrm>
            <a:off x="5076056" y="3788098"/>
            <a:ext cx="244827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Anweisungen_B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cxnSp>
        <p:nvCxnSpPr>
          <p:cNvPr id="28" name="Gerade Verbindung 27"/>
          <p:cNvCxnSpPr>
            <a:stCxn id="21" idx="2"/>
          </p:cNvCxnSpPr>
          <p:nvPr/>
        </p:nvCxnSpPr>
        <p:spPr>
          <a:xfrm>
            <a:off x="6300192" y="4292154"/>
            <a:ext cx="2226" cy="425184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2159103" y="2907847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5702542" y="2907847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Zweiseitige Verzweigung (</a:t>
            </a:r>
            <a:r>
              <a:rPr lang="de-AT" dirty="0" err="1"/>
              <a:t>if</a:t>
            </a:r>
            <a:r>
              <a:rPr lang="de-AT" dirty="0"/>
              <a:t> .. </a:t>
            </a:r>
            <a:r>
              <a:rPr lang="de-AT" dirty="0" err="1"/>
              <a:t>else</a:t>
            </a:r>
            <a:r>
              <a:rPr lang="de-A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4635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79612" y="1484784"/>
            <a:ext cx="6176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Zweiseitige Verzweigung</a:t>
            </a:r>
          </a:p>
          <a:p>
            <a:r>
              <a:rPr lang="de-AT" dirty="0"/>
              <a:t>Trifft eine </a:t>
            </a:r>
            <a:r>
              <a:rPr lang="de-AT" i="1" dirty="0">
                <a:solidFill>
                  <a:srgbClr val="FF0000"/>
                </a:solidFill>
              </a:rPr>
              <a:t>Bedingung</a:t>
            </a:r>
            <a:r>
              <a:rPr lang="de-AT" dirty="0"/>
              <a:t> zu, so werden </a:t>
            </a:r>
            <a:r>
              <a:rPr lang="de-AT" i="1" dirty="0" err="1">
                <a:solidFill>
                  <a:srgbClr val="CC3300"/>
                </a:solidFill>
              </a:rPr>
              <a:t>Anweisungen_A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ausgeführt,</a:t>
            </a:r>
            <a:br>
              <a:rPr lang="de-AT" dirty="0"/>
            </a:br>
            <a:r>
              <a:rPr lang="de-AT" dirty="0"/>
              <a:t>trifft sie nicht zu, so werden </a:t>
            </a:r>
            <a:r>
              <a:rPr lang="de-AT" i="1" dirty="0" err="1">
                <a:solidFill>
                  <a:srgbClr val="CC3300"/>
                </a:solidFill>
              </a:rPr>
              <a:t>Anweisungen_B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ausgeführt.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2447764" y="2804735"/>
            <a:ext cx="3312367" cy="2308324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>
                <a:solidFill>
                  <a:srgbClr val="CC3300"/>
                </a:solidFill>
                <a:cs typeface="Courier New" panose="02070309020205020404" pitchFamily="49" charset="0"/>
              </a:rPr>
              <a:t>Anweisungen_A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>
                <a:solidFill>
                  <a:srgbClr val="CC3300"/>
                </a:solidFill>
                <a:cs typeface="Courier New" panose="02070309020205020404" pitchFamily="49" charset="0"/>
              </a:rPr>
              <a:t>Anweisungen_B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Zweiseitige Verzweigung (</a:t>
            </a:r>
            <a:r>
              <a:rPr lang="de-AT" dirty="0" err="1"/>
              <a:t>if</a:t>
            </a:r>
            <a:r>
              <a:rPr lang="de-AT" dirty="0"/>
              <a:t>..</a:t>
            </a:r>
            <a:r>
              <a:rPr lang="de-AT" dirty="0" err="1"/>
              <a:t>else</a:t>
            </a:r>
            <a:r>
              <a:rPr lang="de-A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8570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57200" y="1960377"/>
            <a:ext cx="8686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"Es wurde A gewählt!"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de-A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"Es wurde etwas anderes als A gewählt!"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Zweiseitige Verzweigung - Beispiel</a:t>
            </a:r>
          </a:p>
        </p:txBody>
      </p:sp>
    </p:spTree>
    <p:extLst>
      <p:ext uri="{BB962C8B-B14F-4D97-AF65-F5344CB8AC3E}">
        <p14:creationId xmlns:p14="http://schemas.microsoft.com/office/powerpoint/2010/main" val="145784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de-AT" sz="2109" dirty="0"/>
              <a:t>Wenn das Alter unter </a:t>
            </a:r>
            <a:r>
              <a:rPr sz="2109" dirty="0"/>
              <a:t>18</a:t>
            </a:r>
            <a:r>
              <a:rPr lang="de-AT" sz="2109" dirty="0"/>
              <a:t> ist</a:t>
            </a:r>
            <a:endParaRPr sz="2109" dirty="0"/>
          </a:p>
          <a:p>
            <a:pPr lvl="1">
              <a:defRPr sz="1800"/>
            </a:pPr>
            <a:r>
              <a:rPr lang="de-AT" sz="2109" dirty="0"/>
              <a:t>"</a:t>
            </a:r>
            <a:r>
              <a:rPr sz="2109" dirty="0"/>
              <a:t>In </a:t>
            </a:r>
            <a:r>
              <a:rPr sz="2109" dirty="0" err="1"/>
              <a:t>approx</a:t>
            </a:r>
            <a:r>
              <a:rPr sz="2109" dirty="0"/>
              <a:t> &lt;diff&gt; years you will be grown-up</a:t>
            </a:r>
            <a:r>
              <a:rPr lang="de-AT" sz="2109" dirty="0"/>
              <a:t>"</a:t>
            </a:r>
            <a:endParaRPr sz="2109" dirty="0"/>
          </a:p>
          <a:p>
            <a:pPr lvl="0">
              <a:defRPr sz="1800"/>
            </a:pPr>
            <a:r>
              <a:rPr lang="de-AT" sz="2109" dirty="0"/>
              <a:t>Wenn das Alter zwischen </a:t>
            </a:r>
            <a:r>
              <a:rPr sz="2109" dirty="0"/>
              <a:t>18 </a:t>
            </a:r>
            <a:r>
              <a:rPr lang="de-AT" sz="2109" dirty="0"/>
              <a:t>und </a:t>
            </a:r>
            <a:r>
              <a:rPr sz="2109" dirty="0"/>
              <a:t>20 </a:t>
            </a:r>
            <a:r>
              <a:rPr lang="de-AT" sz="2109" dirty="0"/>
              <a:t>ist</a:t>
            </a:r>
            <a:endParaRPr sz="2109" dirty="0"/>
          </a:p>
          <a:p>
            <a:pPr lvl="1">
              <a:defRPr sz="1800"/>
            </a:pPr>
            <a:r>
              <a:rPr lang="de-AT" sz="2109" dirty="0"/>
              <a:t>"</a:t>
            </a:r>
            <a:r>
              <a:rPr sz="2109" dirty="0"/>
              <a:t>You are grown up</a:t>
            </a:r>
            <a:r>
              <a:rPr lang="de-AT" sz="2109" dirty="0"/>
              <a:t>"</a:t>
            </a:r>
            <a:endParaRPr sz="2109" dirty="0"/>
          </a:p>
          <a:p>
            <a:pPr lvl="0">
              <a:defRPr sz="1800"/>
            </a:pPr>
            <a:r>
              <a:rPr lang="de-AT" sz="2109" dirty="0"/>
              <a:t>Wenn der User noch älter ist</a:t>
            </a:r>
            <a:endParaRPr sz="2109" dirty="0"/>
          </a:p>
          <a:p>
            <a:pPr lvl="1">
              <a:defRPr sz="1800"/>
            </a:pPr>
            <a:r>
              <a:rPr lang="de-AT" sz="2109" dirty="0"/>
              <a:t>"</a:t>
            </a:r>
            <a:r>
              <a:rPr sz="2109" dirty="0"/>
              <a:t>You are too old</a:t>
            </a:r>
            <a:r>
              <a:rPr lang="de-AT" sz="2109" dirty="0"/>
              <a:t>"</a:t>
            </a:r>
            <a:endParaRPr sz="2109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Erweiterung</a:t>
            </a:r>
          </a:p>
        </p:txBody>
      </p:sp>
    </p:spTree>
    <p:extLst>
      <p:ext uri="{BB962C8B-B14F-4D97-AF65-F5344CB8AC3E}">
        <p14:creationId xmlns:p14="http://schemas.microsoft.com/office/powerpoint/2010/main" val="38801875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Verzweigung 11"/>
          <p:cNvSpPr/>
          <p:nvPr/>
        </p:nvSpPr>
        <p:spPr>
          <a:xfrm>
            <a:off x="4163117" y="2757698"/>
            <a:ext cx="2807052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</a:t>
            </a:r>
            <a:r>
              <a:rPr lang="de-AT" i="1" dirty="0" err="1">
                <a:solidFill>
                  <a:srgbClr val="FF0000"/>
                </a:solidFill>
              </a:rPr>
              <a:t>Bed_A</a:t>
            </a:r>
            <a:r>
              <a:rPr lang="de-AT" i="1" dirty="0">
                <a:solidFill>
                  <a:srgbClr val="FF0000"/>
                </a:solidFill>
              </a:rPr>
              <a:t>&gt;</a:t>
            </a: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>
            <a:off x="5566643" y="2456892"/>
            <a:ext cx="0" cy="30080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4" idx="0"/>
          </p:cNvCxnSpPr>
          <p:nvPr/>
        </p:nvCxnSpPr>
        <p:spPr>
          <a:xfrm rot="10800000" flipV="1">
            <a:off x="3503755" y="3135739"/>
            <a:ext cx="659362" cy="530673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862018" y="4617132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Anw_A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305917" y="2276285"/>
            <a:ext cx="360040" cy="6049846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4499992" y="5481228"/>
            <a:ext cx="0" cy="36004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12" idx="3"/>
            <a:endCxn id="46" idx="0"/>
          </p:cNvCxnSpPr>
          <p:nvPr/>
        </p:nvCxnSpPr>
        <p:spPr>
          <a:xfrm>
            <a:off x="6970169" y="3135740"/>
            <a:ext cx="531227" cy="1409384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7510860" y="5049180"/>
            <a:ext cx="0" cy="425184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367547" y="2820414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6910986" y="2820414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24" name="Flussdiagramm: Verzweigung 23"/>
          <p:cNvSpPr/>
          <p:nvPr/>
        </p:nvSpPr>
        <p:spPr>
          <a:xfrm>
            <a:off x="2074885" y="3666413"/>
            <a:ext cx="2857739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</a:t>
            </a:r>
            <a:r>
              <a:rPr lang="de-AT" i="1" dirty="0" err="1">
                <a:solidFill>
                  <a:srgbClr val="FF0000"/>
                </a:solidFill>
              </a:rPr>
              <a:t>Bed_AA</a:t>
            </a:r>
            <a:r>
              <a:rPr lang="de-AT" i="1" dirty="0">
                <a:solidFill>
                  <a:srgbClr val="FF0000"/>
                </a:solidFill>
              </a:rPr>
              <a:t>&gt;</a:t>
            </a:r>
          </a:p>
        </p:txBody>
      </p:sp>
      <p:cxnSp>
        <p:nvCxnSpPr>
          <p:cNvPr id="25" name="Gewinkelte Verbindung 24"/>
          <p:cNvCxnSpPr>
            <a:stCxn id="24" idx="1"/>
            <a:endCxn id="20" idx="0"/>
          </p:cNvCxnSpPr>
          <p:nvPr/>
        </p:nvCxnSpPr>
        <p:spPr>
          <a:xfrm rot="10800000" flipV="1">
            <a:off x="1461015" y="4044454"/>
            <a:ext cx="613871" cy="572677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1424590" y="3729130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cxnSp>
        <p:nvCxnSpPr>
          <p:cNvPr id="42" name="Gewinkelte Verbindung 41"/>
          <p:cNvCxnSpPr>
            <a:stCxn id="24" idx="3"/>
            <a:endCxn id="47" idx="0"/>
          </p:cNvCxnSpPr>
          <p:nvPr/>
        </p:nvCxnSpPr>
        <p:spPr>
          <a:xfrm>
            <a:off x="4932624" y="4044455"/>
            <a:ext cx="564942" cy="500669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4860032" y="3743744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46" name="Flussdiagramm: Prozess 45"/>
          <p:cNvSpPr/>
          <p:nvPr/>
        </p:nvSpPr>
        <p:spPr>
          <a:xfrm>
            <a:off x="6902400" y="4545124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Anw_C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sp>
        <p:nvSpPr>
          <p:cNvPr id="47" name="Flussdiagramm: Prozess 46"/>
          <p:cNvSpPr/>
          <p:nvPr/>
        </p:nvSpPr>
        <p:spPr>
          <a:xfrm>
            <a:off x="4898570" y="4545124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Anw_B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cxnSp>
        <p:nvCxnSpPr>
          <p:cNvPr id="61" name="Gerade Verbindung 60"/>
          <p:cNvCxnSpPr/>
          <p:nvPr/>
        </p:nvCxnSpPr>
        <p:spPr>
          <a:xfrm>
            <a:off x="5508104" y="5049180"/>
            <a:ext cx="0" cy="425184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971600" y="1376772"/>
            <a:ext cx="60864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Einschränkung</a:t>
            </a:r>
          </a:p>
          <a:p>
            <a:r>
              <a:rPr lang="de-AT" dirty="0"/>
              <a:t>Eine Bedingung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dirty="0" err="1">
                <a:solidFill>
                  <a:srgbClr val="FF0000"/>
                </a:solidFill>
              </a:rPr>
              <a:t>Bed_A</a:t>
            </a:r>
            <a:r>
              <a:rPr lang="de-AT" dirty="0">
                <a:solidFill>
                  <a:srgbClr val="FF0000"/>
                </a:solidFill>
              </a:rPr>
              <a:t>&gt;</a:t>
            </a:r>
            <a:r>
              <a:rPr lang="de-AT" dirty="0"/>
              <a:t> wird noch einmal genauer durch eine </a:t>
            </a:r>
            <a:br>
              <a:rPr lang="de-AT" dirty="0"/>
            </a:br>
            <a:r>
              <a:rPr lang="de-AT" dirty="0"/>
              <a:t>Bedingung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dirty="0" err="1">
                <a:solidFill>
                  <a:srgbClr val="FF0000"/>
                </a:solidFill>
              </a:rPr>
              <a:t>Bed_AA</a:t>
            </a:r>
            <a:r>
              <a:rPr lang="de-AT" dirty="0">
                <a:solidFill>
                  <a:srgbClr val="FF0000"/>
                </a:solidFill>
              </a:rPr>
              <a:t>&gt;</a:t>
            </a:r>
            <a:r>
              <a:rPr lang="de-AT" dirty="0"/>
              <a:t> geprüft.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Verschachtelung von Verzweigungen</a:t>
            </a:r>
          </a:p>
        </p:txBody>
      </p:sp>
    </p:spTree>
    <p:extLst>
      <p:ext uri="{BB962C8B-B14F-4D97-AF65-F5344CB8AC3E}">
        <p14:creationId xmlns:p14="http://schemas.microsoft.com/office/powerpoint/2010/main" val="2896713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feld 61"/>
          <p:cNvSpPr txBox="1"/>
          <p:nvPr/>
        </p:nvSpPr>
        <p:spPr>
          <a:xfrm>
            <a:off x="991375" y="126876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Beispiel</a:t>
            </a:r>
          </a:p>
        </p:txBody>
      </p:sp>
      <p:sp>
        <p:nvSpPr>
          <p:cNvPr id="29" name="Rechteck 28"/>
          <p:cNvSpPr/>
          <p:nvPr/>
        </p:nvSpPr>
        <p:spPr>
          <a:xfrm>
            <a:off x="1007604" y="1756964"/>
            <a:ext cx="73448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"H"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"Hauptschule! Alter ?"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input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= Convert.ToInt32(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input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== 7)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"1.Klasse Hauptschule"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    ...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Verschachtelung von Verzweigungen </a:t>
            </a:r>
          </a:p>
        </p:txBody>
      </p:sp>
    </p:spTree>
    <p:extLst>
      <p:ext uri="{BB962C8B-B14F-4D97-AF65-F5344CB8AC3E}">
        <p14:creationId xmlns:p14="http://schemas.microsoft.com/office/powerpoint/2010/main" val="306850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Verzweigung 11"/>
          <p:cNvSpPr/>
          <p:nvPr/>
        </p:nvSpPr>
        <p:spPr>
          <a:xfrm>
            <a:off x="2483768" y="2706299"/>
            <a:ext cx="2807052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</a:t>
            </a:r>
            <a:r>
              <a:rPr lang="de-AT" i="1" dirty="0" err="1">
                <a:solidFill>
                  <a:srgbClr val="FF0000"/>
                </a:solidFill>
              </a:rPr>
              <a:t>Bed_A</a:t>
            </a:r>
            <a:r>
              <a:rPr lang="de-AT" i="1" dirty="0">
                <a:solidFill>
                  <a:srgbClr val="FF0000"/>
                </a:solidFill>
              </a:rPr>
              <a:t>&gt;</a:t>
            </a: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>
            <a:off x="3887294" y="2333485"/>
            <a:ext cx="0" cy="372814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0" idx="0"/>
          </p:cNvCxnSpPr>
          <p:nvPr/>
        </p:nvCxnSpPr>
        <p:spPr>
          <a:xfrm rot="10800000" flipV="1">
            <a:off x="1869898" y="3084341"/>
            <a:ext cx="613871" cy="1481392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1270901" y="4565733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Anw_A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649643" y="2290042"/>
            <a:ext cx="360042" cy="5919535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5004048" y="5429829"/>
            <a:ext cx="0" cy="432048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12" idx="3"/>
            <a:endCxn id="24" idx="0"/>
          </p:cNvCxnSpPr>
          <p:nvPr/>
        </p:nvCxnSpPr>
        <p:spPr>
          <a:xfrm>
            <a:off x="5290820" y="3084341"/>
            <a:ext cx="660623" cy="530673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>
            <a:stCxn id="47" idx="2"/>
          </p:cNvCxnSpPr>
          <p:nvPr/>
        </p:nvCxnSpPr>
        <p:spPr>
          <a:xfrm>
            <a:off x="7789428" y="5069789"/>
            <a:ext cx="4" cy="36004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1907704" y="2769015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5220072" y="276901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24" name="Flussdiagramm: Verzweigung 23"/>
          <p:cNvSpPr/>
          <p:nvPr/>
        </p:nvSpPr>
        <p:spPr>
          <a:xfrm>
            <a:off x="4522573" y="3615014"/>
            <a:ext cx="2857739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</a:t>
            </a:r>
            <a:r>
              <a:rPr lang="de-AT" i="1" dirty="0" err="1">
                <a:solidFill>
                  <a:srgbClr val="FF0000"/>
                </a:solidFill>
              </a:rPr>
              <a:t>Bed_B</a:t>
            </a:r>
            <a:r>
              <a:rPr lang="de-AT" i="1" dirty="0">
                <a:solidFill>
                  <a:srgbClr val="FF0000"/>
                </a:solidFill>
              </a:rPr>
              <a:t>&gt;</a:t>
            </a:r>
          </a:p>
        </p:txBody>
      </p:sp>
      <p:cxnSp>
        <p:nvCxnSpPr>
          <p:cNvPr id="25" name="Gewinkelte Verbindung 24"/>
          <p:cNvCxnSpPr>
            <a:stCxn id="24" idx="1"/>
            <a:endCxn id="46" idx="0"/>
          </p:cNvCxnSpPr>
          <p:nvPr/>
        </p:nvCxnSpPr>
        <p:spPr>
          <a:xfrm rot="10800000" flipV="1">
            <a:off x="3982235" y="3993055"/>
            <a:ext cx="540339" cy="572677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3923928" y="3677731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cxnSp>
        <p:nvCxnSpPr>
          <p:cNvPr id="42" name="Gewinkelte Verbindung 41"/>
          <p:cNvCxnSpPr>
            <a:endCxn id="47" idx="0"/>
          </p:cNvCxnSpPr>
          <p:nvPr/>
        </p:nvCxnSpPr>
        <p:spPr>
          <a:xfrm>
            <a:off x="7380312" y="3993056"/>
            <a:ext cx="409116" cy="572677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7236296" y="369234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46" name="Flussdiagramm: Prozess 45"/>
          <p:cNvSpPr/>
          <p:nvPr/>
        </p:nvSpPr>
        <p:spPr>
          <a:xfrm>
            <a:off x="3383238" y="4565733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Anw_B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sp>
        <p:nvSpPr>
          <p:cNvPr id="47" name="Flussdiagramm: Prozess 46"/>
          <p:cNvSpPr/>
          <p:nvPr/>
        </p:nvSpPr>
        <p:spPr>
          <a:xfrm>
            <a:off x="7190432" y="4565733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</a:t>
            </a:r>
            <a:r>
              <a:rPr lang="de-AT" i="1" dirty="0" err="1">
                <a:solidFill>
                  <a:srgbClr val="CC3300"/>
                </a:solidFill>
              </a:rPr>
              <a:t>Anw_C</a:t>
            </a:r>
            <a:r>
              <a:rPr lang="de-AT" i="1" dirty="0">
                <a:solidFill>
                  <a:srgbClr val="CC3300"/>
                </a:solidFill>
              </a:rPr>
              <a:t>&gt;</a:t>
            </a:r>
          </a:p>
        </p:txBody>
      </p:sp>
      <p:cxnSp>
        <p:nvCxnSpPr>
          <p:cNvPr id="41" name="Gerade Verbindung 40"/>
          <p:cNvCxnSpPr>
            <a:stCxn id="46" idx="2"/>
          </p:cNvCxnSpPr>
          <p:nvPr/>
        </p:nvCxnSpPr>
        <p:spPr>
          <a:xfrm>
            <a:off x="3982234" y="5069789"/>
            <a:ext cx="0" cy="36004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/>
          <p:cNvSpPr txBox="1"/>
          <p:nvPr/>
        </p:nvSpPr>
        <p:spPr>
          <a:xfrm>
            <a:off x="1331640" y="1397381"/>
            <a:ext cx="5897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Alternative (</a:t>
            </a:r>
            <a:r>
              <a:rPr lang="de-AT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else-if</a:t>
            </a:r>
            <a:r>
              <a:rPr lang="de-AT" b="1" i="1" dirty="0"/>
              <a:t> Kette</a:t>
            </a:r>
            <a:r>
              <a:rPr lang="de-AT" dirty="0"/>
              <a:t>)</a:t>
            </a:r>
          </a:p>
          <a:p>
            <a:r>
              <a:rPr lang="de-AT" dirty="0"/>
              <a:t>Es gibt mehr als zwei Alternativen zur Programmausführung 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Verschachtelung von Verzweigungen</a:t>
            </a:r>
          </a:p>
        </p:txBody>
      </p:sp>
    </p:spTree>
    <p:extLst>
      <p:ext uri="{BB962C8B-B14F-4D97-AF65-F5344CB8AC3E}">
        <p14:creationId xmlns:p14="http://schemas.microsoft.com/office/powerpoint/2010/main" val="848412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feld 48"/>
          <p:cNvSpPr txBox="1"/>
          <p:nvPr/>
        </p:nvSpPr>
        <p:spPr>
          <a:xfrm>
            <a:off x="1138023" y="1084094"/>
            <a:ext cx="2975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Alternative (</a:t>
            </a:r>
            <a:r>
              <a:rPr lang="de-AT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else-if</a:t>
            </a:r>
            <a:r>
              <a:rPr lang="de-AT" b="1" i="1" dirty="0"/>
              <a:t> Kette</a:t>
            </a:r>
            <a:r>
              <a:rPr lang="de-AT" dirty="0"/>
              <a:t>)</a:t>
            </a:r>
          </a:p>
        </p:txBody>
      </p:sp>
      <p:sp>
        <p:nvSpPr>
          <p:cNvPr id="29" name="Rechteck 28"/>
          <p:cNvSpPr/>
          <p:nvPr/>
        </p:nvSpPr>
        <p:spPr>
          <a:xfrm>
            <a:off x="1155165" y="1456571"/>
            <a:ext cx="77408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"A"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"AHS"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"B"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"Hauptschule"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choice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"Neue Mittelschule"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de-AT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de-A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dirty="0">
                <a:solidFill>
                  <a:srgbClr val="A31515"/>
                </a:solidFill>
                <a:latin typeface="Consolas" panose="020B0609020204030204" pitchFamily="49" charset="0"/>
              </a:rPr>
              <a:t>"ungültige Eingabe"</a:t>
            </a:r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AT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 </a:t>
            </a:r>
            <a:r>
              <a:rPr lang="de-AT" dirty="0" err="1"/>
              <a:t>else-if</a:t>
            </a:r>
            <a:r>
              <a:rPr lang="de-AT" dirty="0"/>
              <a:t> Kette</a:t>
            </a:r>
          </a:p>
        </p:txBody>
      </p:sp>
    </p:spTree>
    <p:extLst>
      <p:ext uri="{BB962C8B-B14F-4D97-AF65-F5344CB8AC3E}">
        <p14:creationId xmlns:p14="http://schemas.microsoft.com/office/powerpoint/2010/main" val="345321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Legende 9"/>
          <p:cNvSpPr/>
          <p:nvPr/>
        </p:nvSpPr>
        <p:spPr>
          <a:xfrm>
            <a:off x="3301516" y="3284984"/>
            <a:ext cx="5770984" cy="360040"/>
          </a:xfrm>
          <a:prstGeom prst="wedgeEllipseCallout">
            <a:avLst>
              <a:gd name="adj1" fmla="val 9830"/>
              <a:gd name="adj2" fmla="val -1654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/>
              <a:t>Lauter sprechen, hört nicht mehr so gut …</a:t>
            </a:r>
          </a:p>
        </p:txBody>
      </p:sp>
      <p:sp>
        <p:nvSpPr>
          <p:cNvPr id="9" name="Ovale Legende 8"/>
          <p:cNvSpPr/>
          <p:nvPr/>
        </p:nvSpPr>
        <p:spPr>
          <a:xfrm>
            <a:off x="7853272" y="1052736"/>
            <a:ext cx="1261629" cy="396044"/>
          </a:xfrm>
          <a:prstGeom prst="wedgeEllipseCallout">
            <a:avLst>
              <a:gd name="adj1" fmla="val -49165"/>
              <a:gd name="adj2" fmla="val 17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/>
              <a:t>Mother?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xfrm>
            <a:off x="250031" y="1160748"/>
            <a:ext cx="8643938" cy="5384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de-AT" sz="2109" dirty="0"/>
              <a:t>Neue Anforderungen</a:t>
            </a:r>
            <a:endParaRPr sz="2109" dirty="0"/>
          </a:p>
          <a:p>
            <a:pPr lvl="1">
              <a:defRPr sz="1800"/>
            </a:pPr>
            <a:r>
              <a:rPr lang="de-AT" sz="1800" dirty="0"/>
              <a:t>Wenn das Alter </a:t>
            </a:r>
            <a:r>
              <a:rPr sz="1800" dirty="0"/>
              <a:t>15 </a:t>
            </a:r>
            <a:r>
              <a:rPr lang="de-AT" sz="1800" dirty="0"/>
              <a:t>ist schreiben wir</a:t>
            </a:r>
            <a:r>
              <a:rPr sz="1800" dirty="0"/>
              <a:t> “Hey, you could be my brother”</a:t>
            </a:r>
          </a:p>
          <a:p>
            <a:pPr lvl="1">
              <a:defRPr sz="1800"/>
            </a:pPr>
            <a:r>
              <a:rPr lang="de-AT" sz="1800" dirty="0"/>
              <a:t>Wenn das Alter </a:t>
            </a:r>
            <a:r>
              <a:rPr sz="1800" dirty="0"/>
              <a:t>40 </a:t>
            </a:r>
            <a:r>
              <a:rPr lang="de-AT" sz="1800" dirty="0"/>
              <a:t>ist schreiben wir </a:t>
            </a:r>
            <a:r>
              <a:rPr sz="1800" dirty="0"/>
              <a:t>“Hey, you could be my father”</a:t>
            </a:r>
          </a:p>
          <a:p>
            <a:pPr lvl="1">
              <a:defRPr sz="1800"/>
            </a:pPr>
            <a:r>
              <a:rPr lang="de-AT" sz="1800" dirty="0"/>
              <a:t>Wenn das Alter </a:t>
            </a:r>
            <a:r>
              <a:rPr sz="1800" dirty="0"/>
              <a:t>65 </a:t>
            </a:r>
            <a:r>
              <a:rPr lang="de-AT" sz="1800" dirty="0"/>
              <a:t>ist schreiben wir </a:t>
            </a:r>
            <a:r>
              <a:rPr sz="1800" dirty="0"/>
              <a:t>“Hey, you could be my grand father”</a:t>
            </a:r>
          </a:p>
          <a:p>
            <a:pPr lvl="1">
              <a:defRPr sz="1800"/>
            </a:pPr>
            <a:r>
              <a:rPr lang="de-AT" sz="1800" dirty="0"/>
              <a:t>Wenn das Alter </a:t>
            </a:r>
            <a:r>
              <a:rPr sz="1800" dirty="0"/>
              <a:t>80 </a:t>
            </a:r>
            <a:r>
              <a:rPr lang="de-AT" sz="1800" dirty="0"/>
              <a:t>ist schreiben wir </a:t>
            </a:r>
            <a:r>
              <a:rPr sz="1800" dirty="0"/>
              <a:t>“HEY, GRAND </a:t>
            </a:r>
            <a:r>
              <a:rPr sz="1800" dirty="0" err="1"/>
              <a:t>GRAND</a:t>
            </a:r>
            <a:r>
              <a:rPr sz="1800" dirty="0"/>
              <a:t> FATHER!!”</a:t>
            </a:r>
          </a:p>
          <a:p>
            <a:pPr lvl="1">
              <a:defRPr sz="1800"/>
            </a:pPr>
            <a:r>
              <a:rPr lang="de-AT" sz="1800" dirty="0"/>
              <a:t>Andernfalls schreiben wir </a:t>
            </a:r>
            <a:r>
              <a:rPr sz="1800" dirty="0"/>
              <a:t>“No silly comment available for your age”</a:t>
            </a:r>
            <a:endParaRPr lang="de-AT" sz="1800" dirty="0"/>
          </a:p>
          <a:p>
            <a:pPr lvl="1">
              <a:defRPr sz="1800"/>
            </a:pPr>
            <a:endParaRPr lang="de-AT" sz="1800" dirty="0"/>
          </a:p>
          <a:p>
            <a:pPr lvl="1">
              <a:defRPr sz="1800"/>
            </a:pPr>
            <a:endParaRPr lang="de-AT" sz="1800" dirty="0"/>
          </a:p>
          <a:p>
            <a:pPr>
              <a:defRPr sz="1800"/>
            </a:pPr>
            <a:r>
              <a:rPr lang="de-AT" sz="2100" dirty="0"/>
              <a:t>Lösung mit </a:t>
            </a:r>
            <a:r>
              <a:rPr lang="de-AT" sz="2100" dirty="0" err="1"/>
              <a:t>if</a:t>
            </a:r>
            <a:r>
              <a:rPr lang="de-AT" sz="2100" dirty="0"/>
              <a:t>?</a:t>
            </a:r>
          </a:p>
          <a:p>
            <a:pPr lvl="1">
              <a:defRPr sz="1800"/>
            </a:pPr>
            <a:r>
              <a:rPr lang="de-AT" sz="1800" dirty="0"/>
              <a:t>Naja, es ist möglich</a:t>
            </a:r>
          </a:p>
          <a:p>
            <a:pPr lvl="1">
              <a:defRPr sz="1800"/>
            </a:pPr>
            <a:r>
              <a:rPr lang="de-AT" sz="1800" dirty="0"/>
              <a:t>Aber besser mit Switch!</a:t>
            </a:r>
          </a:p>
          <a:p>
            <a:pPr lvl="1">
              <a:defRPr sz="1800"/>
            </a:pPr>
            <a:endParaRPr sz="18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Noch mehr Varianten</a:t>
            </a:r>
          </a:p>
        </p:txBody>
      </p:sp>
      <p:sp>
        <p:nvSpPr>
          <p:cNvPr id="3" name="Ovale Legende 2"/>
          <p:cNvSpPr/>
          <p:nvPr/>
        </p:nvSpPr>
        <p:spPr>
          <a:xfrm>
            <a:off x="5472100" y="1016732"/>
            <a:ext cx="1656184" cy="324036"/>
          </a:xfrm>
          <a:prstGeom prst="wedgeEllipseCallout">
            <a:avLst>
              <a:gd name="adj1" fmla="val 51066"/>
              <a:gd name="adj2" fmla="val 133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 err="1"/>
              <a:t>or</a:t>
            </a:r>
            <a:r>
              <a:rPr lang="de-AT" sz="1600" dirty="0"/>
              <a:t> </a:t>
            </a:r>
            <a:r>
              <a:rPr lang="de-AT" sz="1600" dirty="0" err="1"/>
              <a:t>sister</a:t>
            </a:r>
            <a:r>
              <a:rPr lang="de-AT" sz="1600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65531529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7" grpId="0" uiExpand="1" build="p" bldLvl="5" animBg="1" advAuto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/>
          </p:cNvSpPr>
          <p:nvPr>
            <p:ph type="body" idx="1"/>
          </p:nvPr>
        </p:nvSpPr>
        <p:spPr>
          <a:xfrm>
            <a:off x="250031" y="1124744"/>
            <a:ext cx="8643938" cy="542071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de-AT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AT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15: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"Hey you could be my brother"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e-AT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40: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"Hey you could be my father"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e-AT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de-AT" sz="200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de-AT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de-AT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e-AT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AT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AT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No</a:t>
            </a:r>
            <a:r>
              <a:rPr lang="de-AT" sz="2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AT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silly</a:t>
            </a:r>
            <a:r>
              <a:rPr lang="de-AT" sz="2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AT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comment</a:t>
            </a:r>
            <a:r>
              <a:rPr lang="de-AT" sz="2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AT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available</a:t>
            </a:r>
            <a:r>
              <a:rPr lang="de-AT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de-AT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de-AT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spcBef>
                <a:spcPts val="1125"/>
              </a:spcBef>
              <a:buSzTx/>
              <a:buNone/>
              <a:defRPr sz="1800"/>
            </a:pPr>
            <a:endParaRPr sz="2109" dirty="0">
              <a:latin typeface="Monaco"/>
              <a:ea typeface="Monaco"/>
              <a:cs typeface="Monaco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Switch in C#</a:t>
            </a:r>
          </a:p>
        </p:txBody>
      </p:sp>
      <p:sp>
        <p:nvSpPr>
          <p:cNvPr id="3" name="Ovale Legende 2"/>
          <p:cNvSpPr/>
          <p:nvPr/>
        </p:nvSpPr>
        <p:spPr>
          <a:xfrm>
            <a:off x="3131840" y="3835102"/>
            <a:ext cx="3636404" cy="576064"/>
          </a:xfrm>
          <a:prstGeom prst="wedgeEllipseCallout">
            <a:avLst>
              <a:gd name="adj1" fmla="val -89388"/>
              <a:gd name="adj2" fmla="val 257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600" dirty="0"/>
              <a:t>Gleiches Muster für die anderen Fälle</a:t>
            </a:r>
          </a:p>
        </p:txBody>
      </p:sp>
    </p:spTree>
    <p:extLst>
      <p:ext uri="{BB962C8B-B14F-4D97-AF65-F5344CB8AC3E}">
        <p14:creationId xmlns:p14="http://schemas.microsoft.com/office/powerpoint/2010/main" val="316437963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uiExpand="1" build="p" bldLvl="5" animBg="1" advAuto="0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Verzweigung 11"/>
          <p:cNvSpPr/>
          <p:nvPr/>
        </p:nvSpPr>
        <p:spPr>
          <a:xfrm>
            <a:off x="1080242" y="2103654"/>
            <a:ext cx="2952328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= &lt;Wert_1&gt;</a:t>
            </a:r>
          </a:p>
        </p:txBody>
      </p:sp>
      <p:cxnSp>
        <p:nvCxnSpPr>
          <p:cNvPr id="14" name="Gerade Verbindung mit Pfeil 13"/>
          <p:cNvCxnSpPr>
            <a:stCxn id="24" idx="2"/>
            <a:endCxn id="12" idx="0"/>
          </p:cNvCxnSpPr>
          <p:nvPr/>
        </p:nvCxnSpPr>
        <p:spPr>
          <a:xfrm>
            <a:off x="2556406" y="1772816"/>
            <a:ext cx="0" cy="330838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>
            <a:stCxn id="12" idx="2"/>
            <a:endCxn id="47" idx="0"/>
          </p:cNvCxnSpPr>
          <p:nvPr/>
        </p:nvCxnSpPr>
        <p:spPr>
          <a:xfrm>
            <a:off x="2556406" y="2859738"/>
            <a:ext cx="2816" cy="325203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ussdiagramm: Prozess 20"/>
          <p:cNvSpPr/>
          <p:nvPr/>
        </p:nvSpPr>
        <p:spPr>
          <a:xfrm>
            <a:off x="4734810" y="2191115"/>
            <a:ext cx="2089491" cy="624219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&lt;Anweisungen_1&gt;</a:t>
            </a:r>
          </a:p>
          <a:p>
            <a:pPr algn="ctr"/>
            <a:r>
              <a:rPr lang="de-AT" i="1" dirty="0">
                <a:solidFill>
                  <a:srgbClr val="00B050"/>
                </a:solidFill>
              </a:rPr>
              <a:t>[ break ]</a:t>
            </a:r>
          </a:p>
        </p:txBody>
      </p:sp>
      <p:cxnSp>
        <p:nvCxnSpPr>
          <p:cNvPr id="28" name="Gerade Verbindung 27"/>
          <p:cNvCxnSpPr>
            <a:stCxn id="21" idx="2"/>
            <a:endCxn id="49" idx="0"/>
          </p:cNvCxnSpPr>
          <p:nvPr/>
        </p:nvCxnSpPr>
        <p:spPr>
          <a:xfrm>
            <a:off x="5779556" y="2815334"/>
            <a:ext cx="2816" cy="458785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870937" y="2042880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2575124" y="280937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24" name="Flussdiagramm: Prozess 23"/>
          <p:cNvSpPr/>
          <p:nvPr/>
        </p:nvSpPr>
        <p:spPr>
          <a:xfrm>
            <a:off x="1511660" y="1268760"/>
            <a:ext cx="2089491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&lt;Ausdruck&gt;</a:t>
            </a:r>
          </a:p>
        </p:txBody>
      </p:sp>
      <p:cxnSp>
        <p:nvCxnSpPr>
          <p:cNvPr id="44" name="Gerade Verbindung mit Pfeil 43"/>
          <p:cNvCxnSpPr>
            <a:stCxn id="12" idx="3"/>
            <a:endCxn id="21" idx="1"/>
          </p:cNvCxnSpPr>
          <p:nvPr/>
        </p:nvCxnSpPr>
        <p:spPr>
          <a:xfrm>
            <a:off x="4032570" y="2481696"/>
            <a:ext cx="702240" cy="21529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ussdiagramm: Verzweigung 46"/>
          <p:cNvSpPr/>
          <p:nvPr/>
        </p:nvSpPr>
        <p:spPr>
          <a:xfrm>
            <a:off x="1083058" y="3184941"/>
            <a:ext cx="2952328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FF0000"/>
                </a:solidFill>
              </a:rPr>
              <a:t>= &lt;Wert_2&gt;</a:t>
            </a:r>
          </a:p>
        </p:txBody>
      </p:sp>
      <p:cxnSp>
        <p:nvCxnSpPr>
          <p:cNvPr id="48" name="Gerade Verbindung mit Pfeil 47"/>
          <p:cNvCxnSpPr>
            <a:stCxn id="47" idx="2"/>
            <a:endCxn id="32" idx="0"/>
          </p:cNvCxnSpPr>
          <p:nvPr/>
        </p:nvCxnSpPr>
        <p:spPr>
          <a:xfrm>
            <a:off x="2559222" y="3941025"/>
            <a:ext cx="457" cy="296755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ussdiagramm: Prozess 48"/>
          <p:cNvSpPr/>
          <p:nvPr/>
        </p:nvSpPr>
        <p:spPr>
          <a:xfrm>
            <a:off x="4737626" y="3274119"/>
            <a:ext cx="2089491" cy="57479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&lt;Anweisungen_2&gt;</a:t>
            </a:r>
          </a:p>
          <a:p>
            <a:pPr algn="ctr"/>
            <a:r>
              <a:rPr lang="de-AT" i="1" dirty="0">
                <a:solidFill>
                  <a:srgbClr val="00B050"/>
                </a:solidFill>
              </a:rPr>
              <a:t> [ break ]</a:t>
            </a:r>
            <a:endParaRPr lang="de-AT" i="1" dirty="0">
              <a:solidFill>
                <a:srgbClr val="CC3300"/>
              </a:solidFill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3921459" y="3068510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True</a:t>
            </a:r>
          </a:p>
        </p:txBody>
      </p:sp>
      <p:cxnSp>
        <p:nvCxnSpPr>
          <p:cNvPr id="52" name="Gerade Verbindung mit Pfeil 51"/>
          <p:cNvCxnSpPr>
            <a:stCxn id="47" idx="3"/>
            <a:endCxn id="49" idx="1"/>
          </p:cNvCxnSpPr>
          <p:nvPr/>
        </p:nvCxnSpPr>
        <p:spPr>
          <a:xfrm flipV="1">
            <a:off x="4035386" y="3561517"/>
            <a:ext cx="702240" cy="146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ussdiagramm: Prozess 54"/>
          <p:cNvSpPr/>
          <p:nvPr/>
        </p:nvSpPr>
        <p:spPr>
          <a:xfrm>
            <a:off x="4738084" y="4571723"/>
            <a:ext cx="2089491" cy="624219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>
                <a:solidFill>
                  <a:srgbClr val="CC3300"/>
                </a:solidFill>
              </a:rPr>
              <a:t>[ &lt;Standard-Anweisungen&gt; ]</a:t>
            </a:r>
          </a:p>
        </p:txBody>
      </p:sp>
      <p:cxnSp>
        <p:nvCxnSpPr>
          <p:cNvPr id="63" name="Gerade Verbindung 62"/>
          <p:cNvCxnSpPr>
            <a:stCxn id="49" idx="2"/>
            <a:endCxn id="55" idx="0"/>
          </p:cNvCxnSpPr>
          <p:nvPr/>
        </p:nvCxnSpPr>
        <p:spPr>
          <a:xfrm>
            <a:off x="5782372" y="3848915"/>
            <a:ext cx="458" cy="722808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/>
          <p:cNvCxnSpPr>
            <a:stCxn id="49" idx="3"/>
          </p:cNvCxnSpPr>
          <p:nvPr/>
        </p:nvCxnSpPr>
        <p:spPr>
          <a:xfrm>
            <a:off x="6827117" y="3561517"/>
            <a:ext cx="680645" cy="0"/>
          </a:xfrm>
          <a:prstGeom prst="straightConnector1">
            <a:avLst/>
          </a:prstGeom>
          <a:ln w="2222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/>
          <p:cNvSpPr txBox="1"/>
          <p:nvPr/>
        </p:nvSpPr>
        <p:spPr>
          <a:xfrm>
            <a:off x="2258090" y="4237780"/>
            <a:ext cx="603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usw.</a:t>
            </a:r>
          </a:p>
        </p:txBody>
      </p:sp>
      <p:cxnSp>
        <p:nvCxnSpPr>
          <p:cNvPr id="81" name="Gewinkelte Verbindung 80"/>
          <p:cNvCxnSpPr>
            <a:stCxn id="32" idx="2"/>
            <a:endCxn id="55" idx="1"/>
          </p:cNvCxnSpPr>
          <p:nvPr/>
        </p:nvCxnSpPr>
        <p:spPr>
          <a:xfrm rot="16200000" flipH="1">
            <a:off x="3510521" y="3656269"/>
            <a:ext cx="276721" cy="2178405"/>
          </a:xfrm>
          <a:prstGeom prst="bentConnector2">
            <a:avLst/>
          </a:prstGeom>
          <a:ln w="2222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winkelte Verbindung 37"/>
          <p:cNvCxnSpPr>
            <a:stCxn id="21" idx="3"/>
          </p:cNvCxnSpPr>
          <p:nvPr/>
        </p:nvCxnSpPr>
        <p:spPr>
          <a:xfrm>
            <a:off x="6824301" y="2503225"/>
            <a:ext cx="683461" cy="2380608"/>
          </a:xfrm>
          <a:prstGeom prst="bentConnector2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winkelte Verbindung 41"/>
          <p:cNvCxnSpPr>
            <a:stCxn id="55" idx="3"/>
          </p:cNvCxnSpPr>
          <p:nvPr/>
        </p:nvCxnSpPr>
        <p:spPr>
          <a:xfrm>
            <a:off x="6827575" y="4883833"/>
            <a:ext cx="680187" cy="618733"/>
          </a:xfrm>
          <a:prstGeom prst="bentConnector3">
            <a:avLst>
              <a:gd name="adj1" fmla="val 100267"/>
            </a:avLst>
          </a:prstGeom>
          <a:ln w="2222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96"/>
          <p:cNvSpPr txBox="1"/>
          <p:nvPr/>
        </p:nvSpPr>
        <p:spPr>
          <a:xfrm>
            <a:off x="2624161" y="383638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False</a:t>
            </a: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Mehrfachverzweigung (</a:t>
            </a:r>
            <a:r>
              <a:rPr lang="de-AT" dirty="0" err="1"/>
              <a:t>switch</a:t>
            </a:r>
            <a:r>
              <a:rPr lang="de-A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6038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268760"/>
            <a:ext cx="82157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Ergibt die Auswertung von </a:t>
            </a:r>
            <a:r>
              <a:rPr lang="de-AT" i="1" dirty="0">
                <a:solidFill>
                  <a:srgbClr val="FF0000"/>
                </a:solidFill>
              </a:rPr>
              <a:t>Ausdruck</a:t>
            </a:r>
            <a:r>
              <a:rPr lang="de-AT" dirty="0"/>
              <a:t> den Wert </a:t>
            </a:r>
            <a:r>
              <a:rPr lang="de-AT" i="1" dirty="0" err="1">
                <a:solidFill>
                  <a:srgbClr val="CC3300"/>
                </a:solidFill>
                <a:cs typeface="Courier New" panose="02070309020205020404" pitchFamily="49" charset="0"/>
              </a:rPr>
              <a:t>Wert_N</a:t>
            </a:r>
            <a:r>
              <a:rPr lang="de-AT" dirty="0"/>
              <a:t>,  </a:t>
            </a:r>
            <a:br>
              <a:rPr lang="de-AT" dirty="0"/>
            </a:br>
            <a:r>
              <a:rPr lang="de-AT" dirty="0"/>
              <a:t>so werden </a:t>
            </a:r>
            <a:r>
              <a:rPr lang="de-AT" i="1" dirty="0" err="1">
                <a:solidFill>
                  <a:srgbClr val="CC3300"/>
                </a:solidFill>
              </a:rPr>
              <a:t>Anweisungen_N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ausgeführt.</a:t>
            </a:r>
            <a:br>
              <a:rPr lang="de-AT" dirty="0"/>
            </a:br>
            <a:r>
              <a:rPr lang="de-AT" dirty="0"/>
              <a:t>Wird keine Übereinstimmung gefunden, so werden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>
                <a:solidFill>
                  <a:srgbClr val="CC3300"/>
                </a:solidFill>
                <a:cs typeface="Courier New" panose="02070309020205020404" pitchFamily="49" charset="0"/>
              </a:rPr>
              <a:t>Standard_Anweisungen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b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</a:br>
            <a:r>
              <a:rPr lang="de-AT" dirty="0"/>
              <a:t>ausgeführt, wenn das Schlüsselwort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de-AT" dirty="0"/>
              <a:t> angegeben wird.</a:t>
            </a:r>
          </a:p>
          <a:p>
            <a:endParaRPr lang="de-AT" dirty="0"/>
          </a:p>
          <a:p>
            <a:r>
              <a:rPr lang="de-AT" dirty="0"/>
              <a:t>Ein </a:t>
            </a:r>
            <a:r>
              <a:rPr lang="de-AT" b="1" dirty="0"/>
              <a:t>break</a:t>
            </a:r>
            <a:r>
              <a:rPr lang="de-AT" dirty="0"/>
              <a:t> muss nach jedem </a:t>
            </a:r>
            <a:r>
              <a:rPr lang="de-AT" dirty="0" err="1"/>
              <a:t>case</a:t>
            </a:r>
            <a:r>
              <a:rPr lang="de-AT" dirty="0"/>
              <a:t>-Fall und am Ende des </a:t>
            </a:r>
            <a:r>
              <a:rPr lang="de-AT" dirty="0" err="1"/>
              <a:t>default</a:t>
            </a:r>
            <a:r>
              <a:rPr lang="de-AT" dirty="0"/>
              <a:t>-Falles</a:t>
            </a:r>
          </a:p>
          <a:p>
            <a:r>
              <a:rPr lang="de-AT" dirty="0"/>
              <a:t>angeführt werden!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770160" y="3465004"/>
            <a:ext cx="6588732" cy="2862322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FF0000"/>
                </a:solidFill>
                <a:cs typeface="Courier New" panose="02070309020205020404" pitchFamily="49" charset="0"/>
              </a:rPr>
              <a:t>Ausdruck</a:t>
            </a:r>
            <a:r>
              <a:rPr lang="de-AT" b="1" i="1" dirty="0">
                <a:solidFill>
                  <a:srgbClr val="FF0000"/>
                </a:solidFill>
                <a:cs typeface="Courier New" panose="02070309020205020404" pitchFamily="49" charset="0"/>
              </a:rPr>
              <a:t>&gt;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Wert_1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Anweisungen_1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                                                  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break; </a:t>
            </a:r>
            <a:endParaRPr lang="de-AT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Wert_2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CC3300"/>
                </a:solidFill>
                <a:cs typeface="Courier New" panose="02070309020205020404" pitchFamily="49" charset="0"/>
              </a:rPr>
              <a:t>Anweisungen_2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                                                  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break; </a:t>
            </a:r>
            <a:endParaRPr lang="de-AT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. . .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>
                <a:solidFill>
                  <a:srgbClr val="CC3300"/>
                </a:solidFill>
                <a:cs typeface="Courier New" panose="02070309020205020404" pitchFamily="49" charset="0"/>
              </a:rPr>
              <a:t>Standard_Anweisungen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AT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    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break;       </a:t>
            </a:r>
            <a:r>
              <a:rPr lang="de-AT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de-AT" b="1" i="1" dirty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13" name="Titel 2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AT" dirty="0"/>
              <a:t>Mehrfachverzweigung (</a:t>
            </a:r>
            <a:r>
              <a:rPr lang="de-AT" dirty="0" err="1"/>
              <a:t>switch</a:t>
            </a:r>
            <a:r>
              <a:rPr lang="de-A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8555047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1414</Words>
  <Application>Microsoft Office PowerPoint</Application>
  <PresentationFormat>Bildschirmpräsentation (4:3)</PresentationFormat>
  <Paragraphs>274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Helvetica</vt:lpstr>
      <vt:lpstr>Monaco</vt:lpstr>
      <vt:lpstr>Symbol</vt:lpstr>
      <vt:lpstr>Wingdings</vt:lpstr>
      <vt:lpstr>2_Larissa</vt:lpstr>
      <vt:lpstr>Ein etwas frecher „GrownUpCalculator“</vt:lpstr>
      <vt:lpstr>Der einfache Teil</vt:lpstr>
      <vt:lpstr>Verzweigung - Selektion</vt:lpstr>
      <vt:lpstr>Selektion in C#</vt:lpstr>
      <vt:lpstr>Bedingungen (Conditions)</vt:lpstr>
      <vt:lpstr>Bedingungen – Logischer Ausdruck</vt:lpstr>
      <vt:lpstr>Verknüpfung von Bedingungen mit &amp;&amp; (AND)</vt:lpstr>
      <vt:lpstr>Neu in c# 9.0</vt:lpstr>
      <vt:lpstr>Verknüpfung von Bedingungen mit II (OR)</vt:lpstr>
      <vt:lpstr>Einseitige Verzweigung</vt:lpstr>
      <vt:lpstr>Einseitige Verzweigung (if)</vt:lpstr>
      <vt:lpstr>Zweiseitige Verzweigung (if .. else)</vt:lpstr>
      <vt:lpstr>Zweiseitige Verzweigung (if..else)</vt:lpstr>
      <vt:lpstr>Zweiseitige Verzweigung - Beispiel</vt:lpstr>
      <vt:lpstr>Erweiterung</vt:lpstr>
      <vt:lpstr>Verschachtelung von Verzweigungen</vt:lpstr>
      <vt:lpstr>Verschachtelung von Verzweigungen </vt:lpstr>
      <vt:lpstr>Verschachtelung von Verzweigungen</vt:lpstr>
      <vt:lpstr>Beispiel else-if Kette</vt:lpstr>
      <vt:lpstr>Noch mehr Varianten</vt:lpstr>
      <vt:lpstr>Switch in C#</vt:lpstr>
      <vt:lpstr>Mehrfachverzweigung (switch)</vt:lpstr>
      <vt:lpstr>Mehrfachverzweigung (switch)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136</cp:revision>
  <dcterms:created xsi:type="dcterms:W3CDTF">2013-05-11T11:25:57Z</dcterms:created>
  <dcterms:modified xsi:type="dcterms:W3CDTF">2021-10-12T10:12:33Z</dcterms:modified>
</cp:coreProperties>
</file>