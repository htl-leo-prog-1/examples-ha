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24"/>
  </p:notesMasterIdLst>
  <p:sldIdLst>
    <p:sldId id="279" r:id="rId2"/>
    <p:sldId id="280" r:id="rId3"/>
    <p:sldId id="292" r:id="rId4"/>
    <p:sldId id="282" r:id="rId5"/>
    <p:sldId id="283" r:id="rId6"/>
    <p:sldId id="264" r:id="rId7"/>
    <p:sldId id="284" r:id="rId8"/>
    <p:sldId id="286" r:id="rId9"/>
    <p:sldId id="263" r:id="rId10"/>
    <p:sldId id="267" r:id="rId11"/>
    <p:sldId id="268" r:id="rId12"/>
    <p:sldId id="269" r:id="rId13"/>
    <p:sldId id="270" r:id="rId14"/>
    <p:sldId id="288" r:id="rId15"/>
    <p:sldId id="271" r:id="rId16"/>
    <p:sldId id="274" r:id="rId17"/>
    <p:sldId id="272" r:id="rId18"/>
    <p:sldId id="273" r:id="rId19"/>
    <p:sldId id="289" r:id="rId20"/>
    <p:sldId id="291" r:id="rId21"/>
    <p:sldId id="275" r:id="rId22"/>
    <p:sldId id="277" r:id="rId23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018" y="5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01.10.2021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51500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120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97098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1993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2442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2027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 spc="0">
                <a:solidFill>
                  <a:srgbClr val="000000"/>
                </a:solidFill>
              </a:defRPr>
            </a:pPr>
            <a:r>
              <a:rPr sz="4500" spc="-90">
                <a:solidFill>
                  <a:srgbClr val="314864"/>
                </a:solidFill>
              </a:rPr>
              <a:t>Title Text</a:t>
            </a:r>
          </a:p>
        </p:txBody>
      </p:sp>
      <p:sp>
        <p:nvSpPr>
          <p:cNvPr id="15" name="Shape 15"/>
          <p:cNvSpPr>
            <a:spLocks noGrp="1"/>
          </p:cNvSpPr>
          <p:nvPr>
            <p:ph type="body" idx="1"/>
          </p:nvPr>
        </p:nvSpPr>
        <p:spPr>
          <a:xfrm>
            <a:off x="250031" y="2098477"/>
            <a:ext cx="8643938" cy="4446984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109"/>
              <a:t>Body Level One</a:t>
            </a:r>
          </a:p>
          <a:p>
            <a:pPr lvl="1">
              <a:defRPr sz="1800"/>
            </a:pPr>
            <a:r>
              <a:rPr sz="2109"/>
              <a:t>Body Level Two</a:t>
            </a:r>
          </a:p>
          <a:p>
            <a:pPr lvl="2">
              <a:defRPr sz="1800"/>
            </a:pPr>
            <a:r>
              <a:rPr sz="2109"/>
              <a:t>Body Level Three</a:t>
            </a:r>
          </a:p>
          <a:p>
            <a:pPr lvl="3">
              <a:defRPr sz="1800"/>
            </a:pPr>
            <a:r>
              <a:rPr sz="2109"/>
              <a:t>Body Level Four</a:t>
            </a:r>
          </a:p>
          <a:p>
            <a:pPr lvl="4">
              <a:defRPr sz="1800"/>
            </a:pPr>
            <a:r>
              <a:rPr sz="2109"/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187774996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6261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baseline="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Selektion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42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 etwas frecher „</a:t>
            </a:r>
            <a:r>
              <a:rPr lang="de-AT" dirty="0" err="1"/>
              <a:t>GrownUpCalculator</a:t>
            </a:r>
            <a:r>
              <a:rPr lang="de-AT" dirty="0"/>
              <a:t>“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611560" y="4977172"/>
            <a:ext cx="68147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Das Programm prüft, ob das eingegebene Alter 18 Jahre beträgt.</a:t>
            </a:r>
          </a:p>
          <a:p>
            <a:r>
              <a:rPr lang="de-AT" dirty="0"/>
              <a:t>Nur dann wird die Differenz ausgerechnet und ausgegeben.</a:t>
            </a: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20" y="1412776"/>
            <a:ext cx="7608071" cy="312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912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body" idx="1"/>
          </p:nvPr>
        </p:nvSpPr>
        <p:spPr>
          <a:xfrm>
            <a:off x="250031" y="1484784"/>
            <a:ext cx="8643938" cy="4772645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System;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GROWN_UP_AGE = 18;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"How old are you? 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Convert.ToInt32(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GROWN_UP_AGE -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($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"In approx.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 defTabSz="402536">
              <a:lnSpc>
                <a:spcPct val="50000"/>
              </a:lnSpc>
              <a:spcBef>
                <a:spcPts val="1406"/>
              </a:spcBef>
              <a:buSzTx/>
              <a:buNone/>
              <a:defRPr sz="1800"/>
            </a:pPr>
            <a:endParaRPr sz="2067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Der einfache Teil</a:t>
            </a:r>
          </a:p>
        </p:txBody>
      </p:sp>
    </p:spTree>
    <p:extLst>
      <p:ext uri="{BB962C8B-B14F-4D97-AF65-F5344CB8AC3E}">
        <p14:creationId xmlns:p14="http://schemas.microsoft.com/office/powerpoint/2010/main" val="8057546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/>
          <p:nvPr/>
        </p:nvSpPr>
        <p:spPr>
          <a:xfrm>
            <a:off x="4398850" y="2079365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76" name="Shape 76"/>
          <p:cNvSpPr/>
          <p:nvPr/>
        </p:nvSpPr>
        <p:spPr>
          <a:xfrm>
            <a:off x="3237990" y="1527626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("How old are you? ");</a:t>
            </a:r>
          </a:p>
        </p:txBody>
      </p:sp>
      <p:sp>
        <p:nvSpPr>
          <p:cNvPr id="77" name="Shape 77"/>
          <p:cNvSpPr/>
          <p:nvPr/>
        </p:nvSpPr>
        <p:spPr>
          <a:xfrm>
            <a:off x="3686929" y="3599314"/>
            <a:ext cx="1712045" cy="892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1687" dirty="0">
                <a:solidFill>
                  <a:schemeClr val="bg1"/>
                </a:solidFill>
              </a:rPr>
              <a:t>diff &gt; 0</a:t>
            </a:r>
          </a:p>
        </p:txBody>
      </p:sp>
      <p:sp>
        <p:nvSpPr>
          <p:cNvPr id="78" name="Shape 78"/>
          <p:cNvSpPr/>
          <p:nvPr/>
        </p:nvSpPr>
        <p:spPr>
          <a:xfrm>
            <a:off x="3237990" y="2563470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int</a:t>
            </a:r>
            <a:r>
              <a:rPr sz="1687" dirty="0">
                <a:solidFill>
                  <a:schemeClr val="bg1"/>
                </a:solidFill>
              </a:rPr>
              <a:t> diff = GROWN_UP_AGE - age;</a:t>
            </a:r>
          </a:p>
        </p:txBody>
      </p:sp>
      <p:sp>
        <p:nvSpPr>
          <p:cNvPr id="79" name="Shape 79"/>
          <p:cNvSpPr/>
          <p:nvPr/>
        </p:nvSpPr>
        <p:spPr>
          <a:xfrm>
            <a:off x="6032983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(“Difference “ + diff);</a:t>
            </a:r>
          </a:p>
        </p:txBody>
      </p:sp>
      <p:sp>
        <p:nvSpPr>
          <p:cNvPr id="80" name="Shape 80"/>
          <p:cNvSpPr/>
          <p:nvPr/>
        </p:nvSpPr>
        <p:spPr>
          <a:xfrm>
            <a:off x="442998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(“You are too old”);</a:t>
            </a:r>
          </a:p>
        </p:txBody>
      </p:sp>
      <p:sp>
        <p:nvSpPr>
          <p:cNvPr id="81" name="Shape 81"/>
          <p:cNvSpPr/>
          <p:nvPr/>
        </p:nvSpPr>
        <p:spPr>
          <a:xfrm flipV="1">
            <a:off x="4541725" y="2172053"/>
            <a:ext cx="0" cy="16303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2" name="Shape 82"/>
          <p:cNvSpPr/>
          <p:nvPr/>
        </p:nvSpPr>
        <p:spPr>
          <a:xfrm>
            <a:off x="4402281" y="1016732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83" name="Shape 83"/>
          <p:cNvSpPr/>
          <p:nvPr/>
        </p:nvSpPr>
        <p:spPr>
          <a:xfrm flipV="1">
            <a:off x="4541725" y="240583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4" name="Shape 84"/>
          <p:cNvSpPr/>
          <p:nvPr/>
        </p:nvSpPr>
        <p:spPr>
          <a:xfrm flipV="1">
            <a:off x="4541725" y="1366892"/>
            <a:ext cx="0" cy="163030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5" name="Shape 85"/>
          <p:cNvSpPr/>
          <p:nvPr/>
        </p:nvSpPr>
        <p:spPr>
          <a:xfrm flipV="1">
            <a:off x="4541725" y="3215337"/>
            <a:ext cx="0" cy="371713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6" name="Shape 86"/>
          <p:cNvSpPr/>
          <p:nvPr/>
        </p:nvSpPr>
        <p:spPr>
          <a:xfrm>
            <a:off x="5405463" y="4047472"/>
            <a:ext cx="1859830" cy="8132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7" name="Shape 87"/>
          <p:cNvSpPr/>
          <p:nvPr/>
        </p:nvSpPr>
        <p:spPr>
          <a:xfrm flipH="1">
            <a:off x="1827100" y="4045799"/>
            <a:ext cx="1859830" cy="8132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8" name="Shape 88"/>
          <p:cNvSpPr/>
          <p:nvPr/>
        </p:nvSpPr>
        <p:spPr>
          <a:xfrm>
            <a:off x="4461357" y="5804946"/>
            <a:ext cx="160735" cy="160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blipFill>
            <a:blip r:embed="rId2"/>
          </a:blipFill>
          <a:ln w="25400">
            <a:miter lim="400000"/>
          </a:ln>
        </p:spPr>
        <p:txBody>
          <a:bodyPr lIns="0" tIns="0" rIns="0" bIns="0" anchor="ctr"/>
          <a:lstStyle/>
          <a:p>
            <a:pPr lvl="0">
              <a:defRPr>
                <a:solidFill>
                  <a:srgbClr val="FFFFFF"/>
                </a:solidFill>
              </a:defRPr>
            </a:pPr>
            <a:endParaRPr sz="1266"/>
          </a:p>
        </p:txBody>
      </p:sp>
      <p:sp>
        <p:nvSpPr>
          <p:cNvPr id="89" name="Shape 89"/>
          <p:cNvSpPr/>
          <p:nvPr/>
        </p:nvSpPr>
        <p:spPr>
          <a:xfrm>
            <a:off x="1836320" y="5553973"/>
            <a:ext cx="2589610" cy="34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0" name="Shape 90"/>
          <p:cNvSpPr/>
          <p:nvPr/>
        </p:nvSpPr>
        <p:spPr>
          <a:xfrm flipH="1">
            <a:off x="4657811" y="5554915"/>
            <a:ext cx="2589609" cy="3482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1" name="Shape 91"/>
          <p:cNvSpPr/>
          <p:nvPr/>
        </p:nvSpPr>
        <p:spPr>
          <a:xfrm flipV="1">
            <a:off x="4541725" y="597461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2" name="Shape 92"/>
          <p:cNvSpPr/>
          <p:nvPr/>
        </p:nvSpPr>
        <p:spPr>
          <a:xfrm>
            <a:off x="6120043" y="3597412"/>
            <a:ext cx="492122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yes</a:t>
            </a:r>
          </a:p>
        </p:txBody>
      </p:sp>
      <p:sp>
        <p:nvSpPr>
          <p:cNvPr id="93" name="Shape 93"/>
          <p:cNvSpPr/>
          <p:nvPr/>
        </p:nvSpPr>
        <p:spPr>
          <a:xfrm>
            <a:off x="2532240" y="3597412"/>
            <a:ext cx="37350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no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Verzweigung - Selektion</a:t>
            </a:r>
          </a:p>
        </p:txBody>
      </p:sp>
    </p:spTree>
    <p:extLst>
      <p:ext uri="{BB962C8B-B14F-4D97-AF65-F5344CB8AC3E}">
        <p14:creationId xmlns:p14="http://schemas.microsoft.com/office/powerpoint/2010/main" val="54004731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000"/>
                            </p:stCondLst>
                            <p:childTnLst>
                              <p:par>
                                <p:cTn id="8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 advAuto="0"/>
      <p:bldP spid="76" grpId="0" animBg="1" advAuto="0"/>
      <p:bldP spid="77" grpId="0" animBg="1" advAuto="0"/>
      <p:bldP spid="78" grpId="0" animBg="1" advAuto="0"/>
      <p:bldP spid="79" grpId="0" animBg="1" advAuto="0"/>
      <p:bldP spid="80" grpId="0" animBg="1" advAuto="0"/>
      <p:bldP spid="81" grpId="0" animBg="1" advAuto="0"/>
      <p:bldP spid="82" grpId="0" animBg="1" advAuto="0"/>
      <p:bldP spid="83" grpId="0" animBg="1" advAuto="0"/>
      <p:bldP spid="84" grpId="0" animBg="1" advAuto="0"/>
      <p:bldP spid="85" grpId="0" animBg="1" advAuto="0"/>
      <p:bldP spid="86" grpId="0" animBg="1" advAuto="0"/>
      <p:bldP spid="87" grpId="0" animBg="1" advAuto="0"/>
      <p:bldP spid="88" grpId="0" animBg="1" advAuto="0"/>
      <p:bldP spid="89" grpId="0" animBg="1" advAuto="0"/>
      <p:bldP spid="90" grpId="0" animBg="1" advAuto="0"/>
      <p:bldP spid="91" grpId="0" animBg="1" advAuto="0"/>
      <p:bldP spid="92" grpId="0" animBg="1" advAuto="0"/>
      <p:bldP spid="93" grpId="0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>
            <a:spLocks noGrp="1"/>
          </p:cNvSpPr>
          <p:nvPr>
            <p:ph type="body" idx="1"/>
          </p:nvPr>
        </p:nvSpPr>
        <p:spPr>
          <a:xfrm>
            <a:off x="251520" y="1520788"/>
            <a:ext cx="8750461" cy="44469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&gt; 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$"In approx.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"You are too old to use that program"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Selektion in C#</a:t>
            </a:r>
          </a:p>
        </p:txBody>
      </p:sp>
    </p:spTree>
    <p:extLst>
      <p:ext uri="{BB962C8B-B14F-4D97-AF65-F5344CB8AC3E}">
        <p14:creationId xmlns:p14="http://schemas.microsoft.com/office/powerpoint/2010/main" val="692217883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build="p" bldLvl="5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Table 99"/>
          <p:cNvGraphicFramePr/>
          <p:nvPr>
            <p:extLst>
              <p:ext uri="{D42A27DB-BD31-4B8C-83A1-F6EECF244321}">
                <p14:modId xmlns:p14="http://schemas.microsoft.com/office/powerpoint/2010/main" val="2284860363"/>
              </p:ext>
            </p:extLst>
          </p:nvPr>
        </p:nvGraphicFramePr>
        <p:xfrm>
          <a:off x="1871700" y="1412776"/>
          <a:ext cx="5544616" cy="4446984"/>
        </p:xfrm>
        <a:graphic>
          <a:graphicData uri="http://schemas.openxmlformats.org/drawingml/2006/table">
            <a:tbl>
              <a:tblPr/>
              <a:tblGrid>
                <a:gridCol w="259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T w="1270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T w="1270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&gt;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&gt;=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==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!=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ungleich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(</a:t>
            </a:r>
            <a:r>
              <a:rPr lang="de-AT" dirty="0" err="1"/>
              <a:t>Conditions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0074937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223628" y="1088740"/>
            <a:ext cx="709278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Eine </a:t>
            </a:r>
            <a:r>
              <a:rPr lang="de-AT" dirty="0">
                <a:solidFill>
                  <a:srgbClr val="FF0000"/>
                </a:solidFill>
              </a:rPr>
              <a:t>Bedingung </a:t>
            </a:r>
            <a:r>
              <a:rPr lang="de-AT" dirty="0"/>
              <a:t>ist ein logischer Ausdruck.</a:t>
            </a:r>
          </a:p>
          <a:p>
            <a:r>
              <a:rPr lang="de-AT" dirty="0"/>
              <a:t>Ein logischer Ausdruck besteht aus </a:t>
            </a:r>
            <a:r>
              <a:rPr lang="de-AT" i="1" dirty="0">
                <a:solidFill>
                  <a:srgbClr val="FF0000"/>
                </a:solidFill>
              </a:rPr>
              <a:t>Operanden</a:t>
            </a:r>
            <a:r>
              <a:rPr lang="de-AT" dirty="0"/>
              <a:t>, die mit  </a:t>
            </a:r>
            <a:r>
              <a:rPr lang="de-AT" i="1" dirty="0"/>
              <a:t>relationalen oder logischen </a:t>
            </a:r>
            <a:r>
              <a:rPr lang="de-AT" i="1" dirty="0">
                <a:solidFill>
                  <a:srgbClr val="FF0000"/>
                </a:solidFill>
              </a:rPr>
              <a:t>Operatoren </a:t>
            </a:r>
            <a:r>
              <a:rPr lang="de-AT" i="1" dirty="0"/>
              <a:t>verglichen werden.</a:t>
            </a:r>
          </a:p>
          <a:p>
            <a:endParaRPr lang="de-AT" i="1" dirty="0">
              <a:solidFill>
                <a:srgbClr val="FF0000"/>
              </a:solidFill>
            </a:endParaRPr>
          </a:p>
          <a:p>
            <a:r>
              <a:rPr lang="de-AT" i="1" dirty="0"/>
              <a:t>Vergleichsoperatoren (relationale Operatoren):</a:t>
            </a:r>
          </a:p>
          <a:p>
            <a:endParaRPr lang="de-AT" dirty="0"/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nicht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 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– Logischer Ausdruck</a:t>
            </a:r>
          </a:p>
        </p:txBody>
      </p:sp>
    </p:spTree>
    <p:extLst>
      <p:ext uri="{BB962C8B-B14F-4D97-AF65-F5344CB8AC3E}">
        <p14:creationId xmlns:p14="http://schemas.microsoft.com/office/powerpoint/2010/main" val="1297097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body" idx="1"/>
          </p:nvPr>
        </p:nvSpPr>
        <p:spPr>
          <a:xfrm>
            <a:off x="250031" y="1268413"/>
            <a:ext cx="8643938" cy="5060677"/>
          </a:xfrm>
          <a:prstGeom prst="rect">
            <a:avLst/>
          </a:prstGeom>
        </p:spPr>
        <p:txBody>
          <a:bodyPr lIns="0" tIns="0" rIns="0" bIns="0">
            <a:normAutofit fontScale="77500" lnSpcReduction="20000"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Jahren liegt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“You are grown up”</a:t>
            </a:r>
          </a:p>
          <a:p>
            <a:pPr lvl="0">
              <a:defRPr sz="1800"/>
            </a:pPr>
            <a:r>
              <a:rPr lang="de-AT" sz="2109" dirty="0"/>
              <a:t>Siehe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(18 ≤ age ≤ 20)</a:t>
            </a:r>
          </a:p>
          <a:p>
            <a:pPr lvl="1">
              <a:defRPr sz="1800"/>
            </a:pPr>
            <a:r>
              <a:rPr lang="de-AT" sz="2109" dirty="0"/>
              <a:t>Das ist die Kurzform für: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(18 ≤ age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(age ≥ 18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  <a:endParaRPr lang="de-AT" sz="18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9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and</a:t>
            </a:r>
            <a:r>
              <a:rPr lang="de-AT" sz="29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109" b="1" dirty="0"/>
              <a:t>in C#</a:t>
            </a:r>
            <a:endParaRPr lang="de-AT" sz="2109" b="1" dirty="0">
              <a:sym typeface="Monaco"/>
            </a:endParaRPr>
          </a:p>
          <a:p>
            <a:pPr marL="625475" lvl="1" indent="0">
              <a:buNone/>
            </a:pPr>
            <a:br>
              <a:rPr lang="en-US" sz="1509" b="1" dirty="0">
                <a:solidFill>
                  <a:schemeClr val="accent1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(18 &lt;= age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625475" lvl="1" indent="0">
              <a:buNone/>
            </a:pP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5475" lvl="1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(age &gt;= 18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lvl="2">
              <a:defRPr sz="1800"/>
            </a:pPr>
            <a:endParaRPr sz="18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50031" y="125413"/>
            <a:ext cx="8893969" cy="1143000"/>
          </a:xfrm>
        </p:spPr>
        <p:txBody>
          <a:bodyPr/>
          <a:lstStyle/>
          <a:p>
            <a:r>
              <a:rPr lang="de-AT" dirty="0"/>
              <a:t>Verknüpfung von Bedingungen mit &amp;&amp;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AND)</a:t>
            </a:r>
            <a:endParaRPr lang="de-AT" sz="2400" spc="-90" dirty="0">
              <a:effectLst>
                <a:outerShdw blurRad="127000" dist="76200" dir="2700000" rotWithShape="0">
                  <a:srgbClr val="000000">
                    <a:alpha val="75000"/>
                  </a:srgbClr>
                </a:outerShdw>
              </a:effectLst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0491794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1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0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0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 bldLvl="5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entweder </a:t>
            </a:r>
            <a:r>
              <a:rPr sz="2109" dirty="0"/>
              <a:t>25</a:t>
            </a:r>
            <a:r>
              <a:rPr lang="de-AT" sz="2109" dirty="0"/>
              <a:t> oder </a:t>
            </a:r>
            <a:r>
              <a:rPr sz="2109" dirty="0"/>
              <a:t>50</a:t>
            </a:r>
            <a:r>
              <a:rPr lang="de-AT" sz="2109" dirty="0"/>
              <a:t> ist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“Congratulations for your round birthday”</a:t>
            </a:r>
          </a:p>
          <a:p>
            <a:pPr lvl="0">
              <a:defRPr sz="1800"/>
            </a:pPr>
            <a:r>
              <a:rPr lang="de-AT" sz="2109" dirty="0"/>
              <a:t>Wieder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(age == 25 </a:t>
            </a:r>
            <a:r>
              <a:rPr sz="21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or</a:t>
            </a:r>
            <a:r>
              <a:rPr sz="2109" dirty="0">
                <a:latin typeface="Monaco"/>
                <a:ea typeface="Monaco"/>
                <a:cs typeface="Monaco"/>
                <a:sym typeface="Monaco"/>
              </a:rPr>
              <a:t> age == 50)</a:t>
            </a: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7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or</a:t>
            </a:r>
            <a:r>
              <a:rPr lang="de-AT" sz="27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409" b="1" dirty="0"/>
              <a:t>in C#</a:t>
            </a:r>
            <a:endParaRPr lang="de-AT" sz="2409" b="1" dirty="0">
              <a:sym typeface="Monaco"/>
            </a:endParaRPr>
          </a:p>
          <a:p>
            <a:pPr lvl="1">
              <a:defRPr sz="1800"/>
            </a:pP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(age == 25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||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age == 50)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"Congratulations for your round birthday"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Verknüpfung von Bedingungen mit II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OR)</a:t>
            </a:r>
          </a:p>
        </p:txBody>
      </p:sp>
    </p:spTree>
    <p:extLst>
      <p:ext uri="{BB962C8B-B14F-4D97-AF65-F5344CB8AC3E}">
        <p14:creationId xmlns:p14="http://schemas.microsoft.com/office/powerpoint/2010/main" val="271563338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build="p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7169" y="1261240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735796" y="2701400"/>
            <a:ext cx="3348371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409982" y="2197344"/>
            <a:ext cx="1592" cy="50405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winkelte Verbindung 16"/>
          <p:cNvCxnSpPr>
            <a:stCxn id="12" idx="3"/>
          </p:cNvCxnSpPr>
          <p:nvPr/>
        </p:nvCxnSpPr>
        <p:spPr>
          <a:xfrm>
            <a:off x="6084167" y="3079442"/>
            <a:ext cx="289626" cy="1494165"/>
          </a:xfrm>
          <a:prstGeom prst="bentConnector2">
            <a:avLst/>
          </a:prstGeom>
          <a:ln w="22225">
            <a:solidFill>
              <a:schemeClr val="tx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447764" y="3079442"/>
            <a:ext cx="288032" cy="630070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403018" y="3709512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230759" y="2430573"/>
            <a:ext cx="360039" cy="3926028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28613" y="4573608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/>
          <p:cNvSpPr txBox="1"/>
          <p:nvPr/>
        </p:nvSpPr>
        <p:spPr>
          <a:xfrm>
            <a:off x="2341345" y="2764116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5773821" y="2764116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</a:t>
            </a:r>
          </a:p>
        </p:txBody>
      </p:sp>
    </p:spTree>
    <p:extLst>
      <p:ext uri="{BB962C8B-B14F-4D97-AF65-F5344CB8AC3E}">
        <p14:creationId xmlns:p14="http://schemas.microsoft.com/office/powerpoint/2010/main" val="2666897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597521" y="1412776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2409616" y="2276872"/>
            <a:ext cx="2401619" cy="1200329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458337" y="3967896"/>
            <a:ext cx="79095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input = Console.ReadLine();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mark = Convert.ToInt32(input);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(mark &gt; 5)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    Console.WriteLine(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$"Die Note 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{mark}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 ist nicht möglich."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 (</a:t>
            </a:r>
            <a:r>
              <a:rPr lang="de-AT" dirty="0" err="1"/>
              <a:t>if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49356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934967" y="1260955"/>
            <a:ext cx="675063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  <a:p>
            <a:endParaRPr lang="de-AT" dirty="0"/>
          </a:p>
          <a:p>
            <a:r>
              <a:rPr lang="de-AT" dirty="0"/>
              <a:t>Programmablaufplan (PAP):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663788" y="2872573"/>
            <a:ext cx="3240360" cy="728642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283968" y="2328301"/>
            <a:ext cx="1114" cy="5442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357440" y="3236893"/>
            <a:ext cx="306348" cy="61634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22999" y="3853243"/>
            <a:ext cx="226888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149908" y="2564831"/>
            <a:ext cx="360040" cy="394497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248594" y="4717339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1" idx="0"/>
          </p:cNvCxnSpPr>
          <p:nvPr/>
        </p:nvCxnSpPr>
        <p:spPr>
          <a:xfrm>
            <a:off x="5904148" y="3236894"/>
            <a:ext cx="396044" cy="55120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5076056" y="3788098"/>
            <a:ext cx="244827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28" name="Gerade Verbindung 27"/>
          <p:cNvCxnSpPr>
            <a:stCxn id="21" idx="2"/>
          </p:cNvCxnSpPr>
          <p:nvPr/>
        </p:nvCxnSpPr>
        <p:spPr>
          <a:xfrm>
            <a:off x="6300192" y="4292154"/>
            <a:ext cx="2226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2159103" y="2907847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702542" y="2907847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 .. 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04635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079612" y="1484784"/>
            <a:ext cx="61764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2447764" y="2804735"/>
            <a:ext cx="3312367" cy="2308324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Anweisungen_A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Anweisungen_B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..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48570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457200" y="1960377"/>
            <a:ext cx="8686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etwas anderes als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- Beispiel</a:t>
            </a:r>
          </a:p>
        </p:txBody>
      </p:sp>
    </p:spTree>
    <p:extLst>
      <p:ext uri="{BB962C8B-B14F-4D97-AF65-F5344CB8AC3E}">
        <p14:creationId xmlns:p14="http://schemas.microsoft.com/office/powerpoint/2010/main" val="1457844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Wenn das Alter unter </a:t>
            </a:r>
            <a:r>
              <a:rPr sz="2109" dirty="0"/>
              <a:t>18</a:t>
            </a:r>
            <a:r>
              <a:rPr lang="de-AT" sz="2109" dirty="0"/>
              <a:t>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In </a:t>
            </a:r>
            <a:r>
              <a:rPr sz="2109" dirty="0" err="1"/>
              <a:t>approx</a:t>
            </a:r>
            <a:r>
              <a:rPr sz="2109" dirty="0"/>
              <a:t> &lt;diff&gt; years you will be grown-up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grown 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der User noch älter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too old</a:t>
            </a:r>
            <a:r>
              <a:rPr lang="de-AT" sz="2109" dirty="0"/>
              <a:t>"</a:t>
            </a:r>
            <a:endParaRPr sz="21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Erweiterung</a:t>
            </a:r>
          </a:p>
        </p:txBody>
      </p:sp>
    </p:spTree>
    <p:extLst>
      <p:ext uri="{BB962C8B-B14F-4D97-AF65-F5344CB8AC3E}">
        <p14:creationId xmlns:p14="http://schemas.microsoft.com/office/powerpoint/2010/main" val="38801875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build="p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4163117" y="2757698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5566643" y="2456892"/>
            <a:ext cx="0" cy="30080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4" idx="0"/>
          </p:cNvCxnSpPr>
          <p:nvPr/>
        </p:nvCxnSpPr>
        <p:spPr>
          <a:xfrm rot="10800000" flipV="1">
            <a:off x="3503755" y="3135739"/>
            <a:ext cx="659362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862018" y="4617132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305917" y="2276285"/>
            <a:ext cx="360040" cy="604984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99992" y="5481228"/>
            <a:ext cx="0" cy="360040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46" idx="0"/>
          </p:cNvCxnSpPr>
          <p:nvPr/>
        </p:nvCxnSpPr>
        <p:spPr>
          <a:xfrm>
            <a:off x="6970169" y="3135740"/>
            <a:ext cx="531227" cy="140938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/>
          <p:nvPr/>
        </p:nvCxnSpPr>
        <p:spPr>
          <a:xfrm>
            <a:off x="7510860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367547" y="2820414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6910986" y="282041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2074885" y="3666413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20" idx="0"/>
          </p:cNvCxnSpPr>
          <p:nvPr/>
        </p:nvCxnSpPr>
        <p:spPr>
          <a:xfrm rot="10800000" flipV="1">
            <a:off x="1461015" y="4044454"/>
            <a:ext cx="613871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1424590" y="372913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stCxn id="24" idx="3"/>
            <a:endCxn id="47" idx="0"/>
          </p:cNvCxnSpPr>
          <p:nvPr/>
        </p:nvCxnSpPr>
        <p:spPr>
          <a:xfrm>
            <a:off x="4932624" y="4044455"/>
            <a:ext cx="564942" cy="50066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4860032" y="374374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690240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489857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61" name="Gerade Verbindung 60"/>
          <p:cNvCxnSpPr/>
          <p:nvPr/>
        </p:nvCxnSpPr>
        <p:spPr>
          <a:xfrm>
            <a:off x="5508104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/>
          <p:cNvSpPr txBox="1"/>
          <p:nvPr/>
        </p:nvSpPr>
        <p:spPr>
          <a:xfrm>
            <a:off x="971600" y="1376772"/>
            <a:ext cx="60864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Einschränkung</a:t>
            </a:r>
          </a:p>
          <a:p>
            <a:r>
              <a:rPr lang="de-AT" dirty="0"/>
              <a:t>Eine 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wird noch einmal genauer durch eine </a:t>
            </a:r>
            <a:br>
              <a:rPr lang="de-AT" dirty="0"/>
            </a:br>
            <a:r>
              <a:rPr lang="de-AT" dirty="0"/>
              <a:t>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geprüft.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2896713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/>
          <p:cNvSpPr txBox="1"/>
          <p:nvPr/>
        </p:nvSpPr>
        <p:spPr>
          <a:xfrm>
            <a:off x="991375" y="126876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Beispiel</a:t>
            </a:r>
          </a:p>
        </p:txBody>
      </p:sp>
      <p:sp>
        <p:nvSpPr>
          <p:cNvPr id="29" name="Rechteck 28"/>
          <p:cNvSpPr/>
          <p:nvPr/>
        </p:nvSpPr>
        <p:spPr>
          <a:xfrm>
            <a:off x="1007604" y="1756964"/>
            <a:ext cx="73448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"Hauptschule! Alter ?"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= Convert.ToInt32(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7)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"1.Klasse 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 </a:t>
            </a:r>
          </a:p>
        </p:txBody>
      </p:sp>
    </p:spTree>
    <p:extLst>
      <p:ext uri="{BB962C8B-B14F-4D97-AF65-F5344CB8AC3E}">
        <p14:creationId xmlns:p14="http://schemas.microsoft.com/office/powerpoint/2010/main" val="3068506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2483768" y="2706299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3887294" y="2333485"/>
            <a:ext cx="0" cy="372814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1869898" y="3084341"/>
            <a:ext cx="613871" cy="1481392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70901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649643" y="2290042"/>
            <a:ext cx="360042" cy="5919535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5004048" y="5429829"/>
            <a:ext cx="0" cy="43204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4" idx="0"/>
          </p:cNvCxnSpPr>
          <p:nvPr/>
        </p:nvCxnSpPr>
        <p:spPr>
          <a:xfrm>
            <a:off x="5290820" y="3084341"/>
            <a:ext cx="660623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>
            <a:stCxn id="47" idx="2"/>
          </p:cNvCxnSpPr>
          <p:nvPr/>
        </p:nvCxnSpPr>
        <p:spPr>
          <a:xfrm>
            <a:off x="7789428" y="5069789"/>
            <a:ext cx="4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1907704" y="2769015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220072" y="276901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4522573" y="3615014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Bed_B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46" idx="0"/>
          </p:cNvCxnSpPr>
          <p:nvPr/>
        </p:nvCxnSpPr>
        <p:spPr>
          <a:xfrm rot="10800000" flipV="1">
            <a:off x="3982235" y="3993055"/>
            <a:ext cx="540339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3923928" y="3677731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endCxn id="47" idx="0"/>
          </p:cNvCxnSpPr>
          <p:nvPr/>
        </p:nvCxnSpPr>
        <p:spPr>
          <a:xfrm>
            <a:off x="7380312" y="3993056"/>
            <a:ext cx="409116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7236296" y="369234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3383238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7190432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41" name="Gerade Verbindung 40"/>
          <p:cNvCxnSpPr>
            <a:stCxn id="46" idx="2"/>
          </p:cNvCxnSpPr>
          <p:nvPr/>
        </p:nvCxnSpPr>
        <p:spPr>
          <a:xfrm>
            <a:off x="3982234" y="5069789"/>
            <a:ext cx="0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/>
          <p:cNvSpPr txBox="1"/>
          <p:nvPr/>
        </p:nvSpPr>
        <p:spPr>
          <a:xfrm>
            <a:off x="1331640" y="1397381"/>
            <a:ext cx="5897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  <a:p>
            <a:r>
              <a:rPr lang="de-AT" dirty="0"/>
              <a:t>Es gibt mehr als zwei Alternativen zur Programmausführung 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848412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feld 48"/>
          <p:cNvSpPr txBox="1"/>
          <p:nvPr/>
        </p:nvSpPr>
        <p:spPr>
          <a:xfrm>
            <a:off x="1138023" y="1084094"/>
            <a:ext cx="2975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</p:txBody>
      </p:sp>
      <p:sp>
        <p:nvSpPr>
          <p:cNvPr id="29" name="Rechteck 28"/>
          <p:cNvSpPr/>
          <p:nvPr/>
        </p:nvSpPr>
        <p:spPr>
          <a:xfrm>
            <a:off x="1155165" y="1456571"/>
            <a:ext cx="77408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"AHS"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"B"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"C"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"Neue Mittelschule"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"ungültige Eingabe"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 </a:t>
            </a:r>
            <a:r>
              <a:rPr lang="de-AT" dirty="0" err="1"/>
              <a:t>else-if</a:t>
            </a:r>
            <a:r>
              <a:rPr lang="de-AT" dirty="0"/>
              <a:t> Kette</a:t>
            </a:r>
          </a:p>
        </p:txBody>
      </p:sp>
    </p:spTree>
    <p:extLst>
      <p:ext uri="{BB962C8B-B14F-4D97-AF65-F5344CB8AC3E}">
        <p14:creationId xmlns:p14="http://schemas.microsoft.com/office/powerpoint/2010/main" val="34532109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Legende 9"/>
          <p:cNvSpPr/>
          <p:nvPr/>
        </p:nvSpPr>
        <p:spPr>
          <a:xfrm>
            <a:off x="3301516" y="3284984"/>
            <a:ext cx="5770984" cy="360040"/>
          </a:xfrm>
          <a:prstGeom prst="wedgeEllipseCallout">
            <a:avLst>
              <a:gd name="adj1" fmla="val 9830"/>
              <a:gd name="adj2" fmla="val -1654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Lauter sprechen, hört nicht mehr so gut …</a:t>
            </a:r>
          </a:p>
        </p:txBody>
      </p:sp>
      <p:sp>
        <p:nvSpPr>
          <p:cNvPr id="9" name="Ovale Legende 8"/>
          <p:cNvSpPr/>
          <p:nvPr/>
        </p:nvSpPr>
        <p:spPr>
          <a:xfrm>
            <a:off x="7853272" y="1052736"/>
            <a:ext cx="1261629" cy="396044"/>
          </a:xfrm>
          <a:prstGeom prst="wedgeEllipseCallout">
            <a:avLst>
              <a:gd name="adj1" fmla="val -49165"/>
              <a:gd name="adj2" fmla="val 17571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400" dirty="0"/>
              <a:t>Mother?</a:t>
            </a:r>
          </a:p>
        </p:txBody>
      </p:sp>
      <p:sp>
        <p:nvSpPr>
          <p:cNvPr id="117" name="Shape 117"/>
          <p:cNvSpPr>
            <a:spLocks noGrp="1"/>
          </p:cNvSpPr>
          <p:nvPr>
            <p:ph type="body" idx="1"/>
          </p:nvPr>
        </p:nvSpPr>
        <p:spPr>
          <a:xfrm>
            <a:off x="250031" y="1160748"/>
            <a:ext cx="8643938" cy="538471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Neue Anforderungen</a:t>
            </a:r>
            <a:endParaRPr sz="2109" dirty="0"/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15 </a:t>
            </a:r>
            <a:r>
              <a:rPr lang="de-AT" sz="1800" dirty="0"/>
              <a:t>ist schreiben wir</a:t>
            </a:r>
            <a:r>
              <a:rPr sz="1800" dirty="0"/>
              <a:t> “Hey, you could be my brother”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40 </a:t>
            </a:r>
            <a:r>
              <a:rPr lang="de-AT" sz="1800" dirty="0"/>
              <a:t>ist schreiben wir </a:t>
            </a:r>
            <a:r>
              <a:rPr sz="1800" dirty="0"/>
              <a:t>“Hey, you could be my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65 </a:t>
            </a:r>
            <a:r>
              <a:rPr lang="de-AT" sz="1800" dirty="0"/>
              <a:t>ist schreiben wir </a:t>
            </a:r>
            <a:r>
              <a:rPr sz="1800" dirty="0"/>
              <a:t>“Hey, you could be my grand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80 </a:t>
            </a:r>
            <a:r>
              <a:rPr lang="de-AT" sz="1800" dirty="0"/>
              <a:t>ist schreiben wir </a:t>
            </a:r>
            <a:r>
              <a:rPr sz="1800" dirty="0"/>
              <a:t>“HEY, GRAND </a:t>
            </a:r>
            <a:r>
              <a:rPr sz="1800" dirty="0" err="1"/>
              <a:t>GRAND</a:t>
            </a:r>
            <a:r>
              <a:rPr sz="1800" dirty="0"/>
              <a:t> FATHER!!”</a:t>
            </a:r>
          </a:p>
          <a:p>
            <a:pPr lvl="1">
              <a:defRPr sz="1800"/>
            </a:pPr>
            <a:r>
              <a:rPr lang="de-AT" sz="1800" dirty="0"/>
              <a:t>Andernfalls schreiben wir </a:t>
            </a:r>
            <a:r>
              <a:rPr sz="1800" dirty="0"/>
              <a:t>“No silly comment available for your age”</a:t>
            </a: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>
              <a:defRPr sz="1800"/>
            </a:pPr>
            <a:r>
              <a:rPr lang="de-AT" sz="2100" dirty="0"/>
              <a:t>Lösung mit </a:t>
            </a:r>
            <a:r>
              <a:rPr lang="de-AT" sz="2100" dirty="0" err="1"/>
              <a:t>if</a:t>
            </a:r>
            <a:r>
              <a:rPr lang="de-AT" sz="2100" dirty="0"/>
              <a:t>?</a:t>
            </a:r>
          </a:p>
          <a:p>
            <a:pPr lvl="1">
              <a:defRPr sz="1800"/>
            </a:pPr>
            <a:r>
              <a:rPr lang="de-AT" sz="1800" dirty="0"/>
              <a:t>Naja, es ist möglich</a:t>
            </a:r>
          </a:p>
          <a:p>
            <a:pPr lvl="1">
              <a:defRPr sz="1800"/>
            </a:pPr>
            <a:r>
              <a:rPr lang="de-AT" sz="1800" dirty="0"/>
              <a:t>Aber besser mit Switch!</a:t>
            </a:r>
          </a:p>
          <a:p>
            <a:pPr lvl="1">
              <a:defRPr sz="1800"/>
            </a:pPr>
            <a:endParaRPr sz="180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Noch mehr Varianten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5472100" y="1016732"/>
            <a:ext cx="1656184" cy="324036"/>
          </a:xfrm>
          <a:prstGeom prst="wedgeEllipseCallout">
            <a:avLst>
              <a:gd name="adj1" fmla="val 51066"/>
              <a:gd name="adj2" fmla="val 13304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 err="1"/>
              <a:t>or</a:t>
            </a:r>
            <a:r>
              <a:rPr lang="de-AT" sz="1600" dirty="0"/>
              <a:t> </a:t>
            </a:r>
            <a:r>
              <a:rPr lang="de-AT" sz="1600" dirty="0" err="1"/>
              <a:t>sister</a:t>
            </a:r>
            <a:r>
              <a:rPr lang="de-AT" sz="16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3655315296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17" grpId="0" uiExpand="1" build="p" bldLvl="5" animBg="1" advAuto="0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/>
          </p:cNvSpPr>
          <p:nvPr>
            <p:ph type="body" idx="1"/>
          </p:nvPr>
        </p:nvSpPr>
        <p:spPr>
          <a:xfrm>
            <a:off x="250031" y="1124744"/>
            <a:ext cx="8643938" cy="542071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switch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15: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brother"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40: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father"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de-AT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No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silly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comment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available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80000"/>
              </a:lnSpc>
              <a:spcBef>
                <a:spcPts val="1125"/>
              </a:spcBef>
              <a:buSzTx/>
              <a:buNone/>
              <a:defRPr sz="1800"/>
            </a:pP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Switch in C#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3131840" y="3835102"/>
            <a:ext cx="3636404" cy="576064"/>
          </a:xfrm>
          <a:prstGeom prst="wedgeEllipseCallout">
            <a:avLst>
              <a:gd name="adj1" fmla="val -89388"/>
              <a:gd name="adj2" fmla="val 257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Gleiches Muster für die anderen Fälle</a:t>
            </a:r>
          </a:p>
        </p:txBody>
      </p:sp>
    </p:spTree>
    <p:extLst>
      <p:ext uri="{BB962C8B-B14F-4D97-AF65-F5344CB8AC3E}">
        <p14:creationId xmlns:p14="http://schemas.microsoft.com/office/powerpoint/2010/main" val="316437963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uiExpand="1" build="p" bldLvl="5" animBg="1" advAuto="0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1080242" y="2103654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&lt;Wert_1&gt;</a:t>
            </a:r>
          </a:p>
        </p:txBody>
      </p:sp>
      <p:cxnSp>
        <p:nvCxnSpPr>
          <p:cNvPr id="14" name="Gerade Verbindung mit Pfeil 13"/>
          <p:cNvCxnSpPr>
            <a:stCxn id="24" idx="2"/>
            <a:endCxn id="12" idx="0"/>
          </p:cNvCxnSpPr>
          <p:nvPr/>
        </p:nvCxnSpPr>
        <p:spPr>
          <a:xfrm>
            <a:off x="2556406" y="1772816"/>
            <a:ext cx="0" cy="33083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>
            <a:stCxn id="12" idx="2"/>
            <a:endCxn id="47" idx="0"/>
          </p:cNvCxnSpPr>
          <p:nvPr/>
        </p:nvCxnSpPr>
        <p:spPr>
          <a:xfrm>
            <a:off x="2556406" y="2859738"/>
            <a:ext cx="2816" cy="325203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4734810" y="2191115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&lt;Anweisungen_1&gt;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[ break ]</a:t>
            </a:r>
          </a:p>
        </p:txBody>
      </p:sp>
      <p:cxnSp>
        <p:nvCxnSpPr>
          <p:cNvPr id="28" name="Gerade Verbindung 27"/>
          <p:cNvCxnSpPr>
            <a:stCxn id="21" idx="2"/>
            <a:endCxn id="49" idx="0"/>
          </p:cNvCxnSpPr>
          <p:nvPr/>
        </p:nvCxnSpPr>
        <p:spPr>
          <a:xfrm>
            <a:off x="5779556" y="2815334"/>
            <a:ext cx="2816" cy="458785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870937" y="204288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2575124" y="280937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Prozess 23"/>
          <p:cNvSpPr/>
          <p:nvPr/>
        </p:nvSpPr>
        <p:spPr>
          <a:xfrm>
            <a:off x="1511660" y="1268760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&lt;Ausdruck&gt;</a:t>
            </a:r>
          </a:p>
        </p:txBody>
      </p:sp>
      <p:cxnSp>
        <p:nvCxnSpPr>
          <p:cNvPr id="44" name="Gerade Verbindung mit Pfeil 43"/>
          <p:cNvCxnSpPr>
            <a:stCxn id="12" idx="3"/>
            <a:endCxn id="21" idx="1"/>
          </p:cNvCxnSpPr>
          <p:nvPr/>
        </p:nvCxnSpPr>
        <p:spPr>
          <a:xfrm>
            <a:off x="4032570" y="2481696"/>
            <a:ext cx="702240" cy="21529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Flussdiagramm: Verzweigung 46"/>
          <p:cNvSpPr/>
          <p:nvPr/>
        </p:nvSpPr>
        <p:spPr>
          <a:xfrm>
            <a:off x="1083058" y="3184941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&lt;Wert_2&gt;</a:t>
            </a:r>
          </a:p>
        </p:txBody>
      </p:sp>
      <p:cxnSp>
        <p:nvCxnSpPr>
          <p:cNvPr id="48" name="Gerade Verbindung mit Pfeil 47"/>
          <p:cNvCxnSpPr>
            <a:stCxn id="47" idx="2"/>
            <a:endCxn id="32" idx="0"/>
          </p:cNvCxnSpPr>
          <p:nvPr/>
        </p:nvCxnSpPr>
        <p:spPr>
          <a:xfrm>
            <a:off x="2559222" y="3941025"/>
            <a:ext cx="457" cy="296755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lussdiagramm: Prozess 48"/>
          <p:cNvSpPr/>
          <p:nvPr/>
        </p:nvSpPr>
        <p:spPr>
          <a:xfrm>
            <a:off x="4737626" y="3274119"/>
            <a:ext cx="2089491" cy="57479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&lt;Anweisungen_2&gt;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 [ break ]</a:t>
            </a:r>
            <a:endParaRPr lang="de-AT" i="1" dirty="0">
              <a:solidFill>
                <a:srgbClr val="CC3300"/>
              </a:solidFill>
            </a:endParaRPr>
          </a:p>
        </p:txBody>
      </p:sp>
      <p:sp>
        <p:nvSpPr>
          <p:cNvPr id="51" name="Textfeld 50"/>
          <p:cNvSpPr txBox="1"/>
          <p:nvPr/>
        </p:nvSpPr>
        <p:spPr>
          <a:xfrm>
            <a:off x="3921459" y="306851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52" name="Gerade Verbindung mit Pfeil 51"/>
          <p:cNvCxnSpPr>
            <a:stCxn id="47" idx="3"/>
            <a:endCxn id="49" idx="1"/>
          </p:cNvCxnSpPr>
          <p:nvPr/>
        </p:nvCxnSpPr>
        <p:spPr>
          <a:xfrm flipV="1">
            <a:off x="4035386" y="3561517"/>
            <a:ext cx="702240" cy="146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lussdiagramm: Prozess 54"/>
          <p:cNvSpPr/>
          <p:nvPr/>
        </p:nvSpPr>
        <p:spPr>
          <a:xfrm>
            <a:off x="4738084" y="4571723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[ &lt;Standard-Anweisungen&gt; ]</a:t>
            </a:r>
          </a:p>
        </p:txBody>
      </p:sp>
      <p:cxnSp>
        <p:nvCxnSpPr>
          <p:cNvPr id="63" name="Gerade Verbindung 62"/>
          <p:cNvCxnSpPr>
            <a:stCxn id="49" idx="2"/>
            <a:endCxn id="55" idx="0"/>
          </p:cNvCxnSpPr>
          <p:nvPr/>
        </p:nvCxnSpPr>
        <p:spPr>
          <a:xfrm>
            <a:off x="5782372" y="3848915"/>
            <a:ext cx="458" cy="722808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/>
          <p:cNvCxnSpPr>
            <a:stCxn id="49" idx="3"/>
          </p:cNvCxnSpPr>
          <p:nvPr/>
        </p:nvCxnSpPr>
        <p:spPr>
          <a:xfrm>
            <a:off x="6827117" y="3561517"/>
            <a:ext cx="680645" cy="0"/>
          </a:xfrm>
          <a:prstGeom prst="straightConnector1">
            <a:avLst/>
          </a:prstGeom>
          <a:ln w="2222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/>
          <p:cNvSpPr txBox="1"/>
          <p:nvPr/>
        </p:nvSpPr>
        <p:spPr>
          <a:xfrm>
            <a:off x="2258090" y="4237780"/>
            <a:ext cx="603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usw.</a:t>
            </a:r>
          </a:p>
        </p:txBody>
      </p:sp>
      <p:cxnSp>
        <p:nvCxnSpPr>
          <p:cNvPr id="81" name="Gewinkelte Verbindung 80"/>
          <p:cNvCxnSpPr>
            <a:stCxn id="32" idx="2"/>
            <a:endCxn id="55" idx="1"/>
          </p:cNvCxnSpPr>
          <p:nvPr/>
        </p:nvCxnSpPr>
        <p:spPr>
          <a:xfrm rot="16200000" flipH="1">
            <a:off x="3510521" y="3656269"/>
            <a:ext cx="276721" cy="2178405"/>
          </a:xfrm>
          <a:prstGeom prst="bentConnector2">
            <a:avLst/>
          </a:prstGeom>
          <a:ln w="22225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winkelte Verbindung 37"/>
          <p:cNvCxnSpPr>
            <a:stCxn id="21" idx="3"/>
          </p:cNvCxnSpPr>
          <p:nvPr/>
        </p:nvCxnSpPr>
        <p:spPr>
          <a:xfrm>
            <a:off x="6824301" y="2503225"/>
            <a:ext cx="683461" cy="2380608"/>
          </a:xfrm>
          <a:prstGeom prst="bentConnector2">
            <a:avLst/>
          </a:prstGeom>
          <a:ln w="2222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winkelte Verbindung 41"/>
          <p:cNvCxnSpPr>
            <a:stCxn id="55" idx="3"/>
          </p:cNvCxnSpPr>
          <p:nvPr/>
        </p:nvCxnSpPr>
        <p:spPr>
          <a:xfrm>
            <a:off x="6827575" y="4883833"/>
            <a:ext cx="680187" cy="618733"/>
          </a:xfrm>
          <a:prstGeom prst="bentConnector3">
            <a:avLst>
              <a:gd name="adj1" fmla="val 100267"/>
            </a:avLst>
          </a:prstGeom>
          <a:ln w="2222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/>
          <p:cNvSpPr txBox="1"/>
          <p:nvPr/>
        </p:nvSpPr>
        <p:spPr>
          <a:xfrm>
            <a:off x="2624161" y="383638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36038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268760"/>
            <a:ext cx="821571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Ergibt die Auswertung von </a:t>
            </a:r>
            <a:r>
              <a:rPr lang="de-AT" i="1" dirty="0">
                <a:solidFill>
                  <a:srgbClr val="FF0000"/>
                </a:solidFill>
              </a:rPr>
              <a:t>Ausdruck</a:t>
            </a:r>
            <a:r>
              <a:rPr lang="de-AT" dirty="0"/>
              <a:t> den Wert 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Wert_N</a:t>
            </a:r>
            <a:r>
              <a:rPr lang="de-AT" dirty="0"/>
              <a:t>,  </a:t>
            </a:r>
            <a:br>
              <a:rPr lang="de-AT" dirty="0"/>
            </a:br>
            <a:r>
              <a:rPr lang="de-AT" dirty="0"/>
              <a:t>so werden </a:t>
            </a:r>
            <a:r>
              <a:rPr lang="de-AT" i="1" dirty="0" err="1">
                <a:solidFill>
                  <a:srgbClr val="CC3300"/>
                </a:solidFill>
              </a:rPr>
              <a:t>Anweisungen_N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  <a:br>
              <a:rPr lang="de-AT" dirty="0"/>
            </a:br>
            <a:r>
              <a:rPr lang="de-AT" dirty="0"/>
              <a:t>Wird keine Übereinstimmung gefunden, so werden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b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</a:br>
            <a:r>
              <a:rPr lang="de-AT" dirty="0"/>
              <a:t>ausgeführt, wenn das Schlüsselwort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dirty="0"/>
              <a:t> angegeben wird.</a:t>
            </a:r>
          </a:p>
          <a:p>
            <a:endParaRPr lang="de-AT" dirty="0"/>
          </a:p>
          <a:p>
            <a:r>
              <a:rPr lang="de-AT" dirty="0"/>
              <a:t>Ein </a:t>
            </a:r>
            <a:r>
              <a:rPr lang="de-AT" b="1" dirty="0"/>
              <a:t>break</a:t>
            </a:r>
            <a:r>
              <a:rPr lang="de-AT" dirty="0"/>
              <a:t> muss nach jedem </a:t>
            </a:r>
            <a:r>
              <a:rPr lang="de-AT" dirty="0" err="1"/>
              <a:t>case</a:t>
            </a:r>
            <a:r>
              <a:rPr lang="de-AT" dirty="0"/>
              <a:t>-Fall und am Ende des </a:t>
            </a:r>
            <a:r>
              <a:rPr lang="de-AT" dirty="0" err="1"/>
              <a:t>default</a:t>
            </a:r>
            <a:r>
              <a:rPr lang="de-AT" dirty="0"/>
              <a:t>-Falles</a:t>
            </a:r>
          </a:p>
          <a:p>
            <a:r>
              <a:rPr lang="de-AT" dirty="0"/>
              <a:t>angeführt werden!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770160" y="3465004"/>
            <a:ext cx="6588732" cy="2862322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Ausdruck</a:t>
            </a:r>
            <a:r>
              <a:rPr lang="de-AT" b="1" i="1" dirty="0">
                <a:solidFill>
                  <a:srgbClr val="FF0000"/>
                </a:solidFill>
                <a:cs typeface="Courier New" panose="02070309020205020404" pitchFamily="49" charset="0"/>
              </a:rPr>
              <a:t>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. . .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break;  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de-AT" b="1" i="1" dirty="0">
              <a:solidFill>
                <a:srgbClr val="00B050"/>
              </a:solidFill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13" name="Titel 2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58555047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1387</Words>
  <Application>Microsoft Office PowerPoint</Application>
  <PresentationFormat>Bildschirmpräsentation (4:3)</PresentationFormat>
  <Paragraphs>268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31" baseType="lpstr">
      <vt:lpstr>Arial</vt:lpstr>
      <vt:lpstr>Calibri</vt:lpstr>
      <vt:lpstr>Consolas</vt:lpstr>
      <vt:lpstr>Courier New</vt:lpstr>
      <vt:lpstr>Helvetica</vt:lpstr>
      <vt:lpstr>Monaco</vt:lpstr>
      <vt:lpstr>Symbol</vt:lpstr>
      <vt:lpstr>Wingdings</vt:lpstr>
      <vt:lpstr>2_Larissa</vt:lpstr>
      <vt:lpstr>Ein etwas frecher „GrownUpCalculator“</vt:lpstr>
      <vt:lpstr>Der einfache Teil</vt:lpstr>
      <vt:lpstr>Verzweigung - Selektion</vt:lpstr>
      <vt:lpstr>Selektion in C#</vt:lpstr>
      <vt:lpstr>Bedingungen (Conditions)</vt:lpstr>
      <vt:lpstr>Bedingungen – Logischer Ausdruck</vt:lpstr>
      <vt:lpstr>Verknüpfung von Bedingungen mit &amp;&amp; (AND)</vt:lpstr>
      <vt:lpstr>Verknüpfung von Bedingungen mit II (OR)</vt:lpstr>
      <vt:lpstr>Einseitige Verzweigung</vt:lpstr>
      <vt:lpstr>Einseitige Verzweigung (if)</vt:lpstr>
      <vt:lpstr>Zweiseitige Verzweigung (if .. else)</vt:lpstr>
      <vt:lpstr>Zweiseitige Verzweigung (if..else)</vt:lpstr>
      <vt:lpstr>Zweiseitige Verzweigung - Beispiel</vt:lpstr>
      <vt:lpstr>Erweiterung</vt:lpstr>
      <vt:lpstr>Verschachtelung von Verzweigungen</vt:lpstr>
      <vt:lpstr>Verschachtelung von Verzweigungen </vt:lpstr>
      <vt:lpstr>Verschachtelung von Verzweigungen</vt:lpstr>
      <vt:lpstr>Beispiel else-if Kette</vt:lpstr>
      <vt:lpstr>Noch mehr Varianten</vt:lpstr>
      <vt:lpstr>Switch in C#</vt:lpstr>
      <vt:lpstr>Mehrfachverzweigung (switch)</vt:lpstr>
      <vt:lpstr>Mehrfachverzweigung (switch)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134</cp:revision>
  <dcterms:created xsi:type="dcterms:W3CDTF">2013-05-11T11:25:57Z</dcterms:created>
  <dcterms:modified xsi:type="dcterms:W3CDTF">2021-10-01T19:59:25Z</dcterms:modified>
</cp:coreProperties>
</file>