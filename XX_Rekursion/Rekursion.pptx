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98" r:id="rId2"/>
    <p:sldId id="299" r:id="rId3"/>
    <p:sldId id="300" r:id="rId4"/>
    <p:sldId id="301" r:id="rId5"/>
    <p:sldId id="302" r:id="rId6"/>
    <p:sldId id="309" r:id="rId7"/>
    <p:sldId id="308" r:id="rId8"/>
    <p:sldId id="310" r:id="rId9"/>
    <p:sldId id="303" r:id="rId10"/>
    <p:sldId id="304" r:id="rId11"/>
    <p:sldId id="306" r:id="rId12"/>
    <p:sldId id="307" r:id="rId13"/>
  </p:sldIdLst>
  <p:sldSz cx="9144000" cy="6858000" type="screen4x3"/>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50"/>
    <a:srgbClr val="FFCC00"/>
    <a:srgbClr val="000000"/>
    <a:srgbClr val="4F81BD"/>
    <a:srgbClr val="B5EE26"/>
    <a:srgbClr val="BBEF39"/>
    <a:srgbClr val="C7F12F"/>
    <a:srgbClr val="B6F42C"/>
    <a:srgbClr val="CC3300"/>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340" y="44"/>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AT"/>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336932-01FD-45AF-B110-84880AA37D65}" type="datetimeFigureOut">
              <a:rPr lang="de-AT" smtClean="0"/>
              <a:t>23.06.2021</a:t>
            </a:fld>
            <a:endParaRPr lang="de-AT"/>
          </a:p>
        </p:txBody>
      </p:sp>
      <p:sp>
        <p:nvSpPr>
          <p:cNvPr id="4" name="Folienbildplatzhalt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AT"/>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2364C66-90D0-45FE-9B3B-EB18F2272AED}" type="slidenum">
              <a:rPr lang="de-AT" smtClean="0"/>
              <a:t>‹Nr.›</a:t>
            </a:fld>
            <a:endParaRPr lang="de-AT"/>
          </a:p>
        </p:txBody>
      </p:sp>
    </p:spTree>
    <p:extLst>
      <p:ext uri="{BB962C8B-B14F-4D97-AF65-F5344CB8AC3E}">
        <p14:creationId xmlns:p14="http://schemas.microsoft.com/office/powerpoint/2010/main" val="2547484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olie mit Fließtext">
    <p:spTree>
      <p:nvGrpSpPr>
        <p:cNvPr id="1" name=""/>
        <p:cNvGrpSpPr/>
        <p:nvPr/>
      </p:nvGrpSpPr>
      <p:grpSpPr>
        <a:xfrm>
          <a:off x="0" y="0"/>
          <a:ext cx="0" cy="0"/>
          <a:chOff x="0" y="0"/>
          <a:chExt cx="0" cy="0"/>
        </a:xfrm>
      </p:grpSpPr>
      <p:sp>
        <p:nvSpPr>
          <p:cNvPr id="2" name="Titel 1"/>
          <p:cNvSpPr>
            <a:spLocks noGrp="1"/>
          </p:cNvSpPr>
          <p:nvPr>
            <p:ph type="title"/>
          </p:nvPr>
        </p:nvSpPr>
        <p:spPr>
          <a:xfrm>
            <a:off x="457200" y="125760"/>
            <a:ext cx="8229600" cy="1143000"/>
          </a:xfrm>
        </p:spPr>
        <p:txBody>
          <a:bodyPr/>
          <a:lstStyle>
            <a:lvl1pPr>
              <a:defRPr baseline="0"/>
            </a:lvl1pPr>
          </a:lstStyle>
          <a:p>
            <a:r>
              <a:rPr lang="en-US" dirty="0"/>
              <a:t>Titelmasterformat durch Klicken bearbeiten</a:t>
            </a:r>
            <a:endParaRPr lang="de-AT" dirty="0"/>
          </a:p>
        </p:txBody>
      </p:sp>
      <p:sp>
        <p:nvSpPr>
          <p:cNvPr id="6" name="Inhaltsplatzhalter 5"/>
          <p:cNvSpPr>
            <a:spLocks noGrp="1"/>
          </p:cNvSpPr>
          <p:nvPr>
            <p:ph sz="quarter" idx="11"/>
          </p:nvPr>
        </p:nvSpPr>
        <p:spPr>
          <a:xfrm>
            <a:off x="467544" y="1268761"/>
            <a:ext cx="8208912" cy="4680520"/>
          </a:xfrm>
          <a:prstGeom prst="rect">
            <a:avLst/>
          </a:prstGeom>
        </p:spPr>
        <p:txBody>
          <a:bodyPr>
            <a:normAutofit/>
          </a:bodyPr>
          <a:lstStyle>
            <a:lvl1pPr marL="0" indent="0">
              <a:buNone/>
              <a:defRPr sz="2200"/>
            </a:lvl1pPr>
            <a:lvl2pPr marL="541337" indent="0">
              <a:buNone/>
              <a:defRPr sz="2400"/>
            </a:lvl2pPr>
            <a:lvl3pPr marL="1073150" indent="0">
              <a:buNone/>
              <a:defRPr sz="2200"/>
            </a:lvl3pPr>
            <a:lvl4pPr marL="1436687" indent="0">
              <a:buNone/>
              <a:defRPr/>
            </a:lvl4pPr>
          </a:lstStyle>
          <a:p>
            <a:pPr lvl="0"/>
            <a:r>
              <a:rPr lang="en-US" dirty="0"/>
              <a:t>Textmasterformate durch Klicken bearbeiten</a:t>
            </a:r>
          </a:p>
        </p:txBody>
      </p:sp>
    </p:spTree>
    <p:extLst>
      <p:ext uri="{BB962C8B-B14F-4D97-AF65-F5344CB8AC3E}">
        <p14:creationId xmlns:p14="http://schemas.microsoft.com/office/powerpoint/2010/main" val="1606258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lie mit Aufzählungen">
    <p:spTree>
      <p:nvGrpSpPr>
        <p:cNvPr id="1" name=""/>
        <p:cNvGrpSpPr/>
        <p:nvPr/>
      </p:nvGrpSpPr>
      <p:grpSpPr>
        <a:xfrm>
          <a:off x="0" y="0"/>
          <a:ext cx="0" cy="0"/>
          <a:chOff x="0" y="0"/>
          <a:chExt cx="0" cy="0"/>
        </a:xfrm>
      </p:grpSpPr>
      <p:sp>
        <p:nvSpPr>
          <p:cNvPr id="2" name="Titel 1"/>
          <p:cNvSpPr>
            <a:spLocks noGrp="1"/>
          </p:cNvSpPr>
          <p:nvPr>
            <p:ph type="title"/>
          </p:nvPr>
        </p:nvSpPr>
        <p:spPr>
          <a:xfrm>
            <a:off x="457200" y="125760"/>
            <a:ext cx="8229600" cy="1143000"/>
          </a:xfrm>
        </p:spPr>
        <p:txBody>
          <a:bodyPr/>
          <a:lstStyle>
            <a:lvl1pPr>
              <a:defRPr/>
            </a:lvl1pPr>
          </a:lstStyle>
          <a:p>
            <a:r>
              <a:rPr lang="en-US" dirty="0"/>
              <a:t>Titelmasterformat durch Klicken bearbeiten</a:t>
            </a:r>
            <a:endParaRPr lang="de-AT" dirty="0"/>
          </a:p>
        </p:txBody>
      </p:sp>
      <p:sp>
        <p:nvSpPr>
          <p:cNvPr id="6" name="Inhaltsplatzhalter 5"/>
          <p:cNvSpPr>
            <a:spLocks noGrp="1"/>
          </p:cNvSpPr>
          <p:nvPr>
            <p:ph sz="quarter" idx="11"/>
          </p:nvPr>
        </p:nvSpPr>
        <p:spPr>
          <a:xfrm>
            <a:off x="467544" y="1268761"/>
            <a:ext cx="8208912" cy="4680520"/>
          </a:xfrm>
          <a:prstGeom prst="rect">
            <a:avLst/>
          </a:prstGeom>
        </p:spPr>
        <p:txBody>
          <a:bodyPr/>
          <a:lstStyle>
            <a:lvl1pPr marL="514350" indent="-514350">
              <a:buClr>
                <a:schemeClr val="tx1">
                  <a:lumMod val="50000"/>
                  <a:lumOff val="50000"/>
                </a:schemeClr>
              </a:buClr>
              <a:buSzPct val="100000"/>
              <a:buFont typeface="+mj-lt"/>
              <a:buAutoNum type="arabicPeriod"/>
              <a:defRPr sz="2600" baseline="0"/>
            </a:lvl1pPr>
            <a:lvl2pPr marL="998537" indent="-457200">
              <a:buClr>
                <a:schemeClr val="tx1">
                  <a:lumMod val="65000"/>
                  <a:lumOff val="35000"/>
                </a:schemeClr>
              </a:buClr>
              <a:buFont typeface="+mj-lt"/>
              <a:buAutoNum type="alphaLcPeriod"/>
              <a:defRPr sz="2300"/>
            </a:lvl2pPr>
            <a:lvl3pPr marL="1530350" indent="-457200">
              <a:buSzPct val="100000"/>
              <a:buFont typeface="Wingdings" pitchFamily="2" charset="2"/>
              <a:buChar char="§"/>
              <a:defRPr sz="2000" baseline="0"/>
            </a:lvl3pPr>
            <a:lvl4pPr marL="1893887" indent="-457200">
              <a:buFont typeface="+mj-lt"/>
              <a:buAutoNum type="arabicPeriod"/>
              <a:defRPr/>
            </a:lvl4pPr>
          </a:lstStyle>
          <a:p>
            <a:pPr lvl="0"/>
            <a:r>
              <a:rPr lang="en-US" dirty="0"/>
              <a:t>Textmasterformate durch Klicken bearbeiten</a:t>
            </a:r>
          </a:p>
          <a:p>
            <a:pPr lvl="1"/>
            <a:r>
              <a:rPr lang="en-US" dirty="0"/>
              <a:t>Zweite Ebene</a:t>
            </a:r>
          </a:p>
          <a:p>
            <a:pPr lvl="2"/>
            <a:r>
              <a:rPr lang="en-US" dirty="0"/>
              <a:t>Dritte Ebene</a:t>
            </a:r>
          </a:p>
          <a:p>
            <a:pPr lvl="3"/>
            <a:r>
              <a:rPr lang="en-US" dirty="0"/>
              <a:t>Vierte Ebene</a:t>
            </a:r>
          </a:p>
          <a:p>
            <a:pPr lvl="4"/>
            <a:r>
              <a:rPr lang="en-US" dirty="0"/>
              <a:t>Fünfte Ebene</a:t>
            </a:r>
            <a:endParaRPr lang="de-DE" dirty="0"/>
          </a:p>
        </p:txBody>
      </p:sp>
    </p:spTree>
    <p:extLst>
      <p:ext uri="{BB962C8B-B14F-4D97-AF65-F5344CB8AC3E}">
        <p14:creationId xmlns:p14="http://schemas.microsoft.com/office/powerpoint/2010/main" val="2345486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uflistu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dirty="0"/>
              <a:t>Titelmasterformat durch Klicken bearbeiten</a:t>
            </a:r>
            <a:endParaRPr lang="de-AT" dirty="0"/>
          </a:p>
        </p:txBody>
      </p:sp>
      <p:sp>
        <p:nvSpPr>
          <p:cNvPr id="4" name="Textplatzhalter 3"/>
          <p:cNvSpPr>
            <a:spLocks noGrp="1"/>
          </p:cNvSpPr>
          <p:nvPr>
            <p:ph type="body" sz="quarter" idx="10"/>
          </p:nvPr>
        </p:nvSpPr>
        <p:spPr>
          <a:xfrm>
            <a:off x="468313" y="1268760"/>
            <a:ext cx="8207375" cy="4608165"/>
          </a:xfrm>
          <a:prstGeom prst="rect">
            <a:avLst/>
          </a:prstGeom>
        </p:spPr>
        <p:txBody>
          <a:bodyPr/>
          <a:lstStyle>
            <a:lvl1pPr>
              <a:defRPr sz="2600"/>
            </a:lvl1pPr>
            <a:lvl2pPr>
              <a:defRPr sz="2400"/>
            </a:lvl2pPr>
          </a:lstStyle>
          <a:p>
            <a:pPr lvl="0"/>
            <a:r>
              <a:rPr lang="en-US" dirty="0"/>
              <a:t>Textmasterformate durch Klicken bearbeiten</a:t>
            </a:r>
          </a:p>
          <a:p>
            <a:pPr lvl="1"/>
            <a:r>
              <a:rPr lang="en-US" dirty="0"/>
              <a:t>Zweite Ebene</a:t>
            </a:r>
          </a:p>
          <a:p>
            <a:pPr lvl="2"/>
            <a:r>
              <a:rPr lang="en-US" dirty="0"/>
              <a:t>Dritte Ebene</a:t>
            </a:r>
          </a:p>
          <a:p>
            <a:pPr lvl="3"/>
            <a:r>
              <a:rPr lang="en-US" dirty="0"/>
              <a:t>Vierte Ebene</a:t>
            </a:r>
          </a:p>
        </p:txBody>
      </p:sp>
    </p:spTree>
    <p:extLst>
      <p:ext uri="{BB962C8B-B14F-4D97-AF65-F5344CB8AC3E}">
        <p14:creationId xmlns:p14="http://schemas.microsoft.com/office/powerpoint/2010/main" val="2310097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enutzerdefiniertes Layou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baseline="0"/>
            </a:lvl1pPr>
          </a:lstStyle>
          <a:p>
            <a:r>
              <a:rPr lang="en-US" dirty="0"/>
              <a:t>Titelmasterformat durch Klicken bearbeiten</a:t>
            </a:r>
            <a:endParaRPr lang="de-AT" dirty="0"/>
          </a:p>
        </p:txBody>
      </p:sp>
    </p:spTree>
    <p:extLst>
      <p:ext uri="{BB962C8B-B14F-4D97-AF65-F5344CB8AC3E}">
        <p14:creationId xmlns:p14="http://schemas.microsoft.com/office/powerpoint/2010/main" val="2314648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965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57200" y="125413"/>
            <a:ext cx="8229600" cy="1143000"/>
          </a:xfrm>
        </p:spPr>
        <p:txBody>
          <a:bodyPr/>
          <a:lstStyle/>
          <a:p>
            <a:r>
              <a:rPr lang="en-US"/>
              <a:t>Titelmasterformat durch Klicken bearbeiten</a:t>
            </a:r>
            <a:endParaRPr lang="de-DE"/>
          </a:p>
        </p:txBody>
      </p:sp>
      <p:sp>
        <p:nvSpPr>
          <p:cNvPr id="3" name="Inhaltsplatzhalter 2"/>
          <p:cNvSpPr>
            <a:spLocks noGrp="1"/>
          </p:cNvSpPr>
          <p:nvPr>
            <p:ph idx="1"/>
          </p:nvPr>
        </p:nvSpPr>
        <p:spPr>
          <a:xfrm>
            <a:off x="457200" y="1600200"/>
            <a:ext cx="8229600" cy="4525963"/>
          </a:xfrm>
          <a:prstGeom prst="rect">
            <a:avLst/>
          </a:prstGeom>
        </p:spPr>
        <p:txBody>
          <a:bodyPr/>
          <a:lstStyle/>
          <a:p>
            <a:pPr lvl="0"/>
            <a:r>
              <a:rPr lang="en-US"/>
              <a:t>Textmasterformate durch Klicken bearbeiten</a:t>
            </a:r>
          </a:p>
          <a:p>
            <a:pPr lvl="1"/>
            <a:r>
              <a:rPr lang="en-US"/>
              <a:t>Zweite Ebene</a:t>
            </a:r>
          </a:p>
          <a:p>
            <a:pPr lvl="2"/>
            <a:r>
              <a:rPr lang="en-US"/>
              <a:t>Dritte Ebene</a:t>
            </a:r>
          </a:p>
          <a:p>
            <a:pPr lvl="3"/>
            <a:r>
              <a:rPr lang="en-US"/>
              <a:t>Vierte Ebene</a:t>
            </a:r>
          </a:p>
          <a:p>
            <a:pPr lvl="4"/>
            <a:r>
              <a:rPr lang="en-US"/>
              <a:t>Fünfte Ebene</a:t>
            </a:r>
            <a:endParaRPr lang="de-DE"/>
          </a:p>
        </p:txBody>
      </p:sp>
    </p:spTree>
    <p:extLst>
      <p:ext uri="{BB962C8B-B14F-4D97-AF65-F5344CB8AC3E}">
        <p14:creationId xmlns:p14="http://schemas.microsoft.com/office/powerpoint/2010/main" val="2517488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70000">
              <a:schemeClr val="bg1">
                <a:tint val="80000"/>
                <a:satMod val="300000"/>
                <a:lumMod val="85000"/>
                <a:lumOff val="15000"/>
              </a:schemeClr>
            </a:gs>
            <a:gs pos="100000">
              <a:schemeClr val="bg1">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10" name="Rechteck 9"/>
          <p:cNvSpPr/>
          <p:nvPr userDrawn="1"/>
        </p:nvSpPr>
        <p:spPr>
          <a:xfrm>
            <a:off x="-7455" y="-12449"/>
            <a:ext cx="9252520" cy="849161"/>
          </a:xfrm>
          <a:prstGeom prst="rect">
            <a:avLst/>
          </a:prstGeom>
          <a:gradFill flip="none" rotWithShape="1">
            <a:gsLst>
              <a:gs pos="27000">
                <a:srgbClr val="4879B4"/>
              </a:gs>
              <a:gs pos="0">
                <a:schemeClr val="tx2"/>
              </a:gs>
              <a:gs pos="50000">
                <a:schemeClr val="accent1"/>
              </a:gs>
              <a:gs pos="100000">
                <a:schemeClr val="tx2"/>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de-AT"/>
          </a:p>
        </p:txBody>
      </p:sp>
      <p:sp>
        <p:nvSpPr>
          <p:cNvPr id="12" name="Rechteck 11"/>
          <p:cNvSpPr/>
          <p:nvPr userDrawn="1"/>
        </p:nvSpPr>
        <p:spPr>
          <a:xfrm>
            <a:off x="-7938" y="-26988"/>
            <a:ext cx="9253538" cy="8096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de-AT"/>
          </a:p>
        </p:txBody>
      </p:sp>
      <p:pic>
        <p:nvPicPr>
          <p:cNvPr id="10246" name="Grafik 6"/>
          <p:cNvPicPr>
            <a:picLocks noChangeAspect="1"/>
          </p:cNvPicPr>
          <p:nvPr userDrawn="1"/>
        </p:nvPicPr>
        <p:blipFill>
          <a:blip r:embed="rId8" cstate="print"/>
          <a:srcRect/>
          <a:stretch>
            <a:fillRect/>
          </a:stretch>
        </p:blipFill>
        <p:spPr bwMode="auto">
          <a:xfrm>
            <a:off x="6516688" y="6259513"/>
            <a:ext cx="2281237" cy="338137"/>
          </a:xfrm>
          <a:prstGeom prst="rect">
            <a:avLst/>
          </a:prstGeom>
          <a:noFill/>
          <a:ln w="9525">
            <a:noFill/>
            <a:miter lim="800000"/>
            <a:headEnd/>
            <a:tailEnd/>
          </a:ln>
        </p:spPr>
      </p:pic>
      <p:sp>
        <p:nvSpPr>
          <p:cNvPr id="5" name="Titelplatzhalter 4"/>
          <p:cNvSpPr>
            <a:spLocks noGrp="1"/>
          </p:cNvSpPr>
          <p:nvPr>
            <p:ph type="title"/>
          </p:nvPr>
        </p:nvSpPr>
        <p:spPr>
          <a:xfrm>
            <a:off x="457200" y="125413"/>
            <a:ext cx="8229600" cy="1143000"/>
          </a:xfrm>
          <a:prstGeom prst="rect">
            <a:avLst/>
          </a:prstGeom>
        </p:spPr>
        <p:txBody>
          <a:bodyPr vert="horz" lIns="91440" tIns="45720" rIns="91440" bIns="45720" rtlCol="0" anchor="t">
            <a:normAutofit/>
          </a:bodyPr>
          <a:lstStyle/>
          <a:p>
            <a:r>
              <a:rPr lang="de-DE" dirty="0"/>
              <a:t>Masterfolie</a:t>
            </a:r>
            <a:endParaRPr lang="de-AT" dirty="0"/>
          </a:p>
        </p:txBody>
      </p:sp>
      <p:sp>
        <p:nvSpPr>
          <p:cNvPr id="11" name="Rectangle 10"/>
          <p:cNvSpPr>
            <a:spLocks noChangeArrowheads="1"/>
          </p:cNvSpPr>
          <p:nvPr userDrawn="1"/>
        </p:nvSpPr>
        <p:spPr bwMode="gray">
          <a:xfrm>
            <a:off x="349250" y="6361113"/>
            <a:ext cx="3934718" cy="236537"/>
          </a:xfrm>
          <a:prstGeom prst="rect">
            <a:avLst/>
          </a:prstGeom>
          <a:noFill/>
          <a:ln w="9525">
            <a:noFill/>
            <a:miter lim="800000"/>
            <a:headEnd/>
            <a:tailEnd/>
          </a:ln>
        </p:spPr>
        <p:txBody>
          <a:bodyPr/>
          <a:lstStyle/>
          <a:p>
            <a:pPr fontAlgn="auto">
              <a:spcBef>
                <a:spcPts val="0"/>
              </a:spcBef>
              <a:spcAft>
                <a:spcPts val="0"/>
              </a:spcAft>
              <a:defRPr/>
            </a:pPr>
            <a:r>
              <a:rPr lang="de-DE" sz="1000" dirty="0">
                <a:solidFill>
                  <a:schemeClr val="bg1">
                    <a:lumMod val="50000"/>
                  </a:schemeClr>
                </a:solidFill>
                <a:latin typeface="+mn-lt"/>
                <a:cs typeface="Arial" charset="0"/>
              </a:rPr>
              <a:t>I_POS </a:t>
            </a:r>
            <a:r>
              <a:rPr lang="de-DE" sz="1000" dirty="0">
                <a:solidFill>
                  <a:schemeClr val="bg1">
                    <a:lumMod val="50000"/>
                  </a:schemeClr>
                </a:solidFill>
                <a:latin typeface="+mn-lt"/>
                <a:cs typeface="Arial" charset="0"/>
                <a:sym typeface="Wingdings" pitchFamily="2" charset="2"/>
              </a:rPr>
              <a:t> Rekursion  </a:t>
            </a:r>
            <a:r>
              <a:rPr lang="de-DE" sz="1000" dirty="0">
                <a:solidFill>
                  <a:schemeClr val="bg1">
                    <a:lumMod val="50000"/>
                  </a:schemeClr>
                </a:solidFill>
                <a:latin typeface="+mn-lt"/>
                <a:cs typeface="Arial" charset="0"/>
              </a:rPr>
              <a:t>Seite </a:t>
            </a:r>
            <a:fld id="{C5A4FFB9-E613-43CD-964A-AE1E9E6225EE}" type="slidenum">
              <a:rPr lang="de-DE" sz="1000" smtClean="0">
                <a:solidFill>
                  <a:schemeClr val="bg1">
                    <a:lumMod val="50000"/>
                  </a:schemeClr>
                </a:solidFill>
                <a:latin typeface="+mn-lt"/>
                <a:cs typeface="Arial" charset="0"/>
              </a:rPr>
              <a:pPr fontAlgn="auto">
                <a:spcBef>
                  <a:spcPts val="0"/>
                </a:spcBef>
                <a:spcAft>
                  <a:spcPts val="0"/>
                </a:spcAft>
                <a:defRPr/>
              </a:pPr>
              <a:t>‹Nr.›</a:t>
            </a:fld>
            <a:endParaRPr lang="de-DE" sz="1000" dirty="0">
              <a:solidFill>
                <a:schemeClr val="bg1">
                  <a:lumMod val="50000"/>
                </a:schemeClr>
              </a:solidFill>
              <a:latin typeface="+mn-lt"/>
              <a:cs typeface="Arial" charset="0"/>
            </a:endParaRPr>
          </a:p>
        </p:txBody>
      </p:sp>
    </p:spTree>
    <p:extLst>
      <p:ext uri="{BB962C8B-B14F-4D97-AF65-F5344CB8AC3E}">
        <p14:creationId xmlns:p14="http://schemas.microsoft.com/office/powerpoint/2010/main" val="4270921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ftr="0" dt="0"/>
  <p:txStyles>
    <p:titleStyle>
      <a:lvl1pPr algn="l" rtl="0" eaLnBrk="0" fontAlgn="base" hangingPunct="0">
        <a:spcBef>
          <a:spcPct val="0"/>
        </a:spcBef>
        <a:spcAft>
          <a:spcPct val="0"/>
        </a:spcAft>
        <a:defRPr sz="3200" b="1" kern="1200">
          <a:solidFill>
            <a:schemeClr val="bg1"/>
          </a:solidFill>
          <a:effectLst>
            <a:outerShdw blurRad="38100" dist="38100" dir="2700000" algn="tl">
              <a:srgbClr val="000000">
                <a:alpha val="43137"/>
              </a:srgbClr>
            </a:outerShdw>
          </a:effectLst>
          <a:latin typeface="Arial" pitchFamily="34" charset="0"/>
          <a:ea typeface="+mj-ea"/>
          <a:cs typeface="Arial" pitchFamily="34" charset="0"/>
        </a:defRPr>
      </a:lvl1pPr>
      <a:lvl2pPr algn="l" rtl="0" eaLnBrk="0" fontAlgn="base" hangingPunct="0">
        <a:spcBef>
          <a:spcPct val="0"/>
        </a:spcBef>
        <a:spcAft>
          <a:spcPct val="0"/>
        </a:spcAft>
        <a:defRPr sz="3200" b="1">
          <a:solidFill>
            <a:schemeClr val="bg1"/>
          </a:solidFill>
          <a:latin typeface="Arial" charset="0"/>
          <a:cs typeface="Arial" charset="0"/>
        </a:defRPr>
      </a:lvl2pPr>
      <a:lvl3pPr algn="l" rtl="0" eaLnBrk="0" fontAlgn="base" hangingPunct="0">
        <a:spcBef>
          <a:spcPct val="0"/>
        </a:spcBef>
        <a:spcAft>
          <a:spcPct val="0"/>
        </a:spcAft>
        <a:defRPr sz="3200" b="1">
          <a:solidFill>
            <a:schemeClr val="bg1"/>
          </a:solidFill>
          <a:latin typeface="Arial" charset="0"/>
          <a:cs typeface="Arial" charset="0"/>
        </a:defRPr>
      </a:lvl3pPr>
      <a:lvl4pPr algn="l" rtl="0" eaLnBrk="0" fontAlgn="base" hangingPunct="0">
        <a:spcBef>
          <a:spcPct val="0"/>
        </a:spcBef>
        <a:spcAft>
          <a:spcPct val="0"/>
        </a:spcAft>
        <a:defRPr sz="3200" b="1">
          <a:solidFill>
            <a:schemeClr val="bg1"/>
          </a:solidFill>
          <a:latin typeface="Arial" charset="0"/>
          <a:cs typeface="Arial" charset="0"/>
        </a:defRPr>
      </a:lvl4pPr>
      <a:lvl5pPr algn="l" rtl="0" eaLnBrk="0" fontAlgn="base" hangingPunct="0">
        <a:spcBef>
          <a:spcPct val="0"/>
        </a:spcBef>
        <a:spcAft>
          <a:spcPct val="0"/>
        </a:spcAft>
        <a:defRPr sz="3200" b="1">
          <a:solidFill>
            <a:schemeClr val="bg1"/>
          </a:solidFill>
          <a:latin typeface="Arial" charset="0"/>
          <a:cs typeface="Arial" charset="0"/>
        </a:defRPr>
      </a:lvl5pPr>
      <a:lvl6pPr marL="457200" algn="l" rtl="0" fontAlgn="base">
        <a:spcBef>
          <a:spcPct val="0"/>
        </a:spcBef>
        <a:spcAft>
          <a:spcPct val="0"/>
        </a:spcAft>
        <a:defRPr sz="3200" b="1">
          <a:solidFill>
            <a:schemeClr val="bg1"/>
          </a:solidFill>
          <a:latin typeface="Arial" charset="0"/>
          <a:cs typeface="Arial" charset="0"/>
        </a:defRPr>
      </a:lvl6pPr>
      <a:lvl7pPr marL="914400" algn="l" rtl="0" fontAlgn="base">
        <a:spcBef>
          <a:spcPct val="0"/>
        </a:spcBef>
        <a:spcAft>
          <a:spcPct val="0"/>
        </a:spcAft>
        <a:defRPr sz="3200" b="1">
          <a:solidFill>
            <a:schemeClr val="bg1"/>
          </a:solidFill>
          <a:latin typeface="Arial" charset="0"/>
          <a:cs typeface="Arial" charset="0"/>
        </a:defRPr>
      </a:lvl7pPr>
      <a:lvl8pPr marL="1371600" algn="l" rtl="0" fontAlgn="base">
        <a:spcBef>
          <a:spcPct val="0"/>
        </a:spcBef>
        <a:spcAft>
          <a:spcPct val="0"/>
        </a:spcAft>
        <a:defRPr sz="3200" b="1">
          <a:solidFill>
            <a:schemeClr val="bg1"/>
          </a:solidFill>
          <a:latin typeface="Arial" charset="0"/>
          <a:cs typeface="Arial" charset="0"/>
        </a:defRPr>
      </a:lvl8pPr>
      <a:lvl9pPr marL="1828800" algn="l" rtl="0" fontAlgn="base">
        <a:spcBef>
          <a:spcPct val="0"/>
        </a:spcBef>
        <a:spcAft>
          <a:spcPct val="0"/>
        </a:spcAft>
        <a:defRPr sz="3200" b="1">
          <a:solidFill>
            <a:schemeClr val="bg1"/>
          </a:solidFill>
          <a:latin typeface="Arial" charset="0"/>
          <a:cs typeface="Arial" charset="0"/>
        </a:defRPr>
      </a:lvl9pPr>
    </p:titleStyle>
    <p:bodyStyle>
      <a:lvl1pPr marL="269875" indent="-269875" algn="l" rtl="0" eaLnBrk="0" fontAlgn="base" hangingPunct="0">
        <a:spcBef>
          <a:spcPct val="20000"/>
        </a:spcBef>
        <a:spcAft>
          <a:spcPct val="0"/>
        </a:spcAft>
        <a:buClr>
          <a:srgbClr val="595959"/>
        </a:buClr>
        <a:buSzPct val="80000"/>
        <a:buFont typeface="Wingdings" pitchFamily="2" charset="2"/>
        <a:buChar char="§"/>
        <a:defRPr sz="2800" kern="1200">
          <a:solidFill>
            <a:srgbClr val="404040"/>
          </a:solidFill>
          <a:latin typeface="Arial" pitchFamily="34" charset="0"/>
          <a:ea typeface="+mn-ea"/>
          <a:cs typeface="Arial" pitchFamily="34" charset="0"/>
        </a:defRPr>
      </a:lvl1pPr>
      <a:lvl2pPr marL="895350" indent="-354013" algn="l" rtl="0" eaLnBrk="0" fontAlgn="base" hangingPunct="0">
        <a:spcBef>
          <a:spcPct val="20000"/>
        </a:spcBef>
        <a:spcAft>
          <a:spcPct val="0"/>
        </a:spcAft>
        <a:buClr>
          <a:srgbClr val="595959"/>
        </a:buClr>
        <a:buFont typeface="Symbol" pitchFamily="18" charset="2"/>
        <a:buChar char="-"/>
        <a:defRPr sz="2500" kern="1200">
          <a:solidFill>
            <a:srgbClr val="404040"/>
          </a:solidFill>
          <a:latin typeface="Arial" pitchFamily="34" charset="0"/>
          <a:ea typeface="+mn-ea"/>
          <a:cs typeface="Arial" pitchFamily="34" charset="0"/>
        </a:defRPr>
      </a:lvl2pPr>
      <a:lvl3pPr marL="1343025" indent="-269875" algn="l" rtl="0" eaLnBrk="0" fontAlgn="base" hangingPunct="0">
        <a:spcBef>
          <a:spcPct val="20000"/>
        </a:spcBef>
        <a:spcAft>
          <a:spcPct val="0"/>
        </a:spcAft>
        <a:buClr>
          <a:srgbClr val="595959"/>
        </a:buClr>
        <a:buSzPct val="80000"/>
        <a:buFont typeface="Wingdings" pitchFamily="2" charset="2"/>
        <a:buChar char="§"/>
        <a:defRPr sz="2200" kern="1200">
          <a:solidFill>
            <a:srgbClr val="404040"/>
          </a:solidFill>
          <a:latin typeface="Arial" pitchFamily="34" charset="0"/>
          <a:ea typeface="+mn-ea"/>
          <a:cs typeface="Arial" pitchFamily="34" charset="0"/>
        </a:defRPr>
      </a:lvl3pPr>
      <a:lvl4pPr marL="1790700" indent="-354013" algn="l" rtl="0" eaLnBrk="0" fontAlgn="base" hangingPunct="0">
        <a:spcBef>
          <a:spcPct val="20000"/>
        </a:spcBef>
        <a:spcAft>
          <a:spcPct val="0"/>
        </a:spcAft>
        <a:buClr>
          <a:srgbClr val="595959"/>
        </a:buClr>
        <a:buFont typeface="Symbol" pitchFamily="18" charset="2"/>
        <a:buChar char="-"/>
        <a:defRPr sz="2000" kern="1200">
          <a:solidFill>
            <a:srgbClr val="404040"/>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hyperlink" Target="http://de.wikipedia.org/wiki/Stapelspeicher"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p:cNvSpPr>
            <a:spLocks noGrp="1" noChangeArrowheads="1"/>
          </p:cNvSpPr>
          <p:nvPr>
            <p:ph type="title"/>
          </p:nvPr>
        </p:nvSpPr>
        <p:spPr/>
        <p:txBody>
          <a:bodyPr/>
          <a:lstStyle/>
          <a:p>
            <a:pPr eaLnBrk="1" hangingPunct="1"/>
            <a:r>
              <a:rPr lang="de-DE" altLang="de-DE"/>
              <a:t>Rekursion</a:t>
            </a:r>
          </a:p>
        </p:txBody>
      </p:sp>
      <p:sp>
        <p:nvSpPr>
          <p:cNvPr id="2" name="Inhaltsplatzhalter 1"/>
          <p:cNvSpPr>
            <a:spLocks noGrp="1"/>
          </p:cNvSpPr>
          <p:nvPr>
            <p:ph idx="1"/>
          </p:nvPr>
        </p:nvSpPr>
        <p:spPr/>
        <p:txBody>
          <a:bodyPr/>
          <a:lstStyle/>
          <a:p>
            <a:endParaRPr lang="de-AT"/>
          </a:p>
        </p:txBody>
      </p:sp>
      <p:sp>
        <p:nvSpPr>
          <p:cNvPr id="5" name="Foliennummernplatzhalter 4"/>
          <p:cNvSpPr>
            <a:spLocks noGrp="1"/>
          </p:cNvSpPr>
          <p:nvPr>
            <p:ph type="sldNum" sz="quarter" idx="4294967295"/>
          </p:nvPr>
        </p:nvSpPr>
        <p:spPr>
          <a:xfrm>
            <a:off x="0" y="5624513"/>
            <a:ext cx="3086100" cy="274637"/>
          </a:xfrm>
          <a:prstGeom prst="rect">
            <a:avLst/>
          </a:prstGeom>
        </p:spPr>
        <p:txBody>
          <a:bodyPr/>
          <a:lstStyle>
            <a:lvl1pPr eaLnBrk="0" hangingPunct="0">
              <a:defRPr sz="750">
                <a:solidFill>
                  <a:schemeClr val="tx1"/>
                </a:solidFill>
                <a:latin typeface="Arial" panose="020B0604020202020204" pitchFamily="34" charset="0"/>
              </a:defRPr>
            </a:lvl1pPr>
            <a:lvl2pPr marL="557213" indent="-214313" eaLnBrk="0" hangingPunct="0">
              <a:defRPr sz="750">
                <a:solidFill>
                  <a:schemeClr val="tx1"/>
                </a:solidFill>
                <a:latin typeface="Arial" panose="020B0604020202020204" pitchFamily="34" charset="0"/>
              </a:defRPr>
            </a:lvl2pPr>
            <a:lvl3pPr marL="857250" indent="-171450" eaLnBrk="0" hangingPunct="0">
              <a:defRPr sz="750">
                <a:solidFill>
                  <a:schemeClr val="tx1"/>
                </a:solidFill>
                <a:latin typeface="Arial" panose="020B0604020202020204" pitchFamily="34" charset="0"/>
              </a:defRPr>
            </a:lvl3pPr>
            <a:lvl4pPr marL="1200150" indent="-171450" eaLnBrk="0" hangingPunct="0">
              <a:defRPr sz="750">
                <a:solidFill>
                  <a:schemeClr val="tx1"/>
                </a:solidFill>
                <a:latin typeface="Arial" panose="020B0604020202020204" pitchFamily="34" charset="0"/>
              </a:defRPr>
            </a:lvl4pPr>
            <a:lvl5pPr marL="1543050" indent="-171450" eaLnBrk="0" hangingPunct="0">
              <a:defRPr sz="750">
                <a:solidFill>
                  <a:schemeClr val="tx1"/>
                </a:solidFill>
                <a:latin typeface="Arial" panose="020B0604020202020204" pitchFamily="34" charset="0"/>
              </a:defRPr>
            </a:lvl5pPr>
            <a:lvl6pPr marL="1885950" indent="-171450" eaLnBrk="0" fontAlgn="base" hangingPunct="0">
              <a:spcBef>
                <a:spcPct val="0"/>
              </a:spcBef>
              <a:spcAft>
                <a:spcPct val="0"/>
              </a:spcAft>
              <a:defRPr sz="750">
                <a:solidFill>
                  <a:schemeClr val="tx1"/>
                </a:solidFill>
                <a:latin typeface="Arial" panose="020B0604020202020204" pitchFamily="34" charset="0"/>
              </a:defRPr>
            </a:lvl6pPr>
            <a:lvl7pPr marL="2228850" indent="-171450" eaLnBrk="0" fontAlgn="base" hangingPunct="0">
              <a:spcBef>
                <a:spcPct val="0"/>
              </a:spcBef>
              <a:spcAft>
                <a:spcPct val="0"/>
              </a:spcAft>
              <a:defRPr sz="750">
                <a:solidFill>
                  <a:schemeClr val="tx1"/>
                </a:solidFill>
                <a:latin typeface="Arial" panose="020B0604020202020204" pitchFamily="34" charset="0"/>
              </a:defRPr>
            </a:lvl7pPr>
            <a:lvl8pPr marL="2571750" indent="-171450" eaLnBrk="0" fontAlgn="base" hangingPunct="0">
              <a:spcBef>
                <a:spcPct val="0"/>
              </a:spcBef>
              <a:spcAft>
                <a:spcPct val="0"/>
              </a:spcAft>
              <a:defRPr sz="750">
                <a:solidFill>
                  <a:schemeClr val="tx1"/>
                </a:solidFill>
                <a:latin typeface="Arial" panose="020B0604020202020204" pitchFamily="34" charset="0"/>
              </a:defRPr>
            </a:lvl8pPr>
            <a:lvl9pPr marL="2914650" indent="-171450" eaLnBrk="0" fontAlgn="base" hangingPunct="0">
              <a:spcBef>
                <a:spcPct val="0"/>
              </a:spcBef>
              <a:spcAft>
                <a:spcPct val="0"/>
              </a:spcAft>
              <a:defRPr sz="750">
                <a:solidFill>
                  <a:schemeClr val="tx1"/>
                </a:solidFill>
                <a:latin typeface="Arial" panose="020B0604020202020204" pitchFamily="34" charset="0"/>
              </a:defRPr>
            </a:lvl9pPr>
          </a:lstStyle>
          <a:p>
            <a:pPr eaLnBrk="1" hangingPunct="1"/>
            <a:fld id="{04502C7C-682C-434D-8594-15D973BD959C}" type="slidenum">
              <a:rPr lang="de-DE" altLang="de-DE" sz="1050">
                <a:solidFill>
                  <a:schemeClr val="bg1"/>
                </a:solidFill>
                <a:latin typeface="Times New Roman" panose="02020603050405020304" pitchFamily="18" charset="0"/>
              </a:rPr>
              <a:pPr eaLnBrk="1" hangingPunct="1"/>
              <a:t>1</a:t>
            </a:fld>
            <a:endParaRPr lang="de-DE" altLang="de-DE" sz="1050">
              <a:solidFill>
                <a:schemeClr val="bg1"/>
              </a:solidFill>
              <a:latin typeface="Times New Roman" panose="02020603050405020304" pitchFamily="18" charset="0"/>
            </a:endParaRPr>
          </a:p>
        </p:txBody>
      </p:sp>
      <p:pic>
        <p:nvPicPr>
          <p:cNvPr id="2663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3602831"/>
            <a:ext cx="2888456" cy="2031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 name="Picture 2" descr="https://upload.wikimedia.org/wikipedia/commons/thumb/b/b3/Screenshot_Recursion_via_vlc.png/300px-Screenshot_Recursion_via_vl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080" y="3475434"/>
            <a:ext cx="2857500" cy="228600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upload.wikimedia.org/wikipedia/commons/thumb/b/b9/Pythagoras_tree_construct_5of5.png/220px-Pythagoras_tree_construct_5of5.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4237" y="1412776"/>
            <a:ext cx="2095500" cy="1590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2565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p:nvPr>
        </p:nvSpPr>
        <p:spPr/>
        <p:txBody>
          <a:bodyPr/>
          <a:lstStyle/>
          <a:p>
            <a:pPr eaLnBrk="1" hangingPunct="1"/>
            <a:r>
              <a:rPr lang="de-DE" altLang="de-DE"/>
              <a:t>Rekursion</a:t>
            </a:r>
          </a:p>
        </p:txBody>
      </p:sp>
      <p:sp>
        <p:nvSpPr>
          <p:cNvPr id="27653" name="Rectangle 3"/>
          <p:cNvSpPr>
            <a:spLocks noGrp="1" noChangeArrowheads="1"/>
          </p:cNvSpPr>
          <p:nvPr>
            <p:ph sz="quarter" idx="11"/>
          </p:nvPr>
        </p:nvSpPr>
        <p:spPr>
          <a:xfrm>
            <a:off x="251520" y="1069601"/>
            <a:ext cx="8208912" cy="1063255"/>
          </a:xfrm>
        </p:spPr>
        <p:txBody>
          <a:bodyPr>
            <a:normAutofit/>
          </a:bodyPr>
          <a:lstStyle/>
          <a:p>
            <a:pPr algn="ctr" eaLnBrk="1" hangingPunct="1"/>
            <a:r>
              <a:rPr lang="de-AT" altLang="de-DE" dirty="0"/>
              <a:t>Bei der </a:t>
            </a:r>
            <a:r>
              <a:rPr lang="de-AT" altLang="de-DE" b="1" dirty="0"/>
              <a:t>rekursiven Programmierung </a:t>
            </a:r>
            <a:r>
              <a:rPr lang="de-AT" altLang="de-DE" dirty="0"/>
              <a:t>ruft sich eine </a:t>
            </a:r>
            <a:r>
              <a:rPr lang="de-AT" altLang="de-DE" b="1" dirty="0"/>
              <a:t>Methode</a:t>
            </a:r>
            <a:r>
              <a:rPr lang="de-AT" altLang="de-DE" dirty="0"/>
              <a:t> (Prozedur oder Funktion) selbst wieder auf.</a:t>
            </a:r>
          </a:p>
        </p:txBody>
      </p:sp>
      <p:sp>
        <p:nvSpPr>
          <p:cNvPr id="2" name="Rechteck 1"/>
          <p:cNvSpPr/>
          <p:nvPr/>
        </p:nvSpPr>
        <p:spPr>
          <a:xfrm>
            <a:off x="4283968" y="3284984"/>
            <a:ext cx="144016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err="1"/>
              <a:t>CallMe</a:t>
            </a:r>
            <a:r>
              <a:rPr lang="de-AT" dirty="0"/>
              <a:t>(1)</a:t>
            </a:r>
          </a:p>
        </p:txBody>
      </p:sp>
      <p:sp>
        <p:nvSpPr>
          <p:cNvPr id="6" name="Rechteck 5"/>
          <p:cNvSpPr/>
          <p:nvPr/>
        </p:nvSpPr>
        <p:spPr>
          <a:xfrm>
            <a:off x="4572000" y="4085456"/>
            <a:ext cx="144016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err="1"/>
              <a:t>CallMe</a:t>
            </a:r>
            <a:r>
              <a:rPr lang="de-AT" dirty="0"/>
              <a:t>(2)</a:t>
            </a:r>
          </a:p>
        </p:txBody>
      </p:sp>
      <p:sp>
        <p:nvSpPr>
          <p:cNvPr id="7" name="Rechteck 6"/>
          <p:cNvSpPr/>
          <p:nvPr/>
        </p:nvSpPr>
        <p:spPr>
          <a:xfrm>
            <a:off x="4860032" y="4869160"/>
            <a:ext cx="1440160" cy="4320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err="1"/>
              <a:t>CallMe</a:t>
            </a:r>
            <a:r>
              <a:rPr lang="de-AT" dirty="0"/>
              <a:t>(3)</a:t>
            </a:r>
          </a:p>
        </p:txBody>
      </p:sp>
      <p:sp>
        <p:nvSpPr>
          <p:cNvPr id="8" name="Rechteck 7"/>
          <p:cNvSpPr/>
          <p:nvPr/>
        </p:nvSpPr>
        <p:spPr>
          <a:xfrm>
            <a:off x="5076056" y="5661248"/>
            <a:ext cx="144016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err="1"/>
              <a:t>CallMe</a:t>
            </a:r>
            <a:r>
              <a:rPr lang="de-AT" dirty="0"/>
              <a:t>(4)</a:t>
            </a:r>
          </a:p>
        </p:txBody>
      </p:sp>
      <p:sp>
        <p:nvSpPr>
          <p:cNvPr id="3" name="Pfeil nach unten 2"/>
          <p:cNvSpPr/>
          <p:nvPr/>
        </p:nvSpPr>
        <p:spPr>
          <a:xfrm>
            <a:off x="4932040" y="3717032"/>
            <a:ext cx="144016" cy="36004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4" name="Pfeil nach unten 3"/>
          <p:cNvSpPr/>
          <p:nvPr/>
        </p:nvSpPr>
        <p:spPr>
          <a:xfrm>
            <a:off x="5220072" y="4517503"/>
            <a:ext cx="144016" cy="36004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Pfeil nach unten 9"/>
          <p:cNvSpPr/>
          <p:nvPr/>
        </p:nvSpPr>
        <p:spPr>
          <a:xfrm>
            <a:off x="5508104" y="5301112"/>
            <a:ext cx="144016" cy="35175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cxnSp>
        <p:nvCxnSpPr>
          <p:cNvPr id="15" name="Gewinkelte Verbindung 14"/>
          <p:cNvCxnSpPr>
            <a:stCxn id="8" idx="3"/>
          </p:cNvCxnSpPr>
          <p:nvPr/>
        </p:nvCxnSpPr>
        <p:spPr>
          <a:xfrm flipH="1" flipV="1">
            <a:off x="6156176" y="5301112"/>
            <a:ext cx="360040" cy="576160"/>
          </a:xfrm>
          <a:prstGeom prst="bentConnector4">
            <a:avLst>
              <a:gd name="adj1" fmla="val -63493"/>
              <a:gd name="adj2" fmla="val 68747"/>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Gewinkelte Verbindung 17"/>
          <p:cNvCxnSpPr>
            <a:stCxn id="7" idx="3"/>
          </p:cNvCxnSpPr>
          <p:nvPr/>
        </p:nvCxnSpPr>
        <p:spPr>
          <a:xfrm flipH="1" flipV="1">
            <a:off x="5868144" y="4517504"/>
            <a:ext cx="432048" cy="567680"/>
          </a:xfrm>
          <a:prstGeom prst="bentConnector4">
            <a:avLst>
              <a:gd name="adj1" fmla="val -52911"/>
              <a:gd name="adj2" fmla="val 69027"/>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Gewinkelte Verbindung 19"/>
          <p:cNvCxnSpPr>
            <a:stCxn id="6" idx="3"/>
          </p:cNvCxnSpPr>
          <p:nvPr/>
        </p:nvCxnSpPr>
        <p:spPr>
          <a:xfrm flipH="1" flipV="1">
            <a:off x="5580112" y="3733800"/>
            <a:ext cx="432048" cy="567680"/>
          </a:xfrm>
          <a:prstGeom prst="bentConnector4">
            <a:avLst>
              <a:gd name="adj1" fmla="val -52911"/>
              <a:gd name="adj2" fmla="val 69027"/>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Gewinkelte Verbindung 21"/>
          <p:cNvCxnSpPr>
            <a:stCxn id="2" idx="3"/>
          </p:cNvCxnSpPr>
          <p:nvPr/>
        </p:nvCxnSpPr>
        <p:spPr>
          <a:xfrm flipH="1" flipV="1">
            <a:off x="5292080" y="2978902"/>
            <a:ext cx="432048" cy="522106"/>
          </a:xfrm>
          <a:prstGeom prst="bentConnector4">
            <a:avLst>
              <a:gd name="adj1" fmla="val -52911"/>
              <a:gd name="adj2" fmla="val 70688"/>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6" name="Rechteck 35"/>
          <p:cNvSpPr/>
          <p:nvPr/>
        </p:nvSpPr>
        <p:spPr>
          <a:xfrm>
            <a:off x="3995936" y="2564904"/>
            <a:ext cx="1440160" cy="432048"/>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t>Main()</a:t>
            </a:r>
          </a:p>
        </p:txBody>
      </p:sp>
      <p:sp>
        <p:nvSpPr>
          <p:cNvPr id="43" name="Pfeil nach unten 42"/>
          <p:cNvSpPr/>
          <p:nvPr/>
        </p:nvSpPr>
        <p:spPr>
          <a:xfrm>
            <a:off x="4517497" y="2988825"/>
            <a:ext cx="126511" cy="296159"/>
          </a:xfrm>
          <a:prstGeom prst="downArrow">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41" name="Textfeld 40"/>
          <p:cNvSpPr txBox="1"/>
          <p:nvPr/>
        </p:nvSpPr>
        <p:spPr>
          <a:xfrm>
            <a:off x="6732240" y="5517232"/>
            <a:ext cx="1473480" cy="307777"/>
          </a:xfrm>
          <a:prstGeom prst="rect">
            <a:avLst/>
          </a:prstGeom>
          <a:noFill/>
        </p:spPr>
        <p:txBody>
          <a:bodyPr wrap="none" rtlCol="0">
            <a:spAutoFit/>
          </a:bodyPr>
          <a:lstStyle/>
          <a:p>
            <a:r>
              <a:rPr lang="de-AT" sz="1400" b="1" dirty="0" err="1">
                <a:solidFill>
                  <a:srgbClr val="FF0000"/>
                </a:solidFill>
                <a:latin typeface="Courier New" panose="02070309020205020404" pitchFamily="49" charset="0"/>
                <a:cs typeface="Courier New" panose="02070309020205020404" pitchFamily="49" charset="0"/>
              </a:rPr>
              <a:t>return</a:t>
            </a:r>
            <a:r>
              <a:rPr lang="de-AT" sz="1400" b="1" dirty="0">
                <a:solidFill>
                  <a:srgbClr val="FF0000"/>
                </a:solidFill>
                <a:latin typeface="Courier New" panose="02070309020205020404" pitchFamily="49" charset="0"/>
                <a:cs typeface="Courier New" panose="02070309020205020404" pitchFamily="49" charset="0"/>
              </a:rPr>
              <a:t> </a:t>
            </a:r>
            <a:r>
              <a:rPr lang="de-AT" sz="1400" b="1" dirty="0" err="1">
                <a:solidFill>
                  <a:srgbClr val="FF0000"/>
                </a:solidFill>
                <a:latin typeface="Courier New" panose="02070309020205020404" pitchFamily="49" charset="0"/>
                <a:cs typeface="Courier New" panose="02070309020205020404" pitchFamily="49" charset="0"/>
              </a:rPr>
              <a:t>count</a:t>
            </a:r>
            <a:endParaRPr lang="de-AT" sz="1400" b="1" dirty="0">
              <a:solidFill>
                <a:srgbClr val="FF0000"/>
              </a:solidFill>
              <a:latin typeface="Courier New" panose="02070309020205020404" pitchFamily="49" charset="0"/>
              <a:cs typeface="Courier New" panose="02070309020205020404" pitchFamily="49" charset="0"/>
            </a:endParaRPr>
          </a:p>
        </p:txBody>
      </p:sp>
      <p:sp>
        <p:nvSpPr>
          <p:cNvPr id="45" name="Textfeld 44"/>
          <p:cNvSpPr txBox="1"/>
          <p:nvPr/>
        </p:nvSpPr>
        <p:spPr>
          <a:xfrm>
            <a:off x="6552460" y="4723655"/>
            <a:ext cx="1043876" cy="307777"/>
          </a:xfrm>
          <a:prstGeom prst="rect">
            <a:avLst/>
          </a:prstGeom>
          <a:noFill/>
        </p:spPr>
        <p:txBody>
          <a:bodyPr wrap="none" rtlCol="0">
            <a:spAutoFit/>
          </a:bodyPr>
          <a:lstStyle/>
          <a:p>
            <a:r>
              <a:rPr lang="de-AT" sz="1400" b="1" dirty="0" err="1">
                <a:solidFill>
                  <a:srgbClr val="00B050"/>
                </a:solidFill>
                <a:latin typeface="Courier New" panose="02070309020205020404" pitchFamily="49" charset="0"/>
                <a:cs typeface="Courier New" panose="02070309020205020404" pitchFamily="49" charset="0"/>
              </a:rPr>
              <a:t>return</a:t>
            </a:r>
            <a:r>
              <a:rPr lang="de-AT" sz="1400" b="1" dirty="0">
                <a:solidFill>
                  <a:srgbClr val="00B050"/>
                </a:solidFill>
                <a:latin typeface="Courier New" panose="02070309020205020404" pitchFamily="49" charset="0"/>
                <a:cs typeface="Courier New" panose="02070309020205020404" pitchFamily="49" charset="0"/>
              </a:rPr>
              <a:t> 4</a:t>
            </a:r>
          </a:p>
        </p:txBody>
      </p:sp>
      <p:sp>
        <p:nvSpPr>
          <p:cNvPr id="46" name="Textfeld 45"/>
          <p:cNvSpPr txBox="1"/>
          <p:nvPr/>
        </p:nvSpPr>
        <p:spPr>
          <a:xfrm>
            <a:off x="6228184" y="3933056"/>
            <a:ext cx="1043876" cy="307777"/>
          </a:xfrm>
          <a:prstGeom prst="rect">
            <a:avLst/>
          </a:prstGeom>
          <a:noFill/>
        </p:spPr>
        <p:txBody>
          <a:bodyPr wrap="none" rtlCol="0">
            <a:spAutoFit/>
          </a:bodyPr>
          <a:lstStyle/>
          <a:p>
            <a:r>
              <a:rPr lang="de-AT" sz="1400" b="1" dirty="0" err="1">
                <a:solidFill>
                  <a:srgbClr val="00B050"/>
                </a:solidFill>
                <a:latin typeface="Courier New" panose="02070309020205020404" pitchFamily="49" charset="0"/>
                <a:cs typeface="Courier New" panose="02070309020205020404" pitchFamily="49" charset="0"/>
              </a:rPr>
              <a:t>return</a:t>
            </a:r>
            <a:r>
              <a:rPr lang="de-AT" sz="1400" b="1" dirty="0">
                <a:solidFill>
                  <a:srgbClr val="00B050"/>
                </a:solidFill>
                <a:latin typeface="Courier New" panose="02070309020205020404" pitchFamily="49" charset="0"/>
                <a:cs typeface="Courier New" panose="02070309020205020404" pitchFamily="49" charset="0"/>
              </a:rPr>
              <a:t> 4</a:t>
            </a:r>
          </a:p>
        </p:txBody>
      </p:sp>
      <p:sp>
        <p:nvSpPr>
          <p:cNvPr id="47" name="Textfeld 46"/>
          <p:cNvSpPr txBox="1"/>
          <p:nvPr/>
        </p:nvSpPr>
        <p:spPr>
          <a:xfrm>
            <a:off x="5940152" y="3140968"/>
            <a:ext cx="1043876" cy="307777"/>
          </a:xfrm>
          <a:prstGeom prst="rect">
            <a:avLst/>
          </a:prstGeom>
          <a:noFill/>
        </p:spPr>
        <p:txBody>
          <a:bodyPr wrap="none" rtlCol="0">
            <a:spAutoFit/>
          </a:bodyPr>
          <a:lstStyle/>
          <a:p>
            <a:r>
              <a:rPr lang="de-AT" sz="1400" b="1" dirty="0" err="1">
                <a:solidFill>
                  <a:srgbClr val="00B050"/>
                </a:solidFill>
                <a:latin typeface="Courier New" panose="02070309020205020404" pitchFamily="49" charset="0"/>
                <a:cs typeface="Courier New" panose="02070309020205020404" pitchFamily="49" charset="0"/>
              </a:rPr>
              <a:t>return</a:t>
            </a:r>
            <a:r>
              <a:rPr lang="de-AT" sz="1400" b="1" dirty="0">
                <a:solidFill>
                  <a:srgbClr val="00B050"/>
                </a:solidFill>
                <a:latin typeface="Courier New" panose="02070309020205020404" pitchFamily="49" charset="0"/>
                <a:cs typeface="Courier New" panose="02070309020205020404" pitchFamily="49" charset="0"/>
              </a:rPr>
              <a:t> 4</a:t>
            </a:r>
          </a:p>
        </p:txBody>
      </p:sp>
      <p:pic>
        <p:nvPicPr>
          <p:cNvPr id="42" name="Grafik 41"/>
          <p:cNvPicPr>
            <a:picLocks noChangeAspect="1"/>
          </p:cNvPicPr>
          <p:nvPr/>
        </p:nvPicPr>
        <p:blipFill>
          <a:blip r:embed="rId2"/>
          <a:stretch>
            <a:fillRect/>
          </a:stretch>
        </p:blipFill>
        <p:spPr>
          <a:xfrm>
            <a:off x="5488166" y="2545507"/>
            <a:ext cx="3009900" cy="323850"/>
          </a:xfrm>
          <a:prstGeom prst="rect">
            <a:avLst/>
          </a:prstGeom>
        </p:spPr>
      </p:pic>
      <p:sp>
        <p:nvSpPr>
          <p:cNvPr id="11" name="Abgerundetes Rechteck 10"/>
          <p:cNvSpPr/>
          <p:nvPr/>
        </p:nvSpPr>
        <p:spPr>
          <a:xfrm>
            <a:off x="1187624" y="4437112"/>
            <a:ext cx="1512168" cy="286543"/>
          </a:xfrm>
          <a:prstGeom prst="round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2" name="Abgerundetes Rechteck 11"/>
          <p:cNvSpPr/>
          <p:nvPr/>
        </p:nvSpPr>
        <p:spPr>
          <a:xfrm>
            <a:off x="1187624" y="5373216"/>
            <a:ext cx="2664296" cy="279647"/>
          </a:xfrm>
          <a:prstGeom prst="round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pic>
        <p:nvPicPr>
          <p:cNvPr id="9" name="Grafik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329" y="3284983"/>
            <a:ext cx="3528591" cy="2857467"/>
          </a:xfrm>
          <a:prstGeom prst="rect">
            <a:avLst/>
          </a:prstGeom>
        </p:spPr>
      </p:pic>
    </p:spTree>
    <p:extLst>
      <p:ext uri="{BB962C8B-B14F-4D97-AF65-F5344CB8AC3E}">
        <p14:creationId xmlns:p14="http://schemas.microsoft.com/office/powerpoint/2010/main" val="1660789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8" grpId="0" animBg="1"/>
      <p:bldP spid="3" grpId="0" animBg="1"/>
      <p:bldP spid="4" grpId="0" animBg="1"/>
      <p:bldP spid="10" grpId="0" animBg="1"/>
      <p:bldP spid="36" grpId="0" animBg="1"/>
      <p:bldP spid="43" grpId="0" animBg="1"/>
      <p:bldP spid="41" grpId="0"/>
      <p:bldP spid="45" grpId="0"/>
      <p:bldP spid="46" grpId="0"/>
      <p:bldP spid="4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title"/>
          </p:nvPr>
        </p:nvSpPr>
        <p:spPr/>
        <p:txBody>
          <a:bodyPr/>
          <a:lstStyle/>
          <a:p>
            <a:pPr eaLnBrk="1" hangingPunct="1"/>
            <a:r>
              <a:rPr lang="de-DE" altLang="de-DE"/>
              <a:t>Rekursion</a:t>
            </a:r>
          </a:p>
        </p:txBody>
      </p:sp>
      <p:sp>
        <p:nvSpPr>
          <p:cNvPr id="28677" name="Rectangle 3"/>
          <p:cNvSpPr>
            <a:spLocks noGrp="1" noChangeArrowheads="1"/>
          </p:cNvSpPr>
          <p:nvPr>
            <p:ph sz="quarter" idx="11"/>
          </p:nvPr>
        </p:nvSpPr>
        <p:spPr/>
        <p:txBody>
          <a:bodyPr/>
          <a:lstStyle/>
          <a:p>
            <a:pPr eaLnBrk="1" hangingPunct="1"/>
            <a:r>
              <a:rPr lang="de-DE" altLang="de-DE" sz="2400" dirty="0"/>
              <a:t>Wesentliche Merkmale rekursiver Programmierung:</a:t>
            </a:r>
          </a:p>
          <a:p>
            <a:pPr eaLnBrk="1" hangingPunct="1"/>
            <a:endParaRPr lang="de-DE" altLang="de-DE" sz="2400" dirty="0"/>
          </a:p>
          <a:p>
            <a:pPr eaLnBrk="1" hangingPunct="1"/>
            <a:endParaRPr lang="de-DE" altLang="de-DE" dirty="0"/>
          </a:p>
          <a:p>
            <a:pPr marL="998537" lvl="1" indent="-457200" eaLnBrk="1" hangingPunct="1">
              <a:buFont typeface="Arial" panose="020B0604020202020204" pitchFamily="34" charset="0"/>
              <a:buChar char="•"/>
            </a:pPr>
            <a:r>
              <a:rPr lang="de-AT" altLang="de-DE" b="1" dirty="0"/>
              <a:t>Abbruchbedingung!</a:t>
            </a:r>
          </a:p>
          <a:p>
            <a:pPr lvl="1" eaLnBrk="1" hangingPunct="1"/>
            <a:endParaRPr lang="de-DE" altLang="de-DE" dirty="0"/>
          </a:p>
          <a:p>
            <a:pPr marL="998537" lvl="1" indent="-457200" eaLnBrk="1" hangingPunct="1">
              <a:buFont typeface="Arial" panose="020B0604020202020204" pitchFamily="34" charset="0"/>
              <a:buChar char="•"/>
            </a:pPr>
            <a:r>
              <a:rPr lang="de-DE" altLang="de-DE" dirty="0"/>
              <a:t>Man soll sich in jeder Rekursionsstufe mehr der Abbruchbedingung nähern - das </a:t>
            </a:r>
            <a:r>
              <a:rPr lang="de-DE" altLang="de-DE" b="1" dirty="0"/>
              <a:t>zu lösende Problem </a:t>
            </a:r>
            <a:r>
              <a:rPr lang="de-DE" altLang="de-DE" dirty="0"/>
              <a:t>soll </a:t>
            </a:r>
            <a:r>
              <a:rPr lang="de-DE" altLang="de-DE" b="1" dirty="0"/>
              <a:t>kleiner </a:t>
            </a:r>
            <a:r>
              <a:rPr lang="de-DE" altLang="de-DE" dirty="0"/>
              <a:t>werden.</a:t>
            </a:r>
          </a:p>
        </p:txBody>
      </p:sp>
    </p:spTree>
    <p:extLst>
      <p:ext uri="{BB962C8B-B14F-4D97-AF65-F5344CB8AC3E}">
        <p14:creationId xmlns:p14="http://schemas.microsoft.com/office/powerpoint/2010/main" val="2545620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Grp="1" noChangeArrowheads="1"/>
          </p:cNvSpPr>
          <p:nvPr>
            <p:ph type="title"/>
          </p:nvPr>
        </p:nvSpPr>
        <p:spPr/>
        <p:txBody>
          <a:bodyPr/>
          <a:lstStyle/>
          <a:p>
            <a:pPr eaLnBrk="1" hangingPunct="1"/>
            <a:r>
              <a:rPr lang="de-DE" altLang="de-DE" dirty="0"/>
              <a:t>Beispiel 1: Fakultätsberechnung</a:t>
            </a:r>
          </a:p>
        </p:txBody>
      </p:sp>
      <p:sp>
        <p:nvSpPr>
          <p:cNvPr id="29701" name="Rectangle 3"/>
          <p:cNvSpPr>
            <a:spLocks noGrp="1" noChangeArrowheads="1"/>
          </p:cNvSpPr>
          <p:nvPr>
            <p:ph sz="quarter" idx="11"/>
          </p:nvPr>
        </p:nvSpPr>
        <p:spPr/>
        <p:txBody>
          <a:bodyPr/>
          <a:lstStyle/>
          <a:p>
            <a:pPr eaLnBrk="1" hangingPunct="1"/>
            <a:r>
              <a:rPr lang="de-DE" altLang="de-DE" dirty="0"/>
              <a:t>Die</a:t>
            </a:r>
            <a:r>
              <a:rPr lang="de-DE" altLang="de-DE" b="1" dirty="0"/>
              <a:t> Fakultät</a:t>
            </a:r>
            <a:r>
              <a:rPr lang="de-DE" altLang="de-DE" dirty="0"/>
              <a:t> (auch </a:t>
            </a:r>
            <a:r>
              <a:rPr lang="de-DE" altLang="de-DE" b="1" dirty="0" err="1"/>
              <a:t>Faktorielle</a:t>
            </a:r>
            <a:r>
              <a:rPr lang="de-DE" altLang="de-DE" dirty="0"/>
              <a:t> genannt) ist eine mathematische Funktion:</a:t>
            </a:r>
          </a:p>
          <a:p>
            <a:pPr lvl="1" eaLnBrk="1" hangingPunct="1"/>
            <a:r>
              <a:rPr lang="de-DE" altLang="de-DE" b="1" dirty="0"/>
              <a:t>Fakultät(n) = 1 * 2 * ... * n </a:t>
            </a:r>
          </a:p>
          <a:p>
            <a:pPr lvl="1" eaLnBrk="1" hangingPunct="1"/>
            <a:r>
              <a:rPr lang="de-DE" altLang="de-DE" b="1" dirty="0"/>
              <a:t>Fakultät(0) = 1</a:t>
            </a:r>
          </a:p>
          <a:p>
            <a:pPr lvl="1" eaLnBrk="1" hangingPunct="1"/>
            <a:endParaRPr lang="de-DE" altLang="de-DE" dirty="0"/>
          </a:p>
          <a:p>
            <a:pPr eaLnBrk="1" hangingPunct="1"/>
            <a:r>
              <a:rPr lang="de-DE" altLang="de-DE" dirty="0"/>
              <a:t>Beispiel:</a:t>
            </a:r>
          </a:p>
          <a:p>
            <a:pPr eaLnBrk="1" hangingPunct="1"/>
            <a:r>
              <a:rPr lang="de-DE" altLang="de-DE" dirty="0"/>
              <a:t>       5! = 1 * 2 * 3 * 4 * 5 = 120</a:t>
            </a:r>
          </a:p>
          <a:p>
            <a:pPr eaLnBrk="1" hangingPunct="1"/>
            <a:r>
              <a:rPr lang="de-DE" altLang="de-DE" dirty="0"/>
              <a:t> </a:t>
            </a:r>
          </a:p>
        </p:txBody>
      </p:sp>
      <p:sp>
        <p:nvSpPr>
          <p:cNvPr id="5" name="Foliennummernplatzhalter 4"/>
          <p:cNvSpPr>
            <a:spLocks noGrp="1"/>
          </p:cNvSpPr>
          <p:nvPr>
            <p:ph type="sldNum" sz="quarter" idx="4294967295"/>
          </p:nvPr>
        </p:nvSpPr>
        <p:spPr>
          <a:xfrm>
            <a:off x="0" y="5624513"/>
            <a:ext cx="3086100" cy="273844"/>
          </a:xfrm>
          <a:prstGeom prst="rect">
            <a:avLst/>
          </a:prstGeom>
        </p:spPr>
        <p:txBody>
          <a:bodyPr/>
          <a:lstStyle>
            <a:lvl1pPr eaLnBrk="0" hangingPunct="0">
              <a:defRPr sz="750">
                <a:solidFill>
                  <a:schemeClr val="tx1"/>
                </a:solidFill>
                <a:latin typeface="Arial" panose="020B0604020202020204" pitchFamily="34" charset="0"/>
              </a:defRPr>
            </a:lvl1pPr>
            <a:lvl2pPr marL="557213" indent="-214313" eaLnBrk="0" hangingPunct="0">
              <a:defRPr sz="750">
                <a:solidFill>
                  <a:schemeClr val="tx1"/>
                </a:solidFill>
                <a:latin typeface="Arial" panose="020B0604020202020204" pitchFamily="34" charset="0"/>
              </a:defRPr>
            </a:lvl2pPr>
            <a:lvl3pPr marL="857250" indent="-171450" eaLnBrk="0" hangingPunct="0">
              <a:defRPr sz="750">
                <a:solidFill>
                  <a:schemeClr val="tx1"/>
                </a:solidFill>
                <a:latin typeface="Arial" panose="020B0604020202020204" pitchFamily="34" charset="0"/>
              </a:defRPr>
            </a:lvl3pPr>
            <a:lvl4pPr marL="1200150" indent="-171450" eaLnBrk="0" hangingPunct="0">
              <a:defRPr sz="750">
                <a:solidFill>
                  <a:schemeClr val="tx1"/>
                </a:solidFill>
                <a:latin typeface="Arial" panose="020B0604020202020204" pitchFamily="34" charset="0"/>
              </a:defRPr>
            </a:lvl4pPr>
            <a:lvl5pPr marL="1543050" indent="-171450" eaLnBrk="0" hangingPunct="0">
              <a:defRPr sz="750">
                <a:solidFill>
                  <a:schemeClr val="tx1"/>
                </a:solidFill>
                <a:latin typeface="Arial" panose="020B0604020202020204" pitchFamily="34" charset="0"/>
              </a:defRPr>
            </a:lvl5pPr>
            <a:lvl6pPr marL="1885950" indent="-171450" eaLnBrk="0" fontAlgn="base" hangingPunct="0">
              <a:spcBef>
                <a:spcPct val="0"/>
              </a:spcBef>
              <a:spcAft>
                <a:spcPct val="0"/>
              </a:spcAft>
              <a:defRPr sz="750">
                <a:solidFill>
                  <a:schemeClr val="tx1"/>
                </a:solidFill>
                <a:latin typeface="Arial" panose="020B0604020202020204" pitchFamily="34" charset="0"/>
              </a:defRPr>
            </a:lvl6pPr>
            <a:lvl7pPr marL="2228850" indent="-171450" eaLnBrk="0" fontAlgn="base" hangingPunct="0">
              <a:spcBef>
                <a:spcPct val="0"/>
              </a:spcBef>
              <a:spcAft>
                <a:spcPct val="0"/>
              </a:spcAft>
              <a:defRPr sz="750">
                <a:solidFill>
                  <a:schemeClr val="tx1"/>
                </a:solidFill>
                <a:latin typeface="Arial" panose="020B0604020202020204" pitchFamily="34" charset="0"/>
              </a:defRPr>
            </a:lvl7pPr>
            <a:lvl8pPr marL="2571750" indent="-171450" eaLnBrk="0" fontAlgn="base" hangingPunct="0">
              <a:spcBef>
                <a:spcPct val="0"/>
              </a:spcBef>
              <a:spcAft>
                <a:spcPct val="0"/>
              </a:spcAft>
              <a:defRPr sz="750">
                <a:solidFill>
                  <a:schemeClr val="tx1"/>
                </a:solidFill>
                <a:latin typeface="Arial" panose="020B0604020202020204" pitchFamily="34" charset="0"/>
              </a:defRPr>
            </a:lvl8pPr>
            <a:lvl9pPr marL="2914650" indent="-171450" eaLnBrk="0" fontAlgn="base" hangingPunct="0">
              <a:spcBef>
                <a:spcPct val="0"/>
              </a:spcBef>
              <a:spcAft>
                <a:spcPct val="0"/>
              </a:spcAft>
              <a:defRPr sz="750">
                <a:solidFill>
                  <a:schemeClr val="tx1"/>
                </a:solidFill>
                <a:latin typeface="Arial" panose="020B0604020202020204" pitchFamily="34" charset="0"/>
              </a:defRPr>
            </a:lvl9pPr>
          </a:lstStyle>
          <a:p>
            <a:pPr eaLnBrk="1" hangingPunct="1"/>
            <a:fld id="{CBB98B8F-4FF7-421D-993E-911C9777C4A7}" type="slidenum">
              <a:rPr lang="de-DE" altLang="de-DE" sz="1050">
                <a:solidFill>
                  <a:schemeClr val="bg1"/>
                </a:solidFill>
                <a:latin typeface="Times New Roman" panose="02020603050405020304" pitchFamily="18" charset="0"/>
              </a:rPr>
              <a:pPr eaLnBrk="1" hangingPunct="1"/>
              <a:t>4</a:t>
            </a:fld>
            <a:endParaRPr lang="de-DE" altLang="de-DE" sz="1050">
              <a:solidFill>
                <a:schemeClr val="bg1"/>
              </a:solidFill>
              <a:latin typeface="Times New Roman" panose="02020603050405020304" pitchFamily="18" charset="0"/>
            </a:endParaRPr>
          </a:p>
        </p:txBody>
      </p:sp>
      <p:pic>
        <p:nvPicPr>
          <p:cNvPr id="2" name="Grafik 1"/>
          <p:cNvPicPr>
            <a:picLocks noChangeAspect="1"/>
          </p:cNvPicPr>
          <p:nvPr/>
        </p:nvPicPr>
        <p:blipFill>
          <a:blip r:embed="rId2"/>
          <a:stretch>
            <a:fillRect/>
          </a:stretch>
        </p:blipFill>
        <p:spPr>
          <a:xfrm>
            <a:off x="5436096" y="2618185"/>
            <a:ext cx="1466850" cy="3143250"/>
          </a:xfrm>
          <a:prstGeom prst="rect">
            <a:avLst/>
          </a:prstGeom>
        </p:spPr>
      </p:pic>
    </p:spTree>
    <p:extLst>
      <p:ext uri="{BB962C8B-B14F-4D97-AF65-F5344CB8AC3E}">
        <p14:creationId xmlns:p14="http://schemas.microsoft.com/office/powerpoint/2010/main" val="2569936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701">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Grp="1" noChangeArrowheads="1"/>
          </p:cNvSpPr>
          <p:nvPr>
            <p:ph type="title"/>
          </p:nvPr>
        </p:nvSpPr>
        <p:spPr/>
        <p:txBody>
          <a:bodyPr/>
          <a:lstStyle/>
          <a:p>
            <a:pPr eaLnBrk="1" hangingPunct="1"/>
            <a:r>
              <a:rPr lang="de-DE" altLang="de-DE" dirty="0" err="1"/>
              <a:t>Faktorielle</a:t>
            </a:r>
            <a:r>
              <a:rPr lang="de-DE" altLang="de-DE" dirty="0"/>
              <a:t>: Iterative Lösung</a:t>
            </a:r>
          </a:p>
        </p:txBody>
      </p:sp>
      <p:sp>
        <p:nvSpPr>
          <p:cNvPr id="2" name="Inhaltsplatzhalter 1"/>
          <p:cNvSpPr>
            <a:spLocks noGrp="1"/>
          </p:cNvSpPr>
          <p:nvPr>
            <p:ph sz="quarter" idx="11"/>
          </p:nvPr>
        </p:nvSpPr>
        <p:spPr/>
        <p:txBody>
          <a:bodyPr/>
          <a:lstStyle/>
          <a:p>
            <a:r>
              <a:rPr lang="de-DE" dirty="0"/>
              <a:t>Die Methode „</a:t>
            </a:r>
            <a:r>
              <a:rPr lang="de-DE" b="1" i="1" dirty="0" err="1"/>
              <a:t>Factorial</a:t>
            </a:r>
            <a:r>
              <a:rPr lang="de-DE" dirty="0"/>
              <a:t>“ ermittelt zum Parameter „</a:t>
            </a:r>
            <a:r>
              <a:rPr lang="de-DE" b="1" i="1" dirty="0"/>
              <a:t>n</a:t>
            </a:r>
            <a:r>
              <a:rPr lang="de-DE" dirty="0"/>
              <a:t>“ das Produkt aller Zahlen zwischen 1 und n.</a:t>
            </a:r>
          </a:p>
        </p:txBody>
      </p:sp>
      <p:sp>
        <p:nvSpPr>
          <p:cNvPr id="30725" name="Picture 4"/>
          <p:cNvSpPr>
            <a:spLocks noChangeAspect="1" noChangeArrowheads="1"/>
          </p:cNvSpPr>
          <p:nvPr/>
        </p:nvSpPr>
        <p:spPr bwMode="auto">
          <a:xfrm>
            <a:off x="1647825" y="1620442"/>
            <a:ext cx="5848350" cy="3615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a:solidFill>
                  <a:schemeClr val="tx1"/>
                </a:solidFill>
                <a:latin typeface="Arial" panose="020B0604020202020204" pitchFamily="34" charset="0"/>
              </a:defRPr>
            </a:lvl1pPr>
            <a:lvl2pPr marL="742950" indent="-285750" eaLnBrk="0" hangingPunct="0">
              <a:defRPr sz="1000">
                <a:solidFill>
                  <a:schemeClr val="tx1"/>
                </a:solidFill>
                <a:latin typeface="Arial" panose="020B0604020202020204" pitchFamily="34" charset="0"/>
              </a:defRPr>
            </a:lvl2pPr>
            <a:lvl3pPr marL="1143000" indent="-228600" eaLnBrk="0" hangingPunct="0">
              <a:defRPr sz="1000">
                <a:solidFill>
                  <a:schemeClr val="tx1"/>
                </a:solidFill>
                <a:latin typeface="Arial" panose="020B0604020202020204" pitchFamily="34" charset="0"/>
              </a:defRPr>
            </a:lvl3pPr>
            <a:lvl4pPr marL="1600200" indent="-228600" eaLnBrk="0" hangingPunct="0">
              <a:defRPr sz="1000">
                <a:solidFill>
                  <a:schemeClr val="tx1"/>
                </a:solidFill>
                <a:latin typeface="Arial" panose="020B0604020202020204" pitchFamily="34" charset="0"/>
              </a:defRPr>
            </a:lvl4pPr>
            <a:lvl5pPr marL="2057400" indent="-228600" eaLnBrk="0" hangingPunct="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eaLnBrk="1" hangingPunct="1"/>
            <a:endParaRPr lang="de-AT" altLang="de-DE" sz="750"/>
          </a:p>
        </p:txBody>
      </p:sp>
      <p:pic>
        <p:nvPicPr>
          <p:cNvPr id="7" name="Grafik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5656" y="2492896"/>
            <a:ext cx="5540127" cy="3180934"/>
          </a:xfrm>
          <a:prstGeom prst="rect">
            <a:avLst/>
          </a:prstGeom>
        </p:spPr>
      </p:pic>
    </p:spTree>
    <p:extLst>
      <p:ext uri="{BB962C8B-B14F-4D97-AF65-F5344CB8AC3E}">
        <p14:creationId xmlns:p14="http://schemas.microsoft.com/office/powerpoint/2010/main" val="2838220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Grp="1" noChangeArrowheads="1"/>
          </p:cNvSpPr>
          <p:nvPr>
            <p:ph type="title"/>
          </p:nvPr>
        </p:nvSpPr>
        <p:spPr/>
        <p:txBody>
          <a:bodyPr/>
          <a:lstStyle/>
          <a:p>
            <a:pPr eaLnBrk="1" hangingPunct="1"/>
            <a:r>
              <a:rPr lang="de-DE" altLang="de-DE" dirty="0" err="1"/>
              <a:t>Faktorielle</a:t>
            </a:r>
            <a:r>
              <a:rPr lang="de-DE" altLang="de-DE" dirty="0"/>
              <a:t>: Rekursiver Ansatz</a:t>
            </a:r>
          </a:p>
        </p:txBody>
      </p:sp>
      <p:sp>
        <p:nvSpPr>
          <p:cNvPr id="2" name="Inhaltsplatzhalter 1"/>
          <p:cNvSpPr>
            <a:spLocks noGrp="1"/>
          </p:cNvSpPr>
          <p:nvPr>
            <p:ph sz="quarter" idx="11"/>
          </p:nvPr>
        </p:nvSpPr>
        <p:spPr/>
        <p:txBody>
          <a:bodyPr/>
          <a:lstStyle/>
          <a:p>
            <a:pPr eaLnBrk="1" hangingPunct="1"/>
            <a:r>
              <a:rPr lang="de-DE" altLang="de-DE" sz="2400" b="1" dirty="0"/>
              <a:t>Beispiel: </a:t>
            </a:r>
            <a:r>
              <a:rPr lang="de-DE" altLang="de-DE" sz="2400" dirty="0"/>
              <a:t>75! = 75 * 74 * 73 * …. * 2 * 1</a:t>
            </a:r>
          </a:p>
          <a:p>
            <a:pPr eaLnBrk="1" hangingPunct="1"/>
            <a:r>
              <a:rPr lang="de-DE" altLang="de-DE" sz="2400" dirty="0"/>
              <a:t>	     75! = 75 * </a:t>
            </a:r>
            <a:r>
              <a:rPr lang="de-DE" altLang="de-DE" sz="2400" b="1" dirty="0">
                <a:solidFill>
                  <a:srgbClr val="FFC000"/>
                </a:solidFill>
              </a:rPr>
              <a:t>74!</a:t>
            </a:r>
            <a:br>
              <a:rPr lang="de-DE" altLang="de-DE" sz="2400" b="1" dirty="0">
                <a:solidFill>
                  <a:srgbClr val="FFC000"/>
                </a:solidFill>
              </a:rPr>
            </a:br>
            <a:endParaRPr lang="de-DE" altLang="de-DE" sz="2400" b="1" dirty="0">
              <a:solidFill>
                <a:srgbClr val="FFC000"/>
              </a:solidFill>
            </a:endParaRPr>
          </a:p>
          <a:p>
            <a:pPr eaLnBrk="1" hangingPunct="1"/>
            <a:r>
              <a:rPr lang="de-DE" altLang="de-DE" sz="2400" dirty="0"/>
              <a:t>	     </a:t>
            </a:r>
            <a:r>
              <a:rPr lang="de-DE" altLang="de-DE" sz="2400" dirty="0">
                <a:solidFill>
                  <a:schemeClr val="bg1">
                    <a:lumMod val="50000"/>
                  </a:schemeClr>
                </a:solidFill>
              </a:rPr>
              <a:t>74! = 74 </a:t>
            </a:r>
            <a:r>
              <a:rPr lang="de-DE" altLang="de-DE" sz="2400" dirty="0"/>
              <a:t>* 73 * 72 * … * 2 * 1</a:t>
            </a:r>
          </a:p>
          <a:p>
            <a:pPr eaLnBrk="1" hangingPunct="1"/>
            <a:r>
              <a:rPr lang="de-DE" altLang="de-DE" sz="2400" dirty="0"/>
              <a:t>	</a:t>
            </a:r>
            <a:r>
              <a:rPr lang="de-DE" altLang="de-DE" sz="2400" dirty="0">
                <a:solidFill>
                  <a:schemeClr val="bg1">
                    <a:lumMod val="50000"/>
                  </a:schemeClr>
                </a:solidFill>
              </a:rPr>
              <a:t>     74! = 74 * </a:t>
            </a:r>
            <a:r>
              <a:rPr lang="de-DE" altLang="de-DE" sz="2400" b="1" dirty="0">
                <a:solidFill>
                  <a:srgbClr val="FFC000"/>
                </a:solidFill>
              </a:rPr>
              <a:t>73!</a:t>
            </a:r>
          </a:p>
          <a:p>
            <a:pPr eaLnBrk="1" hangingPunct="1"/>
            <a:endParaRPr lang="de-DE" altLang="de-DE" sz="2000" dirty="0"/>
          </a:p>
          <a:p>
            <a:pPr eaLnBrk="1" hangingPunct="1"/>
            <a:endParaRPr lang="de-DE" altLang="de-DE" sz="2400" b="1" dirty="0"/>
          </a:p>
          <a:p>
            <a:pPr eaLnBrk="1" hangingPunct="1"/>
            <a:r>
              <a:rPr lang="de-DE" altLang="de-DE" sz="2400" b="1" dirty="0"/>
              <a:t>Rekursive Definition:</a:t>
            </a:r>
          </a:p>
          <a:p>
            <a:pPr lvl="1" eaLnBrk="1" hangingPunct="1"/>
            <a:r>
              <a:rPr lang="de-DE" altLang="de-DE" sz="2000" b="1" i="1" dirty="0" err="1"/>
              <a:t>Factorial</a:t>
            </a:r>
            <a:r>
              <a:rPr lang="de-DE" altLang="de-DE" sz="2000" dirty="0"/>
              <a:t>(n) := n * </a:t>
            </a:r>
            <a:r>
              <a:rPr lang="de-DE" altLang="de-DE" sz="2000" b="1" i="1" dirty="0" err="1"/>
              <a:t>Factorial</a:t>
            </a:r>
            <a:r>
              <a:rPr lang="de-DE" altLang="de-DE" sz="2000" dirty="0"/>
              <a:t>(n-1) für n &gt; 0	</a:t>
            </a:r>
            <a:r>
              <a:rPr lang="de-DE" altLang="de-DE" sz="2000" dirty="0">
                <a:sym typeface="Wingdings" panose="05000000000000000000" pitchFamily="2" charset="2"/>
              </a:rPr>
              <a:t> Abstieg</a:t>
            </a:r>
            <a:endParaRPr lang="de-DE" altLang="de-DE" sz="2000" dirty="0"/>
          </a:p>
          <a:p>
            <a:pPr lvl="1" eaLnBrk="1" hangingPunct="1"/>
            <a:r>
              <a:rPr lang="de-DE" altLang="de-DE" sz="2000" b="1" i="1" dirty="0" err="1"/>
              <a:t>Factorial</a:t>
            </a:r>
            <a:r>
              <a:rPr lang="de-DE" altLang="de-DE" sz="2000" dirty="0"/>
              <a:t>(0) := 1		 		</a:t>
            </a:r>
            <a:r>
              <a:rPr lang="de-DE" altLang="de-DE" sz="2000" dirty="0">
                <a:sym typeface="Wingdings" panose="05000000000000000000" pitchFamily="2" charset="2"/>
              </a:rPr>
              <a:t> Ausstieg</a:t>
            </a:r>
            <a:endParaRPr lang="de-DE" altLang="de-DE" sz="2000" dirty="0"/>
          </a:p>
        </p:txBody>
      </p:sp>
      <p:sp>
        <p:nvSpPr>
          <p:cNvPr id="30725" name="Picture 4"/>
          <p:cNvSpPr>
            <a:spLocks noChangeAspect="1" noChangeArrowheads="1"/>
          </p:cNvSpPr>
          <p:nvPr/>
        </p:nvSpPr>
        <p:spPr bwMode="auto">
          <a:xfrm>
            <a:off x="1647825" y="1620442"/>
            <a:ext cx="5848350" cy="3615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a:solidFill>
                  <a:schemeClr val="tx1"/>
                </a:solidFill>
                <a:latin typeface="Arial" panose="020B0604020202020204" pitchFamily="34" charset="0"/>
              </a:defRPr>
            </a:lvl1pPr>
            <a:lvl2pPr marL="742950" indent="-285750" eaLnBrk="0" hangingPunct="0">
              <a:defRPr sz="1000">
                <a:solidFill>
                  <a:schemeClr val="tx1"/>
                </a:solidFill>
                <a:latin typeface="Arial" panose="020B0604020202020204" pitchFamily="34" charset="0"/>
              </a:defRPr>
            </a:lvl2pPr>
            <a:lvl3pPr marL="1143000" indent="-228600" eaLnBrk="0" hangingPunct="0">
              <a:defRPr sz="1000">
                <a:solidFill>
                  <a:schemeClr val="tx1"/>
                </a:solidFill>
                <a:latin typeface="Arial" panose="020B0604020202020204" pitchFamily="34" charset="0"/>
              </a:defRPr>
            </a:lvl3pPr>
            <a:lvl4pPr marL="1600200" indent="-228600" eaLnBrk="0" hangingPunct="0">
              <a:defRPr sz="1000">
                <a:solidFill>
                  <a:schemeClr val="tx1"/>
                </a:solidFill>
                <a:latin typeface="Arial" panose="020B0604020202020204" pitchFamily="34" charset="0"/>
              </a:defRPr>
            </a:lvl4pPr>
            <a:lvl5pPr marL="2057400" indent="-228600" eaLnBrk="0" hangingPunct="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eaLnBrk="1" hangingPunct="1"/>
            <a:endParaRPr lang="de-AT" altLang="de-DE" sz="750"/>
          </a:p>
        </p:txBody>
      </p:sp>
      <p:sp>
        <p:nvSpPr>
          <p:cNvPr id="4" name="Ellipse 3"/>
          <p:cNvSpPr/>
          <p:nvPr/>
        </p:nvSpPr>
        <p:spPr>
          <a:xfrm>
            <a:off x="3131840" y="1196752"/>
            <a:ext cx="2880320" cy="576064"/>
          </a:xfrm>
          <a:prstGeom prst="ellipse">
            <a:avLst/>
          </a:prstGeom>
          <a:solidFill>
            <a:srgbClr val="FFCC00">
              <a:alpha val="35686"/>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cxnSp>
        <p:nvCxnSpPr>
          <p:cNvPr id="6" name="Gewinkelte Verbindung 5"/>
          <p:cNvCxnSpPr>
            <a:stCxn id="4" idx="4"/>
          </p:cNvCxnSpPr>
          <p:nvPr/>
        </p:nvCxnSpPr>
        <p:spPr>
          <a:xfrm rot="5400000">
            <a:off x="4031940" y="1448780"/>
            <a:ext cx="216024" cy="864096"/>
          </a:xfrm>
          <a:prstGeom prst="bentConnector2">
            <a:avLst/>
          </a:prstGeom>
          <a:ln w="38100">
            <a:solidFill>
              <a:srgbClr val="FFCC00"/>
            </a:solidFill>
            <a:tailEnd type="triangle"/>
          </a:ln>
        </p:spPr>
        <p:style>
          <a:lnRef idx="1">
            <a:schemeClr val="accent1"/>
          </a:lnRef>
          <a:fillRef idx="0">
            <a:schemeClr val="accent1"/>
          </a:fillRef>
          <a:effectRef idx="0">
            <a:schemeClr val="accent1"/>
          </a:effectRef>
          <a:fontRef idx="minor">
            <a:schemeClr val="tx1"/>
          </a:fontRef>
        </p:style>
      </p:cxnSp>
      <p:sp>
        <p:nvSpPr>
          <p:cNvPr id="14" name="Ellipse 13"/>
          <p:cNvSpPr/>
          <p:nvPr/>
        </p:nvSpPr>
        <p:spPr>
          <a:xfrm>
            <a:off x="3131840" y="2420888"/>
            <a:ext cx="2880320" cy="576064"/>
          </a:xfrm>
          <a:prstGeom prst="ellipse">
            <a:avLst/>
          </a:prstGeom>
          <a:solidFill>
            <a:srgbClr val="FFCC00">
              <a:alpha val="35686"/>
            </a:srgb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cxnSp>
        <p:nvCxnSpPr>
          <p:cNvPr id="15" name="Gewinkelte Verbindung 14"/>
          <p:cNvCxnSpPr>
            <a:stCxn id="14" idx="4"/>
          </p:cNvCxnSpPr>
          <p:nvPr/>
        </p:nvCxnSpPr>
        <p:spPr>
          <a:xfrm rot="5400000">
            <a:off x="4031940" y="2672916"/>
            <a:ext cx="216024" cy="864096"/>
          </a:xfrm>
          <a:prstGeom prst="bentConnector2">
            <a:avLst/>
          </a:prstGeom>
          <a:ln w="38100">
            <a:solidFill>
              <a:srgbClr val="FFCC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6625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500"/>
                                  </p:stCondLst>
                                  <p:childTnLst>
                                    <p:set>
                                      <p:cBhvr>
                                        <p:cTn id="13" dur="1" fill="hold">
                                          <p:stCondLst>
                                            <p:cond delay="0"/>
                                          </p:stCondLst>
                                        </p:cTn>
                                        <p:tgtEl>
                                          <p:spTgt spid="6"/>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nodeType="afterEffect">
                                  <p:stCondLst>
                                    <p:cond delay="50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nodeType="afterEffect">
                                  <p:stCondLst>
                                    <p:cond delay="500"/>
                                  </p:stCondLst>
                                  <p:childTnLst>
                                    <p:set>
                                      <p:cBhvr>
                                        <p:cTn id="27" dur="1" fill="hold">
                                          <p:stCondLst>
                                            <p:cond delay="0"/>
                                          </p:stCondLst>
                                        </p:cTn>
                                        <p:tgtEl>
                                          <p:spTgt spid="15"/>
                                        </p:tgtEl>
                                        <p:attrNameLst>
                                          <p:attrName>style.visibility</p:attrName>
                                        </p:attrNameLst>
                                      </p:cBhvr>
                                      <p:to>
                                        <p:strVal val="visible"/>
                                      </p:to>
                                    </p:set>
                                  </p:childTnLst>
                                </p:cTn>
                              </p:par>
                            </p:childTnLst>
                          </p:cTn>
                        </p:par>
                        <p:par>
                          <p:cTn id="28" fill="hold">
                            <p:stCondLst>
                              <p:cond delay="500"/>
                            </p:stCondLst>
                            <p:childTnLst>
                              <p:par>
                                <p:cTn id="29" presetID="1" presetClass="entr" presetSubtype="0" fill="hold" nodeType="afterEffect">
                                  <p:stCondLst>
                                    <p:cond delay="500"/>
                                  </p:stCondLst>
                                  <p:childTnLst>
                                    <p:set>
                                      <p:cBhvr>
                                        <p:cTn id="3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Grp="1" noChangeArrowheads="1"/>
          </p:cNvSpPr>
          <p:nvPr>
            <p:ph type="title"/>
          </p:nvPr>
        </p:nvSpPr>
        <p:spPr/>
        <p:txBody>
          <a:bodyPr/>
          <a:lstStyle/>
          <a:p>
            <a:pPr eaLnBrk="1" hangingPunct="1"/>
            <a:r>
              <a:rPr lang="de-DE" altLang="de-DE" dirty="0" err="1"/>
              <a:t>Faktorielle</a:t>
            </a:r>
            <a:r>
              <a:rPr lang="de-DE" altLang="de-DE" dirty="0"/>
              <a:t>: Rekursive Lösung</a:t>
            </a:r>
          </a:p>
        </p:txBody>
      </p:sp>
      <p:sp>
        <p:nvSpPr>
          <p:cNvPr id="30725" name="Picture 4"/>
          <p:cNvSpPr>
            <a:spLocks noChangeAspect="1" noChangeArrowheads="1"/>
          </p:cNvSpPr>
          <p:nvPr/>
        </p:nvSpPr>
        <p:spPr bwMode="auto">
          <a:xfrm>
            <a:off x="1647825" y="1620442"/>
            <a:ext cx="5848350" cy="3615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a:solidFill>
                  <a:schemeClr val="tx1"/>
                </a:solidFill>
                <a:latin typeface="Arial" panose="020B0604020202020204" pitchFamily="34" charset="0"/>
              </a:defRPr>
            </a:lvl1pPr>
            <a:lvl2pPr marL="742950" indent="-285750" eaLnBrk="0" hangingPunct="0">
              <a:defRPr sz="1000">
                <a:solidFill>
                  <a:schemeClr val="tx1"/>
                </a:solidFill>
                <a:latin typeface="Arial" panose="020B0604020202020204" pitchFamily="34" charset="0"/>
              </a:defRPr>
            </a:lvl2pPr>
            <a:lvl3pPr marL="1143000" indent="-228600" eaLnBrk="0" hangingPunct="0">
              <a:defRPr sz="1000">
                <a:solidFill>
                  <a:schemeClr val="tx1"/>
                </a:solidFill>
                <a:latin typeface="Arial" panose="020B0604020202020204" pitchFamily="34" charset="0"/>
              </a:defRPr>
            </a:lvl3pPr>
            <a:lvl4pPr marL="1600200" indent="-228600" eaLnBrk="0" hangingPunct="0">
              <a:defRPr sz="1000">
                <a:solidFill>
                  <a:schemeClr val="tx1"/>
                </a:solidFill>
                <a:latin typeface="Arial" panose="020B0604020202020204" pitchFamily="34" charset="0"/>
              </a:defRPr>
            </a:lvl4pPr>
            <a:lvl5pPr marL="2057400" indent="-228600" eaLnBrk="0" hangingPunct="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eaLnBrk="1" hangingPunct="1"/>
            <a:endParaRPr lang="de-AT" altLang="de-DE" sz="750"/>
          </a:p>
        </p:txBody>
      </p:sp>
      <p:pic>
        <p:nvPicPr>
          <p:cNvPr id="5" name="Grafik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5696" y="2769472"/>
            <a:ext cx="4855443" cy="3173010"/>
          </a:xfrm>
          <a:prstGeom prst="rect">
            <a:avLst/>
          </a:prstGeom>
        </p:spPr>
      </p:pic>
      <p:sp>
        <p:nvSpPr>
          <p:cNvPr id="8" name="Rectangle 3"/>
          <p:cNvSpPr>
            <a:spLocks noGrp="1" noChangeArrowheads="1"/>
          </p:cNvSpPr>
          <p:nvPr>
            <p:ph sz="quarter" idx="11"/>
          </p:nvPr>
        </p:nvSpPr>
        <p:spPr>
          <a:xfrm>
            <a:off x="467544" y="1268760"/>
            <a:ext cx="7488832" cy="1944217"/>
          </a:xfrm>
        </p:spPr>
        <p:txBody>
          <a:bodyPr>
            <a:normAutofit/>
          </a:bodyPr>
          <a:lstStyle/>
          <a:p>
            <a:pPr eaLnBrk="1" hangingPunct="1"/>
            <a:r>
              <a:rPr lang="de-DE" altLang="de-DE" sz="2400" b="1" dirty="0"/>
              <a:t>Aufgabe:</a:t>
            </a:r>
          </a:p>
          <a:p>
            <a:pPr eaLnBrk="1" hangingPunct="1"/>
            <a:r>
              <a:rPr lang="de-DE" altLang="de-DE" sz="1800" dirty="0"/>
              <a:t>Entwirf den rekursiven Algorithmus für die Methode</a:t>
            </a:r>
            <a:br>
              <a:rPr lang="de-DE" altLang="de-DE" sz="1800" dirty="0"/>
            </a:br>
            <a:r>
              <a:rPr lang="de-DE" altLang="de-DE" sz="1800" dirty="0"/>
              <a:t>	</a:t>
            </a:r>
            <a:r>
              <a:rPr lang="de-DE" altLang="de-DE" sz="1800" i="1" dirty="0"/>
              <a:t> </a:t>
            </a:r>
            <a:r>
              <a:rPr lang="de-DE" altLang="de-DE" sz="1800" b="1" i="1" dirty="0" err="1">
                <a:latin typeface="Courier New" panose="02070309020205020404" pitchFamily="49" charset="0"/>
                <a:cs typeface="Courier New" panose="02070309020205020404" pitchFamily="49" charset="0"/>
              </a:rPr>
              <a:t>long</a:t>
            </a:r>
            <a:r>
              <a:rPr lang="de-DE" altLang="de-DE" sz="1800" b="1" i="1">
                <a:latin typeface="Courier New" panose="02070309020205020404" pitchFamily="49" charset="0"/>
                <a:cs typeface="Courier New" panose="02070309020205020404" pitchFamily="49" charset="0"/>
              </a:rPr>
              <a:t> Factorial</a:t>
            </a:r>
            <a:r>
              <a:rPr lang="de-DE" altLang="de-DE" sz="1800" b="1" i="1" dirty="0">
                <a:latin typeface="Courier New" panose="02070309020205020404" pitchFamily="49" charset="0"/>
                <a:cs typeface="Courier New" panose="02070309020205020404" pitchFamily="49" charset="0"/>
              </a:rPr>
              <a:t>(</a:t>
            </a:r>
            <a:r>
              <a:rPr lang="de-DE" altLang="de-DE" sz="1800" b="1" i="1" dirty="0" err="1">
                <a:latin typeface="Courier New" panose="02070309020205020404" pitchFamily="49" charset="0"/>
                <a:cs typeface="Courier New" panose="02070309020205020404" pitchFamily="49" charset="0"/>
              </a:rPr>
              <a:t>int</a:t>
            </a:r>
            <a:r>
              <a:rPr lang="de-DE" altLang="de-DE" sz="1800" b="1" i="1" dirty="0">
                <a:latin typeface="Courier New" panose="02070309020205020404" pitchFamily="49" charset="0"/>
                <a:cs typeface="Courier New" panose="02070309020205020404" pitchFamily="49" charset="0"/>
              </a:rPr>
              <a:t> n)</a:t>
            </a:r>
            <a:endParaRPr lang="de-DE" altLang="de-DE" sz="1500" b="1" i="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980703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bgerundetes Rechteck 4"/>
          <p:cNvSpPr/>
          <p:nvPr/>
        </p:nvSpPr>
        <p:spPr>
          <a:xfrm>
            <a:off x="1331639" y="4805749"/>
            <a:ext cx="3449213" cy="431578"/>
          </a:xfrm>
          <a:prstGeom prst="roundRect">
            <a:avLst/>
          </a:prstGeom>
          <a:gradFill flip="none" rotWithShape="1">
            <a:gsLst>
              <a:gs pos="0">
                <a:srgbClr val="00B050">
                  <a:tint val="66000"/>
                  <a:satMod val="160000"/>
                </a:srgbClr>
              </a:gs>
              <a:gs pos="50000">
                <a:srgbClr val="00B050">
                  <a:tint val="44500"/>
                  <a:satMod val="160000"/>
                </a:srgbClr>
              </a:gs>
              <a:gs pos="100000">
                <a:srgbClr val="00B050">
                  <a:tint val="23500"/>
                  <a:satMod val="160000"/>
                </a:srgb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25" name="Abgerundetes Rechteck 24"/>
          <p:cNvSpPr/>
          <p:nvPr/>
        </p:nvSpPr>
        <p:spPr>
          <a:xfrm>
            <a:off x="1282598" y="3763047"/>
            <a:ext cx="1296144" cy="431578"/>
          </a:xfrm>
          <a:prstGeom prst="round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27652" name="Rectangle 2"/>
          <p:cNvSpPr>
            <a:spLocks noGrp="1" noChangeArrowheads="1"/>
          </p:cNvSpPr>
          <p:nvPr>
            <p:ph type="title"/>
          </p:nvPr>
        </p:nvSpPr>
        <p:spPr/>
        <p:txBody>
          <a:bodyPr/>
          <a:lstStyle/>
          <a:p>
            <a:pPr eaLnBrk="1" hangingPunct="1"/>
            <a:r>
              <a:rPr lang="de-DE" altLang="de-DE" dirty="0" err="1"/>
              <a:t>Faktorielle</a:t>
            </a:r>
            <a:r>
              <a:rPr lang="de-DE" altLang="de-DE" dirty="0"/>
              <a:t> Rekursiv: Ablauf</a:t>
            </a:r>
          </a:p>
        </p:txBody>
      </p:sp>
      <p:sp>
        <p:nvSpPr>
          <p:cNvPr id="27653" name="Rectangle 3"/>
          <p:cNvSpPr>
            <a:spLocks noGrp="1" noChangeArrowheads="1"/>
          </p:cNvSpPr>
          <p:nvPr>
            <p:ph sz="quarter" idx="11"/>
          </p:nvPr>
        </p:nvSpPr>
        <p:spPr>
          <a:xfrm>
            <a:off x="251520" y="1069601"/>
            <a:ext cx="8208912" cy="1063255"/>
          </a:xfrm>
        </p:spPr>
        <p:txBody>
          <a:bodyPr>
            <a:normAutofit/>
          </a:bodyPr>
          <a:lstStyle/>
          <a:p>
            <a:pPr algn="ctr" eaLnBrk="1" hangingPunct="1"/>
            <a:r>
              <a:rPr lang="de-AT" altLang="de-DE" dirty="0"/>
              <a:t>Beispiel: 4! = 4 * 3 * 2 * 1 = 24</a:t>
            </a:r>
          </a:p>
        </p:txBody>
      </p:sp>
      <p:sp>
        <p:nvSpPr>
          <p:cNvPr id="2" name="Rechteck 1"/>
          <p:cNvSpPr/>
          <p:nvPr/>
        </p:nvSpPr>
        <p:spPr>
          <a:xfrm>
            <a:off x="4871750" y="3284984"/>
            <a:ext cx="144016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err="1"/>
              <a:t>Factorial</a:t>
            </a:r>
            <a:r>
              <a:rPr lang="de-AT" dirty="0"/>
              <a:t>(3)</a:t>
            </a:r>
          </a:p>
        </p:txBody>
      </p:sp>
      <p:sp>
        <p:nvSpPr>
          <p:cNvPr id="6" name="Rechteck 5"/>
          <p:cNvSpPr/>
          <p:nvPr/>
        </p:nvSpPr>
        <p:spPr>
          <a:xfrm>
            <a:off x="5159782" y="4085456"/>
            <a:ext cx="144016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err="1"/>
              <a:t>Factorial</a:t>
            </a:r>
            <a:r>
              <a:rPr lang="de-AT" dirty="0"/>
              <a:t>(2)</a:t>
            </a:r>
          </a:p>
        </p:txBody>
      </p:sp>
      <p:sp>
        <p:nvSpPr>
          <p:cNvPr id="7" name="Rechteck 6"/>
          <p:cNvSpPr/>
          <p:nvPr/>
        </p:nvSpPr>
        <p:spPr>
          <a:xfrm>
            <a:off x="5447814" y="4869160"/>
            <a:ext cx="1440160" cy="4320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err="1"/>
              <a:t>Factorial</a:t>
            </a:r>
            <a:r>
              <a:rPr lang="de-AT" dirty="0"/>
              <a:t>(1)</a:t>
            </a:r>
          </a:p>
        </p:txBody>
      </p:sp>
      <p:sp>
        <p:nvSpPr>
          <p:cNvPr id="8" name="Rechteck 7"/>
          <p:cNvSpPr/>
          <p:nvPr/>
        </p:nvSpPr>
        <p:spPr>
          <a:xfrm>
            <a:off x="5663838" y="5661248"/>
            <a:ext cx="144016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err="1"/>
              <a:t>Factorial</a:t>
            </a:r>
            <a:r>
              <a:rPr lang="de-AT" dirty="0"/>
              <a:t>(0)</a:t>
            </a:r>
          </a:p>
        </p:txBody>
      </p:sp>
      <p:sp>
        <p:nvSpPr>
          <p:cNvPr id="3" name="Pfeil nach unten 2"/>
          <p:cNvSpPr/>
          <p:nvPr/>
        </p:nvSpPr>
        <p:spPr>
          <a:xfrm>
            <a:off x="5519822" y="3717032"/>
            <a:ext cx="144016" cy="36004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4" name="Pfeil nach unten 3"/>
          <p:cNvSpPr/>
          <p:nvPr/>
        </p:nvSpPr>
        <p:spPr>
          <a:xfrm>
            <a:off x="5807854" y="4517503"/>
            <a:ext cx="144016" cy="36004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Pfeil nach unten 9"/>
          <p:cNvSpPr/>
          <p:nvPr/>
        </p:nvSpPr>
        <p:spPr>
          <a:xfrm>
            <a:off x="6095886" y="5301112"/>
            <a:ext cx="144016" cy="35175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cxnSp>
        <p:nvCxnSpPr>
          <p:cNvPr id="15" name="Gewinkelte Verbindung 14"/>
          <p:cNvCxnSpPr>
            <a:stCxn id="8" idx="3"/>
          </p:cNvCxnSpPr>
          <p:nvPr/>
        </p:nvCxnSpPr>
        <p:spPr>
          <a:xfrm flipH="1" flipV="1">
            <a:off x="6743958" y="5301112"/>
            <a:ext cx="360040" cy="576160"/>
          </a:xfrm>
          <a:prstGeom prst="bentConnector4">
            <a:avLst>
              <a:gd name="adj1" fmla="val -63493"/>
              <a:gd name="adj2" fmla="val 68747"/>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Gewinkelte Verbindung 17"/>
          <p:cNvCxnSpPr>
            <a:stCxn id="7" idx="3"/>
          </p:cNvCxnSpPr>
          <p:nvPr/>
        </p:nvCxnSpPr>
        <p:spPr>
          <a:xfrm flipH="1" flipV="1">
            <a:off x="6455926" y="4517504"/>
            <a:ext cx="432048" cy="567680"/>
          </a:xfrm>
          <a:prstGeom prst="bentConnector4">
            <a:avLst>
              <a:gd name="adj1" fmla="val -52911"/>
              <a:gd name="adj2" fmla="val 69027"/>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Gewinkelte Verbindung 19"/>
          <p:cNvCxnSpPr>
            <a:stCxn id="6" idx="3"/>
          </p:cNvCxnSpPr>
          <p:nvPr/>
        </p:nvCxnSpPr>
        <p:spPr>
          <a:xfrm flipH="1" flipV="1">
            <a:off x="6167894" y="3733800"/>
            <a:ext cx="432048" cy="567680"/>
          </a:xfrm>
          <a:prstGeom prst="bentConnector4">
            <a:avLst>
              <a:gd name="adj1" fmla="val -52911"/>
              <a:gd name="adj2" fmla="val 69027"/>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Gewinkelte Verbindung 21"/>
          <p:cNvCxnSpPr>
            <a:stCxn id="2" idx="3"/>
          </p:cNvCxnSpPr>
          <p:nvPr/>
        </p:nvCxnSpPr>
        <p:spPr>
          <a:xfrm flipH="1" flipV="1">
            <a:off x="5879862" y="2978902"/>
            <a:ext cx="432048" cy="522106"/>
          </a:xfrm>
          <a:prstGeom prst="bentConnector4">
            <a:avLst>
              <a:gd name="adj1" fmla="val -52911"/>
              <a:gd name="adj2" fmla="val 70688"/>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6" name="Rechteck 35"/>
          <p:cNvSpPr/>
          <p:nvPr/>
        </p:nvSpPr>
        <p:spPr>
          <a:xfrm>
            <a:off x="4211960" y="1844824"/>
            <a:ext cx="1440160" cy="432048"/>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a:t>Main()</a:t>
            </a:r>
          </a:p>
        </p:txBody>
      </p:sp>
      <p:sp>
        <p:nvSpPr>
          <p:cNvPr id="43" name="Pfeil nach unten 42"/>
          <p:cNvSpPr/>
          <p:nvPr/>
        </p:nvSpPr>
        <p:spPr>
          <a:xfrm>
            <a:off x="5105279" y="2988825"/>
            <a:ext cx="126511" cy="296159"/>
          </a:xfrm>
          <a:prstGeom prst="downArrow">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41" name="Textfeld 40"/>
          <p:cNvSpPr txBox="1"/>
          <p:nvPr/>
        </p:nvSpPr>
        <p:spPr>
          <a:xfrm>
            <a:off x="7320022" y="5517232"/>
            <a:ext cx="1043876" cy="307777"/>
          </a:xfrm>
          <a:prstGeom prst="rect">
            <a:avLst/>
          </a:prstGeom>
          <a:noFill/>
        </p:spPr>
        <p:txBody>
          <a:bodyPr wrap="none" rtlCol="0">
            <a:spAutoFit/>
          </a:bodyPr>
          <a:lstStyle/>
          <a:p>
            <a:r>
              <a:rPr lang="de-AT" sz="1400" b="1" dirty="0" err="1">
                <a:solidFill>
                  <a:srgbClr val="FF0000"/>
                </a:solidFill>
                <a:latin typeface="Courier New" panose="02070309020205020404" pitchFamily="49" charset="0"/>
                <a:cs typeface="Courier New" panose="02070309020205020404" pitchFamily="49" charset="0"/>
              </a:rPr>
              <a:t>return</a:t>
            </a:r>
            <a:r>
              <a:rPr lang="de-AT" sz="1400" b="1" dirty="0">
                <a:solidFill>
                  <a:srgbClr val="FF0000"/>
                </a:solidFill>
                <a:latin typeface="Courier New" panose="02070309020205020404" pitchFamily="49" charset="0"/>
                <a:cs typeface="Courier New" panose="02070309020205020404" pitchFamily="49" charset="0"/>
              </a:rPr>
              <a:t> 1</a:t>
            </a:r>
          </a:p>
        </p:txBody>
      </p:sp>
      <p:sp>
        <p:nvSpPr>
          <p:cNvPr id="45" name="Textfeld 44"/>
          <p:cNvSpPr txBox="1"/>
          <p:nvPr/>
        </p:nvSpPr>
        <p:spPr>
          <a:xfrm>
            <a:off x="7130968" y="4723655"/>
            <a:ext cx="1473480" cy="307777"/>
          </a:xfrm>
          <a:prstGeom prst="rect">
            <a:avLst/>
          </a:prstGeom>
          <a:noFill/>
        </p:spPr>
        <p:txBody>
          <a:bodyPr wrap="none" rtlCol="0">
            <a:spAutoFit/>
          </a:bodyPr>
          <a:lstStyle/>
          <a:p>
            <a:r>
              <a:rPr lang="de-AT" sz="1400" b="1" dirty="0" err="1">
                <a:solidFill>
                  <a:srgbClr val="00B050"/>
                </a:solidFill>
                <a:latin typeface="Courier New" panose="02070309020205020404" pitchFamily="49" charset="0"/>
                <a:cs typeface="Courier New" panose="02070309020205020404" pitchFamily="49" charset="0"/>
              </a:rPr>
              <a:t>return</a:t>
            </a:r>
            <a:r>
              <a:rPr lang="de-AT" sz="1400" b="1" dirty="0">
                <a:solidFill>
                  <a:srgbClr val="00B050"/>
                </a:solidFill>
                <a:latin typeface="Courier New" panose="02070309020205020404" pitchFamily="49" charset="0"/>
                <a:cs typeface="Courier New" panose="02070309020205020404" pitchFamily="49" charset="0"/>
              </a:rPr>
              <a:t> 1 * 1</a:t>
            </a:r>
          </a:p>
        </p:txBody>
      </p:sp>
      <p:sp>
        <p:nvSpPr>
          <p:cNvPr id="46" name="Textfeld 45"/>
          <p:cNvSpPr txBox="1"/>
          <p:nvPr/>
        </p:nvSpPr>
        <p:spPr>
          <a:xfrm>
            <a:off x="6815966" y="3933056"/>
            <a:ext cx="1473480" cy="307777"/>
          </a:xfrm>
          <a:prstGeom prst="rect">
            <a:avLst/>
          </a:prstGeom>
          <a:noFill/>
        </p:spPr>
        <p:txBody>
          <a:bodyPr wrap="none" rtlCol="0">
            <a:spAutoFit/>
          </a:bodyPr>
          <a:lstStyle/>
          <a:p>
            <a:r>
              <a:rPr lang="de-AT" sz="1400" b="1" dirty="0" err="1">
                <a:solidFill>
                  <a:srgbClr val="00B050"/>
                </a:solidFill>
                <a:latin typeface="Courier New" panose="02070309020205020404" pitchFamily="49" charset="0"/>
                <a:cs typeface="Courier New" panose="02070309020205020404" pitchFamily="49" charset="0"/>
              </a:rPr>
              <a:t>return</a:t>
            </a:r>
            <a:r>
              <a:rPr lang="de-AT" sz="1400" b="1" dirty="0">
                <a:solidFill>
                  <a:srgbClr val="00B050"/>
                </a:solidFill>
                <a:latin typeface="Courier New" panose="02070309020205020404" pitchFamily="49" charset="0"/>
                <a:cs typeface="Courier New" panose="02070309020205020404" pitchFamily="49" charset="0"/>
              </a:rPr>
              <a:t> 2 * 1</a:t>
            </a:r>
          </a:p>
        </p:txBody>
      </p:sp>
      <p:sp>
        <p:nvSpPr>
          <p:cNvPr id="47" name="Textfeld 46"/>
          <p:cNvSpPr txBox="1"/>
          <p:nvPr/>
        </p:nvSpPr>
        <p:spPr>
          <a:xfrm>
            <a:off x="6527934" y="3140968"/>
            <a:ext cx="1473480" cy="307777"/>
          </a:xfrm>
          <a:prstGeom prst="rect">
            <a:avLst/>
          </a:prstGeom>
          <a:noFill/>
        </p:spPr>
        <p:txBody>
          <a:bodyPr wrap="none" rtlCol="0">
            <a:spAutoFit/>
          </a:bodyPr>
          <a:lstStyle/>
          <a:p>
            <a:r>
              <a:rPr lang="de-AT" sz="1400" b="1" dirty="0" err="1">
                <a:solidFill>
                  <a:srgbClr val="00B050"/>
                </a:solidFill>
                <a:latin typeface="Courier New" panose="02070309020205020404" pitchFamily="49" charset="0"/>
                <a:cs typeface="Courier New" panose="02070309020205020404" pitchFamily="49" charset="0"/>
              </a:rPr>
              <a:t>return</a:t>
            </a:r>
            <a:r>
              <a:rPr lang="de-AT" sz="1400" b="1" dirty="0">
                <a:solidFill>
                  <a:srgbClr val="00B050"/>
                </a:solidFill>
                <a:latin typeface="Courier New" panose="02070309020205020404" pitchFamily="49" charset="0"/>
                <a:cs typeface="Courier New" panose="02070309020205020404" pitchFamily="49" charset="0"/>
              </a:rPr>
              <a:t> 3 * 2</a:t>
            </a:r>
          </a:p>
        </p:txBody>
      </p:sp>
      <p:pic>
        <p:nvPicPr>
          <p:cNvPr id="24" name="Grafik 2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707" y="2815623"/>
            <a:ext cx="4385317" cy="2865785"/>
          </a:xfrm>
          <a:prstGeom prst="rect">
            <a:avLst/>
          </a:prstGeom>
        </p:spPr>
      </p:pic>
      <p:sp>
        <p:nvSpPr>
          <p:cNvPr id="26" name="Rechteck 25"/>
          <p:cNvSpPr/>
          <p:nvPr/>
        </p:nvSpPr>
        <p:spPr>
          <a:xfrm>
            <a:off x="4572000" y="2564904"/>
            <a:ext cx="1440160"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AT" dirty="0" err="1"/>
              <a:t>Factorial</a:t>
            </a:r>
            <a:r>
              <a:rPr lang="de-AT" dirty="0"/>
              <a:t>(4)</a:t>
            </a:r>
          </a:p>
        </p:txBody>
      </p:sp>
      <p:cxnSp>
        <p:nvCxnSpPr>
          <p:cNvPr id="27" name="Gewinkelte Verbindung 26"/>
          <p:cNvCxnSpPr>
            <a:stCxn id="26" idx="3"/>
          </p:cNvCxnSpPr>
          <p:nvPr/>
        </p:nvCxnSpPr>
        <p:spPr>
          <a:xfrm flipH="1" flipV="1">
            <a:off x="5580112" y="2258822"/>
            <a:ext cx="432048" cy="522106"/>
          </a:xfrm>
          <a:prstGeom prst="bentConnector4">
            <a:avLst>
              <a:gd name="adj1" fmla="val -52911"/>
              <a:gd name="adj2" fmla="val 70688"/>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8" name="Pfeil nach unten 27"/>
          <p:cNvSpPr/>
          <p:nvPr/>
        </p:nvSpPr>
        <p:spPr>
          <a:xfrm>
            <a:off x="4949545" y="2268745"/>
            <a:ext cx="126511" cy="296159"/>
          </a:xfrm>
          <a:prstGeom prst="downArrow">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29" name="Textfeld 28"/>
          <p:cNvSpPr txBox="1"/>
          <p:nvPr/>
        </p:nvSpPr>
        <p:spPr>
          <a:xfrm>
            <a:off x="6228184" y="2420888"/>
            <a:ext cx="1473480" cy="307777"/>
          </a:xfrm>
          <a:prstGeom prst="rect">
            <a:avLst/>
          </a:prstGeom>
          <a:noFill/>
        </p:spPr>
        <p:txBody>
          <a:bodyPr wrap="none" rtlCol="0">
            <a:spAutoFit/>
          </a:bodyPr>
          <a:lstStyle/>
          <a:p>
            <a:r>
              <a:rPr lang="de-AT" sz="1400" b="1" dirty="0" err="1">
                <a:solidFill>
                  <a:srgbClr val="00B050"/>
                </a:solidFill>
                <a:latin typeface="Courier New" panose="02070309020205020404" pitchFamily="49" charset="0"/>
                <a:cs typeface="Courier New" panose="02070309020205020404" pitchFamily="49" charset="0"/>
              </a:rPr>
              <a:t>return</a:t>
            </a:r>
            <a:r>
              <a:rPr lang="de-AT" sz="1400" b="1" dirty="0">
                <a:solidFill>
                  <a:srgbClr val="00B050"/>
                </a:solidFill>
                <a:latin typeface="Courier New" panose="02070309020205020404" pitchFamily="49" charset="0"/>
                <a:cs typeface="Courier New" panose="02070309020205020404" pitchFamily="49" charset="0"/>
              </a:rPr>
              <a:t> 4 * 6</a:t>
            </a:r>
          </a:p>
        </p:txBody>
      </p:sp>
    </p:spTree>
    <p:extLst>
      <p:ext uri="{BB962C8B-B14F-4D97-AF65-F5344CB8AC3E}">
        <p14:creationId xmlns:p14="http://schemas.microsoft.com/office/powerpoint/2010/main" val="3374180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28"/>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26"/>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500"/>
                                  </p:stCondLst>
                                  <p:childTnLst>
                                    <p:set>
                                      <p:cBhvr>
                                        <p:cTn id="15" dur="1" fill="hold">
                                          <p:stCondLst>
                                            <p:cond delay="0"/>
                                          </p:stCondLst>
                                        </p:cTn>
                                        <p:tgtEl>
                                          <p:spTgt spid="43"/>
                                        </p:tgtEl>
                                        <p:attrNameLst>
                                          <p:attrName>style.visibility</p:attrName>
                                        </p:attrNameLst>
                                      </p:cBhvr>
                                      <p:to>
                                        <p:strVal val="visible"/>
                                      </p:to>
                                    </p:set>
                                  </p:childTnLst>
                                </p:cTn>
                              </p:par>
                            </p:childTnLst>
                          </p:cTn>
                        </p:par>
                        <p:par>
                          <p:cTn id="16" fill="hold">
                            <p:stCondLst>
                              <p:cond delay="1500"/>
                            </p:stCondLst>
                            <p:childTnLst>
                              <p:par>
                                <p:cTn id="17" presetID="1" presetClass="entr" presetSubtype="0" fill="hold" grpId="0" nodeType="afterEffect">
                                  <p:stCondLst>
                                    <p:cond delay="500"/>
                                  </p:stCondLst>
                                  <p:childTnLst>
                                    <p:set>
                                      <p:cBhvr>
                                        <p:cTn id="18" dur="1" fill="hold">
                                          <p:stCondLst>
                                            <p:cond delay="0"/>
                                          </p:stCondLst>
                                        </p:cTn>
                                        <p:tgtEl>
                                          <p:spTgt spid="2"/>
                                        </p:tgtEl>
                                        <p:attrNameLst>
                                          <p:attrName>style.visibility</p:attrName>
                                        </p:attrNameLst>
                                      </p:cBhvr>
                                      <p:to>
                                        <p:strVal val="visible"/>
                                      </p:to>
                                    </p:set>
                                  </p:childTnLst>
                                </p:cTn>
                              </p:par>
                            </p:childTnLst>
                          </p:cTn>
                        </p:par>
                        <p:par>
                          <p:cTn id="19" fill="hold">
                            <p:stCondLst>
                              <p:cond delay="2000"/>
                            </p:stCondLst>
                            <p:childTnLst>
                              <p:par>
                                <p:cTn id="20" presetID="1" presetClass="entr" presetSubtype="0" fill="hold" grpId="0" nodeType="afterEffect">
                                  <p:stCondLst>
                                    <p:cond delay="500"/>
                                  </p:stCondLst>
                                  <p:childTnLst>
                                    <p:set>
                                      <p:cBhvr>
                                        <p:cTn id="21" dur="1" fill="hold">
                                          <p:stCondLst>
                                            <p:cond delay="0"/>
                                          </p:stCondLst>
                                        </p:cTn>
                                        <p:tgtEl>
                                          <p:spTgt spid="3"/>
                                        </p:tgtEl>
                                        <p:attrNameLst>
                                          <p:attrName>style.visibility</p:attrName>
                                        </p:attrNameLst>
                                      </p:cBhvr>
                                      <p:to>
                                        <p:strVal val="visible"/>
                                      </p:to>
                                    </p:set>
                                  </p:childTnLst>
                                </p:cTn>
                              </p:par>
                            </p:childTnLst>
                          </p:cTn>
                        </p:par>
                        <p:par>
                          <p:cTn id="22" fill="hold">
                            <p:stCondLst>
                              <p:cond delay="2500"/>
                            </p:stCondLst>
                            <p:childTnLst>
                              <p:par>
                                <p:cTn id="23" presetID="1" presetClass="entr" presetSubtype="0" fill="hold" grpId="0" nodeType="afterEffect">
                                  <p:stCondLst>
                                    <p:cond delay="500"/>
                                  </p:stCondLst>
                                  <p:childTnLst>
                                    <p:set>
                                      <p:cBhvr>
                                        <p:cTn id="24" dur="1" fill="hold">
                                          <p:stCondLst>
                                            <p:cond delay="0"/>
                                          </p:stCondLst>
                                        </p:cTn>
                                        <p:tgtEl>
                                          <p:spTgt spid="6"/>
                                        </p:tgtEl>
                                        <p:attrNameLst>
                                          <p:attrName>style.visibility</p:attrName>
                                        </p:attrNameLst>
                                      </p:cBhvr>
                                      <p:to>
                                        <p:strVal val="visible"/>
                                      </p:to>
                                    </p:set>
                                  </p:childTnLst>
                                </p:cTn>
                              </p:par>
                            </p:childTnLst>
                          </p:cTn>
                        </p:par>
                        <p:par>
                          <p:cTn id="25" fill="hold">
                            <p:stCondLst>
                              <p:cond delay="3000"/>
                            </p:stCondLst>
                            <p:childTnLst>
                              <p:par>
                                <p:cTn id="26" presetID="1" presetClass="entr" presetSubtype="0" fill="hold" grpId="0" nodeType="afterEffect">
                                  <p:stCondLst>
                                    <p:cond delay="500"/>
                                  </p:stCondLst>
                                  <p:childTnLst>
                                    <p:set>
                                      <p:cBhvr>
                                        <p:cTn id="27" dur="1" fill="hold">
                                          <p:stCondLst>
                                            <p:cond delay="0"/>
                                          </p:stCondLst>
                                        </p:cTn>
                                        <p:tgtEl>
                                          <p:spTgt spid="4"/>
                                        </p:tgtEl>
                                        <p:attrNameLst>
                                          <p:attrName>style.visibility</p:attrName>
                                        </p:attrNameLst>
                                      </p:cBhvr>
                                      <p:to>
                                        <p:strVal val="visible"/>
                                      </p:to>
                                    </p:set>
                                  </p:childTnLst>
                                </p:cTn>
                              </p:par>
                            </p:childTnLst>
                          </p:cTn>
                        </p:par>
                        <p:par>
                          <p:cTn id="28" fill="hold">
                            <p:stCondLst>
                              <p:cond delay="3500"/>
                            </p:stCondLst>
                            <p:childTnLst>
                              <p:par>
                                <p:cTn id="29" presetID="1" presetClass="entr" presetSubtype="0" fill="hold" grpId="0" nodeType="afterEffect">
                                  <p:stCondLst>
                                    <p:cond delay="500"/>
                                  </p:stCondLst>
                                  <p:childTnLst>
                                    <p:set>
                                      <p:cBhvr>
                                        <p:cTn id="30" dur="1" fill="hold">
                                          <p:stCondLst>
                                            <p:cond delay="0"/>
                                          </p:stCondLst>
                                        </p:cTn>
                                        <p:tgtEl>
                                          <p:spTgt spid="7"/>
                                        </p:tgtEl>
                                        <p:attrNameLst>
                                          <p:attrName>style.visibility</p:attrName>
                                        </p:attrNameLst>
                                      </p:cBhvr>
                                      <p:to>
                                        <p:strVal val="visible"/>
                                      </p:to>
                                    </p:set>
                                  </p:childTnLst>
                                </p:cTn>
                              </p:par>
                            </p:childTnLst>
                          </p:cTn>
                        </p:par>
                        <p:par>
                          <p:cTn id="31" fill="hold">
                            <p:stCondLst>
                              <p:cond delay="4000"/>
                            </p:stCondLst>
                            <p:childTnLst>
                              <p:par>
                                <p:cTn id="32" presetID="1" presetClass="entr" presetSubtype="0" fill="hold" grpId="0" nodeType="afterEffect">
                                  <p:stCondLst>
                                    <p:cond delay="500"/>
                                  </p:stCondLst>
                                  <p:childTnLst>
                                    <p:set>
                                      <p:cBhvr>
                                        <p:cTn id="33" dur="1" fill="hold">
                                          <p:stCondLst>
                                            <p:cond delay="0"/>
                                          </p:stCondLst>
                                        </p:cTn>
                                        <p:tgtEl>
                                          <p:spTgt spid="10"/>
                                        </p:tgtEl>
                                        <p:attrNameLst>
                                          <p:attrName>style.visibility</p:attrName>
                                        </p:attrNameLst>
                                      </p:cBhvr>
                                      <p:to>
                                        <p:strVal val="visible"/>
                                      </p:to>
                                    </p:set>
                                  </p:childTnLst>
                                </p:cTn>
                              </p:par>
                            </p:childTnLst>
                          </p:cTn>
                        </p:par>
                        <p:par>
                          <p:cTn id="34" fill="hold">
                            <p:stCondLst>
                              <p:cond delay="4500"/>
                            </p:stCondLst>
                            <p:childTnLst>
                              <p:par>
                                <p:cTn id="35" presetID="1" presetClass="entr" presetSubtype="0" fill="hold" grpId="0" nodeType="afterEffect">
                                  <p:stCondLst>
                                    <p:cond delay="500"/>
                                  </p:stCondLst>
                                  <p:childTnLst>
                                    <p:set>
                                      <p:cBhvr>
                                        <p:cTn id="36" dur="1" fill="hold">
                                          <p:stCondLst>
                                            <p:cond delay="0"/>
                                          </p:stCondLst>
                                        </p:cTn>
                                        <p:tgtEl>
                                          <p:spTgt spid="8"/>
                                        </p:tgtEl>
                                        <p:attrNameLst>
                                          <p:attrName>style.visibility</p:attrName>
                                        </p:attrNameLst>
                                      </p:cBhvr>
                                      <p:to>
                                        <p:strVal val="visible"/>
                                      </p:to>
                                    </p:set>
                                  </p:childTnLst>
                                </p:cTn>
                              </p:par>
                            </p:childTnLst>
                          </p:cTn>
                        </p:par>
                        <p:par>
                          <p:cTn id="37" fill="hold">
                            <p:stCondLst>
                              <p:cond delay="5000"/>
                            </p:stCondLst>
                            <p:childTnLst>
                              <p:par>
                                <p:cTn id="38" presetID="1" presetClass="entr" presetSubtype="0" fill="hold" nodeType="afterEffect">
                                  <p:stCondLst>
                                    <p:cond delay="500"/>
                                  </p:stCondLst>
                                  <p:childTnLst>
                                    <p:set>
                                      <p:cBhvr>
                                        <p:cTn id="39" dur="1" fill="hold">
                                          <p:stCondLst>
                                            <p:cond delay="0"/>
                                          </p:stCondLst>
                                        </p:cTn>
                                        <p:tgtEl>
                                          <p:spTgt spid="15"/>
                                        </p:tgtEl>
                                        <p:attrNameLst>
                                          <p:attrName>style.visibility</p:attrName>
                                        </p:attrNameLst>
                                      </p:cBhvr>
                                      <p:to>
                                        <p:strVal val="visible"/>
                                      </p:to>
                                    </p:set>
                                  </p:childTnLst>
                                </p:cTn>
                              </p:par>
                            </p:childTnLst>
                          </p:cTn>
                        </p:par>
                        <p:par>
                          <p:cTn id="40" fill="hold">
                            <p:stCondLst>
                              <p:cond delay="5500"/>
                            </p:stCondLst>
                            <p:childTnLst>
                              <p:par>
                                <p:cTn id="41" presetID="1" presetClass="entr" presetSubtype="0" fill="hold" grpId="0" nodeType="afterEffect">
                                  <p:stCondLst>
                                    <p:cond delay="500"/>
                                  </p:stCondLst>
                                  <p:childTnLst>
                                    <p:set>
                                      <p:cBhvr>
                                        <p:cTn id="42" dur="1" fill="hold">
                                          <p:stCondLst>
                                            <p:cond delay="0"/>
                                          </p:stCondLst>
                                        </p:cTn>
                                        <p:tgtEl>
                                          <p:spTgt spid="41"/>
                                        </p:tgtEl>
                                        <p:attrNameLst>
                                          <p:attrName>style.visibility</p:attrName>
                                        </p:attrNameLst>
                                      </p:cBhvr>
                                      <p:to>
                                        <p:strVal val="visible"/>
                                      </p:to>
                                    </p:set>
                                  </p:childTnLst>
                                </p:cTn>
                              </p:par>
                            </p:childTnLst>
                          </p:cTn>
                        </p:par>
                        <p:par>
                          <p:cTn id="43" fill="hold">
                            <p:stCondLst>
                              <p:cond delay="6000"/>
                            </p:stCondLst>
                            <p:childTnLst>
                              <p:par>
                                <p:cTn id="44" presetID="1" presetClass="entr" presetSubtype="0" fill="hold" nodeType="afterEffect">
                                  <p:stCondLst>
                                    <p:cond delay="500"/>
                                  </p:stCondLst>
                                  <p:childTnLst>
                                    <p:set>
                                      <p:cBhvr>
                                        <p:cTn id="45" dur="1" fill="hold">
                                          <p:stCondLst>
                                            <p:cond delay="0"/>
                                          </p:stCondLst>
                                        </p:cTn>
                                        <p:tgtEl>
                                          <p:spTgt spid="18"/>
                                        </p:tgtEl>
                                        <p:attrNameLst>
                                          <p:attrName>style.visibility</p:attrName>
                                        </p:attrNameLst>
                                      </p:cBhvr>
                                      <p:to>
                                        <p:strVal val="visible"/>
                                      </p:to>
                                    </p:set>
                                  </p:childTnLst>
                                </p:cTn>
                              </p:par>
                            </p:childTnLst>
                          </p:cTn>
                        </p:par>
                        <p:par>
                          <p:cTn id="46" fill="hold">
                            <p:stCondLst>
                              <p:cond delay="6500"/>
                            </p:stCondLst>
                            <p:childTnLst>
                              <p:par>
                                <p:cTn id="47" presetID="1" presetClass="entr" presetSubtype="0" fill="hold" grpId="0" nodeType="afterEffect">
                                  <p:stCondLst>
                                    <p:cond delay="500"/>
                                  </p:stCondLst>
                                  <p:childTnLst>
                                    <p:set>
                                      <p:cBhvr>
                                        <p:cTn id="48" dur="1" fill="hold">
                                          <p:stCondLst>
                                            <p:cond delay="0"/>
                                          </p:stCondLst>
                                        </p:cTn>
                                        <p:tgtEl>
                                          <p:spTgt spid="45"/>
                                        </p:tgtEl>
                                        <p:attrNameLst>
                                          <p:attrName>style.visibility</p:attrName>
                                        </p:attrNameLst>
                                      </p:cBhvr>
                                      <p:to>
                                        <p:strVal val="visible"/>
                                      </p:to>
                                    </p:set>
                                  </p:childTnLst>
                                </p:cTn>
                              </p:par>
                            </p:childTnLst>
                          </p:cTn>
                        </p:par>
                        <p:par>
                          <p:cTn id="49" fill="hold">
                            <p:stCondLst>
                              <p:cond delay="7000"/>
                            </p:stCondLst>
                            <p:childTnLst>
                              <p:par>
                                <p:cTn id="50" presetID="1" presetClass="entr" presetSubtype="0" fill="hold" nodeType="afterEffect">
                                  <p:stCondLst>
                                    <p:cond delay="500"/>
                                  </p:stCondLst>
                                  <p:childTnLst>
                                    <p:set>
                                      <p:cBhvr>
                                        <p:cTn id="51" dur="1" fill="hold">
                                          <p:stCondLst>
                                            <p:cond delay="0"/>
                                          </p:stCondLst>
                                        </p:cTn>
                                        <p:tgtEl>
                                          <p:spTgt spid="20"/>
                                        </p:tgtEl>
                                        <p:attrNameLst>
                                          <p:attrName>style.visibility</p:attrName>
                                        </p:attrNameLst>
                                      </p:cBhvr>
                                      <p:to>
                                        <p:strVal val="visible"/>
                                      </p:to>
                                    </p:set>
                                  </p:childTnLst>
                                </p:cTn>
                              </p:par>
                            </p:childTnLst>
                          </p:cTn>
                        </p:par>
                        <p:par>
                          <p:cTn id="52" fill="hold">
                            <p:stCondLst>
                              <p:cond delay="7500"/>
                            </p:stCondLst>
                            <p:childTnLst>
                              <p:par>
                                <p:cTn id="53" presetID="1" presetClass="entr" presetSubtype="0" fill="hold" grpId="0" nodeType="afterEffect">
                                  <p:stCondLst>
                                    <p:cond delay="500"/>
                                  </p:stCondLst>
                                  <p:childTnLst>
                                    <p:set>
                                      <p:cBhvr>
                                        <p:cTn id="54" dur="1" fill="hold">
                                          <p:stCondLst>
                                            <p:cond delay="0"/>
                                          </p:stCondLst>
                                        </p:cTn>
                                        <p:tgtEl>
                                          <p:spTgt spid="46"/>
                                        </p:tgtEl>
                                        <p:attrNameLst>
                                          <p:attrName>style.visibility</p:attrName>
                                        </p:attrNameLst>
                                      </p:cBhvr>
                                      <p:to>
                                        <p:strVal val="visible"/>
                                      </p:to>
                                    </p:set>
                                  </p:childTnLst>
                                </p:cTn>
                              </p:par>
                            </p:childTnLst>
                          </p:cTn>
                        </p:par>
                        <p:par>
                          <p:cTn id="55" fill="hold">
                            <p:stCondLst>
                              <p:cond delay="8000"/>
                            </p:stCondLst>
                            <p:childTnLst>
                              <p:par>
                                <p:cTn id="56" presetID="1" presetClass="entr" presetSubtype="0" fill="hold" nodeType="afterEffect">
                                  <p:stCondLst>
                                    <p:cond delay="500"/>
                                  </p:stCondLst>
                                  <p:childTnLst>
                                    <p:set>
                                      <p:cBhvr>
                                        <p:cTn id="57" dur="1" fill="hold">
                                          <p:stCondLst>
                                            <p:cond delay="0"/>
                                          </p:stCondLst>
                                        </p:cTn>
                                        <p:tgtEl>
                                          <p:spTgt spid="22"/>
                                        </p:tgtEl>
                                        <p:attrNameLst>
                                          <p:attrName>style.visibility</p:attrName>
                                        </p:attrNameLst>
                                      </p:cBhvr>
                                      <p:to>
                                        <p:strVal val="visible"/>
                                      </p:to>
                                    </p:set>
                                  </p:childTnLst>
                                </p:cTn>
                              </p:par>
                            </p:childTnLst>
                          </p:cTn>
                        </p:par>
                        <p:par>
                          <p:cTn id="58" fill="hold">
                            <p:stCondLst>
                              <p:cond delay="8500"/>
                            </p:stCondLst>
                            <p:childTnLst>
                              <p:par>
                                <p:cTn id="59" presetID="1" presetClass="entr" presetSubtype="0" fill="hold" grpId="0" nodeType="afterEffect">
                                  <p:stCondLst>
                                    <p:cond delay="500"/>
                                  </p:stCondLst>
                                  <p:childTnLst>
                                    <p:set>
                                      <p:cBhvr>
                                        <p:cTn id="60" dur="1" fill="hold">
                                          <p:stCondLst>
                                            <p:cond delay="0"/>
                                          </p:stCondLst>
                                        </p:cTn>
                                        <p:tgtEl>
                                          <p:spTgt spid="47"/>
                                        </p:tgtEl>
                                        <p:attrNameLst>
                                          <p:attrName>style.visibility</p:attrName>
                                        </p:attrNameLst>
                                      </p:cBhvr>
                                      <p:to>
                                        <p:strVal val="visible"/>
                                      </p:to>
                                    </p:set>
                                  </p:childTnLst>
                                </p:cTn>
                              </p:par>
                            </p:childTnLst>
                          </p:cTn>
                        </p:par>
                        <p:par>
                          <p:cTn id="61" fill="hold">
                            <p:stCondLst>
                              <p:cond delay="9000"/>
                            </p:stCondLst>
                            <p:childTnLst>
                              <p:par>
                                <p:cTn id="62" presetID="1" presetClass="entr" presetSubtype="0" fill="hold" nodeType="afterEffect">
                                  <p:stCondLst>
                                    <p:cond delay="500"/>
                                  </p:stCondLst>
                                  <p:childTnLst>
                                    <p:set>
                                      <p:cBhvr>
                                        <p:cTn id="63" dur="1" fill="hold">
                                          <p:stCondLst>
                                            <p:cond delay="0"/>
                                          </p:stCondLst>
                                        </p:cTn>
                                        <p:tgtEl>
                                          <p:spTgt spid="27"/>
                                        </p:tgtEl>
                                        <p:attrNameLst>
                                          <p:attrName>style.visibility</p:attrName>
                                        </p:attrNameLst>
                                      </p:cBhvr>
                                      <p:to>
                                        <p:strVal val="visible"/>
                                      </p:to>
                                    </p:set>
                                  </p:childTnLst>
                                </p:cTn>
                              </p:par>
                            </p:childTnLst>
                          </p:cTn>
                        </p:par>
                        <p:par>
                          <p:cTn id="64" fill="hold">
                            <p:stCondLst>
                              <p:cond delay="9500"/>
                            </p:stCondLst>
                            <p:childTnLst>
                              <p:par>
                                <p:cTn id="65" presetID="1" presetClass="entr" presetSubtype="0" fill="hold" grpId="0" nodeType="afterEffect">
                                  <p:stCondLst>
                                    <p:cond delay="500"/>
                                  </p:stCondLst>
                                  <p:childTnLst>
                                    <p:set>
                                      <p:cBhvr>
                                        <p:cTn id="6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8" grpId="0" animBg="1"/>
      <p:bldP spid="3" grpId="0" animBg="1"/>
      <p:bldP spid="4" grpId="0" animBg="1"/>
      <p:bldP spid="10" grpId="0" animBg="1"/>
      <p:bldP spid="36" grpId="0" animBg="1"/>
      <p:bldP spid="43" grpId="0" animBg="1"/>
      <p:bldP spid="41" grpId="0"/>
      <p:bldP spid="45" grpId="0"/>
      <p:bldP spid="46" grpId="0"/>
      <p:bldP spid="47" grpId="0"/>
      <p:bldP spid="26" grpId="0" animBg="1"/>
      <p:bldP spid="28" grpId="0" animBg="1"/>
      <p:bldP spid="29" grpId="0"/>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p:txBody>
          <a:bodyPr/>
          <a:lstStyle/>
          <a:p>
            <a:pPr eaLnBrk="1" hangingPunct="1"/>
            <a:r>
              <a:rPr lang="de-DE" altLang="de-DE"/>
              <a:t>Rekursion - Stack</a:t>
            </a:r>
          </a:p>
        </p:txBody>
      </p:sp>
      <p:sp>
        <p:nvSpPr>
          <p:cNvPr id="31749" name="Rectangle 3"/>
          <p:cNvSpPr>
            <a:spLocks noGrp="1" noChangeArrowheads="1"/>
          </p:cNvSpPr>
          <p:nvPr>
            <p:ph sz="quarter" idx="11"/>
          </p:nvPr>
        </p:nvSpPr>
        <p:spPr/>
        <p:txBody>
          <a:bodyPr>
            <a:normAutofit/>
          </a:bodyPr>
          <a:lstStyle/>
          <a:p>
            <a:pPr eaLnBrk="1" hangingPunct="1"/>
            <a:r>
              <a:rPr lang="de-AT" altLang="de-DE" sz="1800"/>
              <a:t>Rekursion wird in der Regel durch einen </a:t>
            </a:r>
            <a:r>
              <a:rPr lang="de-AT" altLang="de-DE" sz="1800">
                <a:hlinkClick r:id="rId2" tooltip="Stapelspeicher"/>
              </a:rPr>
              <a:t>Stack</a:t>
            </a:r>
            <a:r>
              <a:rPr lang="de-AT" altLang="de-DE" sz="1800"/>
              <a:t> implementiert, der die Rücksprungadressen, aber auch alle lokalen Variablen und evtl. Funktionsergebnisse aufnimmt.</a:t>
            </a:r>
            <a:endParaRPr lang="de-DE" altLang="de-DE" sz="1800"/>
          </a:p>
          <a:p>
            <a:pPr eaLnBrk="1" hangingPunct="1"/>
            <a:endParaRPr lang="de-DE" altLang="de-DE" sz="1800"/>
          </a:p>
          <a:p>
            <a:pPr eaLnBrk="1" hangingPunct="1">
              <a:buFont typeface="Wingdings" panose="05000000000000000000" pitchFamily="2" charset="2"/>
              <a:buNone/>
            </a:pPr>
            <a:r>
              <a:rPr lang="de-DE" altLang="de-DE" sz="1500"/>
              <a:t>Bsp.: Fakultät von 4</a:t>
            </a:r>
          </a:p>
        </p:txBody>
      </p:sp>
      <p:sp>
        <p:nvSpPr>
          <p:cNvPr id="5" name="Foliennummernplatzhalter 4"/>
          <p:cNvSpPr>
            <a:spLocks noGrp="1"/>
          </p:cNvSpPr>
          <p:nvPr>
            <p:ph type="sldNum" sz="quarter" idx="4294967295"/>
          </p:nvPr>
        </p:nvSpPr>
        <p:spPr>
          <a:xfrm>
            <a:off x="0" y="5624513"/>
            <a:ext cx="3086100" cy="273844"/>
          </a:xfrm>
          <a:prstGeom prst="rect">
            <a:avLst/>
          </a:prstGeom>
        </p:spPr>
        <p:txBody>
          <a:bodyPr/>
          <a:lstStyle>
            <a:lvl1pPr eaLnBrk="0" hangingPunct="0">
              <a:defRPr sz="750">
                <a:solidFill>
                  <a:schemeClr val="tx1"/>
                </a:solidFill>
                <a:latin typeface="Arial" panose="020B0604020202020204" pitchFamily="34" charset="0"/>
              </a:defRPr>
            </a:lvl1pPr>
            <a:lvl2pPr marL="557213" indent="-214313" eaLnBrk="0" hangingPunct="0">
              <a:defRPr sz="750">
                <a:solidFill>
                  <a:schemeClr val="tx1"/>
                </a:solidFill>
                <a:latin typeface="Arial" panose="020B0604020202020204" pitchFamily="34" charset="0"/>
              </a:defRPr>
            </a:lvl2pPr>
            <a:lvl3pPr marL="857250" indent="-171450" eaLnBrk="0" hangingPunct="0">
              <a:defRPr sz="750">
                <a:solidFill>
                  <a:schemeClr val="tx1"/>
                </a:solidFill>
                <a:latin typeface="Arial" panose="020B0604020202020204" pitchFamily="34" charset="0"/>
              </a:defRPr>
            </a:lvl3pPr>
            <a:lvl4pPr marL="1200150" indent="-171450" eaLnBrk="0" hangingPunct="0">
              <a:defRPr sz="750">
                <a:solidFill>
                  <a:schemeClr val="tx1"/>
                </a:solidFill>
                <a:latin typeface="Arial" panose="020B0604020202020204" pitchFamily="34" charset="0"/>
              </a:defRPr>
            </a:lvl4pPr>
            <a:lvl5pPr marL="1543050" indent="-171450" eaLnBrk="0" hangingPunct="0">
              <a:defRPr sz="750">
                <a:solidFill>
                  <a:schemeClr val="tx1"/>
                </a:solidFill>
                <a:latin typeface="Arial" panose="020B0604020202020204" pitchFamily="34" charset="0"/>
              </a:defRPr>
            </a:lvl5pPr>
            <a:lvl6pPr marL="1885950" indent="-171450" eaLnBrk="0" fontAlgn="base" hangingPunct="0">
              <a:spcBef>
                <a:spcPct val="0"/>
              </a:spcBef>
              <a:spcAft>
                <a:spcPct val="0"/>
              </a:spcAft>
              <a:defRPr sz="750">
                <a:solidFill>
                  <a:schemeClr val="tx1"/>
                </a:solidFill>
                <a:latin typeface="Arial" panose="020B0604020202020204" pitchFamily="34" charset="0"/>
              </a:defRPr>
            </a:lvl6pPr>
            <a:lvl7pPr marL="2228850" indent="-171450" eaLnBrk="0" fontAlgn="base" hangingPunct="0">
              <a:spcBef>
                <a:spcPct val="0"/>
              </a:spcBef>
              <a:spcAft>
                <a:spcPct val="0"/>
              </a:spcAft>
              <a:defRPr sz="750">
                <a:solidFill>
                  <a:schemeClr val="tx1"/>
                </a:solidFill>
                <a:latin typeface="Arial" panose="020B0604020202020204" pitchFamily="34" charset="0"/>
              </a:defRPr>
            </a:lvl7pPr>
            <a:lvl8pPr marL="2571750" indent="-171450" eaLnBrk="0" fontAlgn="base" hangingPunct="0">
              <a:spcBef>
                <a:spcPct val="0"/>
              </a:spcBef>
              <a:spcAft>
                <a:spcPct val="0"/>
              </a:spcAft>
              <a:defRPr sz="750">
                <a:solidFill>
                  <a:schemeClr val="tx1"/>
                </a:solidFill>
                <a:latin typeface="Arial" panose="020B0604020202020204" pitchFamily="34" charset="0"/>
              </a:defRPr>
            </a:lvl8pPr>
            <a:lvl9pPr marL="2914650" indent="-171450" eaLnBrk="0" fontAlgn="base" hangingPunct="0">
              <a:spcBef>
                <a:spcPct val="0"/>
              </a:spcBef>
              <a:spcAft>
                <a:spcPct val="0"/>
              </a:spcAft>
              <a:defRPr sz="750">
                <a:solidFill>
                  <a:schemeClr val="tx1"/>
                </a:solidFill>
                <a:latin typeface="Arial" panose="020B0604020202020204" pitchFamily="34" charset="0"/>
              </a:defRPr>
            </a:lvl9pPr>
          </a:lstStyle>
          <a:p>
            <a:pPr eaLnBrk="1" hangingPunct="1"/>
            <a:fld id="{7C0C1C23-476B-4052-8856-657C6F733DB0}" type="slidenum">
              <a:rPr lang="de-DE" altLang="de-DE" sz="1050">
                <a:solidFill>
                  <a:schemeClr val="bg1"/>
                </a:solidFill>
                <a:latin typeface="Times New Roman" panose="02020603050405020304" pitchFamily="18" charset="0"/>
              </a:rPr>
              <a:pPr eaLnBrk="1" hangingPunct="1"/>
              <a:t>9</a:t>
            </a:fld>
            <a:endParaRPr lang="de-DE" altLang="de-DE" sz="1050">
              <a:solidFill>
                <a:schemeClr val="bg1"/>
              </a:solidFill>
              <a:latin typeface="Times New Roman" panose="02020603050405020304" pitchFamily="18" charset="0"/>
            </a:endParaRPr>
          </a:p>
        </p:txBody>
      </p:sp>
      <p:graphicFrame>
        <p:nvGraphicFramePr>
          <p:cNvPr id="6" name="Table 5"/>
          <p:cNvGraphicFramePr>
            <a:graphicFrameLocks noGrp="1"/>
          </p:cNvGraphicFramePr>
          <p:nvPr/>
        </p:nvGraphicFramePr>
        <p:xfrm>
          <a:off x="1987154" y="3109913"/>
          <a:ext cx="4694634" cy="2370214"/>
        </p:xfrm>
        <a:graphic>
          <a:graphicData uri="http://schemas.openxmlformats.org/drawingml/2006/table">
            <a:tbl>
              <a:tblPr/>
              <a:tblGrid>
                <a:gridCol w="1147283">
                  <a:extLst>
                    <a:ext uri="{9D8B030D-6E8A-4147-A177-3AD203B41FA5}">
                      <a16:colId xmlns:a16="http://schemas.microsoft.com/office/drawing/2014/main" val="20000"/>
                    </a:ext>
                  </a:extLst>
                </a:gridCol>
                <a:gridCol w="263745">
                  <a:extLst>
                    <a:ext uri="{9D8B030D-6E8A-4147-A177-3AD203B41FA5}">
                      <a16:colId xmlns:a16="http://schemas.microsoft.com/office/drawing/2014/main" val="20001"/>
                    </a:ext>
                  </a:extLst>
                </a:gridCol>
                <a:gridCol w="1641803">
                  <a:extLst>
                    <a:ext uri="{9D8B030D-6E8A-4147-A177-3AD203B41FA5}">
                      <a16:colId xmlns:a16="http://schemas.microsoft.com/office/drawing/2014/main" val="20002"/>
                    </a:ext>
                  </a:extLst>
                </a:gridCol>
                <a:gridCol w="1641803">
                  <a:extLst>
                    <a:ext uri="{9D8B030D-6E8A-4147-A177-3AD203B41FA5}">
                      <a16:colId xmlns:a16="http://schemas.microsoft.com/office/drawing/2014/main" val="20003"/>
                    </a:ext>
                  </a:extLst>
                </a:gridCol>
              </a:tblGrid>
              <a:tr h="270021">
                <a:tc>
                  <a:txBody>
                    <a:bodyPr/>
                    <a:lstStyle/>
                    <a:p>
                      <a:pPr algn="l">
                        <a:spcAft>
                          <a:spcPts val="0"/>
                        </a:spcAft>
                      </a:pPr>
                      <a:r>
                        <a:rPr lang="de-AT" sz="1400" b="1" dirty="0">
                          <a:latin typeface="Times New Roman"/>
                          <a:ea typeface="Times New Roman"/>
                          <a:cs typeface="Times New Roman"/>
                        </a:rPr>
                        <a:t>Stapelanfang</a:t>
                      </a:r>
                      <a:endParaRPr lang="de-AT" sz="1200" dirty="0">
                        <a:latin typeface="Calibri"/>
                        <a:ea typeface="Calibri"/>
                        <a:cs typeface="Times New Roman"/>
                      </a:endParaRPr>
                    </a:p>
                  </a:txBody>
                  <a:tcPr marL="32144" marR="32144" marT="32141" marB="32141" anchor="ctr">
                    <a:lnL>
                      <a:noFill/>
                    </a:lnL>
                    <a:lnR>
                      <a:noFill/>
                    </a:lnR>
                    <a:lnT>
                      <a:noFill/>
                    </a:lnT>
                    <a:lnB>
                      <a:noFill/>
                    </a:lnB>
                  </a:tcPr>
                </a:tc>
                <a:tc>
                  <a:txBody>
                    <a:bodyPr/>
                    <a:lstStyle/>
                    <a:p>
                      <a:pPr algn="l">
                        <a:spcAft>
                          <a:spcPts val="0"/>
                        </a:spcAft>
                      </a:pPr>
                      <a:r>
                        <a:rPr lang="de-AT" sz="1400" dirty="0">
                          <a:latin typeface="Times New Roman"/>
                          <a:ea typeface="Times New Roman"/>
                          <a:cs typeface="Times New Roman"/>
                          <a:sym typeface="Wingdings" pitchFamily="2" charset="2"/>
                        </a:rPr>
                        <a:t></a:t>
                      </a:r>
                      <a:endParaRPr lang="de-AT" sz="1400" dirty="0">
                        <a:latin typeface="Times New Roman"/>
                        <a:ea typeface="Times New Roman"/>
                        <a:cs typeface="Times New Roman"/>
                      </a:endParaRPr>
                    </a:p>
                  </a:txBody>
                  <a:tcPr marL="32144" marR="32144" marT="32141" marB="32141" anchor="ctr">
                    <a:lnL>
                      <a:noFill/>
                    </a:lnL>
                    <a:lnR>
                      <a:noFill/>
                    </a:lnR>
                    <a:lnT>
                      <a:noFill/>
                    </a:lnT>
                    <a:lnB>
                      <a:noFill/>
                    </a:lnB>
                  </a:tcPr>
                </a:tc>
                <a:tc>
                  <a:txBody>
                    <a:bodyPr/>
                    <a:lstStyle/>
                    <a:p>
                      <a:pPr algn="ctr">
                        <a:spcAft>
                          <a:spcPts val="0"/>
                        </a:spcAft>
                      </a:pPr>
                      <a:r>
                        <a:rPr lang="de-AT" sz="1400">
                          <a:latin typeface="Times New Roman"/>
                          <a:ea typeface="Times New Roman"/>
                          <a:cs typeface="Times New Roman"/>
                        </a:rPr>
                        <a:t>1</a:t>
                      </a:r>
                      <a:endParaRPr lang="de-AT" sz="1200">
                        <a:latin typeface="Calibri"/>
                        <a:ea typeface="Calibri"/>
                        <a:cs typeface="Times New Roman"/>
                      </a:endParaRPr>
                    </a:p>
                  </a:txBody>
                  <a:tcPr marL="32144" marR="32144" marT="32141" marB="32141" anchor="ctr">
                    <a:lnL>
                      <a:noFill/>
                    </a:lnL>
                    <a:lnR>
                      <a:noFill/>
                    </a:lnR>
                    <a:lnT>
                      <a:noFill/>
                    </a:lnT>
                    <a:lnB>
                      <a:noFill/>
                    </a:lnB>
                    <a:solidFill>
                      <a:srgbClr val="C0E0FF"/>
                    </a:solidFill>
                  </a:tcPr>
                </a:tc>
                <a:tc>
                  <a:txBody>
                    <a:bodyPr/>
                    <a:lstStyle/>
                    <a:p>
                      <a:pPr algn="ctr">
                        <a:spcAft>
                          <a:spcPts val="0"/>
                        </a:spcAft>
                      </a:pPr>
                      <a:r>
                        <a:rPr lang="de-AT" sz="1400" i="1">
                          <a:latin typeface="Times New Roman"/>
                          <a:ea typeface="Times New Roman"/>
                          <a:cs typeface="Times New Roman"/>
                        </a:rPr>
                        <a:t>Platz für Ergebnis</a:t>
                      </a:r>
                      <a:endParaRPr lang="de-AT" sz="1200">
                        <a:latin typeface="Calibri"/>
                        <a:ea typeface="Calibri"/>
                        <a:cs typeface="Times New Roman"/>
                      </a:endParaRPr>
                    </a:p>
                  </a:txBody>
                  <a:tcPr marL="32144" marR="32144" marT="32141" marB="32141" anchor="ctr">
                    <a:lnL>
                      <a:noFill/>
                    </a:lnL>
                    <a:lnR>
                      <a:noFill/>
                    </a:lnR>
                    <a:lnT>
                      <a:noFill/>
                    </a:lnT>
                    <a:lnB>
                      <a:noFill/>
                    </a:lnB>
                    <a:solidFill>
                      <a:srgbClr val="C0C0FF"/>
                    </a:solidFill>
                  </a:tcPr>
                </a:tc>
                <a:extLst>
                  <a:ext uri="{0D108BD9-81ED-4DB2-BD59-A6C34878D82A}">
                    <a16:rowId xmlns:a16="http://schemas.microsoft.com/office/drawing/2014/main" val="10000"/>
                  </a:ext>
                </a:extLst>
              </a:tr>
              <a:tr h="270021">
                <a:tc>
                  <a:txBody>
                    <a:bodyPr/>
                    <a:lstStyle/>
                    <a:p>
                      <a:pPr algn="just"/>
                      <a:endParaRPr lang="de-AT" sz="1200">
                        <a:latin typeface="Calibri"/>
                        <a:ea typeface="Times New Roman"/>
                        <a:cs typeface="Times New Roman"/>
                      </a:endParaRPr>
                    </a:p>
                  </a:txBody>
                  <a:tcPr marL="32144" marR="32144" marT="32141" marB="32141" anchor="ctr">
                    <a:lnL>
                      <a:noFill/>
                    </a:lnL>
                    <a:lnR>
                      <a:noFill/>
                    </a:lnR>
                    <a:lnT>
                      <a:noFill/>
                    </a:lnT>
                    <a:lnB>
                      <a:noFill/>
                    </a:lnB>
                  </a:tcPr>
                </a:tc>
                <a:tc>
                  <a:txBody>
                    <a:bodyPr/>
                    <a:lstStyle/>
                    <a:p>
                      <a:pPr algn="just"/>
                      <a:endParaRPr lang="de-AT" sz="1200">
                        <a:latin typeface="Calibri"/>
                        <a:ea typeface="Times New Roman"/>
                        <a:cs typeface="Times New Roman"/>
                      </a:endParaRPr>
                    </a:p>
                  </a:txBody>
                  <a:tcPr marL="32144" marR="32144" marT="32141" marB="32141" anchor="ctr">
                    <a:lnL>
                      <a:noFill/>
                    </a:lnL>
                    <a:lnR>
                      <a:noFill/>
                    </a:lnR>
                    <a:lnT>
                      <a:noFill/>
                    </a:lnT>
                    <a:lnB>
                      <a:noFill/>
                    </a:lnB>
                  </a:tcPr>
                </a:tc>
                <a:tc>
                  <a:txBody>
                    <a:bodyPr/>
                    <a:lstStyle/>
                    <a:p>
                      <a:pPr algn="ctr">
                        <a:spcAft>
                          <a:spcPts val="0"/>
                        </a:spcAft>
                      </a:pPr>
                      <a:r>
                        <a:rPr lang="de-AT" sz="1400">
                          <a:latin typeface="Times New Roman"/>
                          <a:ea typeface="Times New Roman"/>
                          <a:cs typeface="Times New Roman"/>
                        </a:rPr>
                        <a:t>2</a:t>
                      </a:r>
                      <a:endParaRPr lang="de-AT" sz="1200">
                        <a:latin typeface="Calibri"/>
                        <a:ea typeface="Calibri"/>
                        <a:cs typeface="Times New Roman"/>
                      </a:endParaRPr>
                    </a:p>
                  </a:txBody>
                  <a:tcPr marL="32144" marR="32144" marT="32141" marB="32141" anchor="ctr">
                    <a:lnL>
                      <a:noFill/>
                    </a:lnL>
                    <a:lnR>
                      <a:noFill/>
                    </a:lnR>
                    <a:lnT>
                      <a:noFill/>
                    </a:lnT>
                    <a:lnB>
                      <a:noFill/>
                    </a:lnB>
                    <a:solidFill>
                      <a:srgbClr val="C0E0FF"/>
                    </a:solidFill>
                  </a:tcPr>
                </a:tc>
                <a:tc>
                  <a:txBody>
                    <a:bodyPr/>
                    <a:lstStyle/>
                    <a:p>
                      <a:pPr algn="ctr">
                        <a:spcAft>
                          <a:spcPts val="0"/>
                        </a:spcAft>
                      </a:pPr>
                      <a:r>
                        <a:rPr lang="de-AT" sz="1400" b="1">
                          <a:latin typeface="Times New Roman"/>
                          <a:ea typeface="Times New Roman"/>
                          <a:cs typeface="Times New Roman"/>
                        </a:rPr>
                        <a:t>4</a:t>
                      </a:r>
                      <a:r>
                        <a:rPr lang="de-AT" sz="1400">
                          <a:latin typeface="Times New Roman"/>
                          <a:ea typeface="Times New Roman"/>
                          <a:cs typeface="Times New Roman"/>
                        </a:rPr>
                        <a:t> (Argument)</a:t>
                      </a:r>
                      <a:endParaRPr lang="de-AT" sz="1200">
                        <a:latin typeface="Calibri"/>
                        <a:ea typeface="Calibri"/>
                        <a:cs typeface="Times New Roman"/>
                      </a:endParaRPr>
                    </a:p>
                  </a:txBody>
                  <a:tcPr marL="32144" marR="32144" marT="32141" marB="32141" anchor="ctr">
                    <a:lnL>
                      <a:noFill/>
                    </a:lnL>
                    <a:lnR>
                      <a:noFill/>
                    </a:lnR>
                    <a:lnT>
                      <a:noFill/>
                    </a:lnT>
                    <a:lnB>
                      <a:noFill/>
                    </a:lnB>
                    <a:solidFill>
                      <a:srgbClr val="C0C0FF"/>
                    </a:solidFill>
                  </a:tcPr>
                </a:tc>
                <a:extLst>
                  <a:ext uri="{0D108BD9-81ED-4DB2-BD59-A6C34878D82A}">
                    <a16:rowId xmlns:a16="http://schemas.microsoft.com/office/drawing/2014/main" val="10001"/>
                  </a:ext>
                </a:extLst>
              </a:tr>
              <a:tr h="475761">
                <a:tc>
                  <a:txBody>
                    <a:bodyPr/>
                    <a:lstStyle/>
                    <a:p>
                      <a:pPr algn="just"/>
                      <a:endParaRPr lang="de-AT" sz="1200" dirty="0">
                        <a:latin typeface="Calibri"/>
                        <a:ea typeface="Times New Roman"/>
                        <a:cs typeface="Times New Roman"/>
                      </a:endParaRPr>
                    </a:p>
                  </a:txBody>
                  <a:tcPr marL="32144" marR="32144" marT="32141" marB="32141" anchor="ctr">
                    <a:lnL>
                      <a:noFill/>
                    </a:lnL>
                    <a:lnR>
                      <a:noFill/>
                    </a:lnR>
                    <a:lnT>
                      <a:noFill/>
                    </a:lnT>
                    <a:lnB>
                      <a:noFill/>
                    </a:lnB>
                  </a:tcPr>
                </a:tc>
                <a:tc>
                  <a:txBody>
                    <a:bodyPr/>
                    <a:lstStyle/>
                    <a:p>
                      <a:pPr algn="just"/>
                      <a:endParaRPr lang="de-AT" sz="1200" dirty="0">
                        <a:latin typeface="Calibri"/>
                        <a:ea typeface="Times New Roman"/>
                        <a:cs typeface="Times New Roman"/>
                      </a:endParaRPr>
                    </a:p>
                  </a:txBody>
                  <a:tcPr marL="32144" marR="32144" marT="32141" marB="32141" anchor="ctr">
                    <a:lnL>
                      <a:noFill/>
                    </a:lnL>
                    <a:lnR>
                      <a:noFill/>
                    </a:lnR>
                    <a:lnT>
                      <a:noFill/>
                    </a:lnT>
                    <a:lnB>
                      <a:noFill/>
                    </a:lnB>
                  </a:tcPr>
                </a:tc>
                <a:tc>
                  <a:txBody>
                    <a:bodyPr/>
                    <a:lstStyle/>
                    <a:p>
                      <a:pPr algn="ctr">
                        <a:spcAft>
                          <a:spcPts val="0"/>
                        </a:spcAft>
                      </a:pPr>
                      <a:r>
                        <a:rPr lang="de-AT" sz="1400">
                          <a:latin typeface="Times New Roman"/>
                          <a:ea typeface="Times New Roman"/>
                          <a:cs typeface="Times New Roman"/>
                        </a:rPr>
                        <a:t>3</a:t>
                      </a:r>
                      <a:endParaRPr lang="de-AT" sz="1200">
                        <a:latin typeface="Calibri"/>
                        <a:ea typeface="Calibri"/>
                        <a:cs typeface="Times New Roman"/>
                      </a:endParaRPr>
                    </a:p>
                  </a:txBody>
                  <a:tcPr marL="32144" marR="32144" marT="32141" marB="32141" anchor="ctr">
                    <a:lnL>
                      <a:noFill/>
                    </a:lnL>
                    <a:lnR>
                      <a:noFill/>
                    </a:lnR>
                    <a:lnT>
                      <a:noFill/>
                    </a:lnT>
                    <a:lnB>
                      <a:noFill/>
                    </a:lnB>
                    <a:solidFill>
                      <a:srgbClr val="C0E0FF"/>
                    </a:solidFill>
                  </a:tcPr>
                </a:tc>
                <a:tc>
                  <a:txBody>
                    <a:bodyPr/>
                    <a:lstStyle/>
                    <a:p>
                      <a:pPr algn="ctr">
                        <a:spcAft>
                          <a:spcPts val="0"/>
                        </a:spcAft>
                      </a:pPr>
                      <a:r>
                        <a:rPr lang="de-AT" sz="1400" i="1">
                          <a:latin typeface="Times New Roman"/>
                          <a:ea typeface="Times New Roman"/>
                          <a:cs typeface="Times New Roman"/>
                        </a:rPr>
                        <a:t>Rücksprungadresse ins Hauptprogramm</a:t>
                      </a:r>
                      <a:endParaRPr lang="de-AT" sz="1200">
                        <a:latin typeface="Calibri"/>
                        <a:ea typeface="Calibri"/>
                        <a:cs typeface="Times New Roman"/>
                      </a:endParaRPr>
                    </a:p>
                  </a:txBody>
                  <a:tcPr marL="32144" marR="32144" marT="32141" marB="32141" anchor="ctr">
                    <a:lnL>
                      <a:noFill/>
                    </a:lnL>
                    <a:lnR>
                      <a:noFill/>
                    </a:lnR>
                    <a:lnT>
                      <a:noFill/>
                    </a:lnT>
                    <a:lnB>
                      <a:noFill/>
                    </a:lnB>
                    <a:solidFill>
                      <a:srgbClr val="C0C0FF"/>
                    </a:solidFill>
                  </a:tcPr>
                </a:tc>
                <a:extLst>
                  <a:ext uri="{0D108BD9-81ED-4DB2-BD59-A6C34878D82A}">
                    <a16:rowId xmlns:a16="http://schemas.microsoft.com/office/drawing/2014/main" val="10002"/>
                  </a:ext>
                </a:extLst>
              </a:tr>
              <a:tr h="270021">
                <a:tc>
                  <a:txBody>
                    <a:bodyPr/>
                    <a:lstStyle/>
                    <a:p>
                      <a:pPr algn="just"/>
                      <a:endParaRPr lang="de-AT" sz="1200" dirty="0">
                        <a:latin typeface="Calibri"/>
                        <a:ea typeface="Times New Roman"/>
                        <a:cs typeface="Times New Roman"/>
                      </a:endParaRPr>
                    </a:p>
                  </a:txBody>
                  <a:tcPr marL="32144" marR="32144" marT="32141" marB="32141" anchor="ctr">
                    <a:lnL>
                      <a:noFill/>
                    </a:lnL>
                    <a:lnR>
                      <a:noFill/>
                    </a:lnR>
                    <a:lnT>
                      <a:noFill/>
                    </a:lnT>
                    <a:lnB>
                      <a:noFill/>
                    </a:lnB>
                  </a:tcPr>
                </a:tc>
                <a:tc>
                  <a:txBody>
                    <a:bodyPr/>
                    <a:lstStyle/>
                    <a:p>
                      <a:pPr algn="just"/>
                      <a:endParaRPr lang="de-AT" sz="1200">
                        <a:latin typeface="Calibri"/>
                        <a:ea typeface="Times New Roman"/>
                        <a:cs typeface="Times New Roman"/>
                      </a:endParaRPr>
                    </a:p>
                  </a:txBody>
                  <a:tcPr marL="32144" marR="32144" marT="32141" marB="32141" anchor="ctr">
                    <a:lnL>
                      <a:noFill/>
                    </a:lnL>
                    <a:lnR>
                      <a:noFill/>
                    </a:lnR>
                    <a:lnT>
                      <a:noFill/>
                    </a:lnT>
                    <a:lnB>
                      <a:noFill/>
                    </a:lnB>
                  </a:tcPr>
                </a:tc>
                <a:tc>
                  <a:txBody>
                    <a:bodyPr/>
                    <a:lstStyle/>
                    <a:p>
                      <a:pPr algn="ctr">
                        <a:spcAft>
                          <a:spcPts val="0"/>
                        </a:spcAft>
                      </a:pPr>
                      <a:r>
                        <a:rPr lang="de-AT" sz="1400">
                          <a:latin typeface="Times New Roman"/>
                          <a:ea typeface="Times New Roman"/>
                          <a:cs typeface="Times New Roman"/>
                        </a:rPr>
                        <a:t>4</a:t>
                      </a:r>
                      <a:endParaRPr lang="de-AT" sz="1200">
                        <a:latin typeface="Calibri"/>
                        <a:ea typeface="Calibri"/>
                        <a:cs typeface="Times New Roman"/>
                      </a:endParaRPr>
                    </a:p>
                  </a:txBody>
                  <a:tcPr marL="32144" marR="32144" marT="32141" marB="32141" anchor="ctr">
                    <a:lnL>
                      <a:noFill/>
                    </a:lnL>
                    <a:lnR>
                      <a:noFill/>
                    </a:lnR>
                    <a:lnT>
                      <a:noFill/>
                    </a:lnT>
                    <a:lnB>
                      <a:noFill/>
                    </a:lnB>
                    <a:solidFill>
                      <a:srgbClr val="C0E0FF"/>
                    </a:solidFill>
                  </a:tcPr>
                </a:tc>
                <a:tc>
                  <a:txBody>
                    <a:bodyPr/>
                    <a:lstStyle/>
                    <a:p>
                      <a:pPr algn="ctr">
                        <a:spcAft>
                          <a:spcPts val="0"/>
                        </a:spcAft>
                      </a:pPr>
                      <a:r>
                        <a:rPr lang="de-AT" sz="1400" i="1" dirty="0">
                          <a:latin typeface="Times New Roman"/>
                          <a:ea typeface="Times New Roman"/>
                          <a:cs typeface="Times New Roman"/>
                        </a:rPr>
                        <a:t>Platz für Ergebnis</a:t>
                      </a:r>
                      <a:endParaRPr lang="de-AT" sz="1200" dirty="0">
                        <a:latin typeface="Calibri"/>
                        <a:ea typeface="Calibri"/>
                        <a:cs typeface="Times New Roman"/>
                      </a:endParaRPr>
                    </a:p>
                  </a:txBody>
                  <a:tcPr marL="32144" marR="32144" marT="32141" marB="32141" anchor="ctr">
                    <a:lnL>
                      <a:noFill/>
                    </a:lnL>
                    <a:lnR>
                      <a:noFill/>
                    </a:lnR>
                    <a:lnT>
                      <a:noFill/>
                    </a:lnT>
                    <a:lnB>
                      <a:noFill/>
                    </a:lnB>
                    <a:solidFill>
                      <a:srgbClr val="C0C0FF"/>
                    </a:solidFill>
                  </a:tcPr>
                </a:tc>
                <a:extLst>
                  <a:ext uri="{0D108BD9-81ED-4DB2-BD59-A6C34878D82A}">
                    <a16:rowId xmlns:a16="http://schemas.microsoft.com/office/drawing/2014/main" val="10003"/>
                  </a:ext>
                </a:extLst>
              </a:tr>
              <a:tr h="270021">
                <a:tc>
                  <a:txBody>
                    <a:bodyPr/>
                    <a:lstStyle/>
                    <a:p>
                      <a:pPr algn="just"/>
                      <a:endParaRPr lang="de-AT" sz="1200">
                        <a:latin typeface="Calibri"/>
                        <a:ea typeface="Times New Roman"/>
                        <a:cs typeface="Times New Roman"/>
                      </a:endParaRPr>
                    </a:p>
                  </a:txBody>
                  <a:tcPr marL="32144" marR="32144" marT="32141" marB="32141" anchor="ctr">
                    <a:lnL>
                      <a:noFill/>
                    </a:lnL>
                    <a:lnR>
                      <a:noFill/>
                    </a:lnR>
                    <a:lnT>
                      <a:noFill/>
                    </a:lnT>
                    <a:lnB>
                      <a:noFill/>
                    </a:lnB>
                  </a:tcPr>
                </a:tc>
                <a:tc>
                  <a:txBody>
                    <a:bodyPr/>
                    <a:lstStyle/>
                    <a:p>
                      <a:pPr algn="just"/>
                      <a:endParaRPr lang="de-AT" sz="1200">
                        <a:latin typeface="Calibri"/>
                        <a:ea typeface="Times New Roman"/>
                        <a:cs typeface="Times New Roman"/>
                      </a:endParaRPr>
                    </a:p>
                  </a:txBody>
                  <a:tcPr marL="32144" marR="32144" marT="32141" marB="32141" anchor="ctr">
                    <a:lnL>
                      <a:noFill/>
                    </a:lnL>
                    <a:lnR>
                      <a:noFill/>
                    </a:lnR>
                    <a:lnT>
                      <a:noFill/>
                    </a:lnT>
                    <a:lnB>
                      <a:noFill/>
                    </a:lnB>
                  </a:tcPr>
                </a:tc>
                <a:tc>
                  <a:txBody>
                    <a:bodyPr/>
                    <a:lstStyle/>
                    <a:p>
                      <a:pPr algn="ctr">
                        <a:spcAft>
                          <a:spcPts val="0"/>
                        </a:spcAft>
                      </a:pPr>
                      <a:r>
                        <a:rPr lang="de-AT" sz="1400">
                          <a:latin typeface="Times New Roman"/>
                          <a:ea typeface="Times New Roman"/>
                          <a:cs typeface="Times New Roman"/>
                        </a:rPr>
                        <a:t>5</a:t>
                      </a:r>
                      <a:endParaRPr lang="de-AT" sz="1200">
                        <a:latin typeface="Calibri"/>
                        <a:ea typeface="Calibri"/>
                        <a:cs typeface="Times New Roman"/>
                      </a:endParaRPr>
                    </a:p>
                  </a:txBody>
                  <a:tcPr marL="32144" marR="32144" marT="32141" marB="32141" anchor="ctr">
                    <a:lnL>
                      <a:noFill/>
                    </a:lnL>
                    <a:lnR>
                      <a:noFill/>
                    </a:lnR>
                    <a:lnT>
                      <a:noFill/>
                    </a:lnT>
                    <a:lnB>
                      <a:noFill/>
                    </a:lnB>
                    <a:solidFill>
                      <a:srgbClr val="C0E0FF"/>
                    </a:solidFill>
                  </a:tcPr>
                </a:tc>
                <a:tc>
                  <a:txBody>
                    <a:bodyPr/>
                    <a:lstStyle/>
                    <a:p>
                      <a:pPr algn="ctr">
                        <a:spcAft>
                          <a:spcPts val="0"/>
                        </a:spcAft>
                      </a:pPr>
                      <a:r>
                        <a:rPr lang="de-AT" sz="1400" b="1">
                          <a:latin typeface="Times New Roman"/>
                          <a:ea typeface="Times New Roman"/>
                          <a:cs typeface="Times New Roman"/>
                        </a:rPr>
                        <a:t>3</a:t>
                      </a:r>
                      <a:r>
                        <a:rPr lang="de-AT" sz="1400">
                          <a:latin typeface="Times New Roman"/>
                          <a:ea typeface="Times New Roman"/>
                          <a:cs typeface="Times New Roman"/>
                        </a:rPr>
                        <a:t> (Argument)</a:t>
                      </a:r>
                      <a:endParaRPr lang="de-AT" sz="1200">
                        <a:latin typeface="Calibri"/>
                        <a:ea typeface="Calibri"/>
                        <a:cs typeface="Times New Roman"/>
                      </a:endParaRPr>
                    </a:p>
                  </a:txBody>
                  <a:tcPr marL="32144" marR="32144" marT="32141" marB="32141" anchor="ctr">
                    <a:lnL>
                      <a:noFill/>
                    </a:lnL>
                    <a:lnR>
                      <a:noFill/>
                    </a:lnR>
                    <a:lnT>
                      <a:noFill/>
                    </a:lnT>
                    <a:lnB>
                      <a:noFill/>
                    </a:lnB>
                    <a:solidFill>
                      <a:srgbClr val="C0C0FF"/>
                    </a:solidFill>
                  </a:tcPr>
                </a:tc>
                <a:extLst>
                  <a:ext uri="{0D108BD9-81ED-4DB2-BD59-A6C34878D82A}">
                    <a16:rowId xmlns:a16="http://schemas.microsoft.com/office/drawing/2014/main" val="10004"/>
                  </a:ext>
                </a:extLst>
              </a:tr>
              <a:tr h="475761">
                <a:tc>
                  <a:txBody>
                    <a:bodyPr/>
                    <a:lstStyle/>
                    <a:p>
                      <a:pPr algn="just"/>
                      <a:endParaRPr lang="de-AT" sz="1200">
                        <a:latin typeface="Calibri"/>
                        <a:ea typeface="Times New Roman"/>
                        <a:cs typeface="Times New Roman"/>
                      </a:endParaRPr>
                    </a:p>
                  </a:txBody>
                  <a:tcPr marL="32144" marR="32144" marT="32141" marB="32141" anchor="ctr">
                    <a:lnL>
                      <a:noFill/>
                    </a:lnL>
                    <a:lnR>
                      <a:noFill/>
                    </a:lnR>
                    <a:lnT>
                      <a:noFill/>
                    </a:lnT>
                    <a:lnB>
                      <a:noFill/>
                    </a:lnB>
                  </a:tcPr>
                </a:tc>
                <a:tc>
                  <a:txBody>
                    <a:bodyPr/>
                    <a:lstStyle/>
                    <a:p>
                      <a:pPr algn="just"/>
                      <a:endParaRPr lang="de-AT" sz="1200">
                        <a:latin typeface="Calibri"/>
                        <a:ea typeface="Times New Roman"/>
                        <a:cs typeface="Times New Roman"/>
                      </a:endParaRPr>
                    </a:p>
                  </a:txBody>
                  <a:tcPr marL="32144" marR="32144" marT="32141" marB="32141" anchor="ctr">
                    <a:lnL>
                      <a:noFill/>
                    </a:lnL>
                    <a:lnR>
                      <a:noFill/>
                    </a:lnR>
                    <a:lnT>
                      <a:noFill/>
                    </a:lnT>
                    <a:lnB>
                      <a:noFill/>
                    </a:lnB>
                  </a:tcPr>
                </a:tc>
                <a:tc>
                  <a:txBody>
                    <a:bodyPr/>
                    <a:lstStyle/>
                    <a:p>
                      <a:pPr algn="ctr">
                        <a:spcAft>
                          <a:spcPts val="0"/>
                        </a:spcAft>
                      </a:pPr>
                      <a:r>
                        <a:rPr lang="de-AT" sz="1400">
                          <a:latin typeface="Times New Roman"/>
                          <a:ea typeface="Times New Roman"/>
                          <a:cs typeface="Times New Roman"/>
                        </a:rPr>
                        <a:t>6</a:t>
                      </a:r>
                      <a:endParaRPr lang="de-AT" sz="1200">
                        <a:latin typeface="Calibri"/>
                        <a:ea typeface="Calibri"/>
                        <a:cs typeface="Times New Roman"/>
                      </a:endParaRPr>
                    </a:p>
                  </a:txBody>
                  <a:tcPr marL="32144" marR="32144" marT="32141" marB="32141" anchor="ctr">
                    <a:lnL>
                      <a:noFill/>
                    </a:lnL>
                    <a:lnR>
                      <a:noFill/>
                    </a:lnR>
                    <a:lnT>
                      <a:noFill/>
                    </a:lnT>
                    <a:lnB>
                      <a:noFill/>
                    </a:lnB>
                    <a:solidFill>
                      <a:srgbClr val="C0E0FF"/>
                    </a:solidFill>
                  </a:tcPr>
                </a:tc>
                <a:tc>
                  <a:txBody>
                    <a:bodyPr/>
                    <a:lstStyle/>
                    <a:p>
                      <a:pPr algn="ctr">
                        <a:spcAft>
                          <a:spcPts val="0"/>
                        </a:spcAft>
                      </a:pPr>
                      <a:r>
                        <a:rPr lang="de-AT" sz="1400" i="1">
                          <a:latin typeface="Times New Roman"/>
                          <a:ea typeface="Times New Roman"/>
                          <a:cs typeface="Times New Roman"/>
                        </a:rPr>
                        <a:t>Rücksprungadresse in die Fakultätsfunktion</a:t>
                      </a:r>
                      <a:endParaRPr lang="de-AT" sz="1200">
                        <a:latin typeface="Calibri"/>
                        <a:ea typeface="Calibri"/>
                        <a:cs typeface="Times New Roman"/>
                      </a:endParaRPr>
                    </a:p>
                  </a:txBody>
                  <a:tcPr marL="32144" marR="32144" marT="32141" marB="32141" anchor="ctr">
                    <a:lnL>
                      <a:noFill/>
                    </a:lnL>
                    <a:lnR>
                      <a:noFill/>
                    </a:lnR>
                    <a:lnT>
                      <a:noFill/>
                    </a:lnT>
                    <a:lnB>
                      <a:noFill/>
                    </a:lnB>
                    <a:solidFill>
                      <a:srgbClr val="C0C0FF"/>
                    </a:solidFill>
                  </a:tcPr>
                </a:tc>
                <a:extLst>
                  <a:ext uri="{0D108BD9-81ED-4DB2-BD59-A6C34878D82A}">
                    <a16:rowId xmlns:a16="http://schemas.microsoft.com/office/drawing/2014/main" val="10005"/>
                  </a:ext>
                </a:extLst>
              </a:tr>
              <a:tr h="270021">
                <a:tc>
                  <a:txBody>
                    <a:bodyPr/>
                    <a:lstStyle/>
                    <a:p>
                      <a:pPr algn="just"/>
                      <a:endParaRPr lang="de-AT" sz="1200">
                        <a:latin typeface="Calibri"/>
                        <a:ea typeface="Times New Roman"/>
                        <a:cs typeface="Times New Roman"/>
                      </a:endParaRPr>
                    </a:p>
                  </a:txBody>
                  <a:tcPr marL="32144" marR="32144" marT="32141" marB="32141" anchor="ctr">
                    <a:lnL>
                      <a:noFill/>
                    </a:lnL>
                    <a:lnR>
                      <a:noFill/>
                    </a:lnR>
                    <a:lnT>
                      <a:noFill/>
                    </a:lnT>
                    <a:lnB>
                      <a:noFill/>
                    </a:lnB>
                  </a:tcPr>
                </a:tc>
                <a:tc>
                  <a:txBody>
                    <a:bodyPr/>
                    <a:lstStyle/>
                    <a:p>
                      <a:pPr algn="just"/>
                      <a:endParaRPr lang="de-AT" sz="1200" dirty="0">
                        <a:latin typeface="Calibri"/>
                        <a:ea typeface="Times New Roman"/>
                        <a:cs typeface="Times New Roman"/>
                      </a:endParaRPr>
                    </a:p>
                  </a:txBody>
                  <a:tcPr marL="32144" marR="32144" marT="32141" marB="32141" anchor="ctr">
                    <a:lnL>
                      <a:noFill/>
                    </a:lnL>
                    <a:lnR>
                      <a:noFill/>
                    </a:lnR>
                    <a:lnT>
                      <a:noFill/>
                    </a:lnT>
                    <a:lnB>
                      <a:noFill/>
                    </a:lnB>
                  </a:tcPr>
                </a:tc>
                <a:tc>
                  <a:txBody>
                    <a:bodyPr/>
                    <a:lstStyle/>
                    <a:p>
                      <a:pPr algn="just"/>
                      <a:endParaRPr lang="de-AT" sz="1200">
                        <a:latin typeface="Calibri"/>
                        <a:ea typeface="Times New Roman"/>
                        <a:cs typeface="Times New Roman"/>
                      </a:endParaRPr>
                    </a:p>
                  </a:txBody>
                  <a:tcPr marL="32144" marR="32144" marT="32141" marB="32141" anchor="ctr">
                    <a:lnL>
                      <a:noFill/>
                    </a:lnL>
                    <a:lnR>
                      <a:noFill/>
                    </a:lnR>
                    <a:lnT>
                      <a:noFill/>
                    </a:lnT>
                    <a:lnB>
                      <a:noFill/>
                    </a:lnB>
                    <a:solidFill>
                      <a:srgbClr val="C0E0FF"/>
                    </a:solidFill>
                  </a:tcPr>
                </a:tc>
                <a:tc>
                  <a:txBody>
                    <a:bodyPr/>
                    <a:lstStyle/>
                    <a:p>
                      <a:pPr algn="ctr">
                        <a:spcAft>
                          <a:spcPts val="0"/>
                        </a:spcAft>
                      </a:pPr>
                      <a:r>
                        <a:rPr lang="de-AT" sz="1400" i="1" dirty="0">
                          <a:latin typeface="Times New Roman"/>
                          <a:ea typeface="Times New Roman"/>
                          <a:cs typeface="Times New Roman"/>
                        </a:rPr>
                        <a:t>……</a:t>
                      </a:r>
                      <a:endParaRPr lang="de-AT" sz="1200" dirty="0">
                        <a:latin typeface="Calibri"/>
                        <a:ea typeface="Calibri"/>
                        <a:cs typeface="Times New Roman"/>
                      </a:endParaRPr>
                    </a:p>
                  </a:txBody>
                  <a:tcPr marL="32144" marR="32144" marT="32141" marB="32141" anchor="ctr">
                    <a:lnL>
                      <a:noFill/>
                    </a:lnL>
                    <a:lnR>
                      <a:noFill/>
                    </a:lnR>
                    <a:lnT>
                      <a:noFill/>
                    </a:lnT>
                    <a:lnB>
                      <a:noFill/>
                    </a:lnB>
                    <a:solidFill>
                      <a:srgbClr val="C0C0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145360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2" name="Rectangle 2"/>
          <p:cNvSpPr>
            <a:spLocks noGrp="1" noChangeArrowheads="1"/>
          </p:cNvSpPr>
          <p:nvPr>
            <p:ph type="title"/>
          </p:nvPr>
        </p:nvSpPr>
        <p:spPr/>
        <p:txBody>
          <a:bodyPr/>
          <a:lstStyle/>
          <a:p>
            <a:pPr eaLnBrk="1" hangingPunct="1"/>
            <a:r>
              <a:rPr lang="de-DE" altLang="de-DE"/>
              <a:t>Rekursion – Vor u. Nachteile</a:t>
            </a:r>
          </a:p>
        </p:txBody>
      </p:sp>
      <p:sp>
        <p:nvSpPr>
          <p:cNvPr id="32773" name="Rectangle 3"/>
          <p:cNvSpPr>
            <a:spLocks noGrp="1" noChangeArrowheads="1"/>
          </p:cNvSpPr>
          <p:nvPr>
            <p:ph sz="quarter" idx="11"/>
          </p:nvPr>
        </p:nvSpPr>
        <p:spPr/>
        <p:txBody>
          <a:bodyPr/>
          <a:lstStyle/>
          <a:p>
            <a:pPr eaLnBrk="1" hangingPunct="1"/>
            <a:r>
              <a:rPr lang="de-AT" altLang="de-DE" sz="1800"/>
              <a:t>Da die Stackbereinigung erst mit dem Rücksprung (ret) aus der Prozedur erfolgt, wird viel Arbeitsspeicher verbraucht (Speicher könnte ev. voll werden). Der Verbrauch steigt umso schneller, je mehr Parameter und lokale Variablen die Prozedur verwendet.</a:t>
            </a:r>
          </a:p>
          <a:p>
            <a:pPr eaLnBrk="1" hangingPunct="1"/>
            <a:endParaRPr lang="de-AT" altLang="de-DE" sz="1800"/>
          </a:p>
          <a:p>
            <a:pPr eaLnBrk="1" hangingPunct="1"/>
            <a:r>
              <a:rPr lang="de-AT" altLang="de-DE" sz="1800"/>
              <a:t>Für einfache Probleme ist die iterative Implementierung häufig effizienter (jeder Funktionsaufruf kostet Zeit). Bei komplizierten Problemstellungen (z.B. Bäume..) bietet sich der Einsatz einer rekursiven Lösung an, da hier eine iterative Formulierung schnell unübersichtlich bzw. ineffizient  werden kann: Im schlimmsten Fall muss der Stack durch den iterativen Algorithmus selbst verwaltet werden.</a:t>
            </a:r>
            <a:endParaRPr lang="de-DE" altLang="de-DE" sz="1800"/>
          </a:p>
        </p:txBody>
      </p:sp>
    </p:spTree>
    <p:extLst>
      <p:ext uri="{BB962C8B-B14F-4D97-AF65-F5344CB8AC3E}">
        <p14:creationId xmlns:p14="http://schemas.microsoft.com/office/powerpoint/2010/main" val="1065175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el 1"/>
          <p:cNvSpPr>
            <a:spLocks noGrp="1"/>
          </p:cNvSpPr>
          <p:nvPr>
            <p:ph type="title"/>
          </p:nvPr>
        </p:nvSpPr>
        <p:spPr/>
        <p:txBody>
          <a:bodyPr/>
          <a:lstStyle/>
          <a:p>
            <a:pPr eaLnBrk="1" hangingPunct="1"/>
            <a:r>
              <a:rPr lang="de-AT" altLang="de-DE" dirty="0"/>
              <a:t>Beispiel 2: Multiplikation</a:t>
            </a:r>
          </a:p>
        </p:txBody>
      </p:sp>
      <p:sp>
        <p:nvSpPr>
          <p:cNvPr id="2" name="Inhaltsplatzhalter 1"/>
          <p:cNvSpPr>
            <a:spLocks noGrp="1"/>
          </p:cNvSpPr>
          <p:nvPr>
            <p:ph sz="quarter" idx="11"/>
          </p:nvPr>
        </p:nvSpPr>
        <p:spPr>
          <a:xfrm>
            <a:off x="467543" y="1268761"/>
            <a:ext cx="5209521" cy="4680520"/>
          </a:xfrm>
        </p:spPr>
        <p:txBody>
          <a:bodyPr/>
          <a:lstStyle/>
          <a:p>
            <a:r>
              <a:rPr lang="de-DE" sz="2400" b="1" dirty="0"/>
              <a:t>Aufgabe</a:t>
            </a:r>
            <a:r>
              <a:rPr lang="de-DE" dirty="0"/>
              <a:t>:</a:t>
            </a:r>
          </a:p>
          <a:p>
            <a:pPr marL="342900" indent="-342900">
              <a:buFont typeface="Arial" panose="020B0604020202020204" pitchFamily="34" charset="0"/>
              <a:buChar char="•"/>
            </a:pPr>
            <a:r>
              <a:rPr lang="de-DE" dirty="0"/>
              <a:t>Entwirf einen rekursiven Algorithmus für die Multiplikation zweier Operanden a und b. </a:t>
            </a:r>
          </a:p>
          <a:p>
            <a:pPr marL="342900" indent="-342900">
              <a:buFont typeface="Arial" panose="020B0604020202020204" pitchFamily="34" charset="0"/>
              <a:buChar char="•"/>
            </a:pPr>
            <a:r>
              <a:rPr lang="de-DE" dirty="0"/>
              <a:t>Dabei soll der Operand b a-Mal mit sich selbst </a:t>
            </a:r>
            <a:r>
              <a:rPr lang="de-DE" b="1" dirty="0"/>
              <a:t>addiert</a:t>
            </a:r>
            <a:r>
              <a:rPr lang="de-DE" dirty="0"/>
              <a:t> werden.</a:t>
            </a:r>
          </a:p>
          <a:p>
            <a:pPr marL="884237" lvl="1" indent="-342900">
              <a:buFont typeface="Arial" panose="020B0604020202020204" pitchFamily="34" charset="0"/>
              <a:buChar char="•"/>
            </a:pPr>
            <a:endParaRPr lang="de-DE" dirty="0"/>
          </a:p>
        </p:txBody>
      </p:sp>
      <p:sp>
        <p:nvSpPr>
          <p:cNvPr id="5" name="Foliennummernplatzhalter 4"/>
          <p:cNvSpPr>
            <a:spLocks noGrp="1"/>
          </p:cNvSpPr>
          <p:nvPr>
            <p:ph type="sldNum" sz="quarter" idx="4294967295"/>
          </p:nvPr>
        </p:nvSpPr>
        <p:spPr>
          <a:xfrm>
            <a:off x="0" y="5624513"/>
            <a:ext cx="3086100" cy="273844"/>
          </a:xfrm>
          <a:prstGeom prst="rect">
            <a:avLst/>
          </a:prstGeom>
        </p:spPr>
        <p:txBody>
          <a:bodyPr/>
          <a:lstStyle>
            <a:lvl1pPr eaLnBrk="0" hangingPunct="0">
              <a:defRPr sz="750">
                <a:solidFill>
                  <a:schemeClr val="tx1"/>
                </a:solidFill>
                <a:latin typeface="Arial" panose="020B0604020202020204" pitchFamily="34" charset="0"/>
              </a:defRPr>
            </a:lvl1pPr>
            <a:lvl2pPr marL="557213" indent="-214313" eaLnBrk="0" hangingPunct="0">
              <a:defRPr sz="750">
                <a:solidFill>
                  <a:schemeClr val="tx1"/>
                </a:solidFill>
                <a:latin typeface="Arial" panose="020B0604020202020204" pitchFamily="34" charset="0"/>
              </a:defRPr>
            </a:lvl2pPr>
            <a:lvl3pPr marL="857250" indent="-171450" eaLnBrk="0" hangingPunct="0">
              <a:defRPr sz="750">
                <a:solidFill>
                  <a:schemeClr val="tx1"/>
                </a:solidFill>
                <a:latin typeface="Arial" panose="020B0604020202020204" pitchFamily="34" charset="0"/>
              </a:defRPr>
            </a:lvl3pPr>
            <a:lvl4pPr marL="1200150" indent="-171450" eaLnBrk="0" hangingPunct="0">
              <a:defRPr sz="750">
                <a:solidFill>
                  <a:schemeClr val="tx1"/>
                </a:solidFill>
                <a:latin typeface="Arial" panose="020B0604020202020204" pitchFamily="34" charset="0"/>
              </a:defRPr>
            </a:lvl4pPr>
            <a:lvl5pPr marL="1543050" indent="-171450" eaLnBrk="0" hangingPunct="0">
              <a:defRPr sz="750">
                <a:solidFill>
                  <a:schemeClr val="tx1"/>
                </a:solidFill>
                <a:latin typeface="Arial" panose="020B0604020202020204" pitchFamily="34" charset="0"/>
              </a:defRPr>
            </a:lvl5pPr>
            <a:lvl6pPr marL="1885950" indent="-171450" eaLnBrk="0" fontAlgn="base" hangingPunct="0">
              <a:spcBef>
                <a:spcPct val="0"/>
              </a:spcBef>
              <a:spcAft>
                <a:spcPct val="0"/>
              </a:spcAft>
              <a:defRPr sz="750">
                <a:solidFill>
                  <a:schemeClr val="tx1"/>
                </a:solidFill>
                <a:latin typeface="Arial" panose="020B0604020202020204" pitchFamily="34" charset="0"/>
              </a:defRPr>
            </a:lvl6pPr>
            <a:lvl7pPr marL="2228850" indent="-171450" eaLnBrk="0" fontAlgn="base" hangingPunct="0">
              <a:spcBef>
                <a:spcPct val="0"/>
              </a:spcBef>
              <a:spcAft>
                <a:spcPct val="0"/>
              </a:spcAft>
              <a:defRPr sz="750">
                <a:solidFill>
                  <a:schemeClr val="tx1"/>
                </a:solidFill>
                <a:latin typeface="Arial" panose="020B0604020202020204" pitchFamily="34" charset="0"/>
              </a:defRPr>
            </a:lvl7pPr>
            <a:lvl8pPr marL="2571750" indent="-171450" eaLnBrk="0" fontAlgn="base" hangingPunct="0">
              <a:spcBef>
                <a:spcPct val="0"/>
              </a:spcBef>
              <a:spcAft>
                <a:spcPct val="0"/>
              </a:spcAft>
              <a:defRPr sz="750">
                <a:solidFill>
                  <a:schemeClr val="tx1"/>
                </a:solidFill>
                <a:latin typeface="Arial" panose="020B0604020202020204" pitchFamily="34" charset="0"/>
              </a:defRPr>
            </a:lvl8pPr>
            <a:lvl9pPr marL="2914650" indent="-171450" eaLnBrk="0" fontAlgn="base" hangingPunct="0">
              <a:spcBef>
                <a:spcPct val="0"/>
              </a:spcBef>
              <a:spcAft>
                <a:spcPct val="0"/>
              </a:spcAft>
              <a:defRPr sz="750">
                <a:solidFill>
                  <a:schemeClr val="tx1"/>
                </a:solidFill>
                <a:latin typeface="Arial" panose="020B0604020202020204" pitchFamily="34" charset="0"/>
              </a:defRPr>
            </a:lvl9pPr>
          </a:lstStyle>
          <a:p>
            <a:pPr eaLnBrk="1" hangingPunct="1"/>
            <a:fld id="{3765BE01-D022-4F46-9250-C44644E4A8AE}" type="slidenum">
              <a:rPr lang="de-DE" altLang="de-DE" sz="1050">
                <a:solidFill>
                  <a:schemeClr val="bg1"/>
                </a:solidFill>
                <a:latin typeface="Times New Roman" panose="02020603050405020304" pitchFamily="18" charset="0"/>
              </a:rPr>
              <a:pPr eaLnBrk="1" hangingPunct="1"/>
              <a:t>11</a:t>
            </a:fld>
            <a:endParaRPr lang="de-DE" altLang="de-DE" sz="1050">
              <a:solidFill>
                <a:schemeClr val="bg1"/>
              </a:solidFill>
              <a:latin typeface="Times New Roman" panose="02020603050405020304" pitchFamily="18" charset="0"/>
            </a:endParaRPr>
          </a:p>
        </p:txBody>
      </p:sp>
      <p:pic>
        <p:nvPicPr>
          <p:cNvPr id="3482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7375" y="2488624"/>
            <a:ext cx="2988946" cy="3100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Grafik 2"/>
          <p:cNvPicPr>
            <a:picLocks noChangeAspect="1"/>
          </p:cNvPicPr>
          <p:nvPr/>
        </p:nvPicPr>
        <p:blipFill>
          <a:blip r:embed="rId3"/>
          <a:stretch>
            <a:fillRect/>
          </a:stretch>
        </p:blipFill>
        <p:spPr>
          <a:xfrm>
            <a:off x="5490532" y="1307192"/>
            <a:ext cx="3400425" cy="381000"/>
          </a:xfrm>
          <a:prstGeom prst="rect">
            <a:avLst/>
          </a:prstGeom>
        </p:spPr>
      </p:pic>
      <p:pic>
        <p:nvPicPr>
          <p:cNvPr id="6" name="Grafik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75656" y="3805730"/>
            <a:ext cx="3456384" cy="2143551"/>
          </a:xfrm>
          <a:prstGeom prst="rect">
            <a:avLst/>
          </a:prstGeom>
        </p:spPr>
      </p:pic>
    </p:spTree>
    <p:extLst>
      <p:ext uri="{BB962C8B-B14F-4D97-AF65-F5344CB8AC3E}">
        <p14:creationId xmlns:p14="http://schemas.microsoft.com/office/powerpoint/2010/main" val="34211284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8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p:cNvSpPr>
            <a:spLocks noGrp="1" noChangeArrowheads="1"/>
          </p:cNvSpPr>
          <p:nvPr>
            <p:ph type="title"/>
          </p:nvPr>
        </p:nvSpPr>
        <p:spPr/>
        <p:txBody>
          <a:bodyPr/>
          <a:lstStyle/>
          <a:p>
            <a:pPr eaLnBrk="1" hangingPunct="1"/>
            <a:r>
              <a:rPr lang="de-DE" altLang="de-DE" dirty="0"/>
              <a:t>Beispiel 3: </a:t>
            </a:r>
            <a:r>
              <a:rPr lang="de-DE" altLang="de-DE" dirty="0" err="1"/>
              <a:t>Fibonacci</a:t>
            </a:r>
            <a:r>
              <a:rPr lang="de-DE" altLang="de-DE" dirty="0"/>
              <a:t>-Folge</a:t>
            </a:r>
          </a:p>
        </p:txBody>
      </p:sp>
      <p:sp>
        <p:nvSpPr>
          <p:cNvPr id="35845" name="Rectangle 3"/>
          <p:cNvSpPr>
            <a:spLocks noGrp="1" noChangeArrowheads="1"/>
          </p:cNvSpPr>
          <p:nvPr>
            <p:ph sz="quarter" idx="11"/>
          </p:nvPr>
        </p:nvSpPr>
        <p:spPr>
          <a:xfrm>
            <a:off x="467544" y="4293095"/>
            <a:ext cx="4464496" cy="1944217"/>
          </a:xfrm>
        </p:spPr>
        <p:txBody>
          <a:bodyPr>
            <a:normAutofit/>
          </a:bodyPr>
          <a:lstStyle/>
          <a:p>
            <a:pPr eaLnBrk="1" hangingPunct="1"/>
            <a:r>
              <a:rPr lang="de-DE" altLang="de-DE" sz="2400" b="1" dirty="0"/>
              <a:t>Aufgabe:</a:t>
            </a:r>
          </a:p>
          <a:p>
            <a:pPr eaLnBrk="1" hangingPunct="1"/>
            <a:r>
              <a:rPr lang="de-DE" altLang="de-DE" sz="1800" dirty="0"/>
              <a:t>Entwirf den rekursiven Algorithmus für die Methode</a:t>
            </a:r>
            <a:endParaRPr lang="de-DE" altLang="de-DE" sz="1500" dirty="0"/>
          </a:p>
        </p:txBody>
      </p:sp>
      <p:pic>
        <p:nvPicPr>
          <p:cNvPr id="1026" name="Picture 2" descr="http://i.stack.imgur.com/eHWK9.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072" y="3861048"/>
            <a:ext cx="3645996" cy="229669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0, 1, 1, 2, 3, 5, 8, 13, 21, 34, 55,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9727" y="1922237"/>
            <a:ext cx="4143375" cy="561975"/>
          </a:xfrm>
          <a:prstGeom prst="rect">
            <a:avLst/>
          </a:prstGeom>
          <a:noFill/>
          <a:extLst>
            <a:ext uri="{909E8E84-426E-40DD-AFC4-6F175D3DCCD1}">
              <a14:hiddenFill xmlns:a14="http://schemas.microsoft.com/office/drawing/2010/main">
                <a:solidFill>
                  <a:srgbClr val="FFFFFF"/>
                </a:solidFill>
              </a14:hiddenFill>
            </a:ext>
          </a:extLst>
        </p:spPr>
      </p:pic>
      <p:pic>
        <p:nvPicPr>
          <p:cNvPr id="3" name="Grafik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 y="1060225"/>
            <a:ext cx="6912893" cy="2800823"/>
          </a:xfrm>
          <a:prstGeom prst="rect">
            <a:avLst/>
          </a:prstGeom>
        </p:spPr>
      </p:pic>
      <p:pic>
        <p:nvPicPr>
          <p:cNvPr id="6" name="Grafik 5"/>
          <p:cNvPicPr>
            <a:picLocks noChangeAspect="1"/>
          </p:cNvPicPr>
          <p:nvPr/>
        </p:nvPicPr>
        <p:blipFill>
          <a:blip r:embed="rId5"/>
          <a:stretch>
            <a:fillRect/>
          </a:stretch>
        </p:blipFill>
        <p:spPr>
          <a:xfrm>
            <a:off x="1259632" y="5517232"/>
            <a:ext cx="2419350" cy="390525"/>
          </a:xfrm>
          <a:prstGeom prst="rect">
            <a:avLst/>
          </a:prstGeom>
        </p:spPr>
      </p:pic>
    </p:spTree>
    <p:extLst>
      <p:ext uri="{BB962C8B-B14F-4D97-AF65-F5344CB8AC3E}">
        <p14:creationId xmlns:p14="http://schemas.microsoft.com/office/powerpoint/2010/main" val="991667358"/>
      </p:ext>
    </p:extLst>
  </p:cSld>
  <p:clrMapOvr>
    <a:masterClrMapping/>
  </p:clrMapOvr>
</p:sld>
</file>

<file path=ppt/theme/theme1.xml><?xml version="1.0" encoding="utf-8"?>
<a:theme xmlns:a="http://schemas.openxmlformats.org/drawingml/2006/main" name="2_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Klassisch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538</Words>
  <Application>Microsoft Office PowerPoint</Application>
  <PresentationFormat>Bildschirmpräsentation (4:3)</PresentationFormat>
  <Paragraphs>89</Paragraphs>
  <Slides>12</Slides>
  <Notes>0</Notes>
  <HiddenSlides>2</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12</vt:i4>
      </vt:variant>
    </vt:vector>
  </HeadingPairs>
  <TitlesOfParts>
    <vt:vector size="19" baseType="lpstr">
      <vt:lpstr>Arial</vt:lpstr>
      <vt:lpstr>Calibri</vt:lpstr>
      <vt:lpstr>Courier New</vt:lpstr>
      <vt:lpstr>Symbol</vt:lpstr>
      <vt:lpstr>Times New Roman</vt:lpstr>
      <vt:lpstr>Wingdings</vt:lpstr>
      <vt:lpstr>2_Larissa</vt:lpstr>
      <vt:lpstr>Rekursion</vt:lpstr>
      <vt:lpstr>Rekursion</vt:lpstr>
      <vt:lpstr>Rekursion</vt:lpstr>
      <vt:lpstr>Beispiel 1: Fakultätsberechnung</vt:lpstr>
      <vt:lpstr>Faktorielle: Iterative Lösung</vt:lpstr>
      <vt:lpstr>Faktorielle: Rekursiver Ansatz</vt:lpstr>
      <vt:lpstr>Faktorielle: Rekursive Lösung</vt:lpstr>
      <vt:lpstr>Faktorielle Rekursiv: Ablauf</vt:lpstr>
      <vt:lpstr>Rekursion - Stack</vt:lpstr>
      <vt:lpstr>Rekursion – Vor u. Nachteile</vt:lpstr>
      <vt:lpstr>Beispiel 2: Multiplikation</vt:lpstr>
      <vt:lpstr>Beispiel 3: Fibonacci-Folge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r.obermueller@eduhi.at</dc:creator>
  <cp:lastModifiedBy>Birgit Schröder</cp:lastModifiedBy>
  <cp:revision>223</cp:revision>
  <dcterms:created xsi:type="dcterms:W3CDTF">2013-05-11T11:25:57Z</dcterms:created>
  <dcterms:modified xsi:type="dcterms:W3CDTF">2021-06-23T06:56:03Z</dcterms:modified>
</cp:coreProperties>
</file>