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2"/>
  </p:notesMasterIdLst>
  <p:handoutMasterIdLst>
    <p:handoutMasterId r:id="rId13"/>
  </p:handoutMasterIdLst>
  <p:sldIdLst>
    <p:sldId id="306" r:id="rId3"/>
    <p:sldId id="310" r:id="rId4"/>
    <p:sldId id="311" r:id="rId5"/>
    <p:sldId id="312" r:id="rId6"/>
    <p:sldId id="313" r:id="rId7"/>
    <p:sldId id="315" r:id="rId8"/>
    <p:sldId id="320" r:id="rId9"/>
    <p:sldId id="321" r:id="rId10"/>
    <p:sldId id="322" r:id="rId11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66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9" autoAdjust="0"/>
  </p:normalViewPr>
  <p:slideViewPr>
    <p:cSldViewPr>
      <p:cViewPr varScale="1">
        <p:scale>
          <a:sx n="66" d="100"/>
          <a:sy n="66" d="100"/>
        </p:scale>
        <p:origin x="133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Hauptspeicherverwaltung 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Daten im Hauptspeicher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>
          <a:xfrm>
            <a:off x="3131840" y="1268760"/>
            <a:ext cx="5544616" cy="53285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AT" b="1" dirty="0" smtClean="0"/>
              <a:t>Data + BSS: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Enthalten globale und statische Programmvariablen, aufgeteilt in einen </a:t>
            </a:r>
            <a:r>
              <a:rPr lang="de-AT" i="1" dirty="0" err="1" smtClean="0"/>
              <a:t>read-only</a:t>
            </a:r>
            <a:r>
              <a:rPr lang="de-AT" dirty="0" smtClean="0"/>
              <a:t> und einen</a:t>
            </a:r>
            <a:r>
              <a:rPr lang="de-AT" i="1" dirty="0" smtClean="0"/>
              <a:t> </a:t>
            </a:r>
            <a:r>
              <a:rPr lang="de-AT" i="1" dirty="0" err="1" smtClean="0"/>
              <a:t>read-write</a:t>
            </a:r>
            <a:r>
              <a:rPr lang="de-AT" i="1" dirty="0" smtClean="0"/>
              <a:t> </a:t>
            </a:r>
            <a:r>
              <a:rPr lang="de-AT" dirty="0" smtClean="0"/>
              <a:t>Abschnitt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Größe ändert sich zur Laufzeit nicht</a:t>
            </a:r>
          </a:p>
          <a:p>
            <a:pPr marL="0" indent="0">
              <a:buNone/>
            </a:pPr>
            <a:r>
              <a:rPr lang="de-AT" b="1" dirty="0" smtClean="0"/>
              <a:t>Stack: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Enthält lokale und temporäre Daten von aufgerufenen Methoden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Wächst und schrumpft mit der Anzahl der aufgerufenen Methoden</a:t>
            </a:r>
          </a:p>
          <a:p>
            <a:pPr marL="0" indent="0">
              <a:buNone/>
            </a:pPr>
            <a:r>
              <a:rPr lang="de-AT" b="1" dirty="0" smtClean="0"/>
              <a:t>Heap: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Dynamischer Speicher, der für die Anwendungsprogrammierung zur Verfügung steht (Arrays, Bilddaten, Objektinstanzen, …)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Schlüsselwörter „</a:t>
            </a:r>
            <a:r>
              <a:rPr lang="de-AT" b="1" i="1" dirty="0" err="1" smtClean="0"/>
              <a:t>new</a:t>
            </a:r>
            <a:r>
              <a:rPr lang="de-AT" dirty="0" smtClean="0"/>
              <a:t>“ </a:t>
            </a:r>
            <a:r>
              <a:rPr lang="de-AT" dirty="0" smtClean="0"/>
              <a:t>(C/C++ auch „</a:t>
            </a:r>
            <a:r>
              <a:rPr lang="de-AT" i="1" dirty="0" err="1" smtClean="0"/>
              <a:t>delete</a:t>
            </a:r>
            <a:r>
              <a:rPr lang="de-AT" dirty="0" smtClean="0"/>
              <a:t>“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58775"/>
            <a:ext cx="27432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Stack-Beispiel: Aufrufkette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>
          <a:xfrm>
            <a:off x="4283968" y="1268761"/>
            <a:ext cx="4392488" cy="468052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AT" dirty="0" smtClean="0"/>
              <a:t>Das Betriebssystem startet die Main-Funktion eines Programms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Methode „func1“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„func2“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„func2“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„func3“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„func3“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„func1“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„func4“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„func4“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Main wird beendet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4837"/>
            <a:ext cx="347662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4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Methodenaufrufe: Stack Frames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17" y="1865021"/>
            <a:ext cx="8389565" cy="39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Methodenaufruf und -rückkehr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96752"/>
            <a:ext cx="86106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3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Stack: Programmende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844824"/>
            <a:ext cx="88677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8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Dynamischer Speicher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AT" dirty="0" smtClean="0"/>
              <a:t>Ein Programm fordert </a:t>
            </a:r>
            <a:r>
              <a:rPr lang="de-AT" dirty="0" smtClean="0"/>
              <a:t>Heap-Speicher an (</a:t>
            </a:r>
            <a:r>
              <a:rPr lang="de-AT" dirty="0" smtClean="0"/>
              <a:t>Dynamische Speicheranforderung)</a:t>
            </a:r>
            <a:r>
              <a:rPr lang="de-AT" dirty="0" smtClean="0"/>
              <a:t>:</a:t>
            </a:r>
            <a:endParaRPr lang="de-AT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Speicher allokieren: </a:t>
            </a:r>
            <a:r>
              <a:rPr lang="de-AT" b="1" dirty="0" err="1" smtClean="0"/>
              <a:t>malloc</a:t>
            </a:r>
            <a:r>
              <a:rPr lang="de-AT" dirty="0" smtClean="0"/>
              <a:t>-Funktion („</a:t>
            </a:r>
            <a:r>
              <a:rPr lang="de-AT" dirty="0" err="1" smtClean="0"/>
              <a:t>new</a:t>
            </a:r>
            <a:r>
              <a:rPr lang="de-AT" dirty="0" smtClean="0"/>
              <a:t>“)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Speicher freigeben: </a:t>
            </a:r>
            <a:r>
              <a:rPr lang="de-AT" sz="2400" b="1" dirty="0" err="1"/>
              <a:t>free</a:t>
            </a:r>
            <a:r>
              <a:rPr lang="de-AT" sz="2400" b="1" dirty="0"/>
              <a:t>-</a:t>
            </a:r>
            <a:r>
              <a:rPr lang="de-AT" sz="2400" dirty="0"/>
              <a:t>Funktion</a:t>
            </a:r>
            <a:r>
              <a:rPr lang="de-AT" sz="2900" dirty="0"/>
              <a:t> („</a:t>
            </a:r>
            <a:r>
              <a:rPr lang="de-AT" sz="2400" dirty="0" err="1"/>
              <a:t>delete</a:t>
            </a:r>
            <a:r>
              <a:rPr lang="de-AT" sz="2900" dirty="0"/>
              <a:t>“)</a:t>
            </a:r>
          </a:p>
          <a:p>
            <a:r>
              <a:rPr lang="de-AT" dirty="0" smtClean="0"/>
              <a:t>Das Anwendungsprogramm ist verantwortlich, dass allokierter Speicher auch wieder freigegeben wird!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b="1" dirty="0" smtClean="0"/>
              <a:t>Automatische Speicherbereinigung</a:t>
            </a:r>
            <a:r>
              <a:rPr lang="de-AT" dirty="0" smtClean="0"/>
              <a:t>: Programmiersprachen wie </a:t>
            </a:r>
            <a:r>
              <a:rPr lang="de-AT" dirty="0" smtClean="0"/>
              <a:t>C# und Java </a:t>
            </a:r>
            <a:r>
              <a:rPr lang="de-AT" dirty="0" smtClean="0"/>
              <a:t>enthalten einen </a:t>
            </a:r>
            <a:r>
              <a:rPr lang="de-AT" b="1" i="1" dirty="0" err="1" smtClean="0"/>
              <a:t>Garbage</a:t>
            </a:r>
            <a:r>
              <a:rPr lang="de-AT" b="1" i="1" dirty="0" smtClean="0"/>
              <a:t> </a:t>
            </a:r>
            <a:r>
              <a:rPr lang="de-AT" b="1" i="1" dirty="0" err="1" smtClean="0"/>
              <a:t>Collector</a:t>
            </a:r>
            <a:r>
              <a:rPr lang="de-AT" dirty="0" smtClean="0"/>
              <a:t>, der dynamischen Speicher, der nicht mehr benötigt wird, regelmäßig wieder freigibt (=&gt; ans Betriebssystem zurückgibt)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b="1" dirty="0" smtClean="0"/>
              <a:t>Manuelle Speicherverwaltung</a:t>
            </a:r>
            <a:r>
              <a:rPr lang="de-AT" dirty="0" smtClean="0"/>
              <a:t>: Häufigste Fehlerursache in Sprachen wie C/C++!</a:t>
            </a:r>
          </a:p>
        </p:txBody>
      </p:sp>
    </p:spTree>
    <p:extLst>
      <p:ext uri="{BB962C8B-B14F-4D97-AF65-F5344CB8AC3E}">
        <p14:creationId xmlns:p14="http://schemas.microsoft.com/office/powerpoint/2010/main" val="355242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 oder Heap?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 smtClean="0"/>
              <a:t>Große Mengen an Daten werden am Heap allokiert: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852936"/>
            <a:ext cx="31683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{4.2, 1.8, 3.4, 5.9, 10.27}</a:t>
            </a:r>
          </a:p>
          <a:p>
            <a:r>
              <a:rPr lang="de-AT" sz="2000" dirty="0" smtClean="0"/>
              <a:t> </a:t>
            </a:r>
          </a:p>
          <a:p>
            <a:r>
              <a:rPr lang="de-AT" sz="2000" dirty="0" smtClean="0"/>
              <a:t>{„Franz“, „Susi“, „Hugo“, „Gretl“} </a:t>
            </a:r>
          </a:p>
          <a:p>
            <a:endParaRPr lang="de-AT" sz="2000" dirty="0" smtClean="0"/>
          </a:p>
          <a:p>
            <a:r>
              <a:rPr lang="de-AT" sz="2000" dirty="0" smtClean="0"/>
              <a:t>{42, 17, 93, 85}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09120"/>
            <a:ext cx="4104456" cy="7200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 flipV="1">
            <a:off x="2051720" y="3645024"/>
            <a:ext cx="3682752" cy="158417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131840" y="4841865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Am Stack liegen nur „Referenzen“ (Zeiger) auf die Daten im Heap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6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Speicherallokation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908720"/>
            <a:ext cx="8208912" cy="5040561"/>
          </a:xfrm>
        </p:spPr>
        <p:txBody>
          <a:bodyPr/>
          <a:lstStyle/>
          <a:p>
            <a:pPr marL="0" indent="0">
              <a:buNone/>
            </a:pPr>
            <a:r>
              <a:rPr lang="de-AT" dirty="0" smtClean="0"/>
              <a:t>Einer Array-Referenz muss mit „</a:t>
            </a:r>
            <a:r>
              <a:rPr lang="de-AT" b="1" dirty="0" err="1" smtClean="0"/>
              <a:t>new</a:t>
            </a:r>
            <a:r>
              <a:rPr lang="de-AT" dirty="0" smtClean="0"/>
              <a:t>“ Heap-Speicher zugewiesen werden: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852936"/>
            <a:ext cx="3168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{0.0, 0.0, 0.0, 0.0, 0.0}</a:t>
            </a:r>
          </a:p>
          <a:p>
            <a:r>
              <a:rPr lang="de-AT" sz="2000" dirty="0" smtClean="0"/>
              <a:t> </a:t>
            </a:r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{null, null, null, null} </a:t>
            </a:r>
          </a:p>
          <a:p>
            <a:endParaRPr lang="de-AT" sz="2000" dirty="0" smtClean="0"/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{0, 0, 0, 0, 0, 0}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09120"/>
            <a:ext cx="4114800" cy="100811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>
            <a:endCxn id="10" idx="1"/>
          </p:cNvCxnSpPr>
          <p:nvPr/>
        </p:nvCxnSpPr>
        <p:spPr>
          <a:xfrm flipV="1">
            <a:off x="2051720" y="4284097"/>
            <a:ext cx="3600400" cy="945103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 rot="834870">
            <a:off x="3478431" y="5121698"/>
            <a:ext cx="1807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int</a:t>
            </a:r>
            <a:r>
              <a:rPr lang="de-AT" sz="2000" dirty="0" smtClean="0"/>
              <a:t>[6];</a:t>
            </a:r>
          </a:p>
        </p:txBody>
      </p:sp>
      <p:sp>
        <p:nvSpPr>
          <p:cNvPr id="17" name="Textfeld 16"/>
          <p:cNvSpPr txBox="1"/>
          <p:nvPr/>
        </p:nvSpPr>
        <p:spPr>
          <a:xfrm rot="20107908">
            <a:off x="3212232" y="3259480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float</a:t>
            </a:r>
            <a:r>
              <a:rPr lang="de-AT" sz="2000" dirty="0" smtClean="0"/>
              <a:t>[5];</a:t>
            </a:r>
          </a:p>
        </p:txBody>
      </p:sp>
      <p:sp>
        <p:nvSpPr>
          <p:cNvPr id="18" name="Textfeld 17"/>
          <p:cNvSpPr txBox="1"/>
          <p:nvPr/>
        </p:nvSpPr>
        <p:spPr>
          <a:xfrm rot="20618507">
            <a:off x="3364632" y="4162801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string</a:t>
            </a:r>
            <a:r>
              <a:rPr lang="de-AT" sz="2000" dirty="0" smtClean="0"/>
              <a:t>[4];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2926160" y="1844824"/>
            <a:ext cx="2643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Anzahl der Elemente muss angegeben werden!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2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Allokation durch Initialisierung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908720"/>
            <a:ext cx="8208912" cy="5040561"/>
          </a:xfrm>
        </p:spPr>
        <p:txBody>
          <a:bodyPr/>
          <a:lstStyle/>
          <a:p>
            <a:pPr marL="0" indent="0">
              <a:buNone/>
            </a:pPr>
            <a:r>
              <a:rPr lang="de-AT" sz="2400" dirty="0" smtClean="0"/>
              <a:t>Einer Array-Referenz kann auch bei der Initialisierung schon fertig befüllter Speicherbereich zugewiesen werden:</a:t>
            </a:r>
            <a:endParaRPr lang="de-AT" sz="2400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743177"/>
            <a:ext cx="31683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</a:t>
            </a:r>
            <a:r>
              <a:rPr lang="de-AT" sz="2000" dirty="0"/>
              <a:t>4.2, 1.8, 3.4, 5.9, 10.27</a:t>
            </a:r>
            <a:r>
              <a:rPr lang="de-AT" sz="2000" dirty="0" smtClean="0"/>
              <a:t>}</a:t>
            </a:r>
          </a:p>
          <a:p>
            <a:r>
              <a:rPr lang="de-AT" sz="2000" dirty="0" smtClean="0"/>
              <a:t> </a:t>
            </a:r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{„</a:t>
            </a:r>
            <a:r>
              <a:rPr lang="de-AT" sz="2000" dirty="0"/>
              <a:t>Franz“, „Susi“, „Hugo“, „</a:t>
            </a:r>
            <a:r>
              <a:rPr lang="de-AT" sz="2000" dirty="0" smtClean="0"/>
              <a:t>Gretl“} </a:t>
            </a:r>
          </a:p>
          <a:p>
            <a:endParaRPr lang="de-AT" sz="2000" dirty="0" smtClean="0"/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</a:t>
            </a:r>
            <a:r>
              <a:rPr lang="de-AT" sz="2000" dirty="0"/>
              <a:t>42, 17, 93, 85</a:t>
            </a:r>
            <a:r>
              <a:rPr lang="de-AT" sz="2000" dirty="0" smtClean="0"/>
              <a:t>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43377"/>
            <a:ext cx="4114800" cy="100811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>
            <a:endCxn id="10" idx="1"/>
          </p:cNvCxnSpPr>
          <p:nvPr/>
        </p:nvCxnSpPr>
        <p:spPr>
          <a:xfrm flipV="1">
            <a:off x="2051720" y="4328227"/>
            <a:ext cx="3600400" cy="79121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 rot="834870">
            <a:off x="3098051" y="5124926"/>
            <a:ext cx="219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 dirty="0" smtClean="0"/>
              <a:t>= </a:t>
            </a:r>
            <a:r>
              <a:rPr lang="de-AT" sz="1800" dirty="0"/>
              <a:t>{42, 17, 93, 85</a:t>
            </a:r>
            <a:r>
              <a:rPr lang="de-AT" sz="1800" dirty="0" smtClean="0"/>
              <a:t>};</a:t>
            </a:r>
            <a:endParaRPr lang="de-AT" dirty="0" smtClean="0"/>
          </a:p>
        </p:txBody>
      </p:sp>
      <p:sp>
        <p:nvSpPr>
          <p:cNvPr id="17" name="Textfeld 16"/>
          <p:cNvSpPr txBox="1"/>
          <p:nvPr/>
        </p:nvSpPr>
        <p:spPr>
          <a:xfrm rot="20107908">
            <a:off x="2779023" y="3333641"/>
            <a:ext cx="314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 dirty="0" smtClean="0"/>
              <a:t>= </a:t>
            </a:r>
            <a:r>
              <a:rPr lang="de-AT" sz="1800" dirty="0"/>
              <a:t>{4.2, 1.8, 3.4, 5.9, 10.27</a:t>
            </a:r>
            <a:r>
              <a:rPr lang="de-AT" sz="1800" dirty="0" smtClean="0"/>
              <a:t>};</a:t>
            </a:r>
          </a:p>
        </p:txBody>
      </p:sp>
      <p:sp>
        <p:nvSpPr>
          <p:cNvPr id="18" name="Textfeld 17"/>
          <p:cNvSpPr txBox="1"/>
          <p:nvPr/>
        </p:nvSpPr>
        <p:spPr>
          <a:xfrm rot="20836092">
            <a:off x="2397657" y="4247532"/>
            <a:ext cx="3840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 smtClean="0"/>
              <a:t>= </a:t>
            </a:r>
            <a:r>
              <a:rPr lang="de-AT" sz="1600" dirty="0"/>
              <a:t>{„Franz“, „Susi“, „Hugo“, „Gretl</a:t>
            </a:r>
            <a:r>
              <a:rPr lang="de-AT" sz="1600" dirty="0" smtClean="0"/>
              <a:t>“};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926160" y="2276872"/>
            <a:ext cx="2437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Im Hintergrund wird „</a:t>
            </a:r>
            <a:r>
              <a:rPr lang="de-AT" sz="2000" dirty="0" err="1" smtClean="0">
                <a:solidFill>
                  <a:srgbClr val="0070C0"/>
                </a:solidFill>
              </a:rPr>
              <a:t>new</a:t>
            </a:r>
            <a:r>
              <a:rPr lang="de-AT" sz="2000" dirty="0" smtClean="0">
                <a:solidFill>
                  <a:srgbClr val="0070C0"/>
                </a:solidFill>
              </a:rPr>
              <a:t>“ durchgeführt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60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  <p:bldP spid="18" grpId="0"/>
      <p:bldP spid="7" grpId="0"/>
    </p:bldLst>
  </p:timing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518</Words>
  <Application>Microsoft Office PowerPoint</Application>
  <PresentationFormat>Bildschirmpräsentation (4:3)</PresentationFormat>
  <Paragraphs>102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8" baseType="lpstr">
      <vt:lpstr>MS PGothic</vt:lpstr>
      <vt:lpstr>MS PGothic</vt:lpstr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Daten im Hauptspeicher</vt:lpstr>
      <vt:lpstr>Stack-Beispiel: Aufrufkette</vt:lpstr>
      <vt:lpstr>Methodenaufrufe: Stack Frames</vt:lpstr>
      <vt:lpstr>Methodenaufruf und -rückkehr</vt:lpstr>
      <vt:lpstr>Stack: Programmende</vt:lpstr>
      <vt:lpstr>Heap: Dynamischer Speicher</vt:lpstr>
      <vt:lpstr>Stack oder Heap?</vt:lpstr>
      <vt:lpstr>Heap: Speicherallokation</vt:lpstr>
      <vt:lpstr>Heap: Allokation durch Initialisierung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Birgit Schröder</cp:lastModifiedBy>
  <cp:revision>190</cp:revision>
  <dcterms:created xsi:type="dcterms:W3CDTF">2006-01-13T20:54:04Z</dcterms:created>
  <dcterms:modified xsi:type="dcterms:W3CDTF">2016-05-09T09:40:08Z</dcterms:modified>
</cp:coreProperties>
</file>