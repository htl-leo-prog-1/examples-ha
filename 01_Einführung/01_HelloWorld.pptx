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12"/>
  </p:notesMasterIdLst>
  <p:handoutMasterIdLst>
    <p:handoutMasterId r:id="rId13"/>
  </p:handoutMasterIdLst>
  <p:sldIdLst>
    <p:sldId id="274" r:id="rId6"/>
    <p:sldId id="263" r:id="rId7"/>
    <p:sldId id="278" r:id="rId8"/>
    <p:sldId id="275" r:id="rId9"/>
    <p:sldId id="276" r:id="rId10"/>
    <p:sldId id="277" r:id="rId11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50" autoAdjust="0"/>
  </p:normalViewPr>
  <p:slideViewPr>
    <p:cSldViewPr>
      <p:cViewPr varScale="1">
        <p:scale>
          <a:sx n="103" d="100"/>
          <a:sy n="103" d="100"/>
        </p:scale>
        <p:origin x="189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15.09.2021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15.09.2021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15.09.2021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15.09.2021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55845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70247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C#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notepad-plus-plus.org/" TargetMode="Externa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egende mit Pfeil nach unten 4"/>
          <p:cNvSpPr/>
          <p:nvPr/>
        </p:nvSpPr>
        <p:spPr>
          <a:xfrm>
            <a:off x="4696148" y="980728"/>
            <a:ext cx="4116176" cy="612518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 dirty="0"/>
              <a:t>C#: Codierung in Notepad++</a:t>
            </a:r>
          </a:p>
        </p:txBody>
      </p:sp>
      <p:sp>
        <p:nvSpPr>
          <p:cNvPr id="11267" name="Inhaltsplatzhalter 2"/>
          <p:cNvSpPr>
            <a:spLocks noGrp="1"/>
          </p:cNvSpPr>
          <p:nvPr>
            <p:ph idx="1"/>
          </p:nvPr>
        </p:nvSpPr>
        <p:spPr>
          <a:xfrm>
            <a:off x="236538" y="1196081"/>
            <a:ext cx="4472858" cy="3008783"/>
          </a:xfrm>
        </p:spPr>
        <p:txBody>
          <a:bodyPr/>
          <a:lstStyle/>
          <a:p>
            <a:pPr eaLnBrk="1" hangingPunct="1"/>
            <a:r>
              <a:rPr lang="de-AT" altLang="de-DE" sz="2400" dirty="0"/>
              <a:t>Codieren des Programms in Notepad++</a:t>
            </a:r>
          </a:p>
          <a:p>
            <a:pPr lvl="1" eaLnBrk="1" hangingPunct="1"/>
            <a:r>
              <a:rPr lang="de-AT" altLang="de-DE" sz="1800" dirty="0"/>
              <a:t>Dateierweiterung: </a:t>
            </a:r>
            <a:r>
              <a:rPr lang="de-AT" altLang="de-DE" sz="1800" b="1" dirty="0">
                <a:solidFill>
                  <a:srgbClr val="00B050"/>
                </a:solidFill>
              </a:rPr>
              <a:t>.</a:t>
            </a:r>
            <a:r>
              <a:rPr lang="de-AT" altLang="de-DE" sz="1800" b="1" dirty="0" err="1">
                <a:solidFill>
                  <a:srgbClr val="00B050"/>
                </a:solidFill>
              </a:rPr>
              <a:t>cs</a:t>
            </a:r>
            <a:endParaRPr lang="de-AT" altLang="de-DE" sz="1800" b="1" dirty="0">
              <a:solidFill>
                <a:srgbClr val="00B050"/>
              </a:solidFill>
            </a:endParaRPr>
          </a:p>
          <a:p>
            <a:pPr lvl="1" eaLnBrk="1" hangingPunct="1"/>
            <a:r>
              <a:rPr lang="de-AT" altLang="de-DE" sz="1800" dirty="0"/>
              <a:t>Saubere Struktur (Einrückungen!)</a:t>
            </a:r>
            <a:br>
              <a:rPr lang="de-AT" altLang="de-DE" sz="2000" dirty="0"/>
            </a:br>
            <a:endParaRPr lang="de-AT" altLang="de-DE" sz="2000" dirty="0"/>
          </a:p>
          <a:p>
            <a:pPr marL="0" indent="-84138" algn="ctr" eaLnBrk="1" hangingPunct="1">
              <a:buNone/>
            </a:pPr>
            <a:r>
              <a:rPr lang="de-AT" altLang="de-DE" sz="1800" dirty="0">
                <a:hlinkClick r:id="rId2"/>
              </a:rPr>
              <a:t>https://notepad-plus-plus.org/</a:t>
            </a:r>
            <a:endParaRPr lang="de-AT" altLang="de-DE" sz="1800" dirty="0"/>
          </a:p>
          <a:p>
            <a:pPr lvl="1" eaLnBrk="1" hangingPunct="1"/>
            <a:endParaRPr lang="de-AT" altLang="de-DE" sz="200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396" y="1726109"/>
            <a:ext cx="4102927" cy="2638995"/>
          </a:xfrm>
          <a:prstGeom prst="rect">
            <a:avLst/>
          </a:prstGeom>
        </p:spPr>
      </p:pic>
      <p:sp>
        <p:nvSpPr>
          <p:cNvPr id="9" name="Inhaltsplatzhalter 2"/>
          <p:cNvSpPr txBox="1">
            <a:spLocks/>
          </p:cNvSpPr>
          <p:nvPr/>
        </p:nvSpPr>
        <p:spPr>
          <a:xfrm>
            <a:off x="388938" y="4293096"/>
            <a:ext cx="8580437" cy="1905422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de-AT" altLang="de-DE" sz="2400" dirty="0"/>
              <a:t>Speichern auf das „U:“-Laufwerk</a:t>
            </a:r>
          </a:p>
          <a:p>
            <a:pPr lvl="1" eaLnBrk="1" hangingPunct="1"/>
            <a:r>
              <a:rPr lang="de-AT" altLang="de-DE" sz="1800" dirty="0"/>
              <a:t>Alle persönlichen Daten werden dort gespeichert!</a:t>
            </a:r>
          </a:p>
          <a:p>
            <a:pPr lvl="1" eaLnBrk="1" hangingPunct="1"/>
            <a:r>
              <a:rPr lang="de-AT" altLang="de-DE" sz="1800" dirty="0"/>
              <a:t>Verzeichnis für C# anlegen</a:t>
            </a:r>
          </a:p>
          <a:p>
            <a:pPr lvl="1" eaLnBrk="1" hangingPunct="1"/>
            <a:r>
              <a:rPr lang="de-AT" altLang="de-DE" sz="1800" dirty="0"/>
              <a:t>Pro Übung ein eigenes, durchnummeriertes Verzeichnis</a:t>
            </a:r>
          </a:p>
          <a:p>
            <a:pPr marL="0" indent="-84138" eaLnBrk="1" hangingPunct="1">
              <a:buNone/>
            </a:pPr>
            <a:endParaRPr lang="de-AT" altLang="de-DE" sz="1600" dirty="0"/>
          </a:p>
          <a:p>
            <a:pPr lvl="1" eaLnBrk="1" hangingPunct="1"/>
            <a:endParaRPr lang="de-AT" altLang="de-DE" sz="2000" dirty="0"/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4696147" y="1052736"/>
            <a:ext cx="4340349" cy="596293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84138" eaLnBrk="1" hangingPunct="1">
              <a:buNone/>
            </a:pPr>
            <a:r>
              <a:rPr lang="de-AT" altLang="de-DE" sz="1400" i="1" dirty="0">
                <a:solidFill>
                  <a:schemeClr val="bg1"/>
                </a:solidFill>
              </a:rPr>
              <a:t>Start -&gt; Alle Programme -&gt; Editoren -&gt; Notepad++</a:t>
            </a:r>
          </a:p>
        </p:txBody>
      </p:sp>
    </p:spTree>
    <p:extLst>
      <p:ext uri="{BB962C8B-B14F-4D97-AF65-F5344CB8AC3E}">
        <p14:creationId xmlns:p14="http://schemas.microsoft.com/office/powerpoint/2010/main" val="3890806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236538" y="125413"/>
            <a:ext cx="8450262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de-AT" altLang="de-DE" sz="2400" dirty="0"/>
              <a:t>Visual Studio Tools – Developer Command Prompt</a:t>
            </a:r>
          </a:p>
        </p:txBody>
      </p:sp>
      <p:sp>
        <p:nvSpPr>
          <p:cNvPr id="25603" name="Inhaltsplatzhalter 2"/>
          <p:cNvSpPr>
            <a:spLocks noGrp="1"/>
          </p:cNvSpPr>
          <p:nvPr>
            <p:ph idx="1"/>
          </p:nvPr>
        </p:nvSpPr>
        <p:spPr>
          <a:xfrm>
            <a:off x="236538" y="2276872"/>
            <a:ext cx="8732837" cy="3815953"/>
          </a:xfrm>
        </p:spPr>
        <p:txBody>
          <a:bodyPr/>
          <a:lstStyle/>
          <a:p>
            <a:pPr eaLnBrk="1" hangingPunct="1">
              <a:defRPr/>
            </a:pPr>
            <a:r>
              <a:rPr lang="de-AT" sz="2400" dirty="0"/>
              <a:t>Visual Studio 2019 </a:t>
            </a:r>
            <a:br>
              <a:rPr lang="de-AT" sz="2400" dirty="0"/>
            </a:br>
            <a:r>
              <a:rPr lang="de-AT" sz="2400" dirty="0"/>
              <a:t>Developer Command Prompt</a:t>
            </a:r>
            <a:br>
              <a:rPr lang="de-AT" sz="2400" dirty="0"/>
            </a:br>
            <a:r>
              <a:rPr lang="de-AT" sz="2400" dirty="0"/>
              <a:t>verwenden</a:t>
            </a:r>
          </a:p>
          <a:p>
            <a:pPr lvl="1" eaLnBrk="1" hangingPunct="1">
              <a:defRPr/>
            </a:pPr>
            <a:r>
              <a:rPr lang="de-AT" sz="2000" dirty="0"/>
              <a:t>Programmierumgebung ist </a:t>
            </a:r>
            <a:br>
              <a:rPr lang="de-AT" sz="2000" dirty="0"/>
            </a:br>
            <a:r>
              <a:rPr lang="de-AT" sz="2000" dirty="0"/>
              <a:t>vorbereitet</a:t>
            </a:r>
          </a:p>
          <a:p>
            <a:pPr lvl="1" eaLnBrk="1" hangingPunct="1">
              <a:defRPr/>
            </a:pPr>
            <a:r>
              <a:rPr lang="de-AT" sz="2000" dirty="0"/>
              <a:t>Dort wird das Programm </a:t>
            </a:r>
            <a:br>
              <a:rPr lang="de-AT" sz="2000" dirty="0"/>
            </a:br>
            <a:r>
              <a:rPr lang="de-AT" sz="2000" dirty="0"/>
              <a:t>kompiliert und ausgeführt </a:t>
            </a:r>
          </a:p>
          <a:p>
            <a:pPr lvl="1" eaLnBrk="1" hangingPunct="1">
              <a:defRPr/>
            </a:pPr>
            <a:endParaRPr lang="de-AT" sz="2000" dirty="0"/>
          </a:p>
          <a:p>
            <a:pPr lvl="2" eaLnBrk="1" hangingPunct="1">
              <a:defRPr/>
            </a:pPr>
            <a:endParaRPr lang="de-AT" sz="1600" dirty="0"/>
          </a:p>
          <a:p>
            <a:pPr marL="914400" lvl="2" indent="0" eaLnBrk="1" hangingPunct="1">
              <a:buFont typeface="Wingdings" panose="05000000000000000000" pitchFamily="2" charset="2"/>
              <a:buNone/>
              <a:defRPr/>
            </a:pPr>
            <a:endParaRPr lang="de-AT" sz="16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419EA58-5823-41D8-9E57-FFFDCE3D6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620688"/>
            <a:ext cx="2400644" cy="535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38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1506B6-EB6C-4B18-835E-A8A5D1D3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Command Prompt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A56329-781D-41BF-99B1-630412823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pPr eaLnBrk="1" hangingPunct="1">
              <a:defRPr/>
            </a:pPr>
            <a:r>
              <a:rPr lang="de-AT" sz="2400" dirty="0"/>
              <a:t>Textbasierte Alternative zu File Explorer</a:t>
            </a:r>
          </a:p>
          <a:p>
            <a:pPr lvl="1" eaLnBrk="1" hangingPunct="1">
              <a:defRPr/>
            </a:pPr>
            <a:r>
              <a:rPr lang="de-AT" sz="1800" dirty="0"/>
              <a:t>Navigation durch Speicherorte</a:t>
            </a:r>
          </a:p>
          <a:p>
            <a:pPr lvl="1" eaLnBrk="1" hangingPunct="1">
              <a:defRPr/>
            </a:pPr>
            <a:r>
              <a:rPr lang="de-AT" sz="1800" dirty="0"/>
              <a:t>Ausführen von Programmen</a:t>
            </a:r>
            <a:br>
              <a:rPr lang="de-AT" sz="1800" dirty="0"/>
            </a:br>
            <a:br>
              <a:rPr lang="de-AT" sz="1800" dirty="0"/>
            </a:br>
            <a:br>
              <a:rPr lang="de-AT" sz="1800" dirty="0"/>
            </a:br>
            <a:br>
              <a:rPr lang="de-AT" sz="1800" dirty="0"/>
            </a:br>
            <a:endParaRPr lang="de-AT" sz="1800" dirty="0"/>
          </a:p>
          <a:p>
            <a:pPr eaLnBrk="1" hangingPunct="1">
              <a:defRPr/>
            </a:pPr>
            <a:r>
              <a:rPr lang="de-AT" sz="2400" dirty="0"/>
              <a:t>Beispiele:</a:t>
            </a:r>
          </a:p>
          <a:p>
            <a:pPr lvl="1" eaLnBrk="1" hangingPunct="1">
              <a:defRPr/>
            </a:pPr>
            <a:r>
              <a:rPr lang="de-AT" sz="2100" dirty="0"/>
              <a:t>Laufwerk wechseln durch </a:t>
            </a:r>
            <a:br>
              <a:rPr lang="de-AT" sz="2100" dirty="0"/>
            </a:br>
            <a:r>
              <a:rPr lang="de-AT" sz="2100" dirty="0"/>
              <a:t>LW-Buchstaben und </a:t>
            </a:r>
            <a:r>
              <a:rPr lang="de-AT" sz="2100" b="1" dirty="0"/>
              <a:t>:</a:t>
            </a:r>
            <a:r>
              <a:rPr lang="de-AT" sz="2100" dirty="0"/>
              <a:t> z.B. </a:t>
            </a:r>
            <a:r>
              <a:rPr lang="de-AT" sz="2100" b="1" i="1" u="sng" dirty="0"/>
              <a:t>u:</a:t>
            </a:r>
          </a:p>
          <a:p>
            <a:pPr lvl="1" eaLnBrk="1" hangingPunct="1">
              <a:defRPr/>
            </a:pPr>
            <a:r>
              <a:rPr lang="de-AT" sz="2100" b="1" i="1" u="sng" dirty="0"/>
              <a:t>dir</a:t>
            </a:r>
            <a:r>
              <a:rPr lang="de-AT" sz="2100" dirty="0"/>
              <a:t> listet alle Dateien und Verzeichnisse auf</a:t>
            </a:r>
          </a:p>
          <a:p>
            <a:pPr lvl="1" eaLnBrk="1" hangingPunct="1">
              <a:defRPr/>
            </a:pPr>
            <a:r>
              <a:rPr lang="de-AT" sz="2100" b="1" i="1" u="sng" dirty="0" err="1"/>
              <a:t>mkdir</a:t>
            </a:r>
            <a:r>
              <a:rPr lang="de-AT" sz="2100" dirty="0"/>
              <a:t> (</a:t>
            </a:r>
            <a:r>
              <a:rPr lang="de-AT" sz="2100" dirty="0" err="1"/>
              <a:t>make</a:t>
            </a:r>
            <a:r>
              <a:rPr lang="de-AT" sz="2100" dirty="0"/>
              <a:t> </a:t>
            </a:r>
            <a:r>
              <a:rPr lang="de-AT" sz="2100" dirty="0" err="1"/>
              <a:t>directory</a:t>
            </a:r>
            <a:r>
              <a:rPr lang="de-AT" sz="2100" dirty="0"/>
              <a:t>) erstellt Verzeichnis</a:t>
            </a:r>
          </a:p>
          <a:p>
            <a:pPr lvl="2" eaLnBrk="1" hangingPunct="1">
              <a:defRPr/>
            </a:pPr>
            <a:r>
              <a:rPr lang="de-AT" sz="1700" dirty="0"/>
              <a:t>Z.B. </a:t>
            </a:r>
            <a:r>
              <a:rPr lang="de-AT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de-AT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00_HelloWorld</a:t>
            </a:r>
          </a:p>
          <a:p>
            <a:pPr lvl="1" eaLnBrk="1" hangingPunct="1">
              <a:defRPr/>
            </a:pPr>
            <a:r>
              <a:rPr lang="de-AT" sz="2100" b="1" i="1" u="sng" dirty="0"/>
              <a:t>cd</a:t>
            </a:r>
            <a:r>
              <a:rPr lang="de-AT" sz="2100" dirty="0"/>
              <a:t> (</a:t>
            </a:r>
            <a:r>
              <a:rPr lang="de-AT" sz="2100" dirty="0" err="1"/>
              <a:t>change</a:t>
            </a:r>
            <a:r>
              <a:rPr lang="de-AT" sz="2100" dirty="0"/>
              <a:t> </a:t>
            </a:r>
            <a:r>
              <a:rPr lang="de-AT" sz="2100" dirty="0" err="1"/>
              <a:t>directory</a:t>
            </a:r>
            <a:r>
              <a:rPr lang="de-AT" sz="2100" dirty="0"/>
              <a:t>) wechselt in Verzeichnis</a:t>
            </a:r>
          </a:p>
          <a:p>
            <a:pPr lvl="2" eaLnBrk="1" hangingPunct="1">
              <a:defRPr/>
            </a:pPr>
            <a:r>
              <a:rPr lang="de-AT" sz="1700" dirty="0"/>
              <a:t>Z.B. </a:t>
            </a:r>
            <a:r>
              <a:rPr lang="de-AT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cd 00_HelloWorld</a:t>
            </a:r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0E8D845-1C3D-42EB-99C6-A944D86D00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37" b="1458"/>
          <a:stretch/>
        </p:blipFill>
        <p:spPr>
          <a:xfrm>
            <a:off x="4563075" y="2041278"/>
            <a:ext cx="4231690" cy="158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6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Unvermeidbar – Hello World in C#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sz="2000" dirty="0"/>
              <a:t>Inhalt der Datei u:\c#\00_HelloWelt\00_HelloWorld.cs</a:t>
            </a:r>
          </a:p>
          <a:p>
            <a:pPr marL="0" indent="0">
              <a:buNone/>
            </a:pPr>
            <a:endParaRPr lang="de-AT" sz="2000" dirty="0"/>
          </a:p>
          <a:p>
            <a:pPr marL="0" indent="0">
              <a:buNone/>
            </a:pPr>
            <a:r>
              <a:rPr lang="de-AT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sz="1800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1879775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Editieren -&gt; Kompilieren -&gt; Ausführen</a:t>
            </a:r>
          </a:p>
        </p:txBody>
      </p:sp>
      <p:grpSp>
        <p:nvGrpSpPr>
          <p:cNvPr id="4" name="Group 77"/>
          <p:cNvGrpSpPr/>
          <p:nvPr/>
        </p:nvGrpSpPr>
        <p:grpSpPr>
          <a:xfrm>
            <a:off x="2195736" y="2224318"/>
            <a:ext cx="1132904" cy="646397"/>
            <a:chOff x="0" y="0"/>
            <a:chExt cx="1723475" cy="2205048"/>
          </a:xfrm>
        </p:grpSpPr>
        <p:sp>
          <p:nvSpPr>
            <p:cNvPr id="5" name="Shape 75"/>
            <p:cNvSpPr/>
            <p:nvPr/>
          </p:nvSpPr>
          <p:spPr>
            <a:xfrm>
              <a:off x="0" y="0"/>
              <a:ext cx="1723475" cy="2205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511" y="0"/>
                  </a:moveTo>
                  <a:lnTo>
                    <a:pt x="0" y="8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487"/>
                  </a:lnTo>
                  <a:lnTo>
                    <a:pt x="18511" y="0"/>
                  </a:lnTo>
                </a:path>
              </a:pathLst>
            </a:custGeom>
            <a:noFill/>
            <a:ln w="25400" cap="flat">
              <a:solidFill>
                <a:srgbClr val="48556C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solidFill>
                    <a:srgbClr val="000000"/>
                  </a:solidFill>
                </a:defRPr>
              </a:pPr>
              <a:r>
                <a:rPr lang="de-AT" sz="1400" dirty="0" err="1">
                  <a:solidFill>
                    <a:srgbClr val="324863"/>
                  </a:solidFill>
                </a:rPr>
                <a:t>HelloWorld</a:t>
              </a:r>
              <a:r>
                <a:rPr sz="1400" dirty="0">
                  <a:solidFill>
                    <a:srgbClr val="324863"/>
                  </a:solidFill>
                </a:rPr>
                <a:t>.</a:t>
              </a:r>
              <a:r>
                <a:rPr sz="1400" dirty="0" err="1">
                  <a:solidFill>
                    <a:srgbClr val="324863"/>
                  </a:solidFill>
                </a:rPr>
                <a:t>cs</a:t>
              </a:r>
              <a:endParaRPr sz="1400" dirty="0">
                <a:solidFill>
                  <a:srgbClr val="324863"/>
                </a:solidFill>
              </a:endParaRPr>
            </a:p>
          </p:txBody>
        </p:sp>
        <p:sp>
          <p:nvSpPr>
            <p:cNvPr id="6" name="Shape 76"/>
            <p:cNvSpPr/>
            <p:nvPr/>
          </p:nvSpPr>
          <p:spPr>
            <a:xfrm>
              <a:off x="1477019" y="10914"/>
              <a:ext cx="240508" cy="227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459" y="21600"/>
                  </a:lnTo>
                  <a:lnTo>
                    <a:pt x="21600" y="14151"/>
                  </a:lnTo>
                </a:path>
              </a:pathLst>
            </a:custGeom>
            <a:noFill/>
            <a:ln w="25400" cap="flat">
              <a:solidFill>
                <a:srgbClr val="48556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</p:grpSp>
      <p:sp>
        <p:nvSpPr>
          <p:cNvPr id="7" name="Shape 78"/>
          <p:cNvSpPr/>
          <p:nvPr/>
        </p:nvSpPr>
        <p:spPr>
          <a:xfrm>
            <a:off x="685800" y="2096852"/>
            <a:ext cx="1149896" cy="901328"/>
          </a:xfrm>
          <a:prstGeom prst="rect">
            <a:avLst/>
          </a:prstGeom>
          <a:blipFill>
            <a:blip r:embed="rId2"/>
          </a:blipFill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FFFFFF"/>
                </a:solidFill>
              </a:rPr>
              <a:t>Editor</a:t>
            </a:r>
          </a:p>
        </p:txBody>
      </p:sp>
      <p:sp>
        <p:nvSpPr>
          <p:cNvPr id="9" name="Shape 80"/>
          <p:cNvSpPr/>
          <p:nvPr/>
        </p:nvSpPr>
        <p:spPr>
          <a:xfrm>
            <a:off x="4067944" y="2079464"/>
            <a:ext cx="1416069" cy="936104"/>
          </a:xfrm>
          <a:prstGeom prst="rect">
            <a:avLst/>
          </a:prstGeom>
          <a:blipFill>
            <a:blip r:embed="rId2"/>
          </a:blipFill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FFFFFF"/>
                </a:solidFill>
              </a:rPr>
              <a:t>Compiler</a:t>
            </a:r>
          </a:p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FFFFFF"/>
                </a:solidFill>
              </a:rPr>
              <a:t>(</a:t>
            </a:r>
            <a:r>
              <a:rPr sz="2000" dirty="0" err="1">
                <a:solidFill>
                  <a:srgbClr val="FFFFFF"/>
                </a:solidFill>
              </a:rPr>
              <a:t>csc</a:t>
            </a:r>
            <a:r>
              <a:rPr sz="2000" dirty="0">
                <a:solidFill>
                  <a:srgbClr val="FFFFFF"/>
                </a:solidFill>
              </a:rPr>
              <a:t>)</a:t>
            </a:r>
          </a:p>
        </p:txBody>
      </p:sp>
      <p:grpSp>
        <p:nvGrpSpPr>
          <p:cNvPr id="12" name="Group 86"/>
          <p:cNvGrpSpPr/>
          <p:nvPr/>
        </p:nvGrpSpPr>
        <p:grpSpPr>
          <a:xfrm>
            <a:off x="6496100" y="2180984"/>
            <a:ext cx="1316260" cy="733064"/>
            <a:chOff x="0" y="0"/>
            <a:chExt cx="1723473" cy="2205047"/>
          </a:xfrm>
        </p:grpSpPr>
        <p:sp>
          <p:nvSpPr>
            <p:cNvPr id="13" name="Shape 84"/>
            <p:cNvSpPr/>
            <p:nvPr/>
          </p:nvSpPr>
          <p:spPr>
            <a:xfrm>
              <a:off x="0" y="0"/>
              <a:ext cx="1723474" cy="2205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511" y="0"/>
                  </a:moveTo>
                  <a:lnTo>
                    <a:pt x="0" y="8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487"/>
                  </a:lnTo>
                  <a:lnTo>
                    <a:pt x="18511" y="0"/>
                  </a:lnTo>
                </a:path>
              </a:pathLst>
            </a:custGeom>
            <a:noFill/>
            <a:ln w="25400" cap="flat">
              <a:solidFill>
                <a:srgbClr val="48556C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solidFill>
                    <a:srgbClr val="000000"/>
                  </a:solidFill>
                </a:defRPr>
              </a:pPr>
              <a:r>
                <a:rPr lang="de-AT" sz="1400" dirty="0" err="1">
                  <a:solidFill>
                    <a:srgbClr val="324863"/>
                  </a:solidFill>
                </a:rPr>
                <a:t>HelloWorld</a:t>
              </a:r>
              <a:r>
                <a:rPr sz="1400" dirty="0">
                  <a:solidFill>
                    <a:srgbClr val="324863"/>
                  </a:solidFill>
                </a:rPr>
                <a:t>.exe</a:t>
              </a:r>
            </a:p>
          </p:txBody>
        </p:sp>
        <p:sp>
          <p:nvSpPr>
            <p:cNvPr id="14" name="Shape 85"/>
            <p:cNvSpPr/>
            <p:nvPr/>
          </p:nvSpPr>
          <p:spPr>
            <a:xfrm>
              <a:off x="1477019" y="10914"/>
              <a:ext cx="240508" cy="227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459" y="21600"/>
                  </a:lnTo>
                  <a:lnTo>
                    <a:pt x="21600" y="14151"/>
                  </a:lnTo>
                </a:path>
              </a:pathLst>
            </a:custGeom>
            <a:noFill/>
            <a:ln w="25400" cap="flat">
              <a:solidFill>
                <a:srgbClr val="48556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</p:grpSp>
      <p:pic>
        <p:nvPicPr>
          <p:cNvPr id="19" name="Grafik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3" y="1268760"/>
            <a:ext cx="809625" cy="781050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857" y="1403484"/>
            <a:ext cx="2114550" cy="476250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144" y="3897237"/>
            <a:ext cx="3000375" cy="590550"/>
          </a:xfrm>
          <a:prstGeom prst="rect">
            <a:avLst/>
          </a:prstGeom>
        </p:spPr>
      </p:pic>
      <p:sp>
        <p:nvSpPr>
          <p:cNvPr id="26" name="Textfeld 25"/>
          <p:cNvSpPr txBox="1"/>
          <p:nvPr/>
        </p:nvSpPr>
        <p:spPr>
          <a:xfrm>
            <a:off x="467544" y="1484784"/>
            <a:ext cx="42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5508104" y="3995772"/>
            <a:ext cx="42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2555776" y="1403484"/>
            <a:ext cx="42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>
                <a:solidFill>
                  <a:srgbClr val="FF0000"/>
                </a:solidFill>
              </a:rPr>
              <a:t>2)</a:t>
            </a:r>
          </a:p>
        </p:txBody>
      </p:sp>
      <p:cxnSp>
        <p:nvCxnSpPr>
          <p:cNvPr id="31" name="Gerade Verbindung mit Pfeil 30"/>
          <p:cNvCxnSpPr>
            <a:stCxn id="7" idx="3"/>
          </p:cNvCxnSpPr>
          <p:nvPr/>
        </p:nvCxnSpPr>
        <p:spPr>
          <a:xfrm>
            <a:off x="1835696" y="2547516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endCxn id="9" idx="1"/>
          </p:cNvCxnSpPr>
          <p:nvPr/>
        </p:nvCxnSpPr>
        <p:spPr>
          <a:xfrm flipV="1">
            <a:off x="3345632" y="2547516"/>
            <a:ext cx="722312" cy="8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/>
          <p:cNvCxnSpPr/>
          <p:nvPr/>
        </p:nvCxnSpPr>
        <p:spPr>
          <a:xfrm>
            <a:off x="7154230" y="2914048"/>
            <a:ext cx="0" cy="983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fik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5816" y="1221040"/>
            <a:ext cx="3609975" cy="666750"/>
          </a:xfrm>
          <a:prstGeom prst="rect">
            <a:avLst/>
          </a:prstGeom>
        </p:spPr>
      </p:pic>
      <p:cxnSp>
        <p:nvCxnSpPr>
          <p:cNvPr id="45" name="Gerade Verbindung mit Pfeil 44"/>
          <p:cNvCxnSpPr>
            <a:stCxn id="9" idx="3"/>
          </p:cNvCxnSpPr>
          <p:nvPr/>
        </p:nvCxnSpPr>
        <p:spPr>
          <a:xfrm>
            <a:off x="5484013" y="2547516"/>
            <a:ext cx="1012087" cy="8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Inhaltsplatzhalter 2"/>
          <p:cNvSpPr>
            <a:spLocks noGrp="1"/>
          </p:cNvSpPr>
          <p:nvPr>
            <p:ph idx="1"/>
          </p:nvPr>
        </p:nvSpPr>
        <p:spPr>
          <a:xfrm>
            <a:off x="236538" y="3826619"/>
            <a:ext cx="5203404" cy="2266206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de-AT" altLang="de-DE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de-AT" alt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AT" alt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</a:t>
            </a:r>
            <a:r>
              <a:rPr lang="de-AT" altLang="de-DE" sz="2000" dirty="0"/>
              <a:t>-Datei editieren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de-AT" altLang="de-DE" sz="2000" dirty="0"/>
              <a:t>Compiler </a:t>
            </a:r>
            <a:r>
              <a:rPr lang="de-AT" alt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csc</a:t>
            </a:r>
            <a:r>
              <a:rPr lang="de-AT" altLang="de-DE" sz="2000" dirty="0"/>
              <a:t> aufrufen</a:t>
            </a:r>
          </a:p>
          <a:p>
            <a:pPr lvl="1" eaLnBrk="1" hangingPunct="1"/>
            <a:r>
              <a:rPr lang="de-AT" altLang="de-DE" sz="1800" dirty="0"/>
              <a:t>Als Argument die erstellte Datei</a:t>
            </a:r>
            <a:br>
              <a:rPr lang="de-AT" altLang="de-DE" sz="1800" dirty="0"/>
            </a:br>
            <a:r>
              <a:rPr lang="de-AT" altLang="de-DE" sz="1800" dirty="0"/>
              <a:t>übergeben</a:t>
            </a:r>
          </a:p>
          <a:p>
            <a:pPr lvl="1" eaLnBrk="1" hangingPunct="1"/>
            <a:r>
              <a:rPr lang="de-AT" altLang="de-DE" sz="1800" dirty="0"/>
              <a:t>Compiler erstellt exe-Datei</a:t>
            </a:r>
            <a:br>
              <a:rPr lang="de-AT" altLang="de-DE" sz="1800" dirty="0"/>
            </a:br>
            <a:r>
              <a:rPr lang="de-AT" altLang="de-DE" sz="1800" dirty="0"/>
              <a:t>mit gleichem Namen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de-AT" altLang="de-DE" sz="2000" dirty="0"/>
              <a:t>.</a:t>
            </a:r>
            <a:r>
              <a:rPr lang="de-AT" alt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exe</a:t>
            </a:r>
            <a:r>
              <a:rPr lang="de-AT" altLang="de-DE" sz="2000" dirty="0"/>
              <a:t>-Datei ausführen</a:t>
            </a:r>
          </a:p>
        </p:txBody>
      </p:sp>
    </p:spTree>
    <p:extLst>
      <p:ext uri="{BB962C8B-B14F-4D97-AF65-F5344CB8AC3E}">
        <p14:creationId xmlns:p14="http://schemas.microsoft.com/office/powerpoint/2010/main" val="229738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dvAuto="0"/>
      <p:bldP spid="7" grpId="0" animBg="1" advAuto="0"/>
      <p:bldP spid="9" grpId="0" animBg="1" advAuto="0"/>
      <p:bldP spid="12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/>
              <a:t>Unsere ersten Anweisungen</a:t>
            </a:r>
          </a:p>
        </p:txBody>
      </p:sp>
      <p:sp>
        <p:nvSpPr>
          <p:cNvPr id="20483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pPr eaLnBrk="1" hangingPunct="1"/>
            <a:r>
              <a:rPr lang="de-AT" altLang="de-DE" sz="2400" dirty="0"/>
              <a:t>Kommunikation mit dem Benutzer über die Konsole</a:t>
            </a:r>
          </a:p>
          <a:p>
            <a:pPr lvl="1" eaLnBrk="1" hangingPunct="1"/>
            <a:r>
              <a:rPr lang="de-AT" altLang="de-DE" sz="2000" dirty="0"/>
              <a:t>User Interface</a:t>
            </a:r>
          </a:p>
          <a:p>
            <a:pPr eaLnBrk="1" hangingPunct="1"/>
            <a:r>
              <a:rPr lang="de-AT" altLang="de-DE" sz="2400" dirty="0"/>
              <a:t>Ausgabe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(text);</a:t>
            </a:r>
          </a:p>
          <a:p>
            <a:pPr lvl="2" eaLnBrk="1" hangingPunct="1"/>
            <a:r>
              <a:rPr lang="de-AT" altLang="de-DE" sz="1700" dirty="0"/>
              <a:t>Gibt den Text auf den Bildschirm aus und positioniert Cursor an den Beginn der nächsten Zeile (Zeilenvorschub) 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(text);</a:t>
            </a:r>
          </a:p>
          <a:p>
            <a:pPr lvl="2" eaLnBrk="1" hangingPunct="1"/>
            <a:r>
              <a:rPr lang="de-AT" altLang="de-DE" sz="1800" dirty="0"/>
              <a:t>Gibt den Text auf den Bildschirm aus und positioniert Cursor an das Ende der ausgegebenen Zeile</a:t>
            </a:r>
          </a:p>
          <a:p>
            <a:pPr eaLnBrk="1" hangingPunct="1"/>
            <a:r>
              <a:rPr lang="de-AT" altLang="de-DE" sz="2400" dirty="0"/>
              <a:t>Eingabe von Texten</a:t>
            </a:r>
          </a:p>
          <a:p>
            <a:pPr marL="541337" lvl="1" indent="0" eaLnBrk="1" hangingPunct="1">
              <a:buNone/>
            </a:pP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eingabe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de-AT" altLang="de-DE" sz="2200" dirty="0"/>
            </a:b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eingabe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2" eaLnBrk="1" hangingPunct="1"/>
            <a:r>
              <a:rPr lang="de-AT" altLang="de-DE" sz="1800" dirty="0"/>
              <a:t>Liest eine Zeile (bis zum Drücken der Enter-Taste) ein  und speichert den Text in der Stringvariablen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eingabe</a:t>
            </a:r>
            <a:endParaRPr lang="de-AT" alt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endParaRPr lang="de-AT" altLang="de-DE" sz="1800" dirty="0"/>
          </a:p>
        </p:txBody>
      </p:sp>
      <p:sp>
        <p:nvSpPr>
          <p:cNvPr id="2048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5984EE-1764-48B5-913E-9D322EBF5635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de-DE" altLang="de-DE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30425"/>
      </p:ext>
    </p:extLst>
  </p:cSld>
  <p:clrMapOvr>
    <a:masterClrMapping/>
  </p:clrMapOvr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333</Words>
  <Application>Microsoft Office PowerPoint</Application>
  <PresentationFormat>Bildschirmpräsentation (4:3)</PresentationFormat>
  <Paragraphs>57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6</vt:i4>
      </vt:variant>
    </vt:vector>
  </HeadingPairs>
  <TitlesOfParts>
    <vt:vector size="18" baseType="lpstr">
      <vt:lpstr>Arial</vt:lpstr>
      <vt:lpstr>Calibri</vt:lpstr>
      <vt:lpstr>Consolas</vt:lpstr>
      <vt:lpstr>Courier New</vt:lpstr>
      <vt:lpstr>Symbol</vt:lpstr>
      <vt:lpstr>Times New Roman</vt:lpstr>
      <vt:lpstr>Wingdings</vt:lpstr>
      <vt:lpstr>1_Larissa</vt:lpstr>
      <vt:lpstr>2_Larissa</vt:lpstr>
      <vt:lpstr>5_Larissa</vt:lpstr>
      <vt:lpstr>6_Larissa</vt:lpstr>
      <vt:lpstr>4_Larissa</vt:lpstr>
      <vt:lpstr>C#: Codierung in Notepad++</vt:lpstr>
      <vt:lpstr>Visual Studio Tools – Developer Command Prompt</vt:lpstr>
      <vt:lpstr>Command Prompt</vt:lpstr>
      <vt:lpstr>Unvermeidbar – Hello World in C#</vt:lpstr>
      <vt:lpstr>Editieren -&gt; Kompilieren -&gt; Ausführen</vt:lpstr>
      <vt:lpstr>Unsere ersten Anweisungen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Aitenbichler Herbert</cp:lastModifiedBy>
  <cp:revision>662</cp:revision>
  <cp:lastPrinted>2014-09-10T13:20:02Z</cp:lastPrinted>
  <dcterms:created xsi:type="dcterms:W3CDTF">2011-08-18T07:37:01Z</dcterms:created>
  <dcterms:modified xsi:type="dcterms:W3CDTF">2021-09-15T11:58:44Z</dcterms:modified>
</cp:coreProperties>
</file>