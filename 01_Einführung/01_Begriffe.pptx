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686" r:id="rId2"/>
    <p:sldMasterId id="2147483693" r:id="rId3"/>
    <p:sldMasterId id="2147483698" r:id="rId4"/>
    <p:sldMasterId id="2147483675" r:id="rId5"/>
  </p:sldMasterIdLst>
  <p:notesMasterIdLst>
    <p:notesMasterId r:id="rId11"/>
  </p:notesMasterIdLst>
  <p:handoutMasterIdLst>
    <p:handoutMasterId r:id="rId12"/>
  </p:handoutMasterIdLst>
  <p:sldIdLst>
    <p:sldId id="257" r:id="rId6"/>
    <p:sldId id="258" r:id="rId7"/>
    <p:sldId id="259" r:id="rId8"/>
    <p:sldId id="260" r:id="rId9"/>
    <p:sldId id="262" r:id="rId10"/>
  </p:sldIdLst>
  <p:sldSz cx="9144000" cy="6858000" type="screen4x3"/>
  <p:notesSz cx="6858000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50" autoAdjust="0"/>
  </p:normalViewPr>
  <p:slideViewPr>
    <p:cSldViewPr>
      <p:cViewPr varScale="1">
        <p:scale>
          <a:sx n="64" d="100"/>
          <a:sy n="64" d="100"/>
        </p:scale>
        <p:origin x="136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18.09.2020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18.09.2020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480" y="4714876"/>
            <a:ext cx="5487041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80975" y="-674688"/>
            <a:ext cx="9421813" cy="706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hteck 2"/>
          <p:cNvSpPr/>
          <p:nvPr userDrawn="1"/>
        </p:nvSpPr>
        <p:spPr>
          <a:xfrm>
            <a:off x="-180975" y="4437063"/>
            <a:ext cx="9648825" cy="2520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4" name="Rechteck 3"/>
          <p:cNvSpPr/>
          <p:nvPr userDrawn="1"/>
        </p:nvSpPr>
        <p:spPr>
          <a:xfrm>
            <a:off x="4859338" y="0"/>
            <a:ext cx="3816350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9363" y="260350"/>
            <a:ext cx="34004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7"/>
          <p:cNvSpPr txBox="1">
            <a:spLocks noChangeArrowheads="1"/>
          </p:cNvSpPr>
          <p:nvPr userDrawn="1"/>
        </p:nvSpPr>
        <p:spPr>
          <a:xfrm>
            <a:off x="469900" y="1700213"/>
            <a:ext cx="7485063" cy="10810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Hier fügen Sie den </a:t>
            </a:r>
            <a:b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Titel der Präsentation ein.</a:t>
            </a:r>
            <a:endParaRPr lang="de-DE" sz="38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7" name="Rectangle 28"/>
          <p:cNvSpPr txBox="1">
            <a:spLocks noChangeArrowheads="1"/>
          </p:cNvSpPr>
          <p:nvPr userDrawn="1"/>
        </p:nvSpPr>
        <p:spPr>
          <a:xfrm>
            <a:off x="469900" y="3062288"/>
            <a:ext cx="7510463" cy="584200"/>
          </a:xfrm>
          <a:prstGeom prst="rect">
            <a:avLst/>
          </a:prstGeom>
        </p:spPr>
        <p:txBody>
          <a:bodyPr/>
          <a:lstStyle>
            <a:lvl1pPr marL="26987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5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de-DE" sz="2400" noProof="1"/>
              <a:t>Fügen Sie hier den Untertitel ein.</a:t>
            </a:r>
            <a:endParaRPr lang="de-DE" sz="2400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4837113"/>
            <a:ext cx="6553200" cy="154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18.09.2020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18.09.2020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de-AT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0000">
                <a:schemeClr val="bg1">
                  <a:lumMod val="65000"/>
                </a:schemeClr>
              </a:gs>
              <a:gs pos="0">
                <a:schemeClr val="tx1">
                  <a:lumMod val="61000"/>
                  <a:lumOff val="39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90117" name="Grafik 6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D1B3A30B-827A-41C3-9327-D27E88FC99E1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41" r:id="rId8"/>
    <p:sldLayoutId id="2147483742" r:id="rId9"/>
    <p:sldLayoutId id="2147483740" r:id="rId1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C00000"/>
              </a:gs>
              <a:gs pos="0">
                <a:srgbClr val="A40000">
                  <a:lumMod val="100000"/>
                </a:srgbClr>
              </a:gs>
              <a:gs pos="50000">
                <a:srgbClr val="D60000"/>
              </a:gs>
              <a:gs pos="100000">
                <a:srgbClr val="A80000">
                  <a:lumMod val="9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7414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6DD54E4-5D87-4DDA-86A7-5D3265BB197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43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4582" name="Grafik 6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E0A7362-2F94-4D89-A5F0-263D764F0B24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30726" name="Grafik 6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268413"/>
            <a:ext cx="8229600" cy="478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046146C9-533C-4473-A975-7739642B77B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Computer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1"/>
          </p:nvPr>
        </p:nvSpPr>
        <p:spPr>
          <a:xfrm>
            <a:off x="477888" y="980728"/>
            <a:ext cx="8208912" cy="2160239"/>
          </a:xfrm>
        </p:spPr>
        <p:txBody>
          <a:bodyPr/>
          <a:lstStyle/>
          <a:p>
            <a:r>
              <a:rPr lang="de-DE" dirty="0"/>
              <a:t>Ein Computer ist eine Rechenmaschine (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compute</a:t>
            </a:r>
            <a:r>
              <a:rPr lang="de-DE" dirty="0"/>
              <a:t> = berechnen),</a:t>
            </a:r>
          </a:p>
          <a:p>
            <a:r>
              <a:rPr lang="de-DE" dirty="0"/>
              <a:t>welche in der Lage ist, ein Programm auszuführen. </a:t>
            </a:r>
          </a:p>
          <a:p>
            <a:endParaRPr lang="de-DE" dirty="0"/>
          </a:p>
          <a:p>
            <a:r>
              <a:rPr lang="de-DE" dirty="0"/>
              <a:t>Aufbau:</a:t>
            </a:r>
          </a:p>
        </p:txBody>
      </p:sp>
      <p:sp>
        <p:nvSpPr>
          <p:cNvPr id="6" name="Abgerundetes Rechteck 5"/>
          <p:cNvSpPr/>
          <p:nvPr/>
        </p:nvSpPr>
        <p:spPr>
          <a:xfrm>
            <a:off x="2412425" y="3573016"/>
            <a:ext cx="1511503" cy="64807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Prozessor</a:t>
            </a:r>
          </a:p>
          <a:p>
            <a:pPr algn="ctr"/>
            <a:r>
              <a:rPr lang="de-AT" dirty="0">
                <a:solidFill>
                  <a:schemeClr val="tx1"/>
                </a:solidFill>
              </a:rPr>
              <a:t>(CPU)</a:t>
            </a:r>
          </a:p>
        </p:txBody>
      </p:sp>
      <p:sp>
        <p:nvSpPr>
          <p:cNvPr id="7" name="Abgerundetes Rechteck 6"/>
          <p:cNvSpPr/>
          <p:nvPr/>
        </p:nvSpPr>
        <p:spPr>
          <a:xfrm>
            <a:off x="4499361" y="3573016"/>
            <a:ext cx="2016224" cy="64807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Interner Speicher (RAM)</a:t>
            </a:r>
          </a:p>
        </p:txBody>
      </p:sp>
      <p:sp>
        <p:nvSpPr>
          <p:cNvPr id="8" name="Abgerundetes Rechteck 7"/>
          <p:cNvSpPr/>
          <p:nvPr/>
        </p:nvSpPr>
        <p:spPr>
          <a:xfrm>
            <a:off x="2051720" y="5733256"/>
            <a:ext cx="2069180" cy="50405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Peripheriegeräte</a:t>
            </a:r>
          </a:p>
        </p:txBody>
      </p:sp>
      <p:sp>
        <p:nvSpPr>
          <p:cNvPr id="9" name="Abgerundetes Rechteck 8"/>
          <p:cNvSpPr/>
          <p:nvPr/>
        </p:nvSpPr>
        <p:spPr>
          <a:xfrm>
            <a:off x="4462444" y="5733256"/>
            <a:ext cx="2016224" cy="50405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Externer Speicher</a:t>
            </a:r>
          </a:p>
        </p:txBody>
      </p:sp>
      <p:cxnSp>
        <p:nvCxnSpPr>
          <p:cNvPr id="10" name="Gerade Verbindung mit Pfeil 9"/>
          <p:cNvCxnSpPr>
            <a:stCxn id="6" idx="3"/>
            <a:endCxn id="7" idx="1"/>
          </p:cNvCxnSpPr>
          <p:nvPr/>
        </p:nvCxnSpPr>
        <p:spPr>
          <a:xfrm>
            <a:off x="3923928" y="3897052"/>
            <a:ext cx="575433" cy="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21"/>
          <p:cNvCxnSpPr/>
          <p:nvPr/>
        </p:nvCxnSpPr>
        <p:spPr>
          <a:xfrm>
            <a:off x="2267744" y="4869160"/>
            <a:ext cx="4752528" cy="0"/>
          </a:xfrm>
          <a:prstGeom prst="line">
            <a:avLst/>
          </a:prstGeom>
          <a:ln w="38100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>
            <a:stCxn id="6" idx="2"/>
          </p:cNvCxnSpPr>
          <p:nvPr/>
        </p:nvCxnSpPr>
        <p:spPr>
          <a:xfrm flipH="1">
            <a:off x="3166550" y="4221088"/>
            <a:ext cx="1627" cy="648072"/>
          </a:xfrm>
          <a:prstGeom prst="straightConnector1">
            <a:avLst/>
          </a:prstGeom>
          <a:ln w="2222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/>
          <p:cNvCxnSpPr/>
          <p:nvPr/>
        </p:nvCxnSpPr>
        <p:spPr>
          <a:xfrm>
            <a:off x="3166550" y="4869160"/>
            <a:ext cx="0" cy="864096"/>
          </a:xfrm>
          <a:prstGeom prst="straightConnector1">
            <a:avLst/>
          </a:prstGeom>
          <a:ln w="2222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/>
          <p:cNvCxnSpPr>
            <a:endCxn id="9" idx="0"/>
          </p:cNvCxnSpPr>
          <p:nvPr/>
        </p:nvCxnSpPr>
        <p:spPr>
          <a:xfrm>
            <a:off x="5470556" y="4869160"/>
            <a:ext cx="0" cy="864096"/>
          </a:xfrm>
          <a:prstGeom prst="straightConnector1">
            <a:avLst/>
          </a:prstGeom>
          <a:ln w="2222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/>
          <p:cNvSpPr txBox="1"/>
          <p:nvPr/>
        </p:nvSpPr>
        <p:spPr>
          <a:xfrm>
            <a:off x="7020272" y="469207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Bus</a:t>
            </a:r>
          </a:p>
        </p:txBody>
      </p:sp>
    </p:spTree>
    <p:extLst>
      <p:ext uri="{BB962C8B-B14F-4D97-AF65-F5344CB8AC3E}">
        <p14:creationId xmlns:p14="http://schemas.microsoft.com/office/powerpoint/2010/main" val="294761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Betriebssystem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>
          <a:xfrm>
            <a:off x="323528" y="1196752"/>
            <a:ext cx="8208912" cy="4680520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Ein Betriebssystem ist ein Programm, welches beim Starten eines Computers automatisch ausgeführt wird und dafür sorgt, dass andere Programme auf einem Computer ablaufen können. </a:t>
            </a:r>
            <a:endParaRPr lang="de-AT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Abgerundetes Rechteck 3"/>
          <p:cNvSpPr/>
          <p:nvPr/>
        </p:nvSpPr>
        <p:spPr>
          <a:xfrm>
            <a:off x="1835696" y="3356992"/>
            <a:ext cx="1367487" cy="64807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Prozessor</a:t>
            </a:r>
          </a:p>
          <a:p>
            <a:pPr algn="ctr"/>
            <a:r>
              <a:rPr lang="de-AT" dirty="0">
                <a:solidFill>
                  <a:schemeClr val="tx1"/>
                </a:solidFill>
              </a:rPr>
              <a:t>(CPU)</a:t>
            </a:r>
          </a:p>
        </p:txBody>
      </p:sp>
      <p:sp>
        <p:nvSpPr>
          <p:cNvPr id="5" name="Abgerundetes Rechteck 4"/>
          <p:cNvSpPr/>
          <p:nvPr/>
        </p:nvSpPr>
        <p:spPr>
          <a:xfrm>
            <a:off x="3923297" y="3356992"/>
            <a:ext cx="2016224" cy="64807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Interner Speicher (RAM)</a:t>
            </a:r>
          </a:p>
        </p:txBody>
      </p:sp>
      <p:sp>
        <p:nvSpPr>
          <p:cNvPr id="6" name="Abgerundetes Rechteck 5"/>
          <p:cNvSpPr/>
          <p:nvPr/>
        </p:nvSpPr>
        <p:spPr>
          <a:xfrm>
            <a:off x="1475656" y="5733256"/>
            <a:ext cx="2069180" cy="50405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Peripheriegeräte</a:t>
            </a:r>
          </a:p>
        </p:txBody>
      </p:sp>
      <p:sp>
        <p:nvSpPr>
          <p:cNvPr id="7" name="Abgerundetes Rechteck 6"/>
          <p:cNvSpPr/>
          <p:nvPr/>
        </p:nvSpPr>
        <p:spPr>
          <a:xfrm>
            <a:off x="3886380" y="5733256"/>
            <a:ext cx="2016224" cy="50405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Externer Speicher</a:t>
            </a:r>
          </a:p>
        </p:txBody>
      </p:sp>
      <p:cxnSp>
        <p:nvCxnSpPr>
          <p:cNvPr id="8" name="Gerade Verbindung mit Pfeil 7"/>
          <p:cNvCxnSpPr>
            <a:stCxn id="4" idx="3"/>
            <a:endCxn id="5" idx="1"/>
          </p:cNvCxnSpPr>
          <p:nvPr/>
        </p:nvCxnSpPr>
        <p:spPr>
          <a:xfrm>
            <a:off x="3203183" y="3681028"/>
            <a:ext cx="720114" cy="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21"/>
          <p:cNvCxnSpPr/>
          <p:nvPr/>
        </p:nvCxnSpPr>
        <p:spPr>
          <a:xfrm>
            <a:off x="1691680" y="4869160"/>
            <a:ext cx="4752528" cy="0"/>
          </a:xfrm>
          <a:prstGeom prst="line">
            <a:avLst/>
          </a:prstGeom>
          <a:ln w="38100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/>
          <p:cNvCxnSpPr>
            <a:stCxn id="4" idx="2"/>
          </p:cNvCxnSpPr>
          <p:nvPr/>
        </p:nvCxnSpPr>
        <p:spPr>
          <a:xfrm>
            <a:off x="2519440" y="4005064"/>
            <a:ext cx="71046" cy="864096"/>
          </a:xfrm>
          <a:prstGeom prst="straightConnector1">
            <a:avLst/>
          </a:prstGeom>
          <a:ln w="2222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/>
          <p:cNvCxnSpPr/>
          <p:nvPr/>
        </p:nvCxnSpPr>
        <p:spPr>
          <a:xfrm>
            <a:off x="2590486" y="4869160"/>
            <a:ext cx="0" cy="864096"/>
          </a:xfrm>
          <a:prstGeom prst="straightConnector1">
            <a:avLst/>
          </a:prstGeom>
          <a:ln w="2222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>
            <a:endCxn id="7" idx="0"/>
          </p:cNvCxnSpPr>
          <p:nvPr/>
        </p:nvCxnSpPr>
        <p:spPr>
          <a:xfrm>
            <a:off x="4894492" y="4869160"/>
            <a:ext cx="0" cy="864096"/>
          </a:xfrm>
          <a:prstGeom prst="straightConnector1">
            <a:avLst/>
          </a:prstGeom>
          <a:ln w="2222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/>
          <p:cNvSpPr txBox="1"/>
          <p:nvPr/>
        </p:nvSpPr>
        <p:spPr>
          <a:xfrm>
            <a:off x="6444208" y="469207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Bus</a:t>
            </a:r>
          </a:p>
        </p:txBody>
      </p:sp>
      <p:sp>
        <p:nvSpPr>
          <p:cNvPr id="14" name="Abgerundetes Rechteck 13"/>
          <p:cNvSpPr/>
          <p:nvPr/>
        </p:nvSpPr>
        <p:spPr>
          <a:xfrm>
            <a:off x="1835696" y="5085184"/>
            <a:ext cx="3744416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Treiber</a:t>
            </a:r>
          </a:p>
        </p:txBody>
      </p:sp>
      <p:sp>
        <p:nvSpPr>
          <p:cNvPr id="15" name="Abgerundetes Rechteck 14"/>
          <p:cNvSpPr/>
          <p:nvPr/>
        </p:nvSpPr>
        <p:spPr>
          <a:xfrm>
            <a:off x="1835696" y="4293096"/>
            <a:ext cx="6120680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Betriebssystem</a:t>
            </a:r>
          </a:p>
        </p:txBody>
      </p:sp>
      <p:sp>
        <p:nvSpPr>
          <p:cNvPr id="16" name="Abgerundetes Rechteck 15"/>
          <p:cNvSpPr/>
          <p:nvPr/>
        </p:nvSpPr>
        <p:spPr>
          <a:xfrm>
            <a:off x="6588224" y="3068960"/>
            <a:ext cx="1368152" cy="57606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Programm</a:t>
            </a:r>
          </a:p>
        </p:txBody>
      </p:sp>
      <p:cxnSp>
        <p:nvCxnSpPr>
          <p:cNvPr id="17" name="Gerade Verbindung mit Pfeil 16"/>
          <p:cNvCxnSpPr>
            <a:stCxn id="16" idx="2"/>
          </p:cNvCxnSpPr>
          <p:nvPr/>
        </p:nvCxnSpPr>
        <p:spPr>
          <a:xfrm>
            <a:off x="7272300" y="3645024"/>
            <a:ext cx="0" cy="648072"/>
          </a:xfrm>
          <a:prstGeom prst="straightConnector1">
            <a:avLst/>
          </a:prstGeom>
          <a:ln w="19050" cmpd="dbl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683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Algorithmus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Ein </a:t>
            </a:r>
            <a:r>
              <a:rPr lang="de-DE" b="1" dirty="0"/>
              <a:t>Algorithmus</a:t>
            </a:r>
            <a:r>
              <a:rPr lang="de-DE" dirty="0"/>
              <a:t> ist eine eindeutige Handlungsvorschrift zur Lösung eines Problems bestehend aus endlich vielen, effektiv ausführbaren Einzelschritten.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7" y="4276824"/>
            <a:ext cx="2296132" cy="2173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212976"/>
            <a:ext cx="2619375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88"/>
          <a:stretch/>
        </p:blipFill>
        <p:spPr bwMode="auto">
          <a:xfrm>
            <a:off x="5688113" y="3022886"/>
            <a:ext cx="1908224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1493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Programmiersprache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Ein Algorithmus ist in einer </a:t>
            </a:r>
            <a:r>
              <a:rPr lang="de-DE" b="1" dirty="0"/>
              <a:t>Programmiersprache</a:t>
            </a:r>
            <a:r>
              <a:rPr lang="de-DE" dirty="0"/>
              <a:t> formuliert und aus diesem </a:t>
            </a:r>
            <a:r>
              <a:rPr lang="de-DE" b="1" dirty="0"/>
              <a:t>Quelltext</a:t>
            </a:r>
            <a:r>
              <a:rPr lang="de-DE" dirty="0"/>
              <a:t> wird später ein ausführbares Programm erzeugt. </a:t>
            </a:r>
            <a:endParaRPr lang="de-AT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763688" y="3236783"/>
            <a:ext cx="64807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void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(String[] args) 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de-AT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.println(</a:t>
            </a:r>
            <a:r>
              <a:rPr lang="de-AT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 Java-World"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Rechteck 6"/>
          <p:cNvSpPr/>
          <p:nvPr/>
        </p:nvSpPr>
        <p:spPr>
          <a:xfrm>
            <a:off x="1871489" y="4653136"/>
            <a:ext cx="637291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void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[] args)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AT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.WriteLine(</a:t>
            </a:r>
            <a:r>
              <a:rPr lang="de-AT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 C#-World"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026" name="Picture 2" descr="http://1.bp.blogspot.com/-jXAaGC80P20/UxVUVTCE9eI/AAAAAAAAC4U/LW0GnLxOq_k/s1600/l12866-java-eps-logo-99090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062966"/>
            <a:ext cx="1547961" cy="1547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inqool.cz/images/csharp-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97" y="5085184"/>
            <a:ext cx="972109" cy="972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8079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Programmentwicklung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1187624" y="1289100"/>
            <a:ext cx="5940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Die Erstellung eines Programmes ist ein mehrstufiger Prozess.</a:t>
            </a:r>
          </a:p>
        </p:txBody>
      </p:sp>
      <p:sp>
        <p:nvSpPr>
          <p:cNvPr id="5" name="Abgerundetes Rechteck 4"/>
          <p:cNvSpPr/>
          <p:nvPr/>
        </p:nvSpPr>
        <p:spPr>
          <a:xfrm>
            <a:off x="2630537" y="2634011"/>
            <a:ext cx="3951878" cy="432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rgbClr val="FF0000"/>
                </a:solidFill>
              </a:rPr>
              <a:t>Design </a:t>
            </a:r>
            <a:r>
              <a:rPr lang="de-AT" dirty="0">
                <a:solidFill>
                  <a:schemeClr val="tx1"/>
                </a:solidFill>
              </a:rPr>
              <a:t>- Programmarchitektur</a:t>
            </a:r>
          </a:p>
        </p:txBody>
      </p:sp>
      <p:sp>
        <p:nvSpPr>
          <p:cNvPr id="6" name="Abgerundetes Rechteck 5"/>
          <p:cNvSpPr/>
          <p:nvPr/>
        </p:nvSpPr>
        <p:spPr>
          <a:xfrm>
            <a:off x="2634818" y="4009105"/>
            <a:ext cx="3951878" cy="4251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rgbClr val="FF0000"/>
                </a:solidFill>
              </a:rPr>
              <a:t>Quellcode</a:t>
            </a:r>
            <a:r>
              <a:rPr lang="de-AT" dirty="0">
                <a:solidFill>
                  <a:schemeClr val="tx1"/>
                </a:solidFill>
              </a:rPr>
              <a:t> - Textdatei</a:t>
            </a:r>
          </a:p>
        </p:txBody>
      </p:sp>
      <p:sp>
        <p:nvSpPr>
          <p:cNvPr id="7" name="Abgerundetes Rechteck 6"/>
          <p:cNvSpPr/>
          <p:nvPr/>
        </p:nvSpPr>
        <p:spPr>
          <a:xfrm>
            <a:off x="2634818" y="5357552"/>
            <a:ext cx="3951878" cy="3960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rgbClr val="FF0000"/>
                </a:solidFill>
              </a:rPr>
              <a:t>Binärcode</a:t>
            </a:r>
            <a:r>
              <a:rPr lang="de-AT" dirty="0">
                <a:solidFill>
                  <a:schemeClr val="tx1"/>
                </a:solidFill>
              </a:rPr>
              <a:t> – lauffähiges Programm</a:t>
            </a:r>
          </a:p>
        </p:txBody>
      </p:sp>
      <p:cxnSp>
        <p:nvCxnSpPr>
          <p:cNvPr id="8" name="Gerade Verbindung mit Pfeil 7"/>
          <p:cNvCxnSpPr>
            <a:stCxn id="5" idx="2"/>
            <a:endCxn id="6" idx="0"/>
          </p:cNvCxnSpPr>
          <p:nvPr/>
        </p:nvCxnSpPr>
        <p:spPr>
          <a:xfrm>
            <a:off x="4606476" y="3066059"/>
            <a:ext cx="4281" cy="94304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/>
          <p:cNvCxnSpPr>
            <a:stCxn id="6" idx="2"/>
            <a:endCxn id="7" idx="0"/>
          </p:cNvCxnSpPr>
          <p:nvPr/>
        </p:nvCxnSpPr>
        <p:spPr>
          <a:xfrm>
            <a:off x="4610757" y="4434211"/>
            <a:ext cx="0" cy="923341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/>
          <p:cNvCxnSpPr>
            <a:endCxn id="5" idx="0"/>
          </p:cNvCxnSpPr>
          <p:nvPr/>
        </p:nvCxnSpPr>
        <p:spPr>
          <a:xfrm flipH="1">
            <a:off x="4606476" y="1721148"/>
            <a:ext cx="4281" cy="912863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lipse 10"/>
          <p:cNvSpPr/>
          <p:nvPr/>
        </p:nvSpPr>
        <p:spPr>
          <a:xfrm>
            <a:off x="3454899" y="1865164"/>
            <a:ext cx="2339709" cy="48774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planen</a:t>
            </a:r>
          </a:p>
        </p:txBody>
      </p:sp>
      <p:sp>
        <p:nvSpPr>
          <p:cNvPr id="12" name="Ellipse 11"/>
          <p:cNvSpPr/>
          <p:nvPr/>
        </p:nvSpPr>
        <p:spPr>
          <a:xfrm>
            <a:off x="3454899" y="3233316"/>
            <a:ext cx="2339709" cy="48774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codieren</a:t>
            </a:r>
          </a:p>
        </p:txBody>
      </p:sp>
      <p:sp>
        <p:nvSpPr>
          <p:cNvPr id="13" name="Ellipse 12"/>
          <p:cNvSpPr/>
          <p:nvPr/>
        </p:nvSpPr>
        <p:spPr>
          <a:xfrm>
            <a:off x="3454899" y="4617782"/>
            <a:ext cx="2339709" cy="48774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kompilieren</a:t>
            </a:r>
          </a:p>
        </p:txBody>
      </p:sp>
      <p:cxnSp>
        <p:nvCxnSpPr>
          <p:cNvPr id="14" name="Gewinkelte Verbindung 13"/>
          <p:cNvCxnSpPr>
            <a:stCxn id="7" idx="3"/>
            <a:endCxn id="12" idx="6"/>
          </p:cNvCxnSpPr>
          <p:nvPr/>
        </p:nvCxnSpPr>
        <p:spPr>
          <a:xfrm flipH="1" flipV="1">
            <a:off x="5794608" y="3477187"/>
            <a:ext cx="792088" cy="2078387"/>
          </a:xfrm>
          <a:prstGeom prst="bentConnector3">
            <a:avLst>
              <a:gd name="adj1" fmla="val -81084"/>
            </a:avLst>
          </a:prstGeom>
          <a:ln w="31750" cmpd="dbl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winkelte Verbindung 14"/>
          <p:cNvCxnSpPr>
            <a:stCxn id="7" idx="3"/>
            <a:endCxn id="11" idx="6"/>
          </p:cNvCxnSpPr>
          <p:nvPr/>
        </p:nvCxnSpPr>
        <p:spPr>
          <a:xfrm flipH="1" flipV="1">
            <a:off x="5794608" y="2109035"/>
            <a:ext cx="792088" cy="3446539"/>
          </a:xfrm>
          <a:prstGeom prst="bentConnector3">
            <a:avLst>
              <a:gd name="adj1" fmla="val -81084"/>
            </a:avLst>
          </a:prstGeom>
          <a:ln w="31750" cmpd="dbl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644" y="1720595"/>
            <a:ext cx="292647" cy="716609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2366026"/>
            <a:ext cx="294089" cy="748251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3970" y="3233316"/>
            <a:ext cx="952321" cy="65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545319"/>
      </p:ext>
    </p:extLst>
  </p:cSld>
  <p:clrMapOvr>
    <a:masterClrMapping/>
  </p:clrMapOvr>
</p:sld>
</file>

<file path=ppt/theme/theme1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6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185</Words>
  <Application>Microsoft Office PowerPoint</Application>
  <PresentationFormat>Bildschirmpräsentation (4:3)</PresentationFormat>
  <Paragraphs>43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5</vt:i4>
      </vt:variant>
    </vt:vector>
  </HeadingPairs>
  <TitlesOfParts>
    <vt:vector size="15" baseType="lpstr">
      <vt:lpstr>Arial</vt:lpstr>
      <vt:lpstr>Calibri</vt:lpstr>
      <vt:lpstr>Courier New</vt:lpstr>
      <vt:lpstr>Symbol</vt:lpstr>
      <vt:lpstr>Wingdings</vt:lpstr>
      <vt:lpstr>1_Larissa</vt:lpstr>
      <vt:lpstr>2_Larissa</vt:lpstr>
      <vt:lpstr>5_Larissa</vt:lpstr>
      <vt:lpstr>6_Larissa</vt:lpstr>
      <vt:lpstr>4_Larissa</vt:lpstr>
      <vt:lpstr>Computer</vt:lpstr>
      <vt:lpstr>Betriebssystem</vt:lpstr>
      <vt:lpstr>Algorithmus</vt:lpstr>
      <vt:lpstr>Programmiersprache</vt:lpstr>
      <vt:lpstr>Programmentwicklung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Birgit Schröder</cp:lastModifiedBy>
  <cp:revision>630</cp:revision>
  <cp:lastPrinted>2014-09-10T13:20:23Z</cp:lastPrinted>
  <dcterms:created xsi:type="dcterms:W3CDTF">2011-08-18T07:37:01Z</dcterms:created>
  <dcterms:modified xsi:type="dcterms:W3CDTF">2020-09-18T14:09:14Z</dcterms:modified>
</cp:coreProperties>
</file>