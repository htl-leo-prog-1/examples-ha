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686" r:id="rId2"/>
    <p:sldMasterId id="2147483693" r:id="rId3"/>
    <p:sldMasterId id="2147483698" r:id="rId4"/>
    <p:sldMasterId id="2147483675" r:id="rId5"/>
  </p:sldMasterIdLst>
  <p:notesMasterIdLst>
    <p:notesMasterId r:id="rId13"/>
  </p:notesMasterIdLst>
  <p:handoutMasterIdLst>
    <p:handoutMasterId r:id="rId14"/>
  </p:handoutMasterIdLst>
  <p:sldIdLst>
    <p:sldId id="271" r:id="rId6"/>
    <p:sldId id="276" r:id="rId7"/>
    <p:sldId id="277" r:id="rId8"/>
    <p:sldId id="287" r:id="rId9"/>
    <p:sldId id="278" r:id="rId10"/>
    <p:sldId id="279" r:id="rId11"/>
    <p:sldId id="280" r:id="rId12"/>
  </p:sldIdLst>
  <p:sldSz cx="9144000" cy="6858000" type="screen4x3"/>
  <p:notesSz cx="6858000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50" autoAdjust="0"/>
  </p:normalViewPr>
  <p:slideViewPr>
    <p:cSldViewPr>
      <p:cViewPr varScale="1">
        <p:scale>
          <a:sx n="101" d="100"/>
          <a:sy n="101" d="100"/>
        </p:scale>
        <p:origin x="187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18.09.2024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18.09.2024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480" y="4714876"/>
            <a:ext cx="5487041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80975" y="-674688"/>
            <a:ext cx="9421813" cy="706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hteck 2"/>
          <p:cNvSpPr/>
          <p:nvPr userDrawn="1"/>
        </p:nvSpPr>
        <p:spPr>
          <a:xfrm>
            <a:off x="-180975" y="4437063"/>
            <a:ext cx="9648825" cy="2520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4" name="Rechteck 3"/>
          <p:cNvSpPr/>
          <p:nvPr userDrawn="1"/>
        </p:nvSpPr>
        <p:spPr>
          <a:xfrm>
            <a:off x="4859338" y="0"/>
            <a:ext cx="3816350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59363" y="260350"/>
            <a:ext cx="34004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7"/>
          <p:cNvSpPr txBox="1">
            <a:spLocks noChangeArrowheads="1"/>
          </p:cNvSpPr>
          <p:nvPr userDrawn="1"/>
        </p:nvSpPr>
        <p:spPr>
          <a:xfrm>
            <a:off x="469900" y="1700213"/>
            <a:ext cx="7485063" cy="10810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Hier fügen Sie den </a:t>
            </a:r>
            <a:b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Titel der Präsentation ein.</a:t>
            </a:r>
            <a:endParaRPr lang="de-DE" sz="38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7" name="Rectangle 28"/>
          <p:cNvSpPr txBox="1">
            <a:spLocks noChangeArrowheads="1"/>
          </p:cNvSpPr>
          <p:nvPr userDrawn="1"/>
        </p:nvSpPr>
        <p:spPr>
          <a:xfrm>
            <a:off x="469900" y="3062288"/>
            <a:ext cx="7510463" cy="584200"/>
          </a:xfrm>
          <a:prstGeom prst="rect">
            <a:avLst/>
          </a:prstGeom>
        </p:spPr>
        <p:txBody>
          <a:bodyPr/>
          <a:lstStyle>
            <a:lvl1pPr marL="26987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5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de-DE" sz="2400" noProof="1"/>
              <a:t>Fügen Sie hier den Untertitel ein.</a:t>
            </a:r>
            <a:endParaRPr lang="de-DE" sz="2400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4837113"/>
            <a:ext cx="6553200" cy="154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18.09.2024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18.09.2024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de-AT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0000">
                <a:schemeClr val="bg1">
                  <a:lumMod val="65000"/>
                </a:schemeClr>
              </a:gs>
              <a:gs pos="0">
                <a:schemeClr val="tx1">
                  <a:lumMod val="61000"/>
                  <a:lumOff val="39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90117" name="Grafik 6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558454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2015/16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D1B3A30B-827A-41C3-9327-D27E88FC99E1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41" r:id="rId8"/>
    <p:sldLayoutId id="2147483742" r:id="rId9"/>
    <p:sldLayoutId id="2147483740" r:id="rId1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702470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C#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C00000"/>
              </a:gs>
              <a:gs pos="0">
                <a:srgbClr val="A40000">
                  <a:lumMod val="100000"/>
                </a:srgbClr>
              </a:gs>
              <a:gs pos="50000">
                <a:srgbClr val="D60000"/>
              </a:gs>
              <a:gs pos="100000">
                <a:srgbClr val="A80000">
                  <a:lumMod val="9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7414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6DD54E4-5D87-4DDA-86A7-5D3265BB197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43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4582" name="Grafik 6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E0A7362-2F94-4D89-A5F0-263D764F0B24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30726" name="Grafik 6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268413"/>
            <a:ext cx="8229600" cy="478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046146C9-533C-4473-A975-7739642B77B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AT" altLang="de-DE"/>
              <a:t>Unsere ersten Anweisungen</a:t>
            </a:r>
          </a:p>
        </p:txBody>
      </p:sp>
      <p:sp>
        <p:nvSpPr>
          <p:cNvPr id="20483" name="Inhaltsplatzhalt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/>
          <a:lstStyle/>
          <a:p>
            <a:pPr eaLnBrk="1" hangingPunct="1"/>
            <a:r>
              <a:rPr lang="de-AT" altLang="de-DE" sz="2400" dirty="0"/>
              <a:t>Kommunikation mit dem Benutzer über die Konsole</a:t>
            </a:r>
          </a:p>
          <a:p>
            <a:pPr lvl="1" eaLnBrk="1" hangingPunct="1"/>
            <a:r>
              <a:rPr lang="de-AT" altLang="de-DE" sz="2000" dirty="0"/>
              <a:t>User Interface</a:t>
            </a:r>
          </a:p>
          <a:p>
            <a:pPr eaLnBrk="1" hangingPunct="1"/>
            <a:r>
              <a:rPr lang="de-AT" altLang="de-DE" sz="2400" dirty="0"/>
              <a:t>Ausgabe</a:t>
            </a:r>
          </a:p>
          <a:p>
            <a:pPr marL="541337" lvl="1" indent="0" eaLnBrk="1" hangingPunct="1">
              <a:buNone/>
            </a:pP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System.Console.WriteLine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2" eaLnBrk="1" hangingPunct="1"/>
            <a:r>
              <a:rPr lang="de-AT" altLang="de-DE" sz="1700" dirty="0"/>
              <a:t>Gibt den Text auf den Bildschirm aus und positioniert Cursor an den Beginn der nächsten Zeile (Zeilenvorschub) </a:t>
            </a:r>
          </a:p>
          <a:p>
            <a:pPr marL="541337" lvl="1" indent="0" eaLnBrk="1" hangingPunct="1">
              <a:buNone/>
            </a:pP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System.Console.Write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2" eaLnBrk="1" hangingPunct="1"/>
            <a:r>
              <a:rPr lang="de-AT" altLang="de-DE" sz="1800" dirty="0"/>
              <a:t>Gibt den Text auf den Bildschirm aus und positioniert Cursor an das Ende der ausgegebenen Zeile</a:t>
            </a:r>
          </a:p>
          <a:p>
            <a:pPr eaLnBrk="1" hangingPunct="1"/>
            <a:r>
              <a:rPr lang="de-AT" altLang="de-DE" sz="2400" dirty="0"/>
              <a:t>Eingabe von Texten</a:t>
            </a:r>
          </a:p>
          <a:p>
            <a:pPr marL="541337" lvl="1" indent="0" eaLnBrk="1" hangingPunct="1">
              <a:buNone/>
            </a:pP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eingabe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de-AT" altLang="de-DE" sz="2200" dirty="0"/>
            </a:b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eingabe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System.Console.ReadLine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2" eaLnBrk="1" hangingPunct="1"/>
            <a:r>
              <a:rPr lang="de-AT" altLang="de-DE" sz="1800" dirty="0"/>
              <a:t>Liest eine Zeile (bis zum Drücken der Enter-Taste) ein  und speichert den Text in der Stringvariablen </a:t>
            </a: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eingabe</a:t>
            </a:r>
            <a:endParaRPr lang="de-AT" altLang="de-D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/>
            <a:endParaRPr lang="de-AT" altLang="de-DE" sz="1800" dirty="0"/>
          </a:p>
        </p:txBody>
      </p:sp>
      <p:sp>
        <p:nvSpPr>
          <p:cNvPr id="2048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sz="3200">
                <a:solidFill>
                  <a:srgbClr val="00008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rgbClr val="00008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5984EE-1764-48B5-913E-9D322EBF5635}" type="slidenum">
              <a:rPr lang="de-DE" altLang="de-DE" sz="1400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de-DE" altLang="de-DE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283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Einlesen von Zahlen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pPr lvl="0">
              <a:defRPr sz="1800"/>
            </a:pPr>
            <a:endParaRPr lang="en-US" dirty="0"/>
          </a:p>
          <a:p>
            <a:pPr marL="0" lvl="0" indent="0">
              <a:buNone/>
              <a:defRPr sz="1800"/>
            </a:pPr>
            <a:endParaRPr lang="de-AT" sz="1800" dirty="0">
              <a:latin typeface="Courier New" panose="02070309020205020404" pitchFamily="49" charset="0"/>
              <a:ea typeface="Monaco"/>
              <a:cs typeface="Courier New" panose="02070309020205020404" pitchFamily="49" charset="0"/>
              <a:sym typeface="Monaco"/>
            </a:endParaRPr>
          </a:p>
          <a:p>
            <a:pPr marL="0" lvl="0" indent="0">
              <a:buNone/>
              <a:defRPr sz="1800"/>
            </a:pPr>
            <a:r>
              <a:rPr lang="de-AT" sz="18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Console.Write</a:t>
            </a:r>
            <a:r>
              <a:rPr lang="de-AT" sz="18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</a:t>
            </a:r>
            <a:r>
              <a:rPr lang="en-US" altLang="de-DE" sz="1800" dirty="0"/>
              <a:t>"</a:t>
            </a:r>
            <a:r>
              <a:rPr lang="de-AT" sz="18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Bitte geben sie eine Zahl ein: </a:t>
            </a:r>
            <a:r>
              <a:rPr lang="en-US" altLang="de-DE" sz="1800" dirty="0"/>
              <a:t>"</a:t>
            </a:r>
            <a:r>
              <a:rPr lang="de-AT" sz="18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);</a:t>
            </a:r>
          </a:p>
          <a:p>
            <a:pPr marL="0" lvl="0" indent="0">
              <a:buNone/>
              <a:defRPr sz="1800"/>
            </a:pPr>
            <a:r>
              <a:rPr lang="de-AT" sz="18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string</a:t>
            </a:r>
            <a:r>
              <a:rPr lang="de-AT" sz="18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lang="de-AT" sz="18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userInput</a:t>
            </a:r>
            <a:r>
              <a:rPr lang="de-AT" sz="18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= </a:t>
            </a:r>
            <a:r>
              <a:rPr lang="de-AT" sz="18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Console.ReadLine</a:t>
            </a:r>
            <a:r>
              <a:rPr lang="de-AT" sz="18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();</a:t>
            </a:r>
          </a:p>
          <a:p>
            <a:pPr marL="0" lvl="0" indent="0">
              <a:buNone/>
              <a:defRPr sz="1800"/>
            </a:pPr>
            <a:endParaRPr lang="de-AT" sz="1800" dirty="0">
              <a:latin typeface="Courier New" panose="02070309020205020404" pitchFamily="49" charset="0"/>
              <a:ea typeface="Monaco"/>
              <a:cs typeface="Courier New" panose="02070309020205020404" pitchFamily="49" charset="0"/>
              <a:sym typeface="Monaco"/>
            </a:endParaRPr>
          </a:p>
          <a:p>
            <a:pPr marL="0" lvl="0" indent="0">
              <a:buNone/>
              <a:defRPr sz="1800"/>
            </a:pPr>
            <a:r>
              <a:rPr lang="de-A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de-A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Convert.ToInt32</a:t>
            </a:r>
            <a:r>
              <a:rPr lang="de-A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A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userInput</a:t>
            </a:r>
            <a:r>
              <a:rPr lang="de-A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lvl="0" indent="0">
              <a:buNone/>
              <a:defRPr sz="1800"/>
            </a:pPr>
            <a:endParaRPr lang="de-AT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>
              <a:buNone/>
              <a:defRPr sz="1800"/>
            </a:pPr>
            <a:r>
              <a:rPr lang="de-A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de-A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decimalValue</a:t>
            </a:r>
            <a:r>
              <a:rPr lang="de-A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Convert.ToDouble</a:t>
            </a:r>
            <a:r>
              <a:rPr lang="de-A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A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userInput</a:t>
            </a:r>
            <a:r>
              <a:rPr lang="de-A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0">
              <a:defRPr sz="1800"/>
            </a:pPr>
            <a:endParaRPr lang="de-AT" sz="1800" dirty="0"/>
          </a:p>
          <a:p>
            <a:pPr lvl="0">
              <a:defRPr sz="1800"/>
            </a:pPr>
            <a:r>
              <a:rPr lang="de-AT" sz="1800" dirty="0"/>
              <a:t>Alternative</a:t>
            </a:r>
          </a:p>
          <a:p>
            <a:pPr lvl="0">
              <a:defRPr sz="1800"/>
            </a:pPr>
            <a:endParaRPr lang="de-AT" sz="1800" dirty="0"/>
          </a:p>
          <a:p>
            <a:pPr marL="0" lvl="0" indent="0">
              <a:buNone/>
              <a:defRPr sz="1800"/>
            </a:pPr>
            <a:r>
              <a:rPr lang="de-A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de-A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int.Parse</a:t>
            </a:r>
            <a:r>
              <a:rPr lang="de-A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A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userInput</a:t>
            </a:r>
            <a:r>
              <a:rPr lang="de-A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lvl="0" indent="0">
              <a:buNone/>
              <a:defRPr sz="1800"/>
            </a:pPr>
            <a:r>
              <a:rPr lang="de-A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de-A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decimalValue</a:t>
            </a:r>
            <a:r>
              <a:rPr lang="de-A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double.Parse</a:t>
            </a:r>
            <a:r>
              <a:rPr lang="de-A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A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userInput</a:t>
            </a:r>
            <a:r>
              <a:rPr lang="de-A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0">
              <a:defRPr sz="1800"/>
            </a:pPr>
            <a:endParaRPr lang="de-AT" sz="1800" dirty="0"/>
          </a:p>
          <a:p>
            <a:pPr lvl="0">
              <a:defRPr sz="1800"/>
            </a:pPr>
            <a:endParaRPr lang="de-AT" sz="1800" dirty="0">
              <a:latin typeface="Monaco"/>
              <a:ea typeface="Monaco"/>
              <a:cs typeface="Monaco"/>
              <a:sym typeface="Monaco"/>
            </a:endParaRPr>
          </a:p>
          <a:p>
            <a:pPr lvl="0">
              <a:defRPr sz="1800"/>
            </a:pPr>
            <a:endParaRPr lang="en-US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822738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Bsp</a:t>
            </a:r>
            <a:r>
              <a:rPr lang="de-AT" dirty="0"/>
              <a:t>: Einlesen eines Gleitkomma-Bruches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D9B9169-075B-4C62-B506-BD5986C44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AT" sz="1800" dirty="0">
                <a:solidFill>
                  <a:srgbClr val="A31515"/>
                </a:solidFill>
                <a:latin typeface="Consolas" panose="020B0609020204030204" pitchFamily="49" charset="0"/>
              </a:rPr>
              <a:t>"Enter </a:t>
            </a:r>
            <a:r>
              <a:rPr lang="de-AT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numerator</a:t>
            </a:r>
            <a:r>
              <a:rPr lang="de-AT" sz="1800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e-AT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userInput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Console.RealdLine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e-AT" sz="1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numerator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Convert.ToDouble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userInput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de-AT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AT" sz="1800" dirty="0">
                <a:solidFill>
                  <a:srgbClr val="A31515"/>
                </a:solidFill>
                <a:latin typeface="Consolas" panose="020B0609020204030204" pitchFamily="49" charset="0"/>
              </a:rPr>
              <a:t>"Enter </a:t>
            </a:r>
            <a:r>
              <a:rPr lang="de-AT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denominator</a:t>
            </a:r>
            <a:r>
              <a:rPr lang="de-AT" sz="1800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userInput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Console.RealdLine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e-AT" sz="1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denominator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Convert.ToDouble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userInput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de-AT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AT" sz="1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decimalValue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numerator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/ 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denominator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de-AT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AT" sz="1800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numerator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de-AT" sz="1800" dirty="0">
                <a:solidFill>
                  <a:srgbClr val="A31515"/>
                </a:solidFill>
                <a:latin typeface="Consolas" panose="020B0609020204030204" pitchFamily="49" charset="0"/>
              </a:rPr>
              <a:t>/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denominator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de-AT" sz="1800" dirty="0">
                <a:solidFill>
                  <a:srgbClr val="A31515"/>
                </a:solidFill>
                <a:latin typeface="Consolas" panose="020B0609020204030204" pitchFamily="49" charset="0"/>
              </a:rPr>
              <a:t>=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decimalValue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de-AT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2826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Ausgabe von Variablen mit Platzhaltern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ct val="40000"/>
              </a:spcBef>
              <a:buNone/>
            </a:pPr>
            <a:r>
              <a:rPr lang="en-US" altLang="de-DE" sz="2000" dirty="0" err="1">
                <a:latin typeface="Consolas" panose="020B0609020204030204" pitchFamily="49" charset="0"/>
              </a:rPr>
              <a:t>Console.Write</a:t>
            </a:r>
            <a:r>
              <a:rPr lang="en-US" altLang="de-DE" sz="2000" dirty="0">
                <a:latin typeface="Consolas" panose="020B0609020204030204" pitchFamily="49" charset="0"/>
              </a:rPr>
              <a:t>(</a:t>
            </a:r>
            <a:r>
              <a:rPr lang="en-US" altLang="de-DE" sz="2000" dirty="0">
                <a:solidFill>
                  <a:srgbClr val="FF0000"/>
                </a:solidFill>
                <a:latin typeface="Consolas" panose="020B0609020204030204" pitchFamily="49" charset="0"/>
              </a:rPr>
              <a:t>$</a:t>
            </a:r>
            <a:r>
              <a:rPr lang="en-US" altLang="de-DE" sz="2000" dirty="0">
                <a:latin typeface="Consolas" panose="020B0609020204030204" pitchFamily="49" charset="0"/>
              </a:rPr>
              <a:t>"Hello </a:t>
            </a:r>
            <a:r>
              <a:rPr lang="en-US" altLang="de-DE" sz="2000" dirty="0">
                <a:solidFill>
                  <a:srgbClr val="FF0000"/>
                </a:solidFill>
                <a:latin typeface="Consolas" panose="020B0609020204030204" pitchFamily="49" charset="0"/>
              </a:rPr>
              <a:t>{name}</a:t>
            </a:r>
            <a:r>
              <a:rPr lang="en-US" altLang="de-DE" sz="2000" dirty="0">
                <a:latin typeface="Consolas" panose="020B0609020204030204" pitchFamily="49" charset="0"/>
              </a:rPr>
              <a:t>");</a:t>
            </a:r>
            <a:endParaRPr lang="en-US" altLang="de-DE" sz="2000" dirty="0"/>
          </a:p>
          <a:p>
            <a:pPr marL="0" indent="0">
              <a:buNone/>
            </a:pPr>
            <a:r>
              <a:rPr lang="en-US" altLang="de-DE" sz="2000" dirty="0" err="1">
                <a:latin typeface="Consolas" panose="020B0609020204030204" pitchFamily="49" charset="0"/>
              </a:rPr>
              <a:t>Console.WriteLine</a:t>
            </a:r>
            <a:r>
              <a:rPr lang="en-US" altLang="de-DE" sz="2000" dirty="0">
                <a:latin typeface="Consolas" panose="020B0609020204030204" pitchFamily="49" charset="0"/>
              </a:rPr>
              <a:t>(</a:t>
            </a:r>
            <a:r>
              <a:rPr lang="en-US" altLang="de-DE" sz="2000" dirty="0">
                <a:solidFill>
                  <a:srgbClr val="FF0000"/>
                </a:solidFill>
                <a:latin typeface="Consolas" panose="020B0609020204030204" pitchFamily="49" charset="0"/>
              </a:rPr>
              <a:t>$</a:t>
            </a:r>
            <a:r>
              <a:rPr lang="en-US" altLang="de-DE" sz="2000" dirty="0">
                <a:latin typeface="Consolas" panose="020B0609020204030204" pitchFamily="49" charset="0"/>
              </a:rPr>
              <a:t>"</a:t>
            </a:r>
            <a:r>
              <a:rPr lang="en-US" altLang="de-DE" sz="2000" dirty="0">
                <a:solidFill>
                  <a:srgbClr val="FF0000"/>
                </a:solidFill>
                <a:latin typeface="Consolas" panose="020B0609020204030204" pitchFamily="49" charset="0"/>
              </a:rPr>
              <a:t>{x}</a:t>
            </a:r>
            <a:r>
              <a:rPr lang="en-US" altLang="de-DE" sz="2000" dirty="0">
                <a:latin typeface="Consolas" panose="020B0609020204030204" pitchFamily="49" charset="0"/>
              </a:rPr>
              <a:t> = </a:t>
            </a:r>
            <a:r>
              <a:rPr lang="en-US" altLang="de-DE" sz="2000" dirty="0">
                <a:solidFill>
                  <a:srgbClr val="FF0000"/>
                </a:solidFill>
                <a:latin typeface="Consolas" panose="020B0609020204030204" pitchFamily="49" charset="0"/>
              </a:rPr>
              <a:t>{y}</a:t>
            </a:r>
            <a:r>
              <a:rPr lang="en-US" altLang="de-DE" sz="2000" dirty="0">
                <a:latin typeface="Consolas" panose="020B0609020204030204" pitchFamily="49" charset="0"/>
              </a:rPr>
              <a:t>");</a:t>
            </a:r>
            <a:endParaRPr lang="de-AT" altLang="de-DE" sz="2000" dirty="0">
              <a:latin typeface="Consolas" panose="020B0609020204030204" pitchFamily="49" charset="0"/>
            </a:endParaRPr>
          </a:p>
          <a:p>
            <a:endParaRPr lang="de-AT" dirty="0"/>
          </a:p>
        </p:txBody>
      </p:sp>
      <p:sp>
        <p:nvSpPr>
          <p:cNvPr id="5" name="Foliennummernplatzhalter 5"/>
          <p:cNvSpPr txBox="1">
            <a:spLocks/>
          </p:cNvSpPr>
          <p:nvPr/>
        </p:nvSpPr>
        <p:spPr>
          <a:xfrm>
            <a:off x="7163049" y="5930404"/>
            <a:ext cx="1449387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BACCAA67-E619-4E7E-BDC2-91AB8A42BAB7}" type="slidenum">
              <a:rPr lang="de-DE" altLang="de-DE" sz="1200" smtClean="0"/>
              <a:pPr/>
              <a:t>4</a:t>
            </a:fld>
            <a:endParaRPr lang="de-DE" altLang="de-DE" sz="1200"/>
          </a:p>
        </p:txBody>
      </p:sp>
      <p:grpSp>
        <p:nvGrpSpPr>
          <p:cNvPr id="6" name="Group 7"/>
          <p:cNvGrpSpPr>
            <a:grpSpLocks/>
          </p:cNvGrpSpPr>
          <p:nvPr/>
        </p:nvGrpSpPr>
        <p:grpSpPr bwMode="auto">
          <a:xfrm>
            <a:off x="395536" y="2564904"/>
            <a:ext cx="8153400" cy="3489325"/>
            <a:chOff x="420" y="1912"/>
            <a:chExt cx="5136" cy="2198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648" y="2152"/>
              <a:ext cx="2336" cy="240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420" y="1912"/>
              <a:ext cx="5136" cy="2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de-DE" sz="2000" b="1" dirty="0" err="1">
                  <a:latin typeface="+mn-lt"/>
                </a:rPr>
                <a:t>Platzhalter</a:t>
              </a:r>
              <a:r>
                <a:rPr lang="en-US" altLang="de-DE" sz="2000" b="1" dirty="0">
                  <a:latin typeface="+mn-lt"/>
                </a:rPr>
                <a:t>-Syntax</a:t>
              </a:r>
            </a:p>
            <a:p>
              <a:pPr>
                <a:spcBef>
                  <a:spcPct val="40000"/>
                </a:spcBef>
              </a:pPr>
              <a:r>
                <a:rPr lang="en-US" altLang="de-DE" dirty="0">
                  <a:latin typeface="Arial" panose="020B0604020202020204" pitchFamily="34" charset="0"/>
                </a:rPr>
                <a:t>	"{" variable ["," width] [":" format [precision]] "}"</a:t>
              </a:r>
            </a:p>
            <a:p>
              <a:pPr>
                <a:spcBef>
                  <a:spcPct val="20000"/>
                </a:spcBef>
              </a:pPr>
              <a:endParaRPr lang="en-US" altLang="de-DE" dirty="0">
                <a:latin typeface="Arial" panose="020B0604020202020204" pitchFamily="34" charset="0"/>
              </a:endParaRPr>
            </a:p>
            <a:p>
              <a:r>
                <a:rPr lang="en-US" altLang="de-DE" sz="1800" dirty="0"/>
                <a:t>	</a:t>
              </a:r>
              <a:r>
                <a:rPr lang="en-US" altLang="de-DE" sz="1800" i="1" dirty="0">
                  <a:latin typeface="+mn-lt"/>
                </a:rPr>
                <a:t>variable</a:t>
              </a: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dirty="0" err="1">
                  <a:latin typeface="+mn-lt"/>
                </a:rPr>
                <a:t>Variablenname</a:t>
              </a:r>
              <a:endParaRPr lang="en-US" altLang="de-DE" sz="1800" dirty="0">
                <a:latin typeface="+mn-lt"/>
              </a:endParaRPr>
            </a:p>
            <a:p>
              <a:pPr>
                <a:spcBef>
                  <a:spcPct val="40000"/>
                </a:spcBef>
              </a:pP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i="1" dirty="0">
                  <a:latin typeface="+mn-lt"/>
                </a:rPr>
                <a:t>width</a:t>
              </a: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dirty="0" err="1">
                  <a:latin typeface="+mn-lt"/>
                </a:rPr>
                <a:t>Feldbreite</a:t>
              </a:r>
              <a:r>
                <a:rPr lang="en-US" altLang="de-DE" sz="1800" dirty="0">
                  <a:latin typeface="+mn-lt"/>
                </a:rPr>
                <a:t> (</a:t>
              </a:r>
              <a:r>
                <a:rPr lang="en-US" altLang="de-DE" sz="1800" dirty="0" err="1">
                  <a:latin typeface="+mn-lt"/>
                </a:rPr>
                <a:t>wenn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zu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klein</a:t>
              </a:r>
              <a:r>
                <a:rPr lang="en-US" altLang="de-DE" sz="1800" dirty="0">
                  <a:latin typeface="+mn-lt"/>
                </a:rPr>
                <a:t>, </a:t>
              </a:r>
              <a:r>
                <a:rPr lang="en-US" altLang="de-DE" sz="1800" dirty="0" err="1">
                  <a:latin typeface="+mn-lt"/>
                </a:rPr>
                <a:t>wird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sie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überschritten</a:t>
              </a:r>
              <a:r>
                <a:rPr lang="en-US" altLang="de-DE" sz="1800" dirty="0">
                  <a:latin typeface="+mn-lt"/>
                </a:rPr>
                <a:t>)</a:t>
              </a:r>
            </a:p>
            <a:p>
              <a:r>
                <a:rPr lang="en-US" altLang="de-DE" sz="1800" dirty="0">
                  <a:latin typeface="+mn-lt"/>
                </a:rPr>
                <a:t>		</a:t>
              </a:r>
              <a:r>
                <a:rPr lang="en-US" altLang="de-DE" sz="1800" dirty="0" err="1">
                  <a:latin typeface="+mn-lt"/>
                </a:rPr>
                <a:t>positiv</a:t>
              </a:r>
              <a:r>
                <a:rPr lang="en-US" altLang="de-DE" sz="1800" dirty="0">
                  <a:latin typeface="+mn-lt"/>
                </a:rPr>
                <a:t> = </a:t>
              </a:r>
              <a:r>
                <a:rPr lang="en-US" altLang="de-DE" sz="1800" dirty="0" err="1">
                  <a:latin typeface="+mn-lt"/>
                </a:rPr>
                <a:t>rechtsbündig</a:t>
              </a:r>
              <a:r>
                <a:rPr lang="en-US" altLang="de-DE" sz="1800" dirty="0">
                  <a:latin typeface="+mn-lt"/>
                </a:rPr>
                <a:t>, </a:t>
              </a:r>
              <a:r>
                <a:rPr lang="en-US" altLang="de-DE" sz="1800" dirty="0" err="1">
                  <a:latin typeface="+mn-lt"/>
                </a:rPr>
                <a:t>negativ</a:t>
              </a:r>
              <a:r>
                <a:rPr lang="en-US" altLang="de-DE" sz="1800" dirty="0">
                  <a:latin typeface="+mn-lt"/>
                </a:rPr>
                <a:t> = </a:t>
              </a:r>
              <a:r>
                <a:rPr lang="en-US" altLang="de-DE" sz="1800" dirty="0" err="1">
                  <a:latin typeface="+mn-lt"/>
                </a:rPr>
                <a:t>linksbündig</a:t>
              </a:r>
              <a:endParaRPr lang="en-US" altLang="de-DE" sz="1800" dirty="0">
                <a:latin typeface="+mn-lt"/>
              </a:endParaRPr>
            </a:p>
            <a:p>
              <a:pPr>
                <a:spcBef>
                  <a:spcPct val="40000"/>
                </a:spcBef>
              </a:pP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i="1" dirty="0">
                  <a:latin typeface="+mn-lt"/>
                </a:rPr>
                <a:t>format</a:t>
              </a: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dirty="0" err="1">
                  <a:latin typeface="+mn-lt"/>
                </a:rPr>
                <a:t>Formatierungscode</a:t>
              </a:r>
              <a:r>
                <a:rPr lang="en-US" altLang="de-DE" sz="1800" dirty="0">
                  <a:latin typeface="+mn-lt"/>
                </a:rPr>
                <a:t> (</a:t>
              </a:r>
              <a:r>
                <a:rPr lang="en-US" altLang="de-DE" sz="1800" dirty="0" err="1">
                  <a:latin typeface="+mn-lt"/>
                </a:rPr>
                <a:t>z.B</a:t>
              </a:r>
              <a:r>
                <a:rPr lang="en-US" altLang="de-DE" sz="1800" dirty="0">
                  <a:latin typeface="+mn-lt"/>
                </a:rPr>
                <a:t>. d, f, e, x, ...)</a:t>
              </a:r>
            </a:p>
            <a:p>
              <a:pPr>
                <a:spcBef>
                  <a:spcPct val="40000"/>
                </a:spcBef>
              </a:pP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i="1" dirty="0">
                  <a:latin typeface="+mn-lt"/>
                </a:rPr>
                <a:t>precision</a:t>
              </a: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dirty="0" err="1">
                  <a:latin typeface="+mn-lt"/>
                </a:rPr>
                <a:t>Anzahl</a:t>
              </a:r>
              <a:r>
                <a:rPr lang="en-US" altLang="de-DE" sz="1800" dirty="0">
                  <a:latin typeface="+mn-lt"/>
                </a:rPr>
                <a:t> der </a:t>
              </a:r>
              <a:r>
                <a:rPr lang="en-US" altLang="de-DE" sz="1800" dirty="0" err="1">
                  <a:latin typeface="+mn-lt"/>
                </a:rPr>
                <a:t>Nachkommastellen</a:t>
              </a:r>
              <a:r>
                <a:rPr lang="en-US" altLang="de-DE" sz="1800" dirty="0">
                  <a:latin typeface="+mn-lt"/>
                </a:rPr>
                <a:t> (</a:t>
              </a:r>
              <a:r>
                <a:rPr lang="en-US" altLang="de-DE" sz="1800" dirty="0" err="1">
                  <a:latin typeface="+mn-lt"/>
                </a:rPr>
                <a:t>machmal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Anzahl</a:t>
              </a:r>
              <a:r>
                <a:rPr lang="en-US" altLang="de-DE" sz="1800" dirty="0">
                  <a:latin typeface="+mn-lt"/>
                </a:rPr>
                <a:t> der </a:t>
              </a:r>
              <a:r>
                <a:rPr lang="en-US" altLang="de-DE" sz="1800" dirty="0" err="1">
                  <a:latin typeface="+mn-lt"/>
                </a:rPr>
                <a:t>Ziffern</a:t>
              </a:r>
              <a:r>
                <a:rPr lang="en-US" altLang="de-DE" sz="1800" dirty="0">
                  <a:latin typeface="+mn-lt"/>
                </a:rPr>
                <a:t>)</a:t>
              </a:r>
            </a:p>
            <a:p>
              <a:pPr>
                <a:spcBef>
                  <a:spcPct val="40000"/>
                </a:spcBef>
              </a:pPr>
              <a:endParaRPr lang="en-US" altLang="de-DE" sz="1800" dirty="0">
                <a:latin typeface="+mn-lt"/>
              </a:endParaRPr>
            </a:p>
            <a:p>
              <a:pPr>
                <a:spcBef>
                  <a:spcPct val="40000"/>
                </a:spcBef>
              </a:pP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dirty="0" err="1">
                  <a:latin typeface="+mn-lt"/>
                </a:rPr>
                <a:t>Beispiel</a:t>
              </a:r>
              <a:r>
                <a:rPr lang="en-US" altLang="de-DE" sz="1800" dirty="0">
                  <a:latin typeface="+mn-lt"/>
                </a:rPr>
                <a:t>:	{floatingPointNumber,10:f2}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2052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Ausgabe von Variablen mit Platzhaltern 2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ct val="40000"/>
              </a:spcBef>
              <a:buNone/>
            </a:pPr>
            <a:r>
              <a:rPr lang="en-US" altLang="de-DE" sz="2000" dirty="0" err="1">
                <a:latin typeface="Consolas" panose="020B0609020204030204" pitchFamily="49" charset="0"/>
              </a:rPr>
              <a:t>Console.Write</a:t>
            </a:r>
            <a:r>
              <a:rPr lang="en-US" altLang="de-DE" sz="2000" dirty="0">
                <a:latin typeface="Consolas" panose="020B0609020204030204" pitchFamily="49" charset="0"/>
              </a:rPr>
              <a:t>("Hello </a:t>
            </a:r>
            <a:r>
              <a:rPr lang="en-US" altLang="de-DE" sz="2000" dirty="0">
                <a:solidFill>
                  <a:srgbClr val="FF0000"/>
                </a:solidFill>
                <a:latin typeface="Consolas" panose="020B0609020204030204" pitchFamily="49" charset="0"/>
              </a:rPr>
              <a:t>{0}</a:t>
            </a:r>
            <a:r>
              <a:rPr lang="en-US" altLang="de-DE" sz="2000" dirty="0">
                <a:latin typeface="Consolas" panose="020B0609020204030204" pitchFamily="49" charset="0"/>
              </a:rPr>
              <a:t>", name);</a:t>
            </a:r>
          </a:p>
          <a:p>
            <a:pPr marL="0" indent="0">
              <a:buNone/>
            </a:pPr>
            <a:r>
              <a:rPr lang="en-US" altLang="de-DE" sz="2000" dirty="0" err="1">
                <a:latin typeface="Consolas" panose="020B0609020204030204" pitchFamily="49" charset="0"/>
              </a:rPr>
              <a:t>Console.WriteLine</a:t>
            </a:r>
            <a:r>
              <a:rPr lang="en-US" altLang="de-DE" sz="2000" dirty="0">
                <a:latin typeface="Consolas" panose="020B0609020204030204" pitchFamily="49" charset="0"/>
              </a:rPr>
              <a:t>("</a:t>
            </a:r>
            <a:r>
              <a:rPr lang="en-US" altLang="de-DE" sz="2000" dirty="0">
                <a:solidFill>
                  <a:srgbClr val="FF0000"/>
                </a:solidFill>
                <a:latin typeface="Consolas" panose="020B0609020204030204" pitchFamily="49" charset="0"/>
              </a:rPr>
              <a:t>{0}</a:t>
            </a:r>
            <a:r>
              <a:rPr lang="en-US" altLang="de-DE" sz="2000" dirty="0">
                <a:latin typeface="Consolas" panose="020B0609020204030204" pitchFamily="49" charset="0"/>
              </a:rPr>
              <a:t> = </a:t>
            </a:r>
            <a:r>
              <a:rPr lang="en-US" altLang="de-DE" sz="2000" dirty="0">
                <a:solidFill>
                  <a:srgbClr val="FF0000"/>
                </a:solidFill>
                <a:latin typeface="Consolas" panose="020B0609020204030204" pitchFamily="49" charset="0"/>
              </a:rPr>
              <a:t>{1}</a:t>
            </a:r>
            <a:r>
              <a:rPr lang="en-US" altLang="de-DE" sz="2000" dirty="0">
                <a:latin typeface="Consolas" panose="020B0609020204030204" pitchFamily="49" charset="0"/>
              </a:rPr>
              <a:t>", x, y);</a:t>
            </a:r>
            <a:endParaRPr lang="de-AT" altLang="de-DE" sz="2000" dirty="0">
              <a:latin typeface="Consolas" panose="020B0609020204030204" pitchFamily="49" charset="0"/>
            </a:endParaRPr>
          </a:p>
          <a:p>
            <a:endParaRPr lang="de-AT" dirty="0"/>
          </a:p>
        </p:txBody>
      </p:sp>
      <p:sp>
        <p:nvSpPr>
          <p:cNvPr id="5" name="Foliennummernplatzhalter 5"/>
          <p:cNvSpPr txBox="1">
            <a:spLocks/>
          </p:cNvSpPr>
          <p:nvPr/>
        </p:nvSpPr>
        <p:spPr>
          <a:xfrm>
            <a:off x="7163049" y="5930404"/>
            <a:ext cx="1449387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BACCAA67-E619-4E7E-BDC2-91AB8A42BAB7}" type="slidenum">
              <a:rPr lang="de-DE" altLang="de-DE" sz="1200" smtClean="0"/>
              <a:pPr/>
              <a:t>5</a:t>
            </a:fld>
            <a:endParaRPr lang="de-DE" altLang="de-DE" sz="1200"/>
          </a:p>
        </p:txBody>
      </p:sp>
      <p:grpSp>
        <p:nvGrpSpPr>
          <p:cNvPr id="6" name="Group 7"/>
          <p:cNvGrpSpPr>
            <a:grpSpLocks/>
          </p:cNvGrpSpPr>
          <p:nvPr/>
        </p:nvGrpSpPr>
        <p:grpSpPr bwMode="auto">
          <a:xfrm>
            <a:off x="395536" y="2564904"/>
            <a:ext cx="8153400" cy="3489325"/>
            <a:chOff x="420" y="1912"/>
            <a:chExt cx="5136" cy="2198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648" y="2152"/>
              <a:ext cx="2336" cy="240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420" y="1912"/>
              <a:ext cx="5136" cy="2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de-DE" sz="2000" b="1" dirty="0" err="1">
                  <a:latin typeface="+mn-lt"/>
                </a:rPr>
                <a:t>Platzhalter</a:t>
              </a:r>
              <a:r>
                <a:rPr lang="en-US" altLang="de-DE" sz="2000" b="1" dirty="0">
                  <a:latin typeface="+mn-lt"/>
                </a:rPr>
                <a:t>-Syntax</a:t>
              </a:r>
            </a:p>
            <a:p>
              <a:pPr>
                <a:spcBef>
                  <a:spcPct val="40000"/>
                </a:spcBef>
              </a:pPr>
              <a:r>
                <a:rPr lang="en-US" altLang="de-DE" dirty="0">
                  <a:latin typeface="Arial" panose="020B0604020202020204" pitchFamily="34" charset="0"/>
                </a:rPr>
                <a:t>	"{" n ["," width] [":" format [precision]] "}"</a:t>
              </a:r>
            </a:p>
            <a:p>
              <a:pPr>
                <a:spcBef>
                  <a:spcPct val="20000"/>
                </a:spcBef>
              </a:pPr>
              <a:endParaRPr lang="en-US" altLang="de-DE" dirty="0">
                <a:latin typeface="Arial" panose="020B0604020202020204" pitchFamily="34" charset="0"/>
              </a:endParaRPr>
            </a:p>
            <a:p>
              <a:r>
                <a:rPr lang="en-US" altLang="de-DE" sz="1800" dirty="0"/>
                <a:t>	</a:t>
              </a:r>
              <a:r>
                <a:rPr lang="en-US" altLang="de-DE" sz="1800" i="1" dirty="0">
                  <a:latin typeface="+mn-lt"/>
                </a:rPr>
                <a:t>n</a:t>
              </a: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dirty="0" err="1">
                  <a:latin typeface="+mn-lt"/>
                </a:rPr>
                <a:t>Argumentnummer</a:t>
              </a:r>
              <a:r>
                <a:rPr lang="en-US" altLang="de-DE" sz="1800" dirty="0">
                  <a:latin typeface="+mn-lt"/>
                </a:rPr>
                <a:t> (</a:t>
              </a:r>
              <a:r>
                <a:rPr lang="en-US" altLang="de-DE" sz="1800" dirty="0" err="1">
                  <a:latin typeface="+mn-lt"/>
                </a:rPr>
                <a:t>beginnend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bei</a:t>
              </a:r>
              <a:r>
                <a:rPr lang="en-US" altLang="de-DE" sz="1800" dirty="0">
                  <a:latin typeface="+mn-lt"/>
                </a:rPr>
                <a:t> 0)</a:t>
              </a:r>
            </a:p>
            <a:p>
              <a:pPr>
                <a:spcBef>
                  <a:spcPct val="40000"/>
                </a:spcBef>
              </a:pP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i="1" dirty="0">
                  <a:latin typeface="+mn-lt"/>
                </a:rPr>
                <a:t>width</a:t>
              </a: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dirty="0" err="1">
                  <a:latin typeface="+mn-lt"/>
                </a:rPr>
                <a:t>Feldbreite</a:t>
              </a:r>
              <a:r>
                <a:rPr lang="en-US" altLang="de-DE" sz="1800" dirty="0">
                  <a:latin typeface="+mn-lt"/>
                </a:rPr>
                <a:t> (</a:t>
              </a:r>
              <a:r>
                <a:rPr lang="en-US" altLang="de-DE" sz="1800" dirty="0" err="1">
                  <a:latin typeface="+mn-lt"/>
                </a:rPr>
                <a:t>wenn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zu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klein</a:t>
              </a:r>
              <a:r>
                <a:rPr lang="en-US" altLang="de-DE" sz="1800" dirty="0">
                  <a:latin typeface="+mn-lt"/>
                </a:rPr>
                <a:t>, </a:t>
              </a:r>
              <a:r>
                <a:rPr lang="en-US" altLang="de-DE" sz="1800" dirty="0" err="1">
                  <a:latin typeface="+mn-lt"/>
                </a:rPr>
                <a:t>wird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sie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überschritten</a:t>
              </a:r>
              <a:r>
                <a:rPr lang="en-US" altLang="de-DE" sz="1800" dirty="0">
                  <a:latin typeface="+mn-lt"/>
                </a:rPr>
                <a:t>)</a:t>
              </a:r>
            </a:p>
            <a:p>
              <a:r>
                <a:rPr lang="en-US" altLang="de-DE" sz="1800" dirty="0">
                  <a:latin typeface="+mn-lt"/>
                </a:rPr>
                <a:t>		</a:t>
              </a:r>
              <a:r>
                <a:rPr lang="en-US" altLang="de-DE" sz="1800" dirty="0" err="1">
                  <a:latin typeface="+mn-lt"/>
                </a:rPr>
                <a:t>positiv</a:t>
              </a:r>
              <a:r>
                <a:rPr lang="en-US" altLang="de-DE" sz="1800" dirty="0">
                  <a:latin typeface="+mn-lt"/>
                </a:rPr>
                <a:t> = </a:t>
              </a:r>
              <a:r>
                <a:rPr lang="en-US" altLang="de-DE" sz="1800" dirty="0" err="1">
                  <a:latin typeface="+mn-lt"/>
                </a:rPr>
                <a:t>rechtsbündig</a:t>
              </a:r>
              <a:r>
                <a:rPr lang="en-US" altLang="de-DE" sz="1800" dirty="0">
                  <a:latin typeface="+mn-lt"/>
                </a:rPr>
                <a:t>, </a:t>
              </a:r>
              <a:r>
                <a:rPr lang="en-US" altLang="de-DE" sz="1800" dirty="0" err="1">
                  <a:latin typeface="+mn-lt"/>
                </a:rPr>
                <a:t>negativ</a:t>
              </a:r>
              <a:r>
                <a:rPr lang="en-US" altLang="de-DE" sz="1800" dirty="0">
                  <a:latin typeface="+mn-lt"/>
                </a:rPr>
                <a:t> = </a:t>
              </a:r>
              <a:r>
                <a:rPr lang="en-US" altLang="de-DE" sz="1800" dirty="0" err="1">
                  <a:latin typeface="+mn-lt"/>
                </a:rPr>
                <a:t>linksbündig</a:t>
              </a:r>
              <a:endParaRPr lang="en-US" altLang="de-DE" sz="1800" dirty="0">
                <a:latin typeface="+mn-lt"/>
              </a:endParaRPr>
            </a:p>
            <a:p>
              <a:pPr>
                <a:spcBef>
                  <a:spcPct val="40000"/>
                </a:spcBef>
              </a:pP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i="1" dirty="0">
                  <a:latin typeface="+mn-lt"/>
                </a:rPr>
                <a:t>format</a:t>
              </a: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dirty="0" err="1">
                  <a:latin typeface="+mn-lt"/>
                </a:rPr>
                <a:t>Formatierungscode</a:t>
              </a:r>
              <a:r>
                <a:rPr lang="en-US" altLang="de-DE" sz="1800" dirty="0">
                  <a:latin typeface="+mn-lt"/>
                </a:rPr>
                <a:t> (</a:t>
              </a:r>
              <a:r>
                <a:rPr lang="en-US" altLang="de-DE" sz="1800" dirty="0" err="1">
                  <a:latin typeface="+mn-lt"/>
                </a:rPr>
                <a:t>z.B</a:t>
              </a:r>
              <a:r>
                <a:rPr lang="en-US" altLang="de-DE" sz="1800" dirty="0">
                  <a:latin typeface="+mn-lt"/>
                </a:rPr>
                <a:t>. d, f, e, x, ...)</a:t>
              </a:r>
            </a:p>
            <a:p>
              <a:pPr>
                <a:spcBef>
                  <a:spcPct val="40000"/>
                </a:spcBef>
              </a:pP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i="1" dirty="0">
                  <a:latin typeface="+mn-lt"/>
                </a:rPr>
                <a:t>precision</a:t>
              </a: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dirty="0" err="1">
                  <a:latin typeface="+mn-lt"/>
                </a:rPr>
                <a:t>Anzahl</a:t>
              </a:r>
              <a:r>
                <a:rPr lang="en-US" altLang="de-DE" sz="1800" dirty="0">
                  <a:latin typeface="+mn-lt"/>
                </a:rPr>
                <a:t> der </a:t>
              </a:r>
              <a:r>
                <a:rPr lang="en-US" altLang="de-DE" sz="1800" dirty="0" err="1">
                  <a:latin typeface="+mn-lt"/>
                </a:rPr>
                <a:t>Nachkommastellen</a:t>
              </a:r>
              <a:r>
                <a:rPr lang="en-US" altLang="de-DE" sz="1800" dirty="0">
                  <a:latin typeface="+mn-lt"/>
                </a:rPr>
                <a:t> (</a:t>
              </a:r>
              <a:r>
                <a:rPr lang="en-US" altLang="de-DE" sz="1800" dirty="0" err="1">
                  <a:latin typeface="+mn-lt"/>
                </a:rPr>
                <a:t>machmal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Anzahl</a:t>
              </a:r>
              <a:r>
                <a:rPr lang="en-US" altLang="de-DE" sz="1800" dirty="0">
                  <a:latin typeface="+mn-lt"/>
                </a:rPr>
                <a:t> der </a:t>
              </a:r>
              <a:r>
                <a:rPr lang="en-US" altLang="de-DE" sz="1800" dirty="0" err="1">
                  <a:latin typeface="+mn-lt"/>
                </a:rPr>
                <a:t>Ziffern</a:t>
              </a:r>
              <a:r>
                <a:rPr lang="en-US" altLang="de-DE" sz="1800" dirty="0">
                  <a:latin typeface="+mn-lt"/>
                </a:rPr>
                <a:t>)</a:t>
              </a:r>
            </a:p>
            <a:p>
              <a:pPr>
                <a:spcBef>
                  <a:spcPct val="40000"/>
                </a:spcBef>
              </a:pPr>
              <a:endParaRPr lang="en-US" altLang="de-DE" sz="1800" dirty="0">
                <a:latin typeface="+mn-lt"/>
              </a:endParaRPr>
            </a:p>
            <a:p>
              <a:pPr>
                <a:spcBef>
                  <a:spcPct val="40000"/>
                </a:spcBef>
              </a:pP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dirty="0" err="1">
                  <a:latin typeface="+mn-lt"/>
                </a:rPr>
                <a:t>Beispiel</a:t>
              </a:r>
              <a:r>
                <a:rPr lang="en-US" altLang="de-DE" sz="1800" dirty="0">
                  <a:latin typeface="+mn-lt"/>
                </a:rPr>
                <a:t>:	{0,10:f2}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271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Formatierungscode für Zahlen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85800" y="1295400"/>
            <a:ext cx="7772400" cy="5029200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d, D	</a:t>
            </a:r>
            <a:r>
              <a:rPr lang="en-US" altLang="de-DE" sz="1600">
                <a:solidFill>
                  <a:srgbClr val="FF0000"/>
                </a:solidFill>
              </a:rPr>
              <a:t>Dezimalformat</a:t>
            </a:r>
            <a:r>
              <a:rPr lang="en-US" altLang="de-DE" sz="1600"/>
              <a:t> (ganze Zahl mit führenden Nullen)	-xxxxx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	precision = Anz. Ziffern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endParaRPr lang="en-US" altLang="de-DE" sz="1600"/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f, F	</a:t>
            </a:r>
            <a:r>
              <a:rPr lang="en-US" altLang="de-DE" sz="1600">
                <a:solidFill>
                  <a:srgbClr val="FF0000"/>
                </a:solidFill>
              </a:rPr>
              <a:t>Fixpunktformat</a:t>
            </a:r>
            <a:r>
              <a:rPr lang="en-US" altLang="de-DE" sz="1600"/>
              <a:t>	-xxxxx.xx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	precision = Anz. Nachkommastellen (Default = 2)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endParaRPr lang="en-US" altLang="de-DE" sz="1600"/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n, N	</a:t>
            </a:r>
            <a:r>
              <a:rPr lang="en-US" altLang="de-DE" sz="1600">
                <a:solidFill>
                  <a:srgbClr val="FF0000"/>
                </a:solidFill>
              </a:rPr>
              <a:t>Nummernformat</a:t>
            </a:r>
            <a:r>
              <a:rPr lang="en-US" altLang="de-DE" sz="1600"/>
              <a:t> (mit Tausender-Trennstrich)	-xx,xxx.xx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	precision = Anz. Nachkommastellen (Default = 2)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endParaRPr lang="en-US" altLang="de-DE" sz="1600"/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e, E	</a:t>
            </a:r>
            <a:r>
              <a:rPr lang="en-US" altLang="de-DE" sz="1600">
                <a:solidFill>
                  <a:srgbClr val="FF0000"/>
                </a:solidFill>
              </a:rPr>
              <a:t>Exponentialformat</a:t>
            </a:r>
            <a:r>
              <a:rPr lang="en-US" altLang="de-DE" sz="1600"/>
              <a:t> (groß/klein signifikant)	-x.xxxE+xxx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	precision = Anz.Nachkommastellen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endParaRPr lang="en-US" altLang="de-DE" sz="1600"/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c, C	</a:t>
            </a:r>
            <a:r>
              <a:rPr lang="en-US" altLang="de-DE" sz="1600">
                <a:solidFill>
                  <a:srgbClr val="FF0000"/>
                </a:solidFill>
              </a:rPr>
              <a:t>Currency-Format</a:t>
            </a:r>
            <a:r>
              <a:rPr lang="en-US" altLang="de-DE" sz="1600"/>
              <a:t>	$xx,xxx.xx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	precision = Anz. Nachkommastellen (Default = 2)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	Negative Werte werden in Klammern gesetzt	($xx,xxx.xx)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endParaRPr lang="en-US" altLang="de-DE" sz="1600"/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x, X	</a:t>
            </a:r>
            <a:r>
              <a:rPr lang="en-US" altLang="de-DE" sz="1600">
                <a:solidFill>
                  <a:srgbClr val="FF0000"/>
                </a:solidFill>
              </a:rPr>
              <a:t>Hexadezimalformat</a:t>
            </a:r>
            <a:r>
              <a:rPr lang="en-US" altLang="de-DE" sz="1600"/>
              <a:t> (groß/klein signifikant)	xxx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	precision = Anzahl Hex-Ziffern (evtl. führende 0)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endParaRPr lang="en-US" altLang="de-DE" sz="1600"/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g, G	</a:t>
            </a:r>
            <a:r>
              <a:rPr lang="en-US" altLang="de-DE" sz="1600">
                <a:solidFill>
                  <a:srgbClr val="FF0000"/>
                </a:solidFill>
              </a:rPr>
              <a:t>General</a:t>
            </a:r>
            <a:r>
              <a:rPr lang="en-US" altLang="de-DE" sz="1600"/>
              <a:t> (kompaktestes Format für gegebenen Wert; Default)</a:t>
            </a:r>
            <a:endParaRPr lang="en-US" altLang="de-DE" sz="1600" dirty="0"/>
          </a:p>
        </p:txBody>
      </p:sp>
    </p:spTree>
    <p:extLst>
      <p:ext uri="{BB962C8B-B14F-4D97-AF65-F5344CB8AC3E}">
        <p14:creationId xmlns:p14="http://schemas.microsoft.com/office/powerpoint/2010/main" val="18759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Zahlenformatierung: Beispiele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85800" y="1255160"/>
            <a:ext cx="7772400" cy="4910144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r>
              <a:rPr lang="en-US" altLang="de-DE" sz="1800" dirty="0" err="1">
                <a:latin typeface="Consolas" panose="020B0609020204030204" pitchFamily="49" charset="0"/>
              </a:rPr>
              <a:t>int</a:t>
            </a:r>
            <a:r>
              <a:rPr lang="en-US" altLang="de-DE" sz="1800" dirty="0">
                <a:latin typeface="Consolas" panose="020B0609020204030204" pitchFamily="49" charset="0"/>
              </a:rPr>
              <a:t> x = 17;</a:t>
            </a: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endParaRPr lang="en-US" altLang="de-DE" sz="1800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r>
              <a:rPr lang="en-US" altLang="de-DE" sz="1800" dirty="0" err="1">
                <a:latin typeface="Consolas" panose="020B0609020204030204" pitchFamily="49" charset="0"/>
              </a:rPr>
              <a:t>Console.WriteLine</a:t>
            </a:r>
            <a:r>
              <a:rPr lang="en-US" altLang="de-DE" sz="1800" dirty="0">
                <a:latin typeface="Consolas" panose="020B0609020204030204" pitchFamily="49" charset="0"/>
              </a:rPr>
              <a:t>($</a:t>
            </a:r>
            <a:r>
              <a:rPr lang="en-US" altLang="de-DE" sz="1800" dirty="0">
                <a:solidFill>
                  <a:srgbClr val="FF0000"/>
                </a:solidFill>
                <a:latin typeface="Consolas" panose="020B0609020204030204" pitchFamily="49" charset="0"/>
              </a:rPr>
              <a:t>"{x}"</a:t>
            </a:r>
            <a:r>
              <a:rPr lang="en-US" altLang="de-DE" sz="1800" dirty="0">
                <a:latin typeface="Consolas" panose="020B0609020204030204" pitchFamily="49" charset="0"/>
              </a:rPr>
              <a:t>);	       </a:t>
            </a:r>
            <a:r>
              <a:rPr lang="en-US" altLang="de-DE" sz="1800" dirty="0">
                <a:solidFill>
                  <a:srgbClr val="00B050"/>
                </a:solidFill>
                <a:latin typeface="Consolas" panose="020B0609020204030204" pitchFamily="49" charset="0"/>
              </a:rPr>
              <a:t>17</a:t>
            </a: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r>
              <a:rPr lang="en-US" altLang="de-DE" sz="1800" dirty="0" err="1">
                <a:latin typeface="Consolas" panose="020B0609020204030204" pitchFamily="49" charset="0"/>
              </a:rPr>
              <a:t>Console.WriteLine</a:t>
            </a:r>
            <a:r>
              <a:rPr lang="en-US" altLang="de-DE" sz="1800" dirty="0">
                <a:latin typeface="Consolas" panose="020B0609020204030204" pitchFamily="49" charset="0"/>
              </a:rPr>
              <a:t>($</a:t>
            </a:r>
            <a:r>
              <a:rPr lang="en-US" altLang="de-DE" sz="1800" dirty="0">
                <a:solidFill>
                  <a:srgbClr val="FF0000"/>
                </a:solidFill>
                <a:latin typeface="Consolas" panose="020B0609020204030204" pitchFamily="49" charset="0"/>
              </a:rPr>
              <a:t>"{</a:t>
            </a:r>
            <a:r>
              <a:rPr lang="en-US" altLang="de-DE" sz="1800" dirty="0">
                <a:latin typeface="Consolas" panose="020B0609020204030204" pitchFamily="49" charset="0"/>
              </a:rPr>
              <a:t>x</a:t>
            </a:r>
            <a:r>
              <a:rPr lang="en-US" altLang="de-DE" sz="1800" dirty="0">
                <a:solidFill>
                  <a:srgbClr val="FF0000"/>
                </a:solidFill>
                <a:latin typeface="Consolas" panose="020B0609020204030204" pitchFamily="49" charset="0"/>
              </a:rPr>
              <a:t>,5}"</a:t>
            </a:r>
            <a:r>
              <a:rPr lang="en-US" altLang="de-DE" sz="1800" dirty="0">
                <a:latin typeface="Consolas" panose="020B0609020204030204" pitchFamily="49" charset="0"/>
              </a:rPr>
              <a:t>);	          </a:t>
            </a:r>
            <a:r>
              <a:rPr lang="en-US" altLang="de-DE" sz="1800" dirty="0">
                <a:solidFill>
                  <a:srgbClr val="00B050"/>
                </a:solidFill>
                <a:latin typeface="Consolas" panose="020B0609020204030204" pitchFamily="49" charset="0"/>
              </a:rPr>
              <a:t>17</a:t>
            </a: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endParaRPr lang="en-US" altLang="de-DE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de-DE" sz="1800" dirty="0" err="1">
                <a:latin typeface="Consolas" panose="020B0609020204030204" pitchFamily="49" charset="0"/>
              </a:rPr>
              <a:t>Console.WriteLine</a:t>
            </a:r>
            <a:r>
              <a:rPr lang="en-US" altLang="de-DE" sz="1800" dirty="0">
                <a:latin typeface="Consolas" panose="020B0609020204030204" pitchFamily="49" charset="0"/>
              </a:rPr>
              <a:t>($</a:t>
            </a:r>
            <a:r>
              <a:rPr lang="en-US" altLang="de-DE" sz="1800" dirty="0">
                <a:solidFill>
                  <a:srgbClr val="FF0000"/>
                </a:solidFill>
                <a:latin typeface="Consolas" panose="020B0609020204030204" pitchFamily="49" charset="0"/>
              </a:rPr>
              <a:t>"{</a:t>
            </a:r>
            <a:r>
              <a:rPr lang="en-US" altLang="de-DE" sz="1800" dirty="0" err="1">
                <a:latin typeface="Consolas" panose="020B0609020204030204" pitchFamily="49" charset="0"/>
              </a:rPr>
              <a:t>x</a:t>
            </a:r>
            <a:r>
              <a:rPr lang="en-US" altLang="de-DE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:d</a:t>
            </a:r>
            <a:r>
              <a:rPr lang="en-US" altLang="de-DE" sz="1800" dirty="0">
                <a:solidFill>
                  <a:srgbClr val="FF0000"/>
                </a:solidFill>
                <a:latin typeface="Consolas" panose="020B0609020204030204" pitchFamily="49" charset="0"/>
              </a:rPr>
              <a:t>}"</a:t>
            </a:r>
            <a:r>
              <a:rPr lang="en-US" altLang="de-DE" sz="1800" dirty="0">
                <a:latin typeface="Consolas" panose="020B0609020204030204" pitchFamily="49" charset="0"/>
              </a:rPr>
              <a:t>);	       </a:t>
            </a:r>
            <a:r>
              <a:rPr lang="en-US" altLang="de-DE" sz="1800" dirty="0">
                <a:solidFill>
                  <a:srgbClr val="00B050"/>
                </a:solidFill>
                <a:latin typeface="Consolas" panose="020B0609020204030204" pitchFamily="49" charset="0"/>
              </a:rPr>
              <a:t>17</a:t>
            </a:r>
          </a:p>
          <a:p>
            <a:pPr marL="0" indent="0">
              <a:buNone/>
            </a:pPr>
            <a:r>
              <a:rPr lang="en-US" altLang="de-DE" sz="1800" dirty="0" err="1">
                <a:latin typeface="Consolas" panose="020B0609020204030204" pitchFamily="49" charset="0"/>
              </a:rPr>
              <a:t>Console.WriteLine</a:t>
            </a:r>
            <a:r>
              <a:rPr lang="en-US" altLang="de-DE" sz="1800" dirty="0">
                <a:latin typeface="Consolas" panose="020B0609020204030204" pitchFamily="49" charset="0"/>
              </a:rPr>
              <a:t>($</a:t>
            </a:r>
            <a:r>
              <a:rPr lang="en-US" altLang="de-DE" sz="1800" dirty="0">
                <a:solidFill>
                  <a:srgbClr val="FF0000"/>
                </a:solidFill>
                <a:latin typeface="Consolas" panose="020B0609020204030204" pitchFamily="49" charset="0"/>
              </a:rPr>
              <a:t>"{</a:t>
            </a:r>
            <a:r>
              <a:rPr lang="en-US" altLang="de-DE" sz="1800" dirty="0">
                <a:latin typeface="Consolas" panose="020B0609020204030204" pitchFamily="49" charset="0"/>
              </a:rPr>
              <a:t>x</a:t>
            </a:r>
            <a:r>
              <a:rPr lang="en-US" altLang="de-DE" sz="1800" dirty="0">
                <a:solidFill>
                  <a:srgbClr val="FF0000"/>
                </a:solidFill>
                <a:latin typeface="Consolas" panose="020B0609020204030204" pitchFamily="49" charset="0"/>
              </a:rPr>
              <a:t>,5:d3}"</a:t>
            </a:r>
            <a:r>
              <a:rPr lang="en-US" altLang="de-DE" sz="1800" dirty="0">
                <a:latin typeface="Consolas" panose="020B0609020204030204" pitchFamily="49" charset="0"/>
              </a:rPr>
              <a:t>);	  </a:t>
            </a:r>
            <a:r>
              <a:rPr lang="en-US" altLang="de-DE" sz="1800" dirty="0">
                <a:solidFill>
                  <a:srgbClr val="00B050"/>
                </a:solidFill>
                <a:latin typeface="Consolas" panose="020B0609020204030204" pitchFamily="49" charset="0"/>
              </a:rPr>
              <a:t>017</a:t>
            </a: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endParaRPr lang="en-US" altLang="de-DE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de-DE" sz="1800" dirty="0" err="1">
                <a:latin typeface="Consolas" panose="020B0609020204030204" pitchFamily="49" charset="0"/>
              </a:rPr>
              <a:t>Console.WriteLine</a:t>
            </a:r>
            <a:r>
              <a:rPr lang="en-US" altLang="de-DE" sz="1800" dirty="0">
                <a:latin typeface="Consolas" panose="020B0609020204030204" pitchFamily="49" charset="0"/>
              </a:rPr>
              <a:t>($</a:t>
            </a:r>
            <a:r>
              <a:rPr lang="en-US" altLang="de-DE" sz="1800" dirty="0">
                <a:solidFill>
                  <a:srgbClr val="FF0000"/>
                </a:solidFill>
                <a:latin typeface="Consolas" panose="020B0609020204030204" pitchFamily="49" charset="0"/>
              </a:rPr>
              <a:t>"{</a:t>
            </a:r>
            <a:r>
              <a:rPr lang="en-US" altLang="de-DE" sz="1800" dirty="0" err="1">
                <a:latin typeface="Consolas" panose="020B0609020204030204" pitchFamily="49" charset="0"/>
              </a:rPr>
              <a:t>x</a:t>
            </a:r>
            <a:r>
              <a:rPr lang="en-US" altLang="de-DE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:f</a:t>
            </a:r>
            <a:r>
              <a:rPr lang="en-US" altLang="de-DE" sz="1800" dirty="0">
                <a:solidFill>
                  <a:srgbClr val="FF0000"/>
                </a:solidFill>
                <a:latin typeface="Consolas" panose="020B0609020204030204" pitchFamily="49" charset="0"/>
              </a:rPr>
              <a:t>}"</a:t>
            </a:r>
            <a:r>
              <a:rPr lang="en-US" altLang="de-DE" sz="1800" dirty="0">
                <a:latin typeface="Consolas" panose="020B0609020204030204" pitchFamily="49" charset="0"/>
              </a:rPr>
              <a:t>);	       </a:t>
            </a:r>
            <a:r>
              <a:rPr lang="en-US" altLang="de-DE" sz="1800" dirty="0">
                <a:solidFill>
                  <a:srgbClr val="00B050"/>
                </a:solidFill>
                <a:latin typeface="Consolas" panose="020B0609020204030204" pitchFamily="49" charset="0"/>
              </a:rPr>
              <a:t>17.00</a:t>
            </a:r>
          </a:p>
          <a:p>
            <a:pPr marL="0" indent="0">
              <a:buNone/>
            </a:pPr>
            <a:r>
              <a:rPr lang="en-US" altLang="de-DE" sz="1800" dirty="0" err="1">
                <a:latin typeface="Consolas" panose="020B0609020204030204" pitchFamily="49" charset="0"/>
              </a:rPr>
              <a:t>Console.WriteLine</a:t>
            </a:r>
            <a:r>
              <a:rPr lang="en-US" altLang="de-DE" sz="1800" dirty="0">
                <a:latin typeface="Consolas" panose="020B0609020204030204" pitchFamily="49" charset="0"/>
              </a:rPr>
              <a:t>($</a:t>
            </a:r>
            <a:r>
              <a:rPr lang="en-US" altLang="de-DE" sz="1800" dirty="0">
                <a:solidFill>
                  <a:srgbClr val="FF0000"/>
                </a:solidFill>
                <a:latin typeface="Consolas" panose="020B0609020204030204" pitchFamily="49" charset="0"/>
              </a:rPr>
              <a:t>"{</a:t>
            </a:r>
            <a:r>
              <a:rPr lang="en-US" altLang="de-DE" sz="1800" dirty="0">
                <a:latin typeface="Consolas" panose="020B0609020204030204" pitchFamily="49" charset="0"/>
              </a:rPr>
              <a:t>x</a:t>
            </a:r>
            <a:r>
              <a:rPr lang="en-US" altLang="de-DE" sz="1800" dirty="0">
                <a:solidFill>
                  <a:srgbClr val="FF0000"/>
                </a:solidFill>
                <a:latin typeface="Consolas" panose="020B0609020204030204" pitchFamily="49" charset="0"/>
              </a:rPr>
              <a:t>:f1}"</a:t>
            </a:r>
            <a:r>
              <a:rPr lang="en-US" altLang="de-DE" sz="1800" dirty="0">
                <a:latin typeface="Consolas" panose="020B0609020204030204" pitchFamily="49" charset="0"/>
              </a:rPr>
              <a:t>);   	</a:t>
            </a:r>
            <a:r>
              <a:rPr lang="en-US" altLang="de-DE" sz="1800" dirty="0">
                <a:solidFill>
                  <a:srgbClr val="00B050"/>
                </a:solidFill>
                <a:latin typeface="Consolas" panose="020B0609020204030204" pitchFamily="49" charset="0"/>
              </a:rPr>
              <a:t>17.0</a:t>
            </a: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endParaRPr lang="en-US" altLang="de-DE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de-DE" sz="1800" dirty="0" err="1">
                <a:latin typeface="Consolas" panose="020B0609020204030204" pitchFamily="49" charset="0"/>
              </a:rPr>
              <a:t>Console.WriteLine</a:t>
            </a:r>
            <a:r>
              <a:rPr lang="en-US" altLang="de-DE" sz="1800" dirty="0">
                <a:latin typeface="Consolas" panose="020B0609020204030204" pitchFamily="49" charset="0"/>
              </a:rPr>
              <a:t>($</a:t>
            </a:r>
            <a:r>
              <a:rPr lang="en-US" altLang="de-DE" sz="1800" dirty="0">
                <a:solidFill>
                  <a:srgbClr val="FF0000"/>
                </a:solidFill>
                <a:latin typeface="Consolas" panose="020B0609020204030204" pitchFamily="49" charset="0"/>
              </a:rPr>
              <a:t>"{</a:t>
            </a:r>
            <a:r>
              <a:rPr lang="en-US" altLang="de-DE" sz="1800" dirty="0" err="1">
                <a:latin typeface="Consolas" panose="020B0609020204030204" pitchFamily="49" charset="0"/>
              </a:rPr>
              <a:t>x</a:t>
            </a:r>
            <a:r>
              <a:rPr lang="en-US" altLang="de-DE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:E</a:t>
            </a:r>
            <a:r>
              <a:rPr lang="en-US" altLang="de-DE" sz="1800" dirty="0">
                <a:solidFill>
                  <a:srgbClr val="FF0000"/>
                </a:solidFill>
                <a:latin typeface="Consolas" panose="020B0609020204030204" pitchFamily="49" charset="0"/>
              </a:rPr>
              <a:t>}"</a:t>
            </a:r>
            <a:r>
              <a:rPr lang="en-US" altLang="de-DE" sz="1800" dirty="0">
                <a:latin typeface="Consolas" panose="020B0609020204030204" pitchFamily="49" charset="0"/>
              </a:rPr>
              <a:t>);	       </a:t>
            </a:r>
            <a:r>
              <a:rPr lang="en-US" altLang="de-DE" sz="1800" dirty="0">
                <a:solidFill>
                  <a:srgbClr val="00B050"/>
                </a:solidFill>
                <a:latin typeface="Consolas" panose="020B0609020204030204" pitchFamily="49" charset="0"/>
              </a:rPr>
              <a:t>1.700000E+001</a:t>
            </a:r>
          </a:p>
          <a:p>
            <a:pPr marL="0" indent="0">
              <a:buNone/>
            </a:pPr>
            <a:r>
              <a:rPr lang="en-US" altLang="de-DE" sz="1800" dirty="0" err="1">
                <a:latin typeface="Consolas" panose="020B0609020204030204" pitchFamily="49" charset="0"/>
              </a:rPr>
              <a:t>Console.WriteLine</a:t>
            </a:r>
            <a:r>
              <a:rPr lang="en-US" altLang="de-DE" sz="1800" dirty="0">
                <a:latin typeface="Consolas" panose="020B0609020204030204" pitchFamily="49" charset="0"/>
              </a:rPr>
              <a:t>($</a:t>
            </a:r>
            <a:r>
              <a:rPr lang="en-US" altLang="de-DE" sz="1800" dirty="0">
                <a:solidFill>
                  <a:srgbClr val="FF0000"/>
                </a:solidFill>
                <a:latin typeface="Consolas" panose="020B0609020204030204" pitchFamily="49" charset="0"/>
              </a:rPr>
              <a:t>"{</a:t>
            </a:r>
            <a:r>
              <a:rPr lang="en-US" altLang="de-DE" sz="1800" dirty="0">
                <a:latin typeface="Consolas" panose="020B0609020204030204" pitchFamily="49" charset="0"/>
              </a:rPr>
              <a:t>x</a:t>
            </a:r>
            <a:r>
              <a:rPr lang="en-US" altLang="de-DE" sz="1800" dirty="0">
                <a:solidFill>
                  <a:srgbClr val="FF0000"/>
                </a:solidFill>
                <a:latin typeface="Consolas" panose="020B0609020204030204" pitchFamily="49" charset="0"/>
              </a:rPr>
              <a:t>:e1}"</a:t>
            </a:r>
            <a:r>
              <a:rPr lang="en-US" altLang="de-DE" sz="1800" dirty="0">
                <a:latin typeface="Consolas" panose="020B0609020204030204" pitchFamily="49" charset="0"/>
              </a:rPr>
              <a:t>);	       </a:t>
            </a:r>
            <a:r>
              <a:rPr lang="en-US" altLang="de-DE" sz="1800" dirty="0">
                <a:solidFill>
                  <a:srgbClr val="00B050"/>
                </a:solidFill>
                <a:latin typeface="Consolas" panose="020B0609020204030204" pitchFamily="49" charset="0"/>
              </a:rPr>
              <a:t>1.7e+001</a:t>
            </a: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endParaRPr lang="en-US" altLang="de-DE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de-DE" sz="1800" dirty="0" err="1">
                <a:latin typeface="Consolas" panose="020B0609020204030204" pitchFamily="49" charset="0"/>
              </a:rPr>
              <a:t>Console.WriteLine</a:t>
            </a:r>
            <a:r>
              <a:rPr lang="en-US" altLang="de-DE" sz="1800" dirty="0">
                <a:latin typeface="Consolas" panose="020B0609020204030204" pitchFamily="49" charset="0"/>
              </a:rPr>
              <a:t>($</a:t>
            </a:r>
            <a:r>
              <a:rPr lang="en-US" altLang="de-DE" sz="1800" dirty="0">
                <a:solidFill>
                  <a:srgbClr val="FF0000"/>
                </a:solidFill>
                <a:latin typeface="Consolas" panose="020B0609020204030204" pitchFamily="49" charset="0"/>
              </a:rPr>
              <a:t>"{</a:t>
            </a:r>
            <a:r>
              <a:rPr lang="en-US" altLang="de-DE" sz="1800" dirty="0" err="1">
                <a:latin typeface="Consolas" panose="020B0609020204030204" pitchFamily="49" charset="0"/>
              </a:rPr>
              <a:t>x</a:t>
            </a:r>
            <a:r>
              <a:rPr lang="en-US" altLang="de-DE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:x</a:t>
            </a:r>
            <a:r>
              <a:rPr lang="en-US" altLang="de-DE" sz="1800" dirty="0">
                <a:solidFill>
                  <a:srgbClr val="FF0000"/>
                </a:solidFill>
                <a:latin typeface="Consolas" panose="020B0609020204030204" pitchFamily="49" charset="0"/>
              </a:rPr>
              <a:t>}"</a:t>
            </a:r>
            <a:r>
              <a:rPr lang="en-US" altLang="de-DE" sz="1800" dirty="0">
                <a:latin typeface="Consolas" panose="020B0609020204030204" pitchFamily="49" charset="0"/>
              </a:rPr>
              <a:t>);	       </a:t>
            </a:r>
            <a:r>
              <a:rPr lang="en-US" altLang="de-DE" sz="1800" dirty="0">
                <a:solidFill>
                  <a:srgbClr val="00B050"/>
                </a:solidFill>
                <a:latin typeface="Consolas" panose="020B0609020204030204" pitchFamily="49" charset="0"/>
              </a:rPr>
              <a:t>11</a:t>
            </a:r>
          </a:p>
          <a:p>
            <a:pPr marL="0" indent="0">
              <a:buNone/>
            </a:pPr>
            <a:r>
              <a:rPr lang="en-US" altLang="de-DE" sz="1800" dirty="0" err="1">
                <a:latin typeface="Consolas" panose="020B0609020204030204" pitchFamily="49" charset="0"/>
              </a:rPr>
              <a:t>Console.WriteLine</a:t>
            </a:r>
            <a:r>
              <a:rPr lang="en-US" altLang="de-DE" sz="1800" dirty="0">
                <a:latin typeface="Consolas" panose="020B0609020204030204" pitchFamily="49" charset="0"/>
              </a:rPr>
              <a:t>($</a:t>
            </a:r>
            <a:r>
              <a:rPr lang="en-US" altLang="de-DE" sz="1800" dirty="0">
                <a:solidFill>
                  <a:srgbClr val="FF0000"/>
                </a:solidFill>
                <a:latin typeface="Consolas" panose="020B0609020204030204" pitchFamily="49" charset="0"/>
              </a:rPr>
              <a:t>"{</a:t>
            </a:r>
            <a:r>
              <a:rPr lang="en-US" altLang="de-DE" sz="1800" dirty="0">
                <a:latin typeface="Consolas" panose="020B0609020204030204" pitchFamily="49" charset="0"/>
              </a:rPr>
              <a:t>x</a:t>
            </a:r>
            <a:r>
              <a:rPr lang="en-US" altLang="de-DE" sz="1800" dirty="0">
                <a:solidFill>
                  <a:srgbClr val="FF0000"/>
                </a:solidFill>
                <a:latin typeface="Consolas" panose="020B0609020204030204" pitchFamily="49" charset="0"/>
              </a:rPr>
              <a:t>:</a:t>
            </a:r>
            <a:r>
              <a:rPr lang="en-US" altLang="de-DE" sz="1800">
                <a:solidFill>
                  <a:srgbClr val="FF0000"/>
                </a:solidFill>
                <a:latin typeface="Consolas" panose="020B0609020204030204" pitchFamily="49" charset="0"/>
              </a:rPr>
              <a:t>x4}"</a:t>
            </a:r>
            <a:r>
              <a:rPr lang="en-US" altLang="de-DE" sz="1800">
                <a:latin typeface="Consolas" panose="020B0609020204030204" pitchFamily="49" charset="0"/>
              </a:rPr>
              <a:t>);       </a:t>
            </a:r>
            <a:r>
              <a:rPr lang="en-US" altLang="de-DE" sz="1800">
                <a:solidFill>
                  <a:srgbClr val="00B050"/>
                </a:solidFill>
                <a:latin typeface="Consolas" panose="020B0609020204030204" pitchFamily="49" charset="0"/>
              </a:rPr>
              <a:t>0011</a:t>
            </a:r>
            <a:endParaRPr lang="en-US" altLang="de-DE" sz="18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5800" y="485251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85800" y="413243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85800" y="341235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85800" y="269227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8CD2A78-C25C-4C2A-B84C-CB20999DF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578343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00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</p:bldLst>
  </p:timing>
</p:sld>
</file>

<file path=ppt/theme/theme1.xml><?xml version="1.0" encoding="utf-8"?>
<a:theme xmlns:a="http://schemas.openxmlformats.org/drawingml/2006/main" name="1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6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738</Words>
  <Application>Microsoft Office PowerPoint</Application>
  <PresentationFormat>Bildschirmpräsentation (4:3)</PresentationFormat>
  <Paragraphs>106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7</vt:i4>
      </vt:variant>
    </vt:vector>
  </HeadingPairs>
  <TitlesOfParts>
    <vt:vector size="19" baseType="lpstr">
      <vt:lpstr>Arial</vt:lpstr>
      <vt:lpstr>Calibri</vt:lpstr>
      <vt:lpstr>Consolas</vt:lpstr>
      <vt:lpstr>Courier New</vt:lpstr>
      <vt:lpstr>Monaco</vt:lpstr>
      <vt:lpstr>Symbol</vt:lpstr>
      <vt:lpstr>Wingdings</vt:lpstr>
      <vt:lpstr>1_Larissa</vt:lpstr>
      <vt:lpstr>2_Larissa</vt:lpstr>
      <vt:lpstr>5_Larissa</vt:lpstr>
      <vt:lpstr>6_Larissa</vt:lpstr>
      <vt:lpstr>4_Larissa</vt:lpstr>
      <vt:lpstr>Unsere ersten Anweisungen</vt:lpstr>
      <vt:lpstr>Einlesen von Zahlen</vt:lpstr>
      <vt:lpstr>Bsp: Einlesen eines Gleitkomma-Bruches</vt:lpstr>
      <vt:lpstr>Ausgabe von Variablen mit Platzhaltern</vt:lpstr>
      <vt:lpstr>Ausgabe von Variablen mit Platzhaltern 2</vt:lpstr>
      <vt:lpstr>Formatierungscode für Zahlen</vt:lpstr>
      <vt:lpstr>Zahlenformatierung: Beispiele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Aitenbichler Herbert</cp:lastModifiedBy>
  <cp:revision>740</cp:revision>
  <cp:lastPrinted>2014-09-10T13:20:02Z</cp:lastPrinted>
  <dcterms:created xsi:type="dcterms:W3CDTF">2011-08-18T07:37:01Z</dcterms:created>
  <dcterms:modified xsi:type="dcterms:W3CDTF">2024-09-18T07:58:48Z</dcterms:modified>
</cp:coreProperties>
</file>