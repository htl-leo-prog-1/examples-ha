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3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4.xml" ContentType="application/vnd.openxmlformats-officedocument.theme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9" r:id="rId1"/>
    <p:sldMasterId id="2147483686" r:id="rId2"/>
    <p:sldMasterId id="2147483693" r:id="rId3"/>
    <p:sldMasterId id="2147483698" r:id="rId4"/>
    <p:sldMasterId id="2147483675" r:id="rId5"/>
  </p:sldMasterIdLst>
  <p:notesMasterIdLst>
    <p:notesMasterId r:id="rId13"/>
  </p:notesMasterIdLst>
  <p:handoutMasterIdLst>
    <p:handoutMasterId r:id="rId14"/>
  </p:handoutMasterIdLst>
  <p:sldIdLst>
    <p:sldId id="271" r:id="rId6"/>
    <p:sldId id="276" r:id="rId7"/>
    <p:sldId id="277" r:id="rId8"/>
    <p:sldId id="287" r:id="rId9"/>
    <p:sldId id="278" r:id="rId10"/>
    <p:sldId id="279" r:id="rId11"/>
    <p:sldId id="280" r:id="rId12"/>
  </p:sldIdLst>
  <p:sldSz cx="9144000" cy="6858000" type="screen4x3"/>
  <p:notesSz cx="6858000" cy="9926638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A80000"/>
    <a:srgbClr val="FFAA01"/>
    <a:srgbClr val="F99707"/>
    <a:srgbClr val="FCB504"/>
    <a:srgbClr val="B52217"/>
    <a:srgbClr val="960000"/>
    <a:srgbClr val="A40000"/>
    <a:srgbClr val="D6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750" autoAdjust="0"/>
  </p:normalViewPr>
  <p:slideViewPr>
    <p:cSldViewPr>
      <p:cViewPr varScale="1">
        <p:scale>
          <a:sx n="110" d="100"/>
          <a:sy n="110" d="100"/>
        </p:scale>
        <p:origin x="1680" y="1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6322"/>
    </p:cViewPr>
  </p:sorterViewPr>
  <p:notesViewPr>
    <p:cSldViewPr>
      <p:cViewPr varScale="1">
        <p:scale>
          <a:sx n="81" d="100"/>
          <a:sy n="81" d="100"/>
        </p:scale>
        <p:origin x="-2844" y="-90"/>
      </p:cViewPr>
      <p:guideLst>
        <p:guide orient="horz" pos="3127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5.xml"/><Relationship Id="rId15" Type="http://schemas.openxmlformats.org/officeDocument/2006/relationships/presProps" Target="presProps.xml"/><Relationship Id="rId10" Type="http://schemas.openxmlformats.org/officeDocument/2006/relationships/slide" Target="slides/slide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2547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3852" y="0"/>
            <a:ext cx="2972547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87F52D72-ED1D-48E3-B38D-D27DF71D5328}" type="datetimeFigureOut">
              <a:rPr lang="de-AT"/>
              <a:pPr>
                <a:defRPr/>
              </a:pPr>
              <a:t>17.09.2021</a:t>
            </a:fld>
            <a:endParaRPr lang="de-AT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28164"/>
            <a:ext cx="2972547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3852" y="9428164"/>
            <a:ext cx="2972547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3B8876E5-8CB2-488D-BB52-3FDCCA373F31}" type="slidenum">
              <a:rPr lang="de-AT"/>
              <a:pPr>
                <a:defRPr/>
              </a:pPr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48035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2547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3852" y="0"/>
            <a:ext cx="2972547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B3163736-15EA-4775-815E-DDF88F21B7ED}" type="datetimeFigureOut">
              <a:rPr lang="de-AT"/>
              <a:pPr>
                <a:defRPr/>
              </a:pPr>
              <a:t>17.09.2021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947738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de-AT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480" y="4714876"/>
            <a:ext cx="5487041" cy="44672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AT" noProof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8164"/>
            <a:ext cx="2972547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3852" y="9428164"/>
            <a:ext cx="2972547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46EAC6C9-0F3A-40E0-896B-88DE66496CB5}" type="slidenum">
              <a:rPr lang="de-AT"/>
              <a:pPr>
                <a:defRPr/>
              </a:pPr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612345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e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-180975" y="-674688"/>
            <a:ext cx="9421813" cy="706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Rechteck 2"/>
          <p:cNvSpPr/>
          <p:nvPr userDrawn="1"/>
        </p:nvSpPr>
        <p:spPr>
          <a:xfrm>
            <a:off x="-180975" y="4437063"/>
            <a:ext cx="9648825" cy="25209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4" name="Rechteck 3"/>
          <p:cNvSpPr/>
          <p:nvPr userDrawn="1"/>
        </p:nvSpPr>
        <p:spPr>
          <a:xfrm>
            <a:off x="4859338" y="0"/>
            <a:ext cx="3816350" cy="9080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651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5" name="Grafik 4"/>
          <p:cNvPicPr>
            <a:picLocks noChangeAspect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59363" y="260350"/>
            <a:ext cx="3400425" cy="504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Rectangle 27"/>
          <p:cNvSpPr txBox="1">
            <a:spLocks noChangeArrowheads="1"/>
          </p:cNvSpPr>
          <p:nvPr userDrawn="1"/>
        </p:nvSpPr>
        <p:spPr>
          <a:xfrm>
            <a:off x="469900" y="1700213"/>
            <a:ext cx="7485063" cy="108108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3200" b="1" kern="12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pPr fontAlgn="auto">
              <a:spcAft>
                <a:spcPts val="0"/>
              </a:spcAft>
              <a:defRPr/>
            </a:pPr>
            <a:r>
              <a:rPr lang="de-AT" sz="3800" noProof="1"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  <a:t>Hier fügen Sie den </a:t>
            </a:r>
            <a:br>
              <a:rPr lang="de-AT" sz="3800" noProof="1"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</a:br>
            <a:r>
              <a:rPr lang="de-AT" sz="3800" noProof="1"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  <a:t>Titel der Präsentation ein.</a:t>
            </a:r>
            <a:endParaRPr lang="de-DE" sz="3800" dirty="0">
              <a:solidFill>
                <a:schemeClr val="tx1">
                  <a:lumMod val="85000"/>
                  <a:lumOff val="15000"/>
                </a:schemeClr>
              </a:solidFill>
              <a:effectLst/>
            </a:endParaRPr>
          </a:p>
        </p:txBody>
      </p:sp>
      <p:sp>
        <p:nvSpPr>
          <p:cNvPr id="7" name="Rectangle 28"/>
          <p:cNvSpPr txBox="1">
            <a:spLocks noChangeArrowheads="1"/>
          </p:cNvSpPr>
          <p:nvPr userDrawn="1"/>
        </p:nvSpPr>
        <p:spPr>
          <a:xfrm>
            <a:off x="469900" y="3062288"/>
            <a:ext cx="7510463" cy="584200"/>
          </a:xfrm>
          <a:prstGeom prst="rect">
            <a:avLst/>
          </a:prstGeom>
        </p:spPr>
        <p:txBody>
          <a:bodyPr/>
          <a:lstStyle>
            <a:lvl1pPr marL="269875" indent="-269875" algn="l" defTabSz="914400" rtl="0" eaLnBrk="1" latinLnBrk="0" hangingPunct="1">
              <a:spcBef>
                <a:spcPct val="20000"/>
              </a:spcBef>
              <a:buSzPct val="65000"/>
              <a:buFont typeface="Wingdings" pitchFamily="2" charset="2"/>
              <a:buChar char="§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895350" indent="-354013" algn="l" defTabSz="914400" rtl="0" eaLnBrk="1" latinLnBrk="0" hangingPunct="1">
              <a:spcBef>
                <a:spcPct val="20000"/>
              </a:spcBef>
              <a:buFont typeface="Symbol" pitchFamily="18" charset="2"/>
              <a:buChar char="-"/>
              <a:defRPr sz="25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343025" indent="-269875" algn="l" defTabSz="914400" rtl="0" eaLnBrk="1" latinLnBrk="0" hangingPunct="1">
              <a:spcBef>
                <a:spcPct val="20000"/>
              </a:spcBef>
              <a:buSzPct val="65000"/>
              <a:buFont typeface="Wingdings" pitchFamily="2" charset="2"/>
              <a:buChar char="§"/>
              <a:defRPr sz="22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790700" indent="-354013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Font typeface="Wingdings" pitchFamily="2" charset="2"/>
              <a:buNone/>
              <a:defRPr/>
            </a:pPr>
            <a:r>
              <a:rPr lang="de-DE" sz="2400" noProof="1"/>
              <a:t>Fügen Sie hier den Untertitel ein.</a:t>
            </a:r>
            <a:endParaRPr lang="de-DE" sz="2400" dirty="0"/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95288" y="4837113"/>
            <a:ext cx="6553200" cy="15446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de-AT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ABC9E1A3-5F60-4045-A7A5-F47B61D1FECD}" type="datetimeFigureOut">
              <a:rPr lang="de-AT" smtClean="0"/>
              <a:pPr/>
              <a:t>17.09.2021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4407A703-FA5D-4D14-B9A3-005BE4A028D7}" type="slidenum">
              <a:rPr lang="de-AT" smtClean="0"/>
              <a:pPr/>
              <a:t>‹Nr.›</a:t>
            </a:fld>
            <a:endParaRPr lang="de-AT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AT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ABC9E1A3-5F60-4045-A7A5-F47B61D1FECD}" type="datetimeFigureOut">
              <a:rPr lang="de-AT" smtClean="0"/>
              <a:pPr/>
              <a:t>17.09.2021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4407A703-FA5D-4D14-B9A3-005BE4A028D7}" type="slidenum">
              <a:rPr lang="de-AT" smtClean="0"/>
              <a:pPr/>
              <a:t>‹Nr.›</a:t>
            </a:fld>
            <a:endParaRPr lang="de-AT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</p:spPr>
        <p:txBody>
          <a:bodyPr/>
          <a:lstStyle/>
          <a:p>
            <a:r>
              <a:rPr lang="en-US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de-DE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</p:spPr>
        <p:txBody>
          <a:bodyPr/>
          <a:lstStyle/>
          <a:p>
            <a:r>
              <a:rPr lang="en-US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de-DE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AT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/>
              <a:t>Formatvorlage des Untertitelmasters durch Klicken bearbeiten</a:t>
            </a:r>
            <a:endParaRPr lang="de-AT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</p:spPr>
        <p:txBody>
          <a:bodyPr/>
          <a:lstStyle/>
          <a:p>
            <a:r>
              <a:rPr lang="en-US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de-DE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</p:spPr>
        <p:txBody>
          <a:bodyPr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268760"/>
            <a:ext cx="4038600" cy="468052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268760"/>
            <a:ext cx="4038600" cy="468052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AT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3" Type="http://schemas.openxmlformats.org/officeDocument/2006/relationships/slideLayout" Target="../slideLayouts/slideLayout13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0.xml"/><Relationship Id="rId9" Type="http://schemas.openxmlformats.org/officeDocument/2006/relationships/image" Target="../media/image1.jpeg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6.xml"/><Relationship Id="rId7" Type="http://schemas.openxmlformats.org/officeDocument/2006/relationships/image" Target="../media/image1.jpeg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theme" Target="../theme/theme4.xml"/><Relationship Id="rId5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7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theme" Target="../theme/theme5.xml"/><Relationship Id="rId2" Type="http://schemas.openxmlformats.org/officeDocument/2006/relationships/slideLayout" Target="../slideLayouts/slideLayout30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0000">
                <a:schemeClr val="bg1">
                  <a:lumMod val="65000"/>
                </a:schemeClr>
              </a:gs>
              <a:gs pos="0">
                <a:schemeClr val="tx1">
                  <a:lumMod val="61000"/>
                  <a:lumOff val="39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tx1">
                  <a:lumMod val="50000"/>
                  <a:lumOff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90117" name="Grafik 6"/>
          <p:cNvPicPr>
            <a:picLocks noChangeAspect="1"/>
          </p:cNvPicPr>
          <p:nvPr userDrawn="1"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Rechteck 8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1558454" cy="236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I_POS 2015/16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</a:t>
            </a:r>
            <a:fld id="{D1B3A30B-827A-41C3-9327-D27E88FC99E1}" type="slidenum"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41" r:id="rId8"/>
    <p:sldLayoutId id="2147483742" r:id="rId9"/>
    <p:sldLayoutId id="2147483740" r:id="rId10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4879B4"/>
              </a:gs>
              <a:gs pos="0">
                <a:schemeClr val="tx2"/>
              </a:gs>
              <a:gs pos="50000">
                <a:schemeClr val="accent1"/>
              </a:gs>
              <a:gs pos="100000">
                <a:schemeClr val="tx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12" name="Rechteck 11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10246" name="Grafik 6"/>
          <p:cNvPicPr>
            <a:picLocks noChangeAspect="1"/>
          </p:cNvPicPr>
          <p:nvPr userDrawn="1"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1702470" cy="236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I_POS C#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</a:t>
            </a:r>
            <a:fld id="{C5A4FFB9-E613-43CD-964A-AE1E9E6225EE}" type="slidenum"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C00000"/>
              </a:gs>
              <a:gs pos="0">
                <a:srgbClr val="A40000">
                  <a:lumMod val="100000"/>
                </a:srgbClr>
              </a:gs>
              <a:gs pos="50000">
                <a:srgbClr val="D60000"/>
              </a:gs>
              <a:gs pos="100000">
                <a:srgbClr val="A80000">
                  <a:lumMod val="9800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9" name="Rechteck 8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17414" name="Grafik 6"/>
          <p:cNvPicPr>
            <a:picLocks noChangeAspect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1343025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Seite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</a:t>
            </a:r>
            <a:fld id="{96DD54E4-5D87-4DDA-86A7-5D3265BB197B}" type="slidenum"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43" r:id="rId7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FFAA01"/>
              </a:gs>
              <a:gs pos="0">
                <a:srgbClr val="F99707"/>
              </a:gs>
              <a:gs pos="50000">
                <a:srgbClr val="FFC000"/>
              </a:gs>
              <a:gs pos="100000">
                <a:srgbClr val="F99707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12" name="Rechteck 11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rgbClr val="F997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24582" name="Grafik 6"/>
          <p:cNvPicPr>
            <a:picLocks noChangeAspect="1"/>
          </p:cNvPicPr>
          <p:nvPr userDrawn="1"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1343025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Seite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</a:t>
            </a:r>
            <a:fld id="{9E0A7362-2F94-4D89-A5F0-263D764F0B24}" type="slidenum"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FFAA01"/>
              </a:gs>
              <a:gs pos="0">
                <a:srgbClr val="F99707"/>
              </a:gs>
              <a:gs pos="50000">
                <a:srgbClr val="FFC000"/>
              </a:gs>
              <a:gs pos="100000">
                <a:srgbClr val="F99707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9" name="Rechteck 8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rgbClr val="F997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30726" name="Grafik 6"/>
          <p:cNvPicPr>
            <a:picLocks noChangeAspect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0727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457200" y="1268413"/>
            <a:ext cx="8229600" cy="4786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Titelmasterformat durch Klicken bearbeiten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1343025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Seite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</a:t>
            </a:r>
            <a:fld id="{046146C9-533C-4473-A975-7739642B77BB}" type="slidenum"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SzPct val="65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SzPct val="65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AT" altLang="de-DE"/>
              <a:t>Unsere ersten Anweisungen</a:t>
            </a:r>
          </a:p>
        </p:txBody>
      </p:sp>
      <p:sp>
        <p:nvSpPr>
          <p:cNvPr id="20483" name="Inhaltsplatzhalter 2"/>
          <p:cNvSpPr>
            <a:spLocks noGrp="1"/>
          </p:cNvSpPr>
          <p:nvPr>
            <p:ph idx="1"/>
          </p:nvPr>
        </p:nvSpPr>
        <p:spPr>
          <a:xfrm>
            <a:off x="457200" y="1124744"/>
            <a:ext cx="8229600" cy="4525963"/>
          </a:xfrm>
        </p:spPr>
        <p:txBody>
          <a:bodyPr/>
          <a:lstStyle/>
          <a:p>
            <a:pPr eaLnBrk="1" hangingPunct="1"/>
            <a:r>
              <a:rPr lang="de-AT" altLang="de-DE" sz="2400" dirty="0"/>
              <a:t>Kommunikation mit dem Benutzer über die Konsole</a:t>
            </a:r>
          </a:p>
          <a:p>
            <a:pPr lvl="1" eaLnBrk="1" hangingPunct="1"/>
            <a:r>
              <a:rPr lang="de-AT" altLang="de-DE" sz="2000" dirty="0"/>
              <a:t>User Interface</a:t>
            </a:r>
          </a:p>
          <a:p>
            <a:pPr eaLnBrk="1" hangingPunct="1"/>
            <a:r>
              <a:rPr lang="de-AT" altLang="de-DE" sz="2400" dirty="0"/>
              <a:t>Ausgabe</a:t>
            </a:r>
          </a:p>
          <a:p>
            <a:pPr marL="541337" lvl="1" indent="0" eaLnBrk="1" hangingPunct="1">
              <a:buNone/>
            </a:pPr>
            <a:r>
              <a:rPr lang="de-AT" altLang="de-D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System.Console.WriteLine</a:t>
            </a:r>
            <a:r>
              <a:rPr lang="de-AT" altLang="de-D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AT" altLang="de-D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de-AT" altLang="de-D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lvl="2" eaLnBrk="1" hangingPunct="1"/>
            <a:r>
              <a:rPr lang="de-AT" altLang="de-DE" sz="1700" dirty="0"/>
              <a:t>Gibt den Text auf den Bildschirm aus und positioniert Cursor an den Beginn der nächsten Zeile (Zeilenvorschub) </a:t>
            </a:r>
          </a:p>
          <a:p>
            <a:pPr marL="541337" lvl="1" indent="0" eaLnBrk="1" hangingPunct="1">
              <a:buNone/>
            </a:pPr>
            <a:r>
              <a:rPr lang="de-AT" altLang="de-D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System.Console.Write</a:t>
            </a:r>
            <a:r>
              <a:rPr lang="de-AT" altLang="de-D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AT" altLang="de-D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de-AT" altLang="de-D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lvl="2" eaLnBrk="1" hangingPunct="1"/>
            <a:r>
              <a:rPr lang="de-AT" altLang="de-DE" sz="1800" dirty="0"/>
              <a:t>Gibt den Text auf den Bildschirm aus und positioniert Cursor an das Ende der ausgegebenen Zeile</a:t>
            </a:r>
          </a:p>
          <a:p>
            <a:pPr eaLnBrk="1" hangingPunct="1"/>
            <a:r>
              <a:rPr lang="de-AT" altLang="de-DE" sz="2400" dirty="0"/>
              <a:t>Eingabe von Texten</a:t>
            </a:r>
          </a:p>
          <a:p>
            <a:pPr marL="541337" lvl="1" indent="0" eaLnBrk="1" hangingPunct="1">
              <a:buNone/>
            </a:pPr>
            <a:r>
              <a:rPr lang="de-AT" altLang="de-D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de-AT" altLang="de-D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altLang="de-D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eingabe</a:t>
            </a:r>
            <a:r>
              <a:rPr lang="de-AT" altLang="de-D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de-AT" altLang="de-DE" sz="2200" dirty="0"/>
              <a:t/>
            </a:r>
            <a:br>
              <a:rPr lang="de-AT" altLang="de-DE" sz="2200" dirty="0"/>
            </a:br>
            <a:r>
              <a:rPr lang="de-AT" altLang="de-D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eingabe</a:t>
            </a:r>
            <a:r>
              <a:rPr lang="de-AT" altLang="de-D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AT" altLang="de-D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System.Console.ReadLine</a:t>
            </a:r>
            <a:r>
              <a:rPr lang="de-AT" altLang="de-D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pPr lvl="2" eaLnBrk="1" hangingPunct="1"/>
            <a:r>
              <a:rPr lang="de-AT" altLang="de-DE" sz="1800" dirty="0"/>
              <a:t>Liest eine Zeile (bis zum Drücken der Enter-Taste) ein  und speichert den Text in der Stringvariablen </a:t>
            </a:r>
            <a:r>
              <a:rPr lang="de-AT" altLang="de-D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eingabe</a:t>
            </a:r>
            <a:endParaRPr lang="de-AT" altLang="de-DE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 eaLnBrk="1" hangingPunct="1"/>
            <a:endParaRPr lang="de-AT" altLang="de-DE" sz="1800" dirty="0"/>
          </a:p>
        </p:txBody>
      </p:sp>
      <p:sp>
        <p:nvSpPr>
          <p:cNvPr id="20485" name="Foliennummernplatzhalter 4"/>
          <p:cNvSpPr>
            <a:spLocks noGrp="1"/>
          </p:cNvSpPr>
          <p:nvPr>
            <p:ph type="sldNum" sz="quarter" idx="4294967295"/>
          </p:nvPr>
        </p:nvSpPr>
        <p:spPr>
          <a:xfrm>
            <a:off x="6773863" y="6380163"/>
            <a:ext cx="2195512" cy="34131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Wingdings" panose="05000000000000000000" pitchFamily="2" charset="2"/>
              <a:buChar char="Ø"/>
              <a:defRPr sz="3200">
                <a:solidFill>
                  <a:srgbClr val="000080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•"/>
              <a:defRPr sz="2800">
                <a:solidFill>
                  <a:srgbClr val="000080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Font typeface="Wingdings" panose="05000000000000000000" pitchFamily="2" charset="2"/>
              <a:buChar char="§"/>
              <a:defRPr sz="2400">
                <a:solidFill>
                  <a:srgbClr val="000080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425984EE-1764-48B5-913E-9D322EBF5635}" type="slidenum">
              <a:rPr lang="de-DE" altLang="de-DE" sz="1400" smtClean="0">
                <a:solidFill>
                  <a:schemeClr val="bg1"/>
                </a:solidFill>
              </a:rPr>
              <a:pPr>
                <a:spcBef>
                  <a:spcPct val="0"/>
                </a:spcBef>
                <a:buFontTx/>
                <a:buNone/>
              </a:pPr>
              <a:t>1</a:t>
            </a:fld>
            <a:endParaRPr lang="de-DE" altLang="de-DE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72832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Einlesen von Zahlen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5073427"/>
          </a:xfrm>
        </p:spPr>
        <p:txBody>
          <a:bodyPr/>
          <a:lstStyle/>
          <a:p>
            <a:pPr lvl="0">
              <a:defRPr sz="1800"/>
            </a:pPr>
            <a:endParaRPr lang="en-US" dirty="0"/>
          </a:p>
          <a:p>
            <a:pPr lvl="0">
              <a:defRPr sz="1800"/>
            </a:pPr>
            <a:r>
              <a:rPr lang="de-AT" sz="1800" dirty="0" err="1">
                <a:latin typeface="Monaco"/>
                <a:ea typeface="Monaco"/>
                <a:cs typeface="Monaco"/>
                <a:sym typeface="Monaco"/>
              </a:rPr>
              <a:t>string</a:t>
            </a:r>
            <a:r>
              <a:rPr lang="de-AT" sz="1800" dirty="0">
                <a:latin typeface="Monaco"/>
                <a:ea typeface="Monaco"/>
                <a:cs typeface="Monaco"/>
                <a:sym typeface="Monaco"/>
              </a:rPr>
              <a:t> </a:t>
            </a:r>
            <a:r>
              <a:rPr lang="de-AT" sz="1800" dirty="0" err="1">
                <a:latin typeface="Monaco"/>
                <a:ea typeface="Monaco"/>
                <a:cs typeface="Monaco"/>
                <a:sym typeface="Monaco"/>
              </a:rPr>
              <a:t>userInput</a:t>
            </a:r>
            <a:r>
              <a:rPr lang="de-AT" sz="1800" dirty="0">
                <a:latin typeface="Monaco"/>
                <a:ea typeface="Monaco"/>
                <a:cs typeface="Monaco"/>
                <a:sym typeface="Monaco"/>
              </a:rPr>
              <a:t>;</a:t>
            </a:r>
          </a:p>
          <a:p>
            <a:pPr lvl="0">
              <a:defRPr sz="1800"/>
            </a:pPr>
            <a:r>
              <a:rPr lang="de-AT" sz="1800" dirty="0" err="1">
                <a:latin typeface="Monaco"/>
                <a:ea typeface="Monaco"/>
                <a:cs typeface="Monaco"/>
                <a:sym typeface="Monaco"/>
              </a:rPr>
              <a:t>userInput</a:t>
            </a:r>
            <a:r>
              <a:rPr lang="de-AT" sz="1800" dirty="0">
                <a:latin typeface="Monaco"/>
                <a:ea typeface="Monaco"/>
                <a:cs typeface="Monaco"/>
                <a:sym typeface="Monaco"/>
              </a:rPr>
              <a:t> = </a:t>
            </a:r>
            <a:r>
              <a:rPr lang="de-AT" sz="1800" dirty="0" err="1">
                <a:latin typeface="Monaco"/>
                <a:ea typeface="Monaco"/>
                <a:cs typeface="Monaco"/>
                <a:sym typeface="Monaco"/>
              </a:rPr>
              <a:t>Console.ReadLine</a:t>
            </a:r>
            <a:r>
              <a:rPr lang="de-AT" sz="1800" dirty="0">
                <a:latin typeface="Monaco"/>
                <a:ea typeface="Monaco"/>
                <a:cs typeface="Monaco"/>
                <a:sym typeface="Monaco"/>
              </a:rPr>
              <a:t>();</a:t>
            </a:r>
          </a:p>
          <a:p>
            <a:pPr lvl="0">
              <a:defRPr sz="1800"/>
            </a:pPr>
            <a:endParaRPr lang="de-AT" sz="1800" dirty="0">
              <a:latin typeface="Monaco"/>
              <a:ea typeface="Monaco"/>
              <a:cs typeface="Monaco"/>
              <a:sym typeface="Monaco"/>
            </a:endParaRPr>
          </a:p>
          <a:p>
            <a:pPr lvl="0">
              <a:defRPr sz="1800"/>
            </a:pPr>
            <a:endParaRPr lang="de-AT" sz="1800" dirty="0">
              <a:latin typeface="Monaco"/>
              <a:ea typeface="Monaco"/>
              <a:cs typeface="Monaco"/>
              <a:sym typeface="Monaco"/>
            </a:endParaRPr>
          </a:p>
          <a:p>
            <a:pPr lvl="0">
              <a:defRPr sz="1800"/>
            </a:pPr>
            <a:endParaRPr lang="de-AT" sz="1800" dirty="0">
              <a:latin typeface="Monaco"/>
              <a:ea typeface="Monaco"/>
              <a:cs typeface="Monaco"/>
              <a:sym typeface="Monaco"/>
            </a:endParaRPr>
          </a:p>
          <a:p>
            <a:pPr lvl="0">
              <a:defRPr sz="1800"/>
            </a:pPr>
            <a:r>
              <a:rPr lang="de-AT" sz="1800" dirty="0" err="1"/>
              <a:t>int</a:t>
            </a:r>
            <a:r>
              <a:rPr lang="de-AT" sz="1800" dirty="0"/>
              <a:t> </a:t>
            </a:r>
            <a:r>
              <a:rPr lang="de-AT" sz="1800" dirty="0" err="1"/>
              <a:t>value</a:t>
            </a:r>
            <a:r>
              <a:rPr lang="de-AT" sz="1800" dirty="0"/>
              <a:t> = Convert.ToInt32(</a:t>
            </a:r>
            <a:r>
              <a:rPr lang="de-AT" sz="1800" dirty="0" err="1"/>
              <a:t>userInput</a:t>
            </a:r>
            <a:r>
              <a:rPr lang="de-AT" sz="1800" dirty="0"/>
              <a:t>);</a:t>
            </a:r>
          </a:p>
          <a:p>
            <a:pPr lvl="0">
              <a:defRPr sz="1800"/>
            </a:pPr>
            <a:endParaRPr lang="de-AT" sz="1800" dirty="0"/>
          </a:p>
          <a:p>
            <a:pPr lvl="0">
              <a:defRPr sz="1800"/>
            </a:pPr>
            <a:endParaRPr lang="de-AT" sz="1800" dirty="0"/>
          </a:p>
          <a:p>
            <a:pPr lvl="0">
              <a:defRPr sz="1800"/>
            </a:pPr>
            <a:endParaRPr lang="de-AT" sz="1800" dirty="0"/>
          </a:p>
          <a:p>
            <a:pPr lvl="0">
              <a:defRPr sz="1800"/>
            </a:pPr>
            <a:r>
              <a:rPr lang="de-AT" sz="1800" dirty="0"/>
              <a:t>double </a:t>
            </a:r>
            <a:r>
              <a:rPr lang="de-AT" sz="1800" dirty="0" err="1"/>
              <a:t>decimalValue</a:t>
            </a:r>
            <a:r>
              <a:rPr lang="de-AT" sz="1800" dirty="0"/>
              <a:t> = </a:t>
            </a:r>
            <a:r>
              <a:rPr lang="de-AT" sz="1800" dirty="0" err="1"/>
              <a:t>Convert.ToDouble</a:t>
            </a:r>
            <a:r>
              <a:rPr lang="de-AT" sz="1800" dirty="0"/>
              <a:t>(</a:t>
            </a:r>
            <a:r>
              <a:rPr lang="de-AT" sz="1800" dirty="0" err="1"/>
              <a:t>userInput</a:t>
            </a:r>
            <a:r>
              <a:rPr lang="de-AT" sz="1800" dirty="0"/>
              <a:t>);</a:t>
            </a:r>
          </a:p>
          <a:p>
            <a:pPr lvl="0">
              <a:defRPr sz="1800"/>
            </a:pPr>
            <a:endParaRPr lang="de-AT" sz="1800" dirty="0"/>
          </a:p>
          <a:p>
            <a:pPr lvl="0">
              <a:defRPr sz="1800"/>
            </a:pPr>
            <a:endParaRPr lang="de-AT" sz="1800" dirty="0">
              <a:latin typeface="Monaco"/>
              <a:ea typeface="Monaco"/>
              <a:cs typeface="Monaco"/>
              <a:sym typeface="Monaco"/>
            </a:endParaRPr>
          </a:p>
          <a:p>
            <a:pPr lvl="0">
              <a:defRPr sz="1800"/>
            </a:pPr>
            <a:endParaRPr lang="en-US" dirty="0"/>
          </a:p>
          <a:p>
            <a:endParaRPr lang="de-AT" dirty="0"/>
          </a:p>
        </p:txBody>
      </p:sp>
      <p:grpSp>
        <p:nvGrpSpPr>
          <p:cNvPr id="7" name="Gruppieren 6"/>
          <p:cNvGrpSpPr/>
          <p:nvPr/>
        </p:nvGrpSpPr>
        <p:grpSpPr>
          <a:xfrm>
            <a:off x="3059832" y="1196752"/>
            <a:ext cx="3168352" cy="504056"/>
            <a:chOff x="5436096" y="2132856"/>
            <a:chExt cx="2448272" cy="504056"/>
          </a:xfrm>
        </p:grpSpPr>
        <p:sp>
          <p:nvSpPr>
            <p:cNvPr id="8" name="Ovale Legende 7"/>
            <p:cNvSpPr/>
            <p:nvPr/>
          </p:nvSpPr>
          <p:spPr>
            <a:xfrm>
              <a:off x="5436096" y="2132856"/>
              <a:ext cx="2448272" cy="504056"/>
            </a:xfrm>
            <a:prstGeom prst="wedgeEllipseCallou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/>
            </a:p>
          </p:txBody>
        </p:sp>
        <p:sp>
          <p:nvSpPr>
            <p:cNvPr id="9" name="Textfeld 8"/>
            <p:cNvSpPr txBox="1"/>
            <p:nvPr/>
          </p:nvSpPr>
          <p:spPr>
            <a:xfrm>
              <a:off x="5491739" y="2257127"/>
              <a:ext cx="23926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AT" sz="1400" dirty="0">
                  <a:solidFill>
                    <a:schemeClr val="bg1"/>
                  </a:solidFill>
                </a:rPr>
                <a:t>Frage: Wie liest man eine Zahl ein?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22738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 err="1"/>
              <a:t>Bsp</a:t>
            </a:r>
            <a:r>
              <a:rPr lang="de-AT" dirty="0"/>
              <a:t>: Einlesen eines Gleitkomma-Bruches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xmlns="" id="{2D9B9169-075B-4C62-B506-BD5986C448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xmlns="" id="{485E2D92-955F-4A2C-AD44-F732890D60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1076325"/>
            <a:ext cx="7372350" cy="4705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263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Ausgabe von Variablen mit </a:t>
            </a:r>
            <a:r>
              <a:rPr lang="de-AT" dirty="0" smtClean="0"/>
              <a:t>Platzhaltern</a:t>
            </a:r>
            <a:endParaRPr lang="de-AT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ct val="40000"/>
              </a:spcBef>
            </a:pPr>
            <a:r>
              <a:rPr lang="en-US" altLang="de-DE" sz="2000" dirty="0" err="1"/>
              <a:t>Console.Write</a:t>
            </a:r>
            <a:r>
              <a:rPr lang="en-US" altLang="de-DE" sz="2000" dirty="0"/>
              <a:t>(</a:t>
            </a:r>
            <a:r>
              <a:rPr lang="en-US" altLang="de-DE" sz="2000" dirty="0">
                <a:solidFill>
                  <a:srgbClr val="FF0000"/>
                </a:solidFill>
              </a:rPr>
              <a:t>$</a:t>
            </a:r>
            <a:r>
              <a:rPr lang="en-US" altLang="de-DE" sz="2000" dirty="0"/>
              <a:t>"Hello </a:t>
            </a:r>
            <a:r>
              <a:rPr lang="en-US" altLang="de-DE" sz="2000" dirty="0">
                <a:solidFill>
                  <a:srgbClr val="FF0000"/>
                </a:solidFill>
              </a:rPr>
              <a:t>{name}</a:t>
            </a:r>
            <a:r>
              <a:rPr lang="en-US" altLang="de-DE" sz="2000" dirty="0"/>
              <a:t>");	// </a:t>
            </a:r>
            <a:r>
              <a:rPr lang="en-US" altLang="de-DE" sz="2000" dirty="0" err="1"/>
              <a:t>Platzhalter</a:t>
            </a:r>
            <a:r>
              <a:rPr lang="en-US" altLang="de-DE" sz="2000" dirty="0"/>
              <a:t> </a:t>
            </a:r>
            <a:r>
              <a:rPr lang="en-US" altLang="de-DE" sz="2000" dirty="0" err="1"/>
              <a:t>für</a:t>
            </a:r>
            <a:r>
              <a:rPr lang="en-US" altLang="de-DE" sz="2000" dirty="0"/>
              <a:t> Variable</a:t>
            </a:r>
          </a:p>
          <a:p>
            <a:r>
              <a:rPr lang="en-US" altLang="de-DE" sz="2000" dirty="0" err="1"/>
              <a:t>Console.WriteLine</a:t>
            </a:r>
            <a:r>
              <a:rPr lang="en-US" altLang="de-DE" sz="2000" dirty="0"/>
              <a:t>(</a:t>
            </a:r>
            <a:r>
              <a:rPr lang="en-US" altLang="de-DE" sz="2000" dirty="0">
                <a:solidFill>
                  <a:srgbClr val="FF0000"/>
                </a:solidFill>
              </a:rPr>
              <a:t>$</a:t>
            </a:r>
            <a:r>
              <a:rPr lang="en-US" altLang="de-DE" sz="2000" dirty="0"/>
              <a:t>"</a:t>
            </a:r>
            <a:r>
              <a:rPr lang="en-US" altLang="de-DE" sz="2000" dirty="0">
                <a:solidFill>
                  <a:srgbClr val="FF0000"/>
                </a:solidFill>
              </a:rPr>
              <a:t>{x}</a:t>
            </a:r>
            <a:r>
              <a:rPr lang="en-US" altLang="de-DE" sz="2000" dirty="0"/>
              <a:t> = </a:t>
            </a:r>
            <a:r>
              <a:rPr lang="en-US" altLang="de-DE" sz="2000" dirty="0">
                <a:solidFill>
                  <a:srgbClr val="FF0000"/>
                </a:solidFill>
              </a:rPr>
              <a:t>{y}</a:t>
            </a:r>
            <a:r>
              <a:rPr lang="en-US" altLang="de-DE" sz="2000" dirty="0"/>
              <a:t>");</a:t>
            </a:r>
            <a:endParaRPr lang="de-AT" altLang="de-DE" sz="2000" dirty="0"/>
          </a:p>
          <a:p>
            <a:endParaRPr lang="de-AT" dirty="0"/>
          </a:p>
        </p:txBody>
      </p:sp>
      <p:sp>
        <p:nvSpPr>
          <p:cNvPr id="5" name="Foliennummernplatzhalter 5"/>
          <p:cNvSpPr txBox="1">
            <a:spLocks/>
          </p:cNvSpPr>
          <p:nvPr/>
        </p:nvSpPr>
        <p:spPr>
          <a:xfrm>
            <a:off x="7163049" y="5930404"/>
            <a:ext cx="1449387" cy="30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25146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6pPr>
            <a:lvl7pPr marL="29718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7pPr>
            <a:lvl8pPr marL="34290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8pPr>
            <a:lvl9pPr marL="38862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9pPr>
          </a:lstStyle>
          <a:p>
            <a:fld id="{BACCAA67-E619-4E7E-BDC2-91AB8A42BAB7}" type="slidenum">
              <a:rPr lang="de-DE" altLang="de-DE" sz="1200" smtClean="0"/>
              <a:pPr/>
              <a:t>4</a:t>
            </a:fld>
            <a:endParaRPr lang="de-DE" altLang="de-DE" sz="1200"/>
          </a:p>
        </p:txBody>
      </p:sp>
      <p:grpSp>
        <p:nvGrpSpPr>
          <p:cNvPr id="6" name="Group 7"/>
          <p:cNvGrpSpPr>
            <a:grpSpLocks/>
          </p:cNvGrpSpPr>
          <p:nvPr/>
        </p:nvGrpSpPr>
        <p:grpSpPr bwMode="auto">
          <a:xfrm>
            <a:off x="395536" y="2564904"/>
            <a:ext cx="8153400" cy="3489325"/>
            <a:chOff x="420" y="1912"/>
            <a:chExt cx="5136" cy="2198"/>
          </a:xfrm>
        </p:grpSpPr>
        <p:sp>
          <p:nvSpPr>
            <p:cNvPr id="7" name="Rectangle 6"/>
            <p:cNvSpPr>
              <a:spLocks noChangeArrowheads="1"/>
            </p:cNvSpPr>
            <p:nvPr/>
          </p:nvSpPr>
          <p:spPr bwMode="auto">
            <a:xfrm>
              <a:off x="648" y="2152"/>
              <a:ext cx="2336" cy="240"/>
            </a:xfrm>
            <a:prstGeom prst="rect">
              <a:avLst/>
            </a:prstGeom>
            <a:solidFill>
              <a:schemeClr val="accent3">
                <a:lumMod val="85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de-DE"/>
            </a:p>
          </p:txBody>
        </p:sp>
        <p:sp>
          <p:nvSpPr>
            <p:cNvPr id="8" name="Rectangle 4"/>
            <p:cNvSpPr>
              <a:spLocks noChangeArrowheads="1"/>
            </p:cNvSpPr>
            <p:nvPr/>
          </p:nvSpPr>
          <p:spPr bwMode="auto">
            <a:xfrm>
              <a:off x="420" y="1912"/>
              <a:ext cx="5136" cy="21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20000"/>
                </a:spcBef>
              </a:pPr>
              <a:r>
                <a:rPr lang="en-US" altLang="de-DE" sz="2000" b="1" dirty="0" err="1">
                  <a:latin typeface="+mn-lt"/>
                </a:rPr>
                <a:t>Platzhalter</a:t>
              </a:r>
              <a:r>
                <a:rPr lang="en-US" altLang="de-DE" sz="2000" b="1" dirty="0">
                  <a:latin typeface="+mn-lt"/>
                </a:rPr>
                <a:t>-Syntax</a:t>
              </a:r>
            </a:p>
            <a:p>
              <a:pPr>
                <a:spcBef>
                  <a:spcPct val="40000"/>
                </a:spcBef>
              </a:pPr>
              <a:r>
                <a:rPr lang="en-US" altLang="de-DE" dirty="0">
                  <a:latin typeface="Arial" panose="020B0604020202020204" pitchFamily="34" charset="0"/>
                </a:rPr>
                <a:t>	"{" variable ["," width] [":" format [precision]] "}"</a:t>
              </a:r>
            </a:p>
            <a:p>
              <a:pPr>
                <a:spcBef>
                  <a:spcPct val="20000"/>
                </a:spcBef>
              </a:pPr>
              <a:endParaRPr lang="en-US" altLang="de-DE" dirty="0">
                <a:latin typeface="Arial" panose="020B0604020202020204" pitchFamily="34" charset="0"/>
              </a:endParaRPr>
            </a:p>
            <a:p>
              <a:r>
                <a:rPr lang="en-US" altLang="de-DE" sz="1800" dirty="0"/>
                <a:t>	</a:t>
              </a:r>
              <a:r>
                <a:rPr lang="en-US" altLang="de-DE" sz="1800" i="1" dirty="0">
                  <a:latin typeface="+mn-lt"/>
                </a:rPr>
                <a:t>variable</a:t>
              </a: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dirty="0" err="1">
                  <a:latin typeface="+mn-lt"/>
                </a:rPr>
                <a:t>Variablenname</a:t>
              </a:r>
              <a:endParaRPr lang="en-US" altLang="de-DE" sz="1800" dirty="0">
                <a:latin typeface="+mn-lt"/>
              </a:endParaRPr>
            </a:p>
            <a:p>
              <a:pPr>
                <a:spcBef>
                  <a:spcPct val="40000"/>
                </a:spcBef>
              </a:pP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i="1" dirty="0">
                  <a:latin typeface="+mn-lt"/>
                </a:rPr>
                <a:t>width</a:t>
              </a: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dirty="0" err="1">
                  <a:latin typeface="+mn-lt"/>
                </a:rPr>
                <a:t>Feldbreite</a:t>
              </a:r>
              <a:r>
                <a:rPr lang="en-US" altLang="de-DE" sz="1800" dirty="0">
                  <a:latin typeface="+mn-lt"/>
                </a:rPr>
                <a:t> (</a:t>
              </a:r>
              <a:r>
                <a:rPr lang="en-US" altLang="de-DE" sz="1800" dirty="0" err="1">
                  <a:latin typeface="+mn-lt"/>
                </a:rPr>
                <a:t>wenn</a:t>
              </a:r>
              <a:r>
                <a:rPr lang="en-US" altLang="de-DE" sz="1800" dirty="0">
                  <a:latin typeface="+mn-lt"/>
                </a:rPr>
                <a:t> </a:t>
              </a:r>
              <a:r>
                <a:rPr lang="en-US" altLang="de-DE" sz="1800" dirty="0" err="1">
                  <a:latin typeface="+mn-lt"/>
                </a:rPr>
                <a:t>zu</a:t>
              </a:r>
              <a:r>
                <a:rPr lang="en-US" altLang="de-DE" sz="1800" dirty="0">
                  <a:latin typeface="+mn-lt"/>
                </a:rPr>
                <a:t> </a:t>
              </a:r>
              <a:r>
                <a:rPr lang="en-US" altLang="de-DE" sz="1800" dirty="0" err="1">
                  <a:latin typeface="+mn-lt"/>
                </a:rPr>
                <a:t>klein</a:t>
              </a:r>
              <a:r>
                <a:rPr lang="en-US" altLang="de-DE" sz="1800" dirty="0">
                  <a:latin typeface="+mn-lt"/>
                </a:rPr>
                <a:t>, </a:t>
              </a:r>
              <a:r>
                <a:rPr lang="en-US" altLang="de-DE" sz="1800" dirty="0" err="1">
                  <a:latin typeface="+mn-lt"/>
                </a:rPr>
                <a:t>wird</a:t>
              </a:r>
              <a:r>
                <a:rPr lang="en-US" altLang="de-DE" sz="1800" dirty="0">
                  <a:latin typeface="+mn-lt"/>
                </a:rPr>
                <a:t> </a:t>
              </a:r>
              <a:r>
                <a:rPr lang="en-US" altLang="de-DE" sz="1800" dirty="0" err="1">
                  <a:latin typeface="+mn-lt"/>
                </a:rPr>
                <a:t>sie</a:t>
              </a:r>
              <a:r>
                <a:rPr lang="en-US" altLang="de-DE" sz="1800" dirty="0">
                  <a:latin typeface="+mn-lt"/>
                </a:rPr>
                <a:t> </a:t>
              </a:r>
              <a:r>
                <a:rPr lang="en-US" altLang="de-DE" sz="1800" dirty="0" err="1">
                  <a:latin typeface="+mn-lt"/>
                </a:rPr>
                <a:t>überschritten</a:t>
              </a:r>
              <a:r>
                <a:rPr lang="en-US" altLang="de-DE" sz="1800" dirty="0">
                  <a:latin typeface="+mn-lt"/>
                </a:rPr>
                <a:t>)</a:t>
              </a:r>
            </a:p>
            <a:p>
              <a:r>
                <a:rPr lang="en-US" altLang="de-DE" sz="1800" dirty="0">
                  <a:latin typeface="+mn-lt"/>
                </a:rPr>
                <a:t>		</a:t>
              </a:r>
              <a:r>
                <a:rPr lang="en-US" altLang="de-DE" sz="1800" dirty="0" err="1">
                  <a:latin typeface="+mn-lt"/>
                </a:rPr>
                <a:t>positiv</a:t>
              </a:r>
              <a:r>
                <a:rPr lang="en-US" altLang="de-DE" sz="1800" dirty="0">
                  <a:latin typeface="+mn-lt"/>
                </a:rPr>
                <a:t> = </a:t>
              </a:r>
              <a:r>
                <a:rPr lang="en-US" altLang="de-DE" sz="1800" dirty="0" err="1">
                  <a:latin typeface="+mn-lt"/>
                </a:rPr>
                <a:t>rechtsbündig</a:t>
              </a:r>
              <a:r>
                <a:rPr lang="en-US" altLang="de-DE" sz="1800" dirty="0">
                  <a:latin typeface="+mn-lt"/>
                </a:rPr>
                <a:t>, </a:t>
              </a:r>
              <a:r>
                <a:rPr lang="en-US" altLang="de-DE" sz="1800" dirty="0" err="1">
                  <a:latin typeface="+mn-lt"/>
                </a:rPr>
                <a:t>negativ</a:t>
              </a:r>
              <a:r>
                <a:rPr lang="en-US" altLang="de-DE" sz="1800" dirty="0">
                  <a:latin typeface="+mn-lt"/>
                </a:rPr>
                <a:t> = </a:t>
              </a:r>
              <a:r>
                <a:rPr lang="en-US" altLang="de-DE" sz="1800" dirty="0" err="1">
                  <a:latin typeface="+mn-lt"/>
                </a:rPr>
                <a:t>linksbündig</a:t>
              </a:r>
              <a:endParaRPr lang="en-US" altLang="de-DE" sz="1800" dirty="0">
                <a:latin typeface="+mn-lt"/>
              </a:endParaRPr>
            </a:p>
            <a:p>
              <a:pPr>
                <a:spcBef>
                  <a:spcPct val="40000"/>
                </a:spcBef>
              </a:pP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i="1" dirty="0">
                  <a:latin typeface="+mn-lt"/>
                </a:rPr>
                <a:t>format</a:t>
              </a: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dirty="0" err="1">
                  <a:latin typeface="+mn-lt"/>
                </a:rPr>
                <a:t>Formatierungscode</a:t>
              </a:r>
              <a:r>
                <a:rPr lang="en-US" altLang="de-DE" sz="1800" dirty="0">
                  <a:latin typeface="+mn-lt"/>
                </a:rPr>
                <a:t> (</a:t>
              </a:r>
              <a:r>
                <a:rPr lang="en-US" altLang="de-DE" sz="1800" dirty="0" err="1">
                  <a:latin typeface="+mn-lt"/>
                </a:rPr>
                <a:t>z.B</a:t>
              </a:r>
              <a:r>
                <a:rPr lang="en-US" altLang="de-DE" sz="1800" dirty="0">
                  <a:latin typeface="+mn-lt"/>
                </a:rPr>
                <a:t>. d, f, e, x, ...)</a:t>
              </a:r>
            </a:p>
            <a:p>
              <a:pPr>
                <a:spcBef>
                  <a:spcPct val="40000"/>
                </a:spcBef>
              </a:pP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i="1" dirty="0">
                  <a:latin typeface="+mn-lt"/>
                </a:rPr>
                <a:t>precision</a:t>
              </a: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dirty="0" err="1">
                  <a:latin typeface="+mn-lt"/>
                </a:rPr>
                <a:t>Anzahl</a:t>
              </a:r>
              <a:r>
                <a:rPr lang="en-US" altLang="de-DE" sz="1800" dirty="0">
                  <a:latin typeface="+mn-lt"/>
                </a:rPr>
                <a:t> der </a:t>
              </a:r>
              <a:r>
                <a:rPr lang="en-US" altLang="de-DE" sz="1800" dirty="0" err="1">
                  <a:latin typeface="+mn-lt"/>
                </a:rPr>
                <a:t>Nachkommastellen</a:t>
              </a:r>
              <a:r>
                <a:rPr lang="en-US" altLang="de-DE" sz="1800" dirty="0">
                  <a:latin typeface="+mn-lt"/>
                </a:rPr>
                <a:t> (</a:t>
              </a:r>
              <a:r>
                <a:rPr lang="en-US" altLang="de-DE" sz="1800" dirty="0" err="1">
                  <a:latin typeface="+mn-lt"/>
                </a:rPr>
                <a:t>machmal</a:t>
              </a:r>
              <a:r>
                <a:rPr lang="en-US" altLang="de-DE" sz="1800" dirty="0">
                  <a:latin typeface="+mn-lt"/>
                </a:rPr>
                <a:t> </a:t>
              </a:r>
              <a:r>
                <a:rPr lang="en-US" altLang="de-DE" sz="1800" dirty="0" err="1">
                  <a:latin typeface="+mn-lt"/>
                </a:rPr>
                <a:t>Anzahl</a:t>
              </a:r>
              <a:r>
                <a:rPr lang="en-US" altLang="de-DE" sz="1800" dirty="0">
                  <a:latin typeface="+mn-lt"/>
                </a:rPr>
                <a:t> der </a:t>
              </a:r>
              <a:r>
                <a:rPr lang="en-US" altLang="de-DE" sz="1800" dirty="0" err="1">
                  <a:latin typeface="+mn-lt"/>
                </a:rPr>
                <a:t>Ziffern</a:t>
              </a:r>
              <a:r>
                <a:rPr lang="en-US" altLang="de-DE" sz="1800" dirty="0">
                  <a:latin typeface="+mn-lt"/>
                </a:rPr>
                <a:t>)</a:t>
              </a:r>
            </a:p>
            <a:p>
              <a:pPr>
                <a:spcBef>
                  <a:spcPct val="40000"/>
                </a:spcBef>
              </a:pPr>
              <a:endParaRPr lang="en-US" altLang="de-DE" sz="1800" dirty="0">
                <a:latin typeface="+mn-lt"/>
              </a:endParaRPr>
            </a:p>
            <a:p>
              <a:pPr>
                <a:spcBef>
                  <a:spcPct val="40000"/>
                </a:spcBef>
              </a:pP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dirty="0" err="1">
                  <a:latin typeface="+mn-lt"/>
                </a:rPr>
                <a:t>Beispiel</a:t>
              </a:r>
              <a:r>
                <a:rPr lang="en-US" altLang="de-DE" sz="1800" dirty="0">
                  <a:latin typeface="+mn-lt"/>
                </a:rPr>
                <a:t>:	{floatingPointNumber,10:f2}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62052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Ausgabe von Variablen mit </a:t>
            </a:r>
            <a:r>
              <a:rPr lang="de-AT" dirty="0" smtClean="0"/>
              <a:t>Platzhaltern 2</a:t>
            </a:r>
            <a:endParaRPr lang="de-AT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ct val="40000"/>
              </a:spcBef>
            </a:pPr>
            <a:r>
              <a:rPr lang="en-US" altLang="de-DE" sz="2000" dirty="0" err="1"/>
              <a:t>Console.Write</a:t>
            </a:r>
            <a:r>
              <a:rPr lang="en-US" altLang="de-DE" sz="2000" dirty="0"/>
              <a:t>("Hello </a:t>
            </a:r>
            <a:r>
              <a:rPr lang="en-US" altLang="de-DE" sz="2000" dirty="0">
                <a:solidFill>
                  <a:srgbClr val="FF0000"/>
                </a:solidFill>
              </a:rPr>
              <a:t>{0}</a:t>
            </a:r>
            <a:r>
              <a:rPr lang="en-US" altLang="de-DE" sz="2000" dirty="0"/>
              <a:t>", name);	// </a:t>
            </a:r>
            <a:r>
              <a:rPr lang="en-US" altLang="de-DE" sz="2000" dirty="0" err="1"/>
              <a:t>Platzhalter</a:t>
            </a:r>
            <a:endParaRPr lang="en-US" altLang="de-DE" sz="2000" dirty="0"/>
          </a:p>
          <a:p>
            <a:r>
              <a:rPr lang="en-US" altLang="de-DE" sz="2000" dirty="0" err="1"/>
              <a:t>Console.WriteLine</a:t>
            </a:r>
            <a:r>
              <a:rPr lang="en-US" altLang="de-DE" sz="2000" dirty="0"/>
              <a:t>("</a:t>
            </a:r>
            <a:r>
              <a:rPr lang="en-US" altLang="de-DE" sz="2000" dirty="0">
                <a:solidFill>
                  <a:srgbClr val="FF0000"/>
                </a:solidFill>
              </a:rPr>
              <a:t>{0}</a:t>
            </a:r>
            <a:r>
              <a:rPr lang="en-US" altLang="de-DE" sz="2000" dirty="0"/>
              <a:t> = </a:t>
            </a:r>
            <a:r>
              <a:rPr lang="en-US" altLang="de-DE" sz="2000" dirty="0">
                <a:solidFill>
                  <a:srgbClr val="FF0000"/>
                </a:solidFill>
              </a:rPr>
              <a:t>{1}</a:t>
            </a:r>
            <a:r>
              <a:rPr lang="en-US" altLang="de-DE" sz="2000" dirty="0"/>
              <a:t>", x, y);</a:t>
            </a:r>
            <a:endParaRPr lang="de-AT" altLang="de-DE" sz="2000" dirty="0"/>
          </a:p>
          <a:p>
            <a:endParaRPr lang="de-AT" dirty="0"/>
          </a:p>
        </p:txBody>
      </p:sp>
      <p:sp>
        <p:nvSpPr>
          <p:cNvPr id="5" name="Foliennummernplatzhalter 5"/>
          <p:cNvSpPr txBox="1">
            <a:spLocks/>
          </p:cNvSpPr>
          <p:nvPr/>
        </p:nvSpPr>
        <p:spPr>
          <a:xfrm>
            <a:off x="7163049" y="5930404"/>
            <a:ext cx="1449387" cy="30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25146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6pPr>
            <a:lvl7pPr marL="29718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7pPr>
            <a:lvl8pPr marL="34290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8pPr>
            <a:lvl9pPr marL="38862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9pPr>
          </a:lstStyle>
          <a:p>
            <a:fld id="{BACCAA67-E619-4E7E-BDC2-91AB8A42BAB7}" type="slidenum">
              <a:rPr lang="de-DE" altLang="de-DE" sz="1200" smtClean="0"/>
              <a:pPr/>
              <a:t>5</a:t>
            </a:fld>
            <a:endParaRPr lang="de-DE" altLang="de-DE" sz="1200"/>
          </a:p>
        </p:txBody>
      </p:sp>
      <p:grpSp>
        <p:nvGrpSpPr>
          <p:cNvPr id="6" name="Group 7"/>
          <p:cNvGrpSpPr>
            <a:grpSpLocks/>
          </p:cNvGrpSpPr>
          <p:nvPr/>
        </p:nvGrpSpPr>
        <p:grpSpPr bwMode="auto">
          <a:xfrm>
            <a:off x="395536" y="2564904"/>
            <a:ext cx="8153400" cy="3489325"/>
            <a:chOff x="420" y="1912"/>
            <a:chExt cx="5136" cy="2198"/>
          </a:xfrm>
        </p:grpSpPr>
        <p:sp>
          <p:nvSpPr>
            <p:cNvPr id="7" name="Rectangle 6"/>
            <p:cNvSpPr>
              <a:spLocks noChangeArrowheads="1"/>
            </p:cNvSpPr>
            <p:nvPr/>
          </p:nvSpPr>
          <p:spPr bwMode="auto">
            <a:xfrm>
              <a:off x="648" y="2152"/>
              <a:ext cx="2336" cy="240"/>
            </a:xfrm>
            <a:prstGeom prst="rect">
              <a:avLst/>
            </a:prstGeom>
            <a:solidFill>
              <a:schemeClr val="accent3">
                <a:lumMod val="85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de-DE"/>
            </a:p>
          </p:txBody>
        </p:sp>
        <p:sp>
          <p:nvSpPr>
            <p:cNvPr id="8" name="Rectangle 4"/>
            <p:cNvSpPr>
              <a:spLocks noChangeArrowheads="1"/>
            </p:cNvSpPr>
            <p:nvPr/>
          </p:nvSpPr>
          <p:spPr bwMode="auto">
            <a:xfrm>
              <a:off x="420" y="1912"/>
              <a:ext cx="5136" cy="21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20000"/>
                </a:spcBef>
              </a:pPr>
              <a:r>
                <a:rPr lang="en-US" altLang="de-DE" sz="2000" b="1" dirty="0" err="1">
                  <a:latin typeface="+mn-lt"/>
                </a:rPr>
                <a:t>Platzhalter</a:t>
              </a:r>
              <a:r>
                <a:rPr lang="en-US" altLang="de-DE" sz="2000" b="1" dirty="0">
                  <a:latin typeface="+mn-lt"/>
                </a:rPr>
                <a:t>-Syntax</a:t>
              </a:r>
            </a:p>
            <a:p>
              <a:pPr>
                <a:spcBef>
                  <a:spcPct val="40000"/>
                </a:spcBef>
              </a:pPr>
              <a:r>
                <a:rPr lang="en-US" altLang="de-DE" dirty="0">
                  <a:latin typeface="Arial" panose="020B0604020202020204" pitchFamily="34" charset="0"/>
                </a:rPr>
                <a:t>	"{" n ["," width] [":" format [precision]] "}"</a:t>
              </a:r>
            </a:p>
            <a:p>
              <a:pPr>
                <a:spcBef>
                  <a:spcPct val="20000"/>
                </a:spcBef>
              </a:pPr>
              <a:endParaRPr lang="en-US" altLang="de-DE" dirty="0">
                <a:latin typeface="Arial" panose="020B0604020202020204" pitchFamily="34" charset="0"/>
              </a:endParaRPr>
            </a:p>
            <a:p>
              <a:r>
                <a:rPr lang="en-US" altLang="de-DE" sz="1800" dirty="0"/>
                <a:t>	</a:t>
              </a:r>
              <a:r>
                <a:rPr lang="en-US" altLang="de-DE" sz="1800" i="1" dirty="0">
                  <a:latin typeface="+mn-lt"/>
                </a:rPr>
                <a:t>n</a:t>
              </a: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dirty="0" err="1">
                  <a:latin typeface="+mn-lt"/>
                </a:rPr>
                <a:t>Argumentnummer</a:t>
              </a:r>
              <a:r>
                <a:rPr lang="en-US" altLang="de-DE" sz="1800" dirty="0">
                  <a:latin typeface="+mn-lt"/>
                </a:rPr>
                <a:t> (</a:t>
              </a:r>
              <a:r>
                <a:rPr lang="en-US" altLang="de-DE" sz="1800" dirty="0" err="1">
                  <a:latin typeface="+mn-lt"/>
                </a:rPr>
                <a:t>beginnend</a:t>
              </a:r>
              <a:r>
                <a:rPr lang="en-US" altLang="de-DE" sz="1800" dirty="0">
                  <a:latin typeface="+mn-lt"/>
                </a:rPr>
                <a:t> </a:t>
              </a:r>
              <a:r>
                <a:rPr lang="en-US" altLang="de-DE" sz="1800" dirty="0" err="1">
                  <a:latin typeface="+mn-lt"/>
                </a:rPr>
                <a:t>bei</a:t>
              </a:r>
              <a:r>
                <a:rPr lang="en-US" altLang="de-DE" sz="1800" dirty="0">
                  <a:latin typeface="+mn-lt"/>
                </a:rPr>
                <a:t> 0)</a:t>
              </a:r>
            </a:p>
            <a:p>
              <a:pPr>
                <a:spcBef>
                  <a:spcPct val="40000"/>
                </a:spcBef>
              </a:pP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i="1" dirty="0">
                  <a:latin typeface="+mn-lt"/>
                </a:rPr>
                <a:t>width</a:t>
              </a: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dirty="0" err="1">
                  <a:latin typeface="+mn-lt"/>
                </a:rPr>
                <a:t>Feldbreite</a:t>
              </a:r>
              <a:r>
                <a:rPr lang="en-US" altLang="de-DE" sz="1800" dirty="0">
                  <a:latin typeface="+mn-lt"/>
                </a:rPr>
                <a:t> (</a:t>
              </a:r>
              <a:r>
                <a:rPr lang="en-US" altLang="de-DE" sz="1800" dirty="0" err="1">
                  <a:latin typeface="+mn-lt"/>
                </a:rPr>
                <a:t>wenn</a:t>
              </a:r>
              <a:r>
                <a:rPr lang="en-US" altLang="de-DE" sz="1800" dirty="0">
                  <a:latin typeface="+mn-lt"/>
                </a:rPr>
                <a:t> </a:t>
              </a:r>
              <a:r>
                <a:rPr lang="en-US" altLang="de-DE" sz="1800" dirty="0" err="1">
                  <a:latin typeface="+mn-lt"/>
                </a:rPr>
                <a:t>zu</a:t>
              </a:r>
              <a:r>
                <a:rPr lang="en-US" altLang="de-DE" sz="1800" dirty="0">
                  <a:latin typeface="+mn-lt"/>
                </a:rPr>
                <a:t> </a:t>
              </a:r>
              <a:r>
                <a:rPr lang="en-US" altLang="de-DE" sz="1800" dirty="0" err="1">
                  <a:latin typeface="+mn-lt"/>
                </a:rPr>
                <a:t>klein</a:t>
              </a:r>
              <a:r>
                <a:rPr lang="en-US" altLang="de-DE" sz="1800" dirty="0">
                  <a:latin typeface="+mn-lt"/>
                </a:rPr>
                <a:t>, </a:t>
              </a:r>
              <a:r>
                <a:rPr lang="en-US" altLang="de-DE" sz="1800" dirty="0" err="1">
                  <a:latin typeface="+mn-lt"/>
                </a:rPr>
                <a:t>wird</a:t>
              </a:r>
              <a:r>
                <a:rPr lang="en-US" altLang="de-DE" sz="1800" dirty="0">
                  <a:latin typeface="+mn-lt"/>
                </a:rPr>
                <a:t> </a:t>
              </a:r>
              <a:r>
                <a:rPr lang="en-US" altLang="de-DE" sz="1800" dirty="0" err="1">
                  <a:latin typeface="+mn-lt"/>
                </a:rPr>
                <a:t>sie</a:t>
              </a:r>
              <a:r>
                <a:rPr lang="en-US" altLang="de-DE" sz="1800" dirty="0">
                  <a:latin typeface="+mn-lt"/>
                </a:rPr>
                <a:t> </a:t>
              </a:r>
              <a:r>
                <a:rPr lang="en-US" altLang="de-DE" sz="1800" dirty="0" err="1">
                  <a:latin typeface="+mn-lt"/>
                </a:rPr>
                <a:t>überschritten</a:t>
              </a:r>
              <a:r>
                <a:rPr lang="en-US" altLang="de-DE" sz="1800" dirty="0">
                  <a:latin typeface="+mn-lt"/>
                </a:rPr>
                <a:t>)</a:t>
              </a:r>
            </a:p>
            <a:p>
              <a:r>
                <a:rPr lang="en-US" altLang="de-DE" sz="1800" dirty="0">
                  <a:latin typeface="+mn-lt"/>
                </a:rPr>
                <a:t>		</a:t>
              </a:r>
              <a:r>
                <a:rPr lang="en-US" altLang="de-DE" sz="1800" dirty="0" err="1">
                  <a:latin typeface="+mn-lt"/>
                </a:rPr>
                <a:t>positiv</a:t>
              </a:r>
              <a:r>
                <a:rPr lang="en-US" altLang="de-DE" sz="1800" dirty="0">
                  <a:latin typeface="+mn-lt"/>
                </a:rPr>
                <a:t> = </a:t>
              </a:r>
              <a:r>
                <a:rPr lang="en-US" altLang="de-DE" sz="1800" dirty="0" err="1">
                  <a:latin typeface="+mn-lt"/>
                </a:rPr>
                <a:t>rechtsbündig</a:t>
              </a:r>
              <a:r>
                <a:rPr lang="en-US" altLang="de-DE" sz="1800" dirty="0">
                  <a:latin typeface="+mn-lt"/>
                </a:rPr>
                <a:t>, </a:t>
              </a:r>
              <a:r>
                <a:rPr lang="en-US" altLang="de-DE" sz="1800" dirty="0" err="1">
                  <a:latin typeface="+mn-lt"/>
                </a:rPr>
                <a:t>negativ</a:t>
              </a:r>
              <a:r>
                <a:rPr lang="en-US" altLang="de-DE" sz="1800" dirty="0">
                  <a:latin typeface="+mn-lt"/>
                </a:rPr>
                <a:t> = </a:t>
              </a:r>
              <a:r>
                <a:rPr lang="en-US" altLang="de-DE" sz="1800" dirty="0" err="1">
                  <a:latin typeface="+mn-lt"/>
                </a:rPr>
                <a:t>linksbündig</a:t>
              </a:r>
              <a:endParaRPr lang="en-US" altLang="de-DE" sz="1800" dirty="0">
                <a:latin typeface="+mn-lt"/>
              </a:endParaRPr>
            </a:p>
            <a:p>
              <a:pPr>
                <a:spcBef>
                  <a:spcPct val="40000"/>
                </a:spcBef>
              </a:pP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i="1" dirty="0">
                  <a:latin typeface="+mn-lt"/>
                </a:rPr>
                <a:t>format</a:t>
              </a: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dirty="0" err="1">
                  <a:latin typeface="+mn-lt"/>
                </a:rPr>
                <a:t>Formatierungscode</a:t>
              </a:r>
              <a:r>
                <a:rPr lang="en-US" altLang="de-DE" sz="1800" dirty="0">
                  <a:latin typeface="+mn-lt"/>
                </a:rPr>
                <a:t> (</a:t>
              </a:r>
              <a:r>
                <a:rPr lang="en-US" altLang="de-DE" sz="1800" dirty="0" err="1">
                  <a:latin typeface="+mn-lt"/>
                </a:rPr>
                <a:t>z.B</a:t>
              </a:r>
              <a:r>
                <a:rPr lang="en-US" altLang="de-DE" sz="1800" dirty="0">
                  <a:latin typeface="+mn-lt"/>
                </a:rPr>
                <a:t>. d, f, e, x, ...)</a:t>
              </a:r>
            </a:p>
            <a:p>
              <a:pPr>
                <a:spcBef>
                  <a:spcPct val="40000"/>
                </a:spcBef>
              </a:pP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i="1" dirty="0">
                  <a:latin typeface="+mn-lt"/>
                </a:rPr>
                <a:t>precision</a:t>
              </a: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dirty="0" err="1">
                  <a:latin typeface="+mn-lt"/>
                </a:rPr>
                <a:t>Anzahl</a:t>
              </a:r>
              <a:r>
                <a:rPr lang="en-US" altLang="de-DE" sz="1800" dirty="0">
                  <a:latin typeface="+mn-lt"/>
                </a:rPr>
                <a:t> der </a:t>
              </a:r>
              <a:r>
                <a:rPr lang="en-US" altLang="de-DE" sz="1800" dirty="0" err="1">
                  <a:latin typeface="+mn-lt"/>
                </a:rPr>
                <a:t>Nachkommastellen</a:t>
              </a:r>
              <a:r>
                <a:rPr lang="en-US" altLang="de-DE" sz="1800" dirty="0">
                  <a:latin typeface="+mn-lt"/>
                </a:rPr>
                <a:t> (</a:t>
              </a:r>
              <a:r>
                <a:rPr lang="en-US" altLang="de-DE" sz="1800" dirty="0" err="1">
                  <a:latin typeface="+mn-lt"/>
                </a:rPr>
                <a:t>machmal</a:t>
              </a:r>
              <a:r>
                <a:rPr lang="en-US" altLang="de-DE" sz="1800" dirty="0">
                  <a:latin typeface="+mn-lt"/>
                </a:rPr>
                <a:t> </a:t>
              </a:r>
              <a:r>
                <a:rPr lang="en-US" altLang="de-DE" sz="1800" dirty="0" err="1">
                  <a:latin typeface="+mn-lt"/>
                </a:rPr>
                <a:t>Anzahl</a:t>
              </a:r>
              <a:r>
                <a:rPr lang="en-US" altLang="de-DE" sz="1800" dirty="0">
                  <a:latin typeface="+mn-lt"/>
                </a:rPr>
                <a:t> der </a:t>
              </a:r>
              <a:r>
                <a:rPr lang="en-US" altLang="de-DE" sz="1800" dirty="0" err="1">
                  <a:latin typeface="+mn-lt"/>
                </a:rPr>
                <a:t>Ziffern</a:t>
              </a:r>
              <a:r>
                <a:rPr lang="en-US" altLang="de-DE" sz="1800" dirty="0">
                  <a:latin typeface="+mn-lt"/>
                </a:rPr>
                <a:t>)</a:t>
              </a:r>
            </a:p>
            <a:p>
              <a:pPr>
                <a:spcBef>
                  <a:spcPct val="40000"/>
                </a:spcBef>
              </a:pPr>
              <a:endParaRPr lang="en-US" altLang="de-DE" sz="1800" dirty="0">
                <a:latin typeface="+mn-lt"/>
              </a:endParaRPr>
            </a:p>
            <a:p>
              <a:pPr>
                <a:spcBef>
                  <a:spcPct val="40000"/>
                </a:spcBef>
              </a:pP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dirty="0" err="1">
                  <a:latin typeface="+mn-lt"/>
                </a:rPr>
                <a:t>Beispiel</a:t>
              </a:r>
              <a:r>
                <a:rPr lang="en-US" altLang="de-DE" sz="1800" dirty="0">
                  <a:latin typeface="+mn-lt"/>
                </a:rPr>
                <a:t>:	{0,10:f2}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02715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Formatierungscode für Zahlen</a:t>
            </a:r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685800" y="1295400"/>
            <a:ext cx="7772400" cy="5029200"/>
          </a:xfrm>
          <a:prstGeom prst="rect">
            <a:avLst/>
          </a:prstGeom>
        </p:spPr>
        <p:txBody>
          <a:bodyPr/>
          <a:lstStyle>
            <a:lvl1pPr marL="269875" indent="-26987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SzPct val="80000"/>
              <a:buFont typeface="Wingdings" pitchFamily="2" charset="2"/>
              <a:buChar char="§"/>
              <a:defRPr sz="28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895350" indent="-3540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Font typeface="Symbol" pitchFamily="18" charset="2"/>
              <a:buChar char="-"/>
              <a:defRPr sz="25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343025" indent="-26987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SzPct val="80000"/>
              <a:buFont typeface="Wingdings" pitchFamily="2" charset="2"/>
              <a:buChar char="§"/>
              <a:defRPr sz="22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790700" indent="-3540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Font typeface="Symbol" pitchFamily="18" charset="2"/>
              <a:buChar char="-"/>
              <a:defRPr sz="20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r>
              <a:rPr lang="en-US" altLang="de-DE" sz="1600"/>
              <a:t>d, D	</a:t>
            </a:r>
            <a:r>
              <a:rPr lang="en-US" altLang="de-DE" sz="1600">
                <a:solidFill>
                  <a:srgbClr val="FF0000"/>
                </a:solidFill>
              </a:rPr>
              <a:t>Dezimalformat</a:t>
            </a:r>
            <a:r>
              <a:rPr lang="en-US" altLang="de-DE" sz="1600"/>
              <a:t> (ganze Zahl mit führenden Nullen)	-xxxxx</a:t>
            </a:r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r>
              <a:rPr lang="en-US" altLang="de-DE" sz="1600"/>
              <a:t>	precision = Anz. Ziffern</a:t>
            </a:r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endParaRPr lang="en-US" altLang="de-DE" sz="1600"/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r>
              <a:rPr lang="en-US" altLang="de-DE" sz="1600"/>
              <a:t>f, F	</a:t>
            </a:r>
            <a:r>
              <a:rPr lang="en-US" altLang="de-DE" sz="1600">
                <a:solidFill>
                  <a:srgbClr val="FF0000"/>
                </a:solidFill>
              </a:rPr>
              <a:t>Fixpunktformat</a:t>
            </a:r>
            <a:r>
              <a:rPr lang="en-US" altLang="de-DE" sz="1600"/>
              <a:t>	-xxxxx.xx</a:t>
            </a:r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r>
              <a:rPr lang="en-US" altLang="de-DE" sz="1600"/>
              <a:t>	precision = Anz. Nachkommastellen (Default = 2)</a:t>
            </a:r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endParaRPr lang="en-US" altLang="de-DE" sz="1600"/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r>
              <a:rPr lang="en-US" altLang="de-DE" sz="1600"/>
              <a:t>n, N	</a:t>
            </a:r>
            <a:r>
              <a:rPr lang="en-US" altLang="de-DE" sz="1600">
                <a:solidFill>
                  <a:srgbClr val="FF0000"/>
                </a:solidFill>
              </a:rPr>
              <a:t>Nummernformat</a:t>
            </a:r>
            <a:r>
              <a:rPr lang="en-US" altLang="de-DE" sz="1600"/>
              <a:t> (mit Tausender-Trennstrich)	-xx,xxx.xx</a:t>
            </a:r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r>
              <a:rPr lang="en-US" altLang="de-DE" sz="1600"/>
              <a:t>	precision = Anz. Nachkommastellen (Default = 2)</a:t>
            </a:r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endParaRPr lang="en-US" altLang="de-DE" sz="1600"/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r>
              <a:rPr lang="en-US" altLang="de-DE" sz="1600"/>
              <a:t>e, E	</a:t>
            </a:r>
            <a:r>
              <a:rPr lang="en-US" altLang="de-DE" sz="1600">
                <a:solidFill>
                  <a:srgbClr val="FF0000"/>
                </a:solidFill>
              </a:rPr>
              <a:t>Exponentialformat</a:t>
            </a:r>
            <a:r>
              <a:rPr lang="en-US" altLang="de-DE" sz="1600"/>
              <a:t> (groß/klein signifikant)	-x.xxxE+xxx</a:t>
            </a:r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r>
              <a:rPr lang="en-US" altLang="de-DE" sz="1600"/>
              <a:t>	precision = Anz.Nachkommastellen</a:t>
            </a:r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endParaRPr lang="en-US" altLang="de-DE" sz="1600"/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r>
              <a:rPr lang="en-US" altLang="de-DE" sz="1600"/>
              <a:t>c, C	</a:t>
            </a:r>
            <a:r>
              <a:rPr lang="en-US" altLang="de-DE" sz="1600">
                <a:solidFill>
                  <a:srgbClr val="FF0000"/>
                </a:solidFill>
              </a:rPr>
              <a:t>Currency-Format</a:t>
            </a:r>
            <a:r>
              <a:rPr lang="en-US" altLang="de-DE" sz="1600"/>
              <a:t>	$xx,xxx.xx</a:t>
            </a:r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r>
              <a:rPr lang="en-US" altLang="de-DE" sz="1600"/>
              <a:t>	precision = Anz. Nachkommastellen (Default = 2)</a:t>
            </a:r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r>
              <a:rPr lang="en-US" altLang="de-DE" sz="1600"/>
              <a:t>	Negative Werte werden in Klammern gesetzt	($xx,xxx.xx)</a:t>
            </a:r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endParaRPr lang="en-US" altLang="de-DE" sz="1600"/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r>
              <a:rPr lang="en-US" altLang="de-DE" sz="1600"/>
              <a:t>x, X	</a:t>
            </a:r>
            <a:r>
              <a:rPr lang="en-US" altLang="de-DE" sz="1600">
                <a:solidFill>
                  <a:srgbClr val="FF0000"/>
                </a:solidFill>
              </a:rPr>
              <a:t>Hexadezimalformat</a:t>
            </a:r>
            <a:r>
              <a:rPr lang="en-US" altLang="de-DE" sz="1600"/>
              <a:t> (groß/klein signifikant)	xxx</a:t>
            </a:r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r>
              <a:rPr lang="en-US" altLang="de-DE" sz="1600"/>
              <a:t>	precision = Anzahl Hex-Ziffern (evtl. führende 0)</a:t>
            </a:r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endParaRPr lang="en-US" altLang="de-DE" sz="1600"/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r>
              <a:rPr lang="en-US" altLang="de-DE" sz="1600"/>
              <a:t>g, G	</a:t>
            </a:r>
            <a:r>
              <a:rPr lang="en-US" altLang="de-DE" sz="1600">
                <a:solidFill>
                  <a:srgbClr val="FF0000"/>
                </a:solidFill>
              </a:rPr>
              <a:t>General</a:t>
            </a:r>
            <a:r>
              <a:rPr lang="en-US" altLang="de-DE" sz="1600"/>
              <a:t> (kompaktestes Format für gegebenen Wert; Default)</a:t>
            </a:r>
            <a:endParaRPr lang="en-US" altLang="de-DE" sz="1600" dirty="0"/>
          </a:p>
        </p:txBody>
      </p:sp>
    </p:spTree>
    <p:extLst>
      <p:ext uri="{BB962C8B-B14F-4D97-AF65-F5344CB8AC3E}">
        <p14:creationId xmlns:p14="http://schemas.microsoft.com/office/powerpoint/2010/main" val="187591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Zahlenformatierung: Beispiele</a:t>
            </a:r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685800" y="1434480"/>
            <a:ext cx="7772400" cy="914400"/>
          </a:xfrm>
          <a:prstGeom prst="rect">
            <a:avLst/>
          </a:prstGeom>
        </p:spPr>
        <p:txBody>
          <a:bodyPr/>
          <a:lstStyle>
            <a:lvl1pPr marL="269875" indent="-26987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SzPct val="80000"/>
              <a:buFont typeface="Wingdings" pitchFamily="2" charset="2"/>
              <a:buChar char="§"/>
              <a:defRPr sz="28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895350" indent="-3540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Font typeface="Symbol" pitchFamily="18" charset="2"/>
              <a:buChar char="-"/>
              <a:defRPr sz="25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343025" indent="-26987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SzPct val="80000"/>
              <a:buFont typeface="Wingdings" pitchFamily="2" charset="2"/>
              <a:buChar char="§"/>
              <a:defRPr sz="22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790700" indent="-3540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Font typeface="Symbol" pitchFamily="18" charset="2"/>
              <a:buChar char="-"/>
              <a:defRPr sz="20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ct val="0"/>
              </a:spcBef>
              <a:buFontTx/>
              <a:buNone/>
              <a:tabLst>
                <a:tab pos="3657600" algn="l"/>
              </a:tabLst>
            </a:pPr>
            <a:r>
              <a:rPr lang="en-US" altLang="de-DE" sz="1800" dirty="0" err="1"/>
              <a:t>int</a:t>
            </a:r>
            <a:r>
              <a:rPr lang="en-US" altLang="de-DE" sz="1800" dirty="0"/>
              <a:t> x = 17;</a:t>
            </a:r>
          </a:p>
          <a:p>
            <a:pPr>
              <a:spcBef>
                <a:spcPct val="0"/>
              </a:spcBef>
              <a:buFontTx/>
              <a:buNone/>
              <a:tabLst>
                <a:tab pos="3657600" algn="l"/>
              </a:tabLst>
            </a:pPr>
            <a:endParaRPr lang="en-US" altLang="de-DE" sz="1800" dirty="0"/>
          </a:p>
          <a:p>
            <a:pPr>
              <a:spcBef>
                <a:spcPct val="0"/>
              </a:spcBef>
              <a:buFontTx/>
              <a:buNone/>
              <a:tabLst>
                <a:tab pos="3657600" algn="l"/>
              </a:tabLst>
            </a:pPr>
            <a:r>
              <a:rPr lang="en-US" altLang="de-DE" sz="1800" dirty="0" err="1"/>
              <a:t>Console.WriteLine</a:t>
            </a:r>
            <a:r>
              <a:rPr lang="en-US" altLang="de-DE" sz="1800" dirty="0"/>
              <a:t>($</a:t>
            </a:r>
            <a:r>
              <a:rPr lang="en-US" altLang="de-DE" sz="1800" dirty="0">
                <a:solidFill>
                  <a:srgbClr val="FF0000"/>
                </a:solidFill>
              </a:rPr>
              <a:t>"{x}"</a:t>
            </a:r>
            <a:r>
              <a:rPr lang="en-US" altLang="de-DE" sz="1800" dirty="0"/>
              <a:t>);	</a:t>
            </a:r>
            <a:r>
              <a:rPr lang="en-US" altLang="de-DE" sz="1800" dirty="0">
                <a:latin typeface="Courier New" panose="02070309020205020404" pitchFamily="49" charset="0"/>
              </a:rPr>
              <a:t>17</a:t>
            </a:r>
            <a:endParaRPr lang="en-US" altLang="de-DE" sz="1800" dirty="0"/>
          </a:p>
          <a:p>
            <a:pPr>
              <a:spcBef>
                <a:spcPct val="0"/>
              </a:spcBef>
              <a:buFontTx/>
              <a:buNone/>
              <a:tabLst>
                <a:tab pos="3657600" algn="l"/>
              </a:tabLst>
            </a:pPr>
            <a:r>
              <a:rPr lang="en-US" altLang="de-DE" sz="1800" dirty="0" err="1"/>
              <a:t>Console.WriteLine</a:t>
            </a:r>
            <a:r>
              <a:rPr lang="en-US" altLang="de-DE" sz="1800" dirty="0"/>
              <a:t>($</a:t>
            </a:r>
            <a:r>
              <a:rPr lang="en-US" altLang="de-DE" sz="1800" dirty="0">
                <a:solidFill>
                  <a:srgbClr val="FF0000"/>
                </a:solidFill>
              </a:rPr>
              <a:t>"{</a:t>
            </a:r>
            <a:r>
              <a:rPr lang="en-US" altLang="de-DE" sz="1800" dirty="0"/>
              <a:t>x</a:t>
            </a:r>
            <a:r>
              <a:rPr lang="en-US" altLang="de-DE" sz="1800" dirty="0">
                <a:solidFill>
                  <a:srgbClr val="FF0000"/>
                </a:solidFill>
              </a:rPr>
              <a:t>,5}"</a:t>
            </a:r>
            <a:r>
              <a:rPr lang="en-US" altLang="de-DE" sz="1800" dirty="0"/>
              <a:t>,);	</a:t>
            </a:r>
            <a:r>
              <a:rPr lang="en-US" altLang="de-DE" sz="1800" dirty="0">
                <a:latin typeface="Courier New" panose="02070309020205020404" pitchFamily="49" charset="0"/>
              </a:rPr>
              <a:t>   17</a:t>
            </a:r>
            <a:endParaRPr lang="en-US" altLang="de-DE" sz="1800" dirty="0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685800" y="4852516"/>
            <a:ext cx="777240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de-DE" sz="1800" dirty="0" err="1">
                <a:latin typeface="Arial" panose="020B0604020202020204" pitchFamily="34" charset="0"/>
              </a:rPr>
              <a:t>Console.WriteLine</a:t>
            </a:r>
            <a:r>
              <a:rPr lang="en-US" altLang="de-DE" sz="1800" dirty="0">
                <a:latin typeface="Arial" panose="020B0604020202020204" pitchFamily="34" charset="0"/>
              </a:rPr>
              <a:t>(</a:t>
            </a:r>
            <a:r>
              <a:rPr lang="en-US" altLang="de-DE" sz="1800" dirty="0"/>
              <a:t>$</a:t>
            </a:r>
            <a:r>
              <a:rPr lang="en-US" altLang="de-DE" sz="1800" dirty="0">
                <a:solidFill>
                  <a:srgbClr val="FF0000"/>
                </a:solidFill>
                <a:latin typeface="Arial" panose="020B0604020202020204" pitchFamily="34" charset="0"/>
              </a:rPr>
              <a:t>"{</a:t>
            </a:r>
            <a:r>
              <a:rPr lang="en-US" altLang="de-DE" sz="1800" dirty="0" err="1">
                <a:latin typeface="Arial" panose="020B0604020202020204" pitchFamily="34" charset="0"/>
              </a:rPr>
              <a:t>x</a:t>
            </a:r>
            <a:r>
              <a:rPr lang="en-US" altLang="de-DE" sz="1800" dirty="0" err="1">
                <a:solidFill>
                  <a:srgbClr val="FF0000"/>
                </a:solidFill>
                <a:latin typeface="Arial" panose="020B0604020202020204" pitchFamily="34" charset="0"/>
              </a:rPr>
              <a:t>:x</a:t>
            </a:r>
            <a:r>
              <a:rPr lang="en-US" altLang="de-DE" sz="1800" dirty="0">
                <a:solidFill>
                  <a:srgbClr val="FF0000"/>
                </a:solidFill>
                <a:latin typeface="Arial" panose="020B0604020202020204" pitchFamily="34" charset="0"/>
              </a:rPr>
              <a:t>}"</a:t>
            </a:r>
            <a:r>
              <a:rPr lang="en-US" altLang="de-DE" sz="1800" dirty="0">
                <a:latin typeface="Arial" panose="020B0604020202020204" pitchFamily="34" charset="0"/>
              </a:rPr>
              <a:t>, x);	</a:t>
            </a:r>
            <a:r>
              <a:rPr lang="en-US" altLang="de-DE" sz="1800" dirty="0">
                <a:latin typeface="Courier New" panose="02070309020205020404" pitchFamily="49" charset="0"/>
              </a:rPr>
              <a:t>11</a:t>
            </a:r>
            <a:endParaRPr lang="en-US" altLang="de-DE" sz="1800" dirty="0">
              <a:latin typeface="Arial" panose="020B0604020202020204" pitchFamily="34" charset="0"/>
            </a:endParaRPr>
          </a:p>
          <a:p>
            <a:r>
              <a:rPr lang="en-US" altLang="de-DE" sz="1800" dirty="0" err="1">
                <a:latin typeface="Arial" panose="020B0604020202020204" pitchFamily="34" charset="0"/>
              </a:rPr>
              <a:t>Console.WriteLine</a:t>
            </a:r>
            <a:r>
              <a:rPr lang="en-US" altLang="de-DE" sz="1800" dirty="0">
                <a:latin typeface="Arial" panose="020B0604020202020204" pitchFamily="34" charset="0"/>
              </a:rPr>
              <a:t>(</a:t>
            </a:r>
            <a:r>
              <a:rPr lang="en-US" altLang="de-DE" sz="1800" dirty="0"/>
              <a:t>$</a:t>
            </a:r>
            <a:r>
              <a:rPr lang="en-US" altLang="de-DE" sz="1800" dirty="0">
                <a:solidFill>
                  <a:srgbClr val="FF0000"/>
                </a:solidFill>
                <a:latin typeface="Arial" panose="020B0604020202020204" pitchFamily="34" charset="0"/>
              </a:rPr>
              <a:t>"{</a:t>
            </a:r>
            <a:r>
              <a:rPr lang="en-US" altLang="de-DE" sz="1800" dirty="0">
                <a:latin typeface="Arial" panose="020B0604020202020204" pitchFamily="34" charset="0"/>
              </a:rPr>
              <a:t>x</a:t>
            </a:r>
            <a:r>
              <a:rPr lang="en-US" altLang="de-DE" sz="1800" dirty="0">
                <a:solidFill>
                  <a:srgbClr val="FF0000"/>
                </a:solidFill>
                <a:latin typeface="Arial" panose="020B0604020202020204" pitchFamily="34" charset="0"/>
              </a:rPr>
              <a:t>:x4}"</a:t>
            </a:r>
            <a:r>
              <a:rPr lang="en-US" altLang="de-DE" sz="1800" dirty="0">
                <a:latin typeface="Arial" panose="020B0604020202020204" pitchFamily="34" charset="0"/>
              </a:rPr>
              <a:t>, x);	</a:t>
            </a:r>
            <a:r>
              <a:rPr lang="en-US" altLang="de-DE" sz="1800" dirty="0">
                <a:latin typeface="Courier New" panose="02070309020205020404" pitchFamily="49" charset="0"/>
              </a:rPr>
              <a:t>0011</a:t>
            </a: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685800" y="4132436"/>
            <a:ext cx="777240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de-DE" sz="1800" dirty="0" err="1">
                <a:latin typeface="Arial" panose="020B0604020202020204" pitchFamily="34" charset="0"/>
              </a:rPr>
              <a:t>Console.WriteLine</a:t>
            </a:r>
            <a:r>
              <a:rPr lang="en-US" altLang="de-DE" sz="1800" dirty="0">
                <a:latin typeface="Arial" panose="020B0604020202020204" pitchFamily="34" charset="0"/>
              </a:rPr>
              <a:t>(</a:t>
            </a:r>
            <a:r>
              <a:rPr lang="en-US" altLang="de-DE" sz="1800" dirty="0"/>
              <a:t>$</a:t>
            </a:r>
            <a:r>
              <a:rPr lang="en-US" altLang="de-DE" sz="1800" dirty="0">
                <a:solidFill>
                  <a:srgbClr val="FF0000"/>
                </a:solidFill>
                <a:latin typeface="Arial" panose="020B0604020202020204" pitchFamily="34" charset="0"/>
              </a:rPr>
              <a:t>"{</a:t>
            </a:r>
            <a:r>
              <a:rPr lang="en-US" altLang="de-DE" sz="1800" dirty="0" err="1">
                <a:latin typeface="Arial" panose="020B0604020202020204" pitchFamily="34" charset="0"/>
              </a:rPr>
              <a:t>x</a:t>
            </a:r>
            <a:r>
              <a:rPr lang="en-US" altLang="de-DE" sz="1800" dirty="0" err="1">
                <a:solidFill>
                  <a:srgbClr val="FF0000"/>
                </a:solidFill>
                <a:latin typeface="Arial" panose="020B0604020202020204" pitchFamily="34" charset="0"/>
              </a:rPr>
              <a:t>:E</a:t>
            </a:r>
            <a:r>
              <a:rPr lang="en-US" altLang="de-DE" sz="1800" dirty="0">
                <a:solidFill>
                  <a:srgbClr val="FF0000"/>
                </a:solidFill>
                <a:latin typeface="Arial" panose="020B0604020202020204" pitchFamily="34" charset="0"/>
              </a:rPr>
              <a:t>}"</a:t>
            </a:r>
            <a:r>
              <a:rPr lang="en-US" altLang="de-DE" sz="1800" dirty="0">
                <a:latin typeface="Arial" panose="020B0604020202020204" pitchFamily="34" charset="0"/>
              </a:rPr>
              <a:t>, x);	</a:t>
            </a:r>
            <a:r>
              <a:rPr lang="en-US" altLang="de-DE" sz="1800" dirty="0">
                <a:latin typeface="Courier New" panose="02070309020205020404" pitchFamily="49" charset="0"/>
              </a:rPr>
              <a:t>1.700000E+001</a:t>
            </a:r>
            <a:endParaRPr lang="en-US" altLang="de-DE" sz="1800" dirty="0">
              <a:latin typeface="Arial" panose="020B0604020202020204" pitchFamily="34" charset="0"/>
            </a:endParaRPr>
          </a:p>
          <a:p>
            <a:r>
              <a:rPr lang="en-US" altLang="de-DE" sz="1800" dirty="0" err="1">
                <a:latin typeface="Arial" panose="020B0604020202020204" pitchFamily="34" charset="0"/>
              </a:rPr>
              <a:t>Console.WriteLine</a:t>
            </a:r>
            <a:r>
              <a:rPr lang="en-US" altLang="de-DE" sz="1800" dirty="0">
                <a:latin typeface="Arial" panose="020B0604020202020204" pitchFamily="34" charset="0"/>
              </a:rPr>
              <a:t>(</a:t>
            </a:r>
            <a:r>
              <a:rPr lang="en-US" altLang="de-DE" sz="1800" dirty="0"/>
              <a:t>$</a:t>
            </a:r>
            <a:r>
              <a:rPr lang="en-US" altLang="de-DE" sz="1800" dirty="0">
                <a:solidFill>
                  <a:srgbClr val="FF0000"/>
                </a:solidFill>
                <a:latin typeface="Arial" panose="020B0604020202020204" pitchFamily="34" charset="0"/>
              </a:rPr>
              <a:t>"{</a:t>
            </a:r>
            <a:r>
              <a:rPr lang="en-US" altLang="de-DE" sz="1800" dirty="0">
                <a:latin typeface="Arial" panose="020B0604020202020204" pitchFamily="34" charset="0"/>
              </a:rPr>
              <a:t>x</a:t>
            </a:r>
            <a:r>
              <a:rPr lang="en-US" altLang="de-DE" sz="1800" dirty="0">
                <a:solidFill>
                  <a:srgbClr val="FF0000"/>
                </a:solidFill>
                <a:latin typeface="Arial" panose="020B0604020202020204" pitchFamily="34" charset="0"/>
              </a:rPr>
              <a:t>:e1}"</a:t>
            </a:r>
            <a:r>
              <a:rPr lang="en-US" altLang="de-DE" sz="1800" dirty="0">
                <a:latin typeface="Arial" panose="020B0604020202020204" pitchFamily="34" charset="0"/>
              </a:rPr>
              <a:t>, x);	</a:t>
            </a:r>
            <a:r>
              <a:rPr lang="en-US" altLang="de-DE" sz="1800" dirty="0">
                <a:latin typeface="Courier New" panose="02070309020205020404" pitchFamily="49" charset="0"/>
              </a:rPr>
              <a:t>1.7e+001</a:t>
            </a: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685800" y="3412356"/>
            <a:ext cx="777240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de-DE" sz="1800" dirty="0" err="1">
                <a:latin typeface="Arial" panose="020B0604020202020204" pitchFamily="34" charset="0"/>
              </a:rPr>
              <a:t>Console.WriteLine</a:t>
            </a:r>
            <a:r>
              <a:rPr lang="en-US" altLang="de-DE" sz="1800" dirty="0">
                <a:latin typeface="Arial" panose="020B0604020202020204" pitchFamily="34" charset="0"/>
              </a:rPr>
              <a:t>(</a:t>
            </a:r>
            <a:r>
              <a:rPr lang="en-US" altLang="de-DE" sz="1800" dirty="0"/>
              <a:t>$</a:t>
            </a:r>
            <a:r>
              <a:rPr lang="en-US" altLang="de-DE" sz="1800" dirty="0">
                <a:solidFill>
                  <a:srgbClr val="FF0000"/>
                </a:solidFill>
                <a:latin typeface="Arial" panose="020B0604020202020204" pitchFamily="34" charset="0"/>
              </a:rPr>
              <a:t>"{</a:t>
            </a:r>
            <a:r>
              <a:rPr lang="en-US" altLang="de-DE" sz="1800" dirty="0" err="1">
                <a:latin typeface="Arial" panose="020B0604020202020204" pitchFamily="34" charset="0"/>
              </a:rPr>
              <a:t>x</a:t>
            </a:r>
            <a:r>
              <a:rPr lang="en-US" altLang="de-DE" sz="1800" dirty="0" err="1">
                <a:solidFill>
                  <a:srgbClr val="FF0000"/>
                </a:solidFill>
                <a:latin typeface="Arial" panose="020B0604020202020204" pitchFamily="34" charset="0"/>
              </a:rPr>
              <a:t>:f</a:t>
            </a:r>
            <a:r>
              <a:rPr lang="en-US" altLang="de-DE" sz="1800" dirty="0">
                <a:solidFill>
                  <a:srgbClr val="FF0000"/>
                </a:solidFill>
                <a:latin typeface="Arial" panose="020B0604020202020204" pitchFamily="34" charset="0"/>
              </a:rPr>
              <a:t>}"</a:t>
            </a:r>
            <a:r>
              <a:rPr lang="en-US" altLang="de-DE" sz="1800" dirty="0">
                <a:latin typeface="Arial" panose="020B0604020202020204" pitchFamily="34" charset="0"/>
              </a:rPr>
              <a:t>, x);	</a:t>
            </a:r>
            <a:r>
              <a:rPr lang="en-US" altLang="de-DE" sz="1800" dirty="0">
                <a:latin typeface="Courier New" panose="02070309020205020404" pitchFamily="49" charset="0"/>
              </a:rPr>
              <a:t>17.00</a:t>
            </a:r>
            <a:endParaRPr lang="en-US" altLang="de-DE" sz="1800" dirty="0">
              <a:latin typeface="Arial" panose="020B0604020202020204" pitchFamily="34" charset="0"/>
            </a:endParaRPr>
          </a:p>
          <a:p>
            <a:r>
              <a:rPr lang="en-US" altLang="de-DE" sz="1800" dirty="0" err="1">
                <a:latin typeface="Arial" panose="020B0604020202020204" pitchFamily="34" charset="0"/>
              </a:rPr>
              <a:t>Console.WriteLine</a:t>
            </a:r>
            <a:r>
              <a:rPr lang="en-US" altLang="de-DE" sz="1800" dirty="0">
                <a:latin typeface="Arial" panose="020B0604020202020204" pitchFamily="34" charset="0"/>
              </a:rPr>
              <a:t>(</a:t>
            </a:r>
            <a:r>
              <a:rPr lang="en-US" altLang="de-DE" sz="1800" dirty="0"/>
              <a:t>$</a:t>
            </a:r>
            <a:r>
              <a:rPr lang="en-US" altLang="de-DE" sz="1800" dirty="0">
                <a:solidFill>
                  <a:srgbClr val="FF0000"/>
                </a:solidFill>
                <a:latin typeface="Arial" panose="020B0604020202020204" pitchFamily="34" charset="0"/>
              </a:rPr>
              <a:t>"{</a:t>
            </a:r>
            <a:r>
              <a:rPr lang="en-US" altLang="de-DE" sz="1800" dirty="0">
                <a:latin typeface="Arial" panose="020B0604020202020204" pitchFamily="34" charset="0"/>
              </a:rPr>
              <a:t>x</a:t>
            </a:r>
            <a:r>
              <a:rPr lang="en-US" altLang="de-DE" sz="1800" dirty="0">
                <a:solidFill>
                  <a:srgbClr val="FF0000"/>
                </a:solidFill>
                <a:latin typeface="Arial" panose="020B0604020202020204" pitchFamily="34" charset="0"/>
              </a:rPr>
              <a:t>:f1}"</a:t>
            </a:r>
            <a:r>
              <a:rPr lang="en-US" altLang="de-DE" sz="1800" dirty="0">
                <a:latin typeface="Arial" panose="020B0604020202020204" pitchFamily="34" charset="0"/>
              </a:rPr>
              <a:t>, x);	</a:t>
            </a:r>
            <a:r>
              <a:rPr lang="en-US" altLang="de-DE" sz="1800" dirty="0">
                <a:latin typeface="Courier New" panose="02070309020205020404" pitchFamily="49" charset="0"/>
              </a:rPr>
              <a:t>17.0</a:t>
            </a:r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685800" y="2692276"/>
            <a:ext cx="777240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de-DE" sz="1800" dirty="0" err="1">
                <a:latin typeface="Arial" panose="020B0604020202020204" pitchFamily="34" charset="0"/>
              </a:rPr>
              <a:t>Console.WriteLine</a:t>
            </a:r>
            <a:r>
              <a:rPr lang="en-US" altLang="de-DE" sz="1800" dirty="0">
                <a:latin typeface="Arial" panose="020B0604020202020204" pitchFamily="34" charset="0"/>
              </a:rPr>
              <a:t>(</a:t>
            </a:r>
            <a:r>
              <a:rPr lang="en-US" altLang="de-DE" sz="1800" dirty="0"/>
              <a:t>$</a:t>
            </a:r>
            <a:r>
              <a:rPr lang="en-US" altLang="de-DE" sz="1800" dirty="0">
                <a:solidFill>
                  <a:srgbClr val="FF0000"/>
                </a:solidFill>
                <a:latin typeface="Arial" panose="020B0604020202020204" pitchFamily="34" charset="0"/>
              </a:rPr>
              <a:t>"{</a:t>
            </a:r>
            <a:r>
              <a:rPr lang="en-US" altLang="de-DE" sz="1800" dirty="0" err="1">
                <a:latin typeface="Arial" panose="020B0604020202020204" pitchFamily="34" charset="0"/>
              </a:rPr>
              <a:t>x</a:t>
            </a:r>
            <a:r>
              <a:rPr lang="en-US" altLang="de-DE" sz="1800" dirty="0" err="1">
                <a:solidFill>
                  <a:srgbClr val="FF0000"/>
                </a:solidFill>
                <a:latin typeface="Arial" panose="020B0604020202020204" pitchFamily="34" charset="0"/>
              </a:rPr>
              <a:t>:d</a:t>
            </a:r>
            <a:r>
              <a:rPr lang="en-US" altLang="de-DE" sz="1800" dirty="0">
                <a:solidFill>
                  <a:srgbClr val="FF0000"/>
                </a:solidFill>
                <a:latin typeface="Arial" panose="020B0604020202020204" pitchFamily="34" charset="0"/>
              </a:rPr>
              <a:t>}"</a:t>
            </a:r>
            <a:r>
              <a:rPr lang="en-US" altLang="de-DE" sz="1800" dirty="0">
                <a:latin typeface="Arial" panose="020B0604020202020204" pitchFamily="34" charset="0"/>
              </a:rPr>
              <a:t>,);	</a:t>
            </a:r>
            <a:r>
              <a:rPr lang="en-US" altLang="de-DE" sz="1800" dirty="0">
                <a:latin typeface="Courier New" panose="02070309020205020404" pitchFamily="49" charset="0"/>
              </a:rPr>
              <a:t>17</a:t>
            </a:r>
            <a:endParaRPr lang="en-US" altLang="de-DE" sz="1800" dirty="0">
              <a:latin typeface="Arial" panose="020B0604020202020204" pitchFamily="34" charset="0"/>
            </a:endParaRPr>
          </a:p>
          <a:p>
            <a:r>
              <a:rPr lang="en-US" altLang="de-DE" sz="1800" dirty="0" err="1">
                <a:latin typeface="Arial" panose="020B0604020202020204" pitchFamily="34" charset="0"/>
              </a:rPr>
              <a:t>Console.WriteLine</a:t>
            </a:r>
            <a:r>
              <a:rPr lang="en-US" altLang="de-DE" sz="1800" dirty="0">
                <a:latin typeface="Arial" panose="020B0604020202020204" pitchFamily="34" charset="0"/>
              </a:rPr>
              <a:t>(</a:t>
            </a:r>
            <a:r>
              <a:rPr lang="en-US" altLang="de-DE" sz="1800" dirty="0"/>
              <a:t>$</a:t>
            </a:r>
            <a:r>
              <a:rPr lang="en-US" altLang="de-DE" sz="1800" dirty="0">
                <a:solidFill>
                  <a:srgbClr val="FF0000"/>
                </a:solidFill>
                <a:latin typeface="Arial" panose="020B0604020202020204" pitchFamily="34" charset="0"/>
              </a:rPr>
              <a:t>"{</a:t>
            </a:r>
            <a:r>
              <a:rPr lang="en-US" altLang="de-DE" sz="1800" dirty="0">
                <a:latin typeface="Arial" panose="020B0604020202020204" pitchFamily="34" charset="0"/>
              </a:rPr>
              <a:t>x</a:t>
            </a:r>
            <a:r>
              <a:rPr lang="en-US" altLang="de-DE" sz="1800" dirty="0">
                <a:solidFill>
                  <a:srgbClr val="FF0000"/>
                </a:solidFill>
                <a:latin typeface="Arial" panose="020B0604020202020204" pitchFamily="34" charset="0"/>
              </a:rPr>
              <a:t>,5:d3}"</a:t>
            </a:r>
            <a:r>
              <a:rPr lang="en-US" altLang="de-DE" sz="1800" dirty="0">
                <a:latin typeface="Arial" panose="020B0604020202020204" pitchFamily="34" charset="0"/>
              </a:rPr>
              <a:t>,);	</a:t>
            </a:r>
            <a:r>
              <a:rPr lang="en-US" altLang="de-DE" sz="1800" dirty="0">
                <a:latin typeface="Courier New" panose="02070309020205020404" pitchFamily="49" charset="0"/>
              </a:rPr>
              <a:t>  017</a:t>
            </a:r>
          </a:p>
        </p:txBody>
      </p:sp>
    </p:spTree>
    <p:extLst>
      <p:ext uri="{BB962C8B-B14F-4D97-AF65-F5344CB8AC3E}">
        <p14:creationId xmlns:p14="http://schemas.microsoft.com/office/powerpoint/2010/main" val="1114003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utoUpdateAnimBg="0"/>
      <p:bldP spid="6" grpId="0" autoUpdateAnimBg="0"/>
      <p:bldP spid="7" grpId="0" autoUpdateAnimBg="0"/>
      <p:bldP spid="8" grpId="0" autoUpdateAnimBg="0"/>
    </p:bldLst>
  </p:timing>
</p:sld>
</file>

<file path=ppt/theme/theme1.xml><?xml version="1.0" encoding="utf-8"?>
<a:theme xmlns:a="http://schemas.openxmlformats.org/drawingml/2006/main" name="1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5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6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4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162</Words>
  <Application>Microsoft Office PowerPoint</Application>
  <PresentationFormat>Bildschirmpräsentation (4:3)</PresentationFormat>
  <Paragraphs>90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5</vt:i4>
      </vt:variant>
      <vt:variant>
        <vt:lpstr>Folientitel</vt:lpstr>
      </vt:variant>
      <vt:variant>
        <vt:i4>7</vt:i4>
      </vt:variant>
    </vt:vector>
  </HeadingPairs>
  <TitlesOfParts>
    <vt:vector size="19" baseType="lpstr">
      <vt:lpstr>Arial</vt:lpstr>
      <vt:lpstr>Calibri</vt:lpstr>
      <vt:lpstr>Courier New</vt:lpstr>
      <vt:lpstr>Monaco</vt:lpstr>
      <vt:lpstr>Symbol</vt:lpstr>
      <vt:lpstr>Times New Roman</vt:lpstr>
      <vt:lpstr>Wingdings</vt:lpstr>
      <vt:lpstr>1_Larissa</vt:lpstr>
      <vt:lpstr>2_Larissa</vt:lpstr>
      <vt:lpstr>5_Larissa</vt:lpstr>
      <vt:lpstr>6_Larissa</vt:lpstr>
      <vt:lpstr>4_Larissa</vt:lpstr>
      <vt:lpstr>Unsere ersten Anweisungen</vt:lpstr>
      <vt:lpstr>Einlesen von Zahlen</vt:lpstr>
      <vt:lpstr>Bsp: Einlesen eines Gleitkomma-Bruches</vt:lpstr>
      <vt:lpstr>Ausgabe von Variablen mit Platzhaltern</vt:lpstr>
      <vt:lpstr>Ausgabe von Variablen mit Platzhaltern 2</vt:lpstr>
      <vt:lpstr>Formatierungscode für Zahlen</vt:lpstr>
      <vt:lpstr>Zahlenformatierung: Beispiele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Michael Bucek</dc:creator>
  <cp:lastModifiedBy>Aitenbichler Herbert</cp:lastModifiedBy>
  <cp:revision>731</cp:revision>
  <cp:lastPrinted>2014-09-10T13:20:02Z</cp:lastPrinted>
  <dcterms:created xsi:type="dcterms:W3CDTF">2011-08-18T07:37:01Z</dcterms:created>
  <dcterms:modified xsi:type="dcterms:W3CDTF">2021-09-17T08:50:24Z</dcterms:modified>
</cp:coreProperties>
</file>