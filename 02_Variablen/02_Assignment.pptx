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4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9" r:id="rId1"/>
    <p:sldMasterId id="2147483686" r:id="rId2"/>
    <p:sldMasterId id="2147483693" r:id="rId3"/>
    <p:sldMasterId id="2147483698" r:id="rId4"/>
    <p:sldMasterId id="2147483675" r:id="rId5"/>
  </p:sldMasterIdLst>
  <p:notesMasterIdLst>
    <p:notesMasterId r:id="rId11"/>
  </p:notesMasterIdLst>
  <p:handoutMasterIdLst>
    <p:handoutMasterId r:id="rId12"/>
  </p:handoutMasterIdLst>
  <p:sldIdLst>
    <p:sldId id="272" r:id="rId6"/>
    <p:sldId id="280" r:id="rId7"/>
    <p:sldId id="281" r:id="rId8"/>
    <p:sldId id="283" r:id="rId9"/>
    <p:sldId id="282" r:id="rId10"/>
  </p:sldIdLst>
  <p:sldSz cx="9144000" cy="6858000" type="screen4x3"/>
  <p:notesSz cx="6858000" cy="9926638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A80000"/>
    <a:srgbClr val="FFAA01"/>
    <a:srgbClr val="F99707"/>
    <a:srgbClr val="FCB504"/>
    <a:srgbClr val="B52217"/>
    <a:srgbClr val="960000"/>
    <a:srgbClr val="A40000"/>
    <a:srgbClr val="D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50" autoAdjust="0"/>
  </p:normalViewPr>
  <p:slideViewPr>
    <p:cSldViewPr>
      <p:cViewPr varScale="1">
        <p:scale>
          <a:sx n="97" d="100"/>
          <a:sy n="97" d="100"/>
        </p:scale>
        <p:origin x="1083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322"/>
    </p:cViewPr>
  </p:sorterViewPr>
  <p:notesViewPr>
    <p:cSldViewPr>
      <p:cViewPr varScale="1">
        <p:scale>
          <a:sx n="81" d="100"/>
          <a:sy n="81" d="100"/>
        </p:scale>
        <p:origin x="-2844" y="-90"/>
      </p:cViewPr>
      <p:guideLst>
        <p:guide orient="horz" pos="3127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7F52D72-ED1D-48E3-B38D-D27DF71D5328}" type="datetimeFigureOut">
              <a:rPr lang="de-AT"/>
              <a:pPr>
                <a:defRPr/>
              </a:pPr>
              <a:t>03.10.2021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B8876E5-8CB2-488D-BB52-3FDCCA373F31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348035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3163736-15EA-4775-815E-DDF88F21B7ED}" type="datetimeFigureOut">
              <a:rPr lang="de-AT"/>
              <a:pPr>
                <a:defRPr/>
              </a:pPr>
              <a:t>03.10.2021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947738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de-AT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480" y="4714876"/>
            <a:ext cx="5487041" cy="44672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noProof="0"/>
              <a:t>Textmasterformat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  <a:endParaRPr lang="de-AT" noProof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3852" y="9428164"/>
            <a:ext cx="2972547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6EAC6C9-0F3A-40E0-896B-88DE66496CB5}" type="slidenum">
              <a:rPr lang="de-AT"/>
              <a:pPr>
                <a:defRPr/>
              </a:pPr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1234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180975" y="-674688"/>
            <a:ext cx="9421813" cy="706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hteck 2"/>
          <p:cNvSpPr/>
          <p:nvPr userDrawn="1"/>
        </p:nvSpPr>
        <p:spPr>
          <a:xfrm>
            <a:off x="-180975" y="4437063"/>
            <a:ext cx="9648825" cy="25209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4" name="Rechteck 3"/>
          <p:cNvSpPr/>
          <p:nvPr userDrawn="1"/>
        </p:nvSpPr>
        <p:spPr>
          <a:xfrm>
            <a:off x="4859338" y="0"/>
            <a:ext cx="3816350" cy="9080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65100" dist="38100" dir="2700000" algn="tl" rotWithShape="0">
              <a:prstClr val="black">
                <a:alpha val="2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5" name="Grafik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59363" y="260350"/>
            <a:ext cx="340042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7"/>
          <p:cNvSpPr txBox="1">
            <a:spLocks noChangeArrowheads="1"/>
          </p:cNvSpPr>
          <p:nvPr userDrawn="1"/>
        </p:nvSpPr>
        <p:spPr>
          <a:xfrm>
            <a:off x="469900" y="1700213"/>
            <a:ext cx="7485063" cy="10810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Hier fügen Sie den </a:t>
            </a:r>
            <a:b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</a:br>
            <a:r>
              <a:rPr lang="de-AT" sz="3800" noProof="1">
                <a:solidFill>
                  <a:schemeClr val="tx1">
                    <a:lumMod val="85000"/>
                    <a:lumOff val="15000"/>
                  </a:schemeClr>
                </a:solidFill>
                <a:effectLst/>
              </a:rPr>
              <a:t>Titel der Präsentation ein.</a:t>
            </a:r>
            <a:endParaRPr lang="de-DE" sz="3800" dirty="0">
              <a:solidFill>
                <a:schemeClr val="tx1">
                  <a:lumMod val="85000"/>
                  <a:lumOff val="15000"/>
                </a:schemeClr>
              </a:solidFill>
              <a:effectLst/>
            </a:endParaRPr>
          </a:p>
        </p:txBody>
      </p:sp>
      <p:sp>
        <p:nvSpPr>
          <p:cNvPr id="7" name="Rectangle 28"/>
          <p:cNvSpPr txBox="1">
            <a:spLocks noChangeArrowheads="1"/>
          </p:cNvSpPr>
          <p:nvPr userDrawn="1"/>
        </p:nvSpPr>
        <p:spPr>
          <a:xfrm>
            <a:off x="469900" y="3062288"/>
            <a:ext cx="7510463" cy="584200"/>
          </a:xfrm>
          <a:prstGeom prst="rect">
            <a:avLst/>
          </a:prstGeom>
        </p:spPr>
        <p:txBody>
          <a:bodyPr/>
          <a:lstStyle>
            <a:lvl1pPr marL="26987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defTabSz="914400" rtl="0" eaLnBrk="1" latinLnBrk="0" hangingPunct="1">
              <a:spcBef>
                <a:spcPct val="20000"/>
              </a:spcBef>
              <a:buFont typeface="Symbol" pitchFamily="18" charset="2"/>
              <a:buChar char="-"/>
              <a:defRPr sz="25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defTabSz="914400" rtl="0" eaLnBrk="1" latinLnBrk="0" hangingPunct="1">
              <a:spcBef>
                <a:spcPct val="20000"/>
              </a:spcBef>
              <a:buSzPct val="65000"/>
              <a:buFont typeface="Wingdings" pitchFamily="2" charset="2"/>
              <a:buChar char="§"/>
              <a:defRPr sz="22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de-DE" sz="2400" noProof="1"/>
              <a:t>Fügen Sie hier den Untertitel ein.</a:t>
            </a:r>
            <a:endParaRPr lang="de-DE" sz="2400" dirty="0"/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95288" y="4837113"/>
            <a:ext cx="6553200" cy="154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03.10.2021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A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AT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C9E1A3-5F60-4045-A7A5-F47B61D1FECD}" type="datetimeFigureOut">
              <a:rPr lang="de-AT" smtClean="0"/>
              <a:pPr/>
              <a:t>03.10.2021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4407A703-FA5D-4D14-B9A3-005BE4A028D7}" type="slidenum">
              <a:rPr lang="de-AT" smtClean="0"/>
              <a:pPr/>
              <a:t>‹Nr.›</a:t>
            </a:fld>
            <a:endParaRPr lang="de-AT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</p:spPr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68052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1.jpe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0000">
                <a:schemeClr val="bg1">
                  <a:lumMod val="65000"/>
                </a:schemeClr>
              </a:gs>
              <a:gs pos="0">
                <a:schemeClr val="tx1">
                  <a:lumMod val="61000"/>
                  <a:lumOff val="39000"/>
                </a:schemeClr>
              </a:gs>
              <a:gs pos="50000">
                <a:schemeClr val="bg1">
                  <a:lumMod val="75000"/>
                </a:schemeClr>
              </a:gs>
              <a:gs pos="100000">
                <a:schemeClr val="tx1">
                  <a:lumMod val="50000"/>
                  <a:lumOff val="5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90117" name="Grafik 6"/>
          <p:cNvPicPr>
            <a:picLocks noChangeAspect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558454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2015/16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D1B3A30B-827A-41C3-9327-D27E88FC99E1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41" r:id="rId8"/>
    <p:sldLayoutId id="2147483742" r:id="rId9"/>
    <p:sldLayoutId id="2147483740" r:id="rId10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0246" name="Grafik 6"/>
          <p:cNvPicPr>
            <a:picLocks noChangeAspect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702470" cy="236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I_POS C#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C5A4FFB9-E613-43CD-964A-AE1E9E6225EE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C00000"/>
              </a:gs>
              <a:gs pos="0">
                <a:srgbClr val="A40000">
                  <a:lumMod val="100000"/>
                </a:srgbClr>
              </a:gs>
              <a:gs pos="50000">
                <a:srgbClr val="D60000"/>
              </a:gs>
              <a:gs pos="100000">
                <a:srgbClr val="A80000">
                  <a:lumMod val="98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96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17414" name="Grafik 6"/>
          <p:cNvPicPr>
            <a:picLocks noChangeAspect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6DD54E4-5D87-4DDA-86A7-5D3265BB197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43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12" name="Rechteck 11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4582" name="Grafik 6"/>
          <p:cNvPicPr>
            <a:picLocks noChangeAspect="1"/>
          </p:cNvPicPr>
          <p:nvPr userDrawn="1"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9E0A7362-2F94-4D89-A5F0-263D764F0B24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70000">
              <a:schemeClr val="bg1">
                <a:tint val="80000"/>
                <a:satMod val="300000"/>
                <a:lumMod val="85000"/>
                <a:lumOff val="15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FFAA01"/>
              </a:gs>
              <a:gs pos="0">
                <a:srgbClr val="F99707"/>
              </a:gs>
              <a:gs pos="50000">
                <a:srgbClr val="FFC000"/>
              </a:gs>
              <a:gs pos="100000">
                <a:srgbClr val="F99707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sp>
        <p:nvSpPr>
          <p:cNvPr id="9" name="Rechteck 8"/>
          <p:cNvSpPr/>
          <p:nvPr userDrawn="1"/>
        </p:nvSpPr>
        <p:spPr>
          <a:xfrm>
            <a:off x="-7938" y="-26988"/>
            <a:ext cx="9253538" cy="80963"/>
          </a:xfrm>
          <a:prstGeom prst="rect">
            <a:avLst/>
          </a:prstGeom>
          <a:solidFill>
            <a:srgbClr val="F9970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30726" name="Grafik 6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Textplatzhalter 2"/>
          <p:cNvSpPr>
            <a:spLocks noGrp="1"/>
          </p:cNvSpPr>
          <p:nvPr>
            <p:ph type="body" idx="1"/>
          </p:nvPr>
        </p:nvSpPr>
        <p:spPr bwMode="auto">
          <a:xfrm>
            <a:off x="457200" y="1268413"/>
            <a:ext cx="8229600" cy="4786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gray">
          <a:xfrm>
            <a:off x="349250" y="6361113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Seite 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  <a:sym typeface="Wingdings" pitchFamily="2" charset="2"/>
              </a:rPr>
              <a:t></a:t>
            </a:r>
            <a:r>
              <a:rPr lang="de-DE" sz="1000" dirty="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t> </a:t>
            </a:r>
            <a:fld id="{046146C9-533C-4473-A975-7739642B77BB}" type="slidenum">
              <a:rPr lang="de-DE" sz="1000">
                <a:solidFill>
                  <a:schemeClr val="bg1">
                    <a:lumMod val="50000"/>
                  </a:schemeClr>
                </a:solidFill>
                <a:latin typeface="+mn-lt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dirty="0">
              <a:solidFill>
                <a:schemeClr val="bg1">
                  <a:lumMod val="50000"/>
                </a:schemeClr>
              </a:solidFill>
              <a:latin typeface="+mn-lt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SzPct val="65000"/>
        <a:buFont typeface="Wingdings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Foliennummernplatzhalter 4"/>
          <p:cNvSpPr>
            <a:spLocks noGrp="1"/>
          </p:cNvSpPr>
          <p:nvPr>
            <p:ph type="sldNum" sz="quarter" idx="4294967295"/>
          </p:nvPr>
        </p:nvSpPr>
        <p:spPr>
          <a:xfrm>
            <a:off x="6773863" y="6380163"/>
            <a:ext cx="2195512" cy="3413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Wingdings" panose="05000000000000000000" pitchFamily="2" charset="2"/>
              <a:buChar char="Ø"/>
              <a:defRPr sz="3200">
                <a:solidFill>
                  <a:srgbClr val="00008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•"/>
              <a:defRPr sz="2800">
                <a:solidFill>
                  <a:srgbClr val="00008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rgbClr val="00008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00008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0ABB23-8E16-40B9-A845-CB6C3B14536A}" type="slidenum">
              <a:rPr lang="de-DE" altLang="de-DE" sz="1400" smtClean="0">
                <a:solidFill>
                  <a:schemeClr val="bg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de-DE" altLang="de-DE" sz="1400">
              <a:solidFill>
                <a:schemeClr val="bg1"/>
              </a:solidFill>
            </a:endParaRPr>
          </a:p>
        </p:txBody>
      </p:sp>
      <p:sp>
        <p:nvSpPr>
          <p:cNvPr id="2150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de-DE" altLang="de-DE"/>
              <a:t>Zuweisungsoperator</a:t>
            </a:r>
          </a:p>
        </p:txBody>
      </p:sp>
      <p:pic>
        <p:nvPicPr>
          <p:cNvPr id="2150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50" y="1730375"/>
            <a:ext cx="5727700" cy="339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8421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Zuweisung / </a:t>
            </a:r>
            <a:r>
              <a:rPr lang="de-AT" dirty="0" err="1"/>
              <a:t>Assignement</a:t>
            </a:r>
            <a:endParaRPr lang="de-AT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55160"/>
            <a:ext cx="7772400" cy="4910144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tabLst>
                <a:tab pos="3657600" algn="l"/>
              </a:tabLst>
            </a:pPr>
            <a:r>
              <a:rPr lang="de-AT" altLang="de-DE" sz="2400" dirty="0"/>
              <a:t>Oft werden Zuweisungen in der folgenden Form verwendet: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</a:t>
            </a:r>
            <a:r>
              <a:rPr lang="en-US" altLang="de-DE" sz="1800" dirty="0" err="1">
                <a:latin typeface="Consolas" panose="020B0609020204030204" pitchFamily="49" charset="0"/>
              </a:rPr>
              <a:t>gesamtsumme</a:t>
            </a:r>
            <a:r>
              <a:rPr lang="en-US" altLang="de-DE" sz="1800" dirty="0">
                <a:latin typeface="Consolas" panose="020B0609020204030204" pitchFamily="49" charset="0"/>
              </a:rPr>
              <a:t> = </a:t>
            </a:r>
            <a:r>
              <a:rPr lang="en-US" altLang="de-DE" sz="1800" dirty="0" err="1">
                <a:latin typeface="Consolas" panose="020B0609020204030204" pitchFamily="49" charset="0"/>
              </a:rPr>
              <a:t>gesamtsumme</a:t>
            </a:r>
            <a:r>
              <a:rPr lang="en-US" altLang="de-DE" sz="1800" dirty="0">
                <a:latin typeface="Consolas" panose="020B0609020204030204" pitchFamily="49" charset="0"/>
              </a:rPr>
              <a:t> + wert;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tabLst>
                <a:tab pos="3657600" algn="l"/>
              </a:tabLst>
            </a:pPr>
            <a:r>
              <a:rPr lang="de-AT" altLang="de-DE" sz="2400" dirty="0"/>
              <a:t>Daher gibt es in </a:t>
            </a:r>
            <a:r>
              <a:rPr lang="de-AT" altLang="de-DE" sz="2400" dirty="0" err="1"/>
              <a:t>c#</a:t>
            </a:r>
            <a:r>
              <a:rPr lang="de-AT" altLang="de-DE" sz="2400" dirty="0"/>
              <a:t> eine Kurzform: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</a:t>
            </a:r>
            <a:r>
              <a:rPr lang="en-US" altLang="de-DE" sz="1800" dirty="0" err="1">
                <a:latin typeface="Consolas" panose="020B0609020204030204" pitchFamily="49" charset="0"/>
              </a:rPr>
              <a:t>gesamtsumme</a:t>
            </a:r>
            <a:r>
              <a:rPr lang="en-US" altLang="de-DE" sz="1800" dirty="0">
                <a:latin typeface="Consolas" panose="020B0609020204030204" pitchFamily="49" charset="0"/>
              </a:rPr>
              <a:t> </a:t>
            </a:r>
            <a:r>
              <a:rPr lang="en-US" altLang="de-DE" sz="1800" b="1" dirty="0">
                <a:latin typeface="Consolas" panose="020B0609020204030204" pitchFamily="49" charset="0"/>
              </a:rPr>
              <a:t>+=</a:t>
            </a:r>
            <a:r>
              <a:rPr lang="en-US" altLang="de-DE" sz="1800" dirty="0">
                <a:latin typeface="Consolas" panose="020B0609020204030204" pitchFamily="49" charset="0"/>
              </a:rPr>
              <a:t> wert;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CD2A78-C25C-4C2A-B84C-CB20999D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7834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400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Zuweisung / </a:t>
            </a:r>
            <a:r>
              <a:rPr lang="de-AT" dirty="0" err="1"/>
              <a:t>Assignement</a:t>
            </a:r>
            <a:r>
              <a:rPr lang="de-AT" dirty="0"/>
              <a:t> Operator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55160"/>
            <a:ext cx="7772400" cy="4910144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CD2A78-C25C-4C2A-B84C-CB20999D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7834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graphicFrame>
        <p:nvGraphicFramePr>
          <p:cNvPr id="3" name="Tabelle 9">
            <a:extLst>
              <a:ext uri="{FF2B5EF4-FFF2-40B4-BE49-F238E27FC236}">
                <a16:creationId xmlns:a16="http://schemas.microsoft.com/office/drawing/2014/main" id="{2C7CEF84-D690-4A88-BD6B-150D28BA2B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894222"/>
              </p:ext>
            </p:extLst>
          </p:nvPr>
        </p:nvGraphicFramePr>
        <p:xfrm>
          <a:off x="179511" y="1083798"/>
          <a:ext cx="8784977" cy="5036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80">
                  <a:extLst>
                    <a:ext uri="{9D8B030D-6E8A-4147-A177-3AD203B41FA5}">
                      <a16:colId xmlns:a16="http://schemas.microsoft.com/office/drawing/2014/main" val="918533049"/>
                    </a:ext>
                  </a:extLst>
                </a:gridCol>
                <a:gridCol w="5107740">
                  <a:extLst>
                    <a:ext uri="{9D8B030D-6E8A-4147-A177-3AD203B41FA5}">
                      <a16:colId xmlns:a16="http://schemas.microsoft.com/office/drawing/2014/main" val="1698725069"/>
                    </a:ext>
                  </a:extLst>
                </a:gridCol>
                <a:gridCol w="2957157">
                  <a:extLst>
                    <a:ext uri="{9D8B030D-6E8A-4147-A177-3AD203B41FA5}">
                      <a16:colId xmlns:a16="http://schemas.microsoft.com/office/drawing/2014/main" val="2930463460"/>
                    </a:ext>
                  </a:extLst>
                </a:gridCol>
              </a:tblGrid>
              <a:tr h="403082">
                <a:tc>
                  <a:txBody>
                    <a:bodyPr/>
                    <a:lstStyle/>
                    <a:p>
                      <a:pPr algn="ctr"/>
                      <a:r>
                        <a:rPr lang="de-AT" sz="1000" dirty="0">
                          <a:effectLst/>
                        </a:rPr>
                        <a:t>Operator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>
                          <a:effectLst/>
                        </a:rPr>
                        <a:t>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dirty="0" err="1">
                          <a:effectLst/>
                        </a:rPr>
                        <a:t>Example</a:t>
                      </a:r>
                      <a:endParaRPr lang="de-AT" dirty="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9141317"/>
                  </a:ext>
                </a:extLst>
              </a:tr>
              <a:tr h="1037078">
                <a:tc>
                  <a:txBody>
                    <a:bodyPr/>
                    <a:lstStyle/>
                    <a:p>
                      <a:r>
                        <a:rPr lang="de-AT" dirty="0"/>
                        <a:t>+=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Add AND assignment operator, It adds right operand to the left operand and assign the result to left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>
                          <a:effectLst/>
                        </a:rPr>
                        <a:t>C += A is equivalent to C = C +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94144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r>
                        <a:rPr lang="de-AT" dirty="0"/>
                        <a:t>-=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Subtract AND assignment operator, It subtracts right operand from the left operand and assign the result to left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>
                          <a:effectLst/>
                        </a:rPr>
                        <a:t>C -= A is equivalent to C = C -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7774240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r>
                        <a:rPr lang="de-AT" dirty="0"/>
                        <a:t>*=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Multiply AND assignment operator, It multiplies right operand with the left operand and assign the result to left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>
                          <a:effectLst/>
                        </a:rPr>
                        <a:t>C *= A is equivalent to C = C *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694272"/>
                  </a:ext>
                </a:extLst>
              </a:tr>
              <a:tr h="1292073">
                <a:tc>
                  <a:txBody>
                    <a:bodyPr/>
                    <a:lstStyle/>
                    <a:p>
                      <a:r>
                        <a:rPr lang="de-AT" dirty="0"/>
                        <a:t>/=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Divide AND assignment operator, It divides left operand with the right operand and assign the result to left operand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US" sz="1400" dirty="0">
                          <a:effectLst/>
                        </a:rPr>
                        <a:t>C /= A is equivalent to C = C / 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0778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90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Zuweisung / </a:t>
            </a:r>
            <a:r>
              <a:rPr lang="de-AT" dirty="0" err="1"/>
              <a:t>Assignement</a:t>
            </a:r>
            <a:endParaRPr lang="de-AT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55160"/>
            <a:ext cx="7772400" cy="4910144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tabLst>
                <a:tab pos="3657600" algn="l"/>
              </a:tabLst>
            </a:pPr>
            <a:r>
              <a:rPr lang="de-AT" altLang="de-DE" sz="2400" dirty="0"/>
              <a:t>Oft werden Zuweisungen in der folgenden Form verwendet: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counter = counter + 1;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counter = counter - 1;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tabLst>
                <a:tab pos="3657600" algn="l"/>
              </a:tabLst>
            </a:pPr>
            <a:r>
              <a:rPr lang="de-AT" altLang="de-DE" sz="2400" dirty="0"/>
              <a:t>Daher gibt es in </a:t>
            </a:r>
            <a:r>
              <a:rPr lang="de-AT" altLang="de-DE" sz="2400" dirty="0" err="1"/>
              <a:t>c#</a:t>
            </a:r>
            <a:r>
              <a:rPr lang="de-AT" altLang="de-DE" sz="2400" dirty="0"/>
              <a:t> eine Kurzform: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counter++;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counter--;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+mn-lt"/>
              </a:rPr>
              <a:t>Oder</a:t>
            </a:r>
            <a:r>
              <a:rPr lang="en-US" altLang="de-DE" sz="1800" dirty="0">
                <a:latin typeface="Consolas" panose="020B0609020204030204" pitchFamily="49" charset="0"/>
              </a:rPr>
              <a:t> 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++counter;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--counter;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CD2A78-C25C-4C2A-B84C-CB20999D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7834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06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Zuweisung / </a:t>
            </a:r>
            <a:r>
              <a:rPr lang="de-AT" dirty="0" err="1"/>
              <a:t>Assignement</a:t>
            </a:r>
            <a:endParaRPr lang="de-AT" dirty="0"/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685800" y="1255160"/>
            <a:ext cx="7772400" cy="4910144"/>
          </a:xfrm>
          <a:prstGeom prst="rect">
            <a:avLst/>
          </a:prstGeom>
        </p:spPr>
        <p:txBody>
          <a:bodyPr/>
          <a:lstStyle>
            <a:lvl1pPr marL="26987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8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89535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5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343025" indent="-2698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SzPct val="80000"/>
              <a:buFont typeface="Wingdings" pitchFamily="2" charset="2"/>
              <a:buChar char="§"/>
              <a:defRPr sz="22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790700" indent="-354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595959"/>
              </a:buClr>
              <a:buFont typeface="Symbol" pitchFamily="18" charset="2"/>
              <a:buChar char="-"/>
              <a:defRPr sz="2000" kern="1200">
                <a:solidFill>
                  <a:srgbClr val="404040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a = b = c;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tabLst>
                <a:tab pos="3657600" algn="l"/>
              </a:tabLst>
            </a:pPr>
            <a:r>
              <a:rPr lang="de-AT" altLang="de-DE" sz="2400" dirty="0"/>
              <a:t>Der Wert der Variablen c wird zuerst auf b und dann auf a zugewiesen.</a:t>
            </a:r>
            <a:br>
              <a:rPr lang="de-AT" altLang="de-DE" sz="2400" dirty="0"/>
            </a:br>
            <a:br>
              <a:rPr lang="de-AT" altLang="de-DE" sz="2400" dirty="0"/>
            </a:br>
            <a:r>
              <a:rPr lang="de-AT" altLang="de-DE" sz="2400" dirty="0"/>
              <a:t>Die Anweisung ist gültig, sollte aber nicht verwendet werden! Eventuell gibt der Compiler sogar eine Warnmeldung aus!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en-US" altLang="de-DE" sz="1800" dirty="0">
                <a:latin typeface="Consolas" panose="020B0609020204030204" pitchFamily="49" charset="0"/>
              </a:rPr>
              <a:t>  a = ( b = c );</a:t>
            </a:r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endParaRPr lang="de-AT" altLang="de-DE" sz="1800" dirty="0"/>
          </a:p>
          <a:p>
            <a:pPr>
              <a:spcBef>
                <a:spcPct val="0"/>
              </a:spcBef>
              <a:buNone/>
              <a:tabLst>
                <a:tab pos="3657600" algn="l"/>
              </a:tabLst>
            </a:pPr>
            <a:r>
              <a:rPr lang="de-AT" altLang="de-DE" sz="1800" dirty="0"/>
              <a:t>Achtung: Die folgende Anweisung hat eine völlig andere Bedeutung</a:t>
            </a:r>
            <a:br>
              <a:rPr lang="de-AT" altLang="de-DE" sz="1800" dirty="0"/>
            </a:br>
            <a:endParaRPr lang="de-AT" altLang="de-DE" sz="1800" dirty="0"/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r>
              <a:rPr lang="de-AT" altLang="de-DE" sz="1800" dirty="0"/>
              <a:t>   </a:t>
            </a:r>
            <a:r>
              <a:rPr lang="en-US" altLang="de-DE" sz="1800" dirty="0">
                <a:latin typeface="Consolas" panose="020B0609020204030204" pitchFamily="49" charset="0"/>
              </a:rPr>
              <a:t>a = b == c;</a:t>
            </a:r>
          </a:p>
          <a:p>
            <a:pPr>
              <a:spcBef>
                <a:spcPct val="0"/>
              </a:spcBef>
              <a:buFontTx/>
              <a:buNone/>
              <a:tabLst>
                <a:tab pos="3657600" algn="l"/>
              </a:tabLst>
            </a:pPr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85800" y="485251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5800" y="413243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0" y="341235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85800" y="2692276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8CD2A78-C25C-4C2A-B84C-CB20999DF1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578343"/>
            <a:ext cx="7772400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657600" algn="l"/>
              </a:tabLst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de-DE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159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</p:bldLst>
  </p:timing>
</p:sld>
</file>

<file path=ppt/theme/theme1.xml><?xml version="1.0" encoding="utf-8"?>
<a:theme xmlns:a="http://schemas.openxmlformats.org/drawingml/2006/main" name="1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6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292</Words>
  <Application>Microsoft Office PowerPoint</Application>
  <PresentationFormat>Bildschirmpräsentation 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5</vt:i4>
      </vt:variant>
    </vt:vector>
  </HeadingPairs>
  <TitlesOfParts>
    <vt:vector size="16" baseType="lpstr">
      <vt:lpstr>Arial</vt:lpstr>
      <vt:lpstr>Calibri</vt:lpstr>
      <vt:lpstr>Consolas</vt:lpstr>
      <vt:lpstr>Symbol</vt:lpstr>
      <vt:lpstr>Times New Roman</vt:lpstr>
      <vt:lpstr>Wingdings</vt:lpstr>
      <vt:lpstr>1_Larissa</vt:lpstr>
      <vt:lpstr>2_Larissa</vt:lpstr>
      <vt:lpstr>5_Larissa</vt:lpstr>
      <vt:lpstr>6_Larissa</vt:lpstr>
      <vt:lpstr>4_Larissa</vt:lpstr>
      <vt:lpstr>Zuweisungsoperator</vt:lpstr>
      <vt:lpstr>Zuweisung / Assignement</vt:lpstr>
      <vt:lpstr>Zuweisung / Assignement Operator</vt:lpstr>
      <vt:lpstr>Zuweisung / Assignement</vt:lpstr>
      <vt:lpstr>Zuweisung / Assignement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Michael Bucek</dc:creator>
  <cp:lastModifiedBy>Aitenbichler Herbert</cp:lastModifiedBy>
  <cp:revision>745</cp:revision>
  <cp:lastPrinted>2014-09-10T13:20:02Z</cp:lastPrinted>
  <dcterms:created xsi:type="dcterms:W3CDTF">2011-08-18T07:37:01Z</dcterms:created>
  <dcterms:modified xsi:type="dcterms:W3CDTF">2021-10-03T19:34:49Z</dcterms:modified>
</cp:coreProperties>
</file>