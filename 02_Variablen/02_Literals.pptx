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3686" r:id="rId2"/>
    <p:sldMasterId id="2147483693" r:id="rId3"/>
    <p:sldMasterId id="2147483698" r:id="rId4"/>
    <p:sldMasterId id="2147483675" r:id="rId5"/>
  </p:sldMasterIdLst>
  <p:notesMasterIdLst>
    <p:notesMasterId r:id="rId13"/>
  </p:notesMasterIdLst>
  <p:handoutMasterIdLst>
    <p:handoutMasterId r:id="rId14"/>
  </p:handoutMasterIdLst>
  <p:sldIdLst>
    <p:sldId id="257" r:id="rId6"/>
    <p:sldId id="258" r:id="rId7"/>
    <p:sldId id="259" r:id="rId8"/>
    <p:sldId id="260" r:id="rId9"/>
    <p:sldId id="263" r:id="rId10"/>
    <p:sldId id="261" r:id="rId11"/>
    <p:sldId id="262" r:id="rId12"/>
  </p:sldIdLst>
  <p:sldSz cx="9144000" cy="6858000" type="screen4x3"/>
  <p:notesSz cx="6858000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50" autoAdjust="0"/>
  </p:normalViewPr>
  <p:slideViewPr>
    <p:cSldViewPr>
      <p:cViewPr varScale="1">
        <p:scale>
          <a:sx n="88" d="100"/>
          <a:sy n="88" d="100"/>
        </p:scale>
        <p:origin x="1029" y="6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26.09.2024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26.09.2024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480" y="4714876"/>
            <a:ext cx="5487041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80975" y="-674688"/>
            <a:ext cx="9421813" cy="706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hteck 2"/>
          <p:cNvSpPr/>
          <p:nvPr userDrawn="1"/>
        </p:nvSpPr>
        <p:spPr>
          <a:xfrm>
            <a:off x="-180975" y="4437063"/>
            <a:ext cx="9648825" cy="2520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4" name="Rechteck 3"/>
          <p:cNvSpPr/>
          <p:nvPr userDrawn="1"/>
        </p:nvSpPr>
        <p:spPr>
          <a:xfrm>
            <a:off x="4859338" y="0"/>
            <a:ext cx="3816350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59363" y="260350"/>
            <a:ext cx="34004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7"/>
          <p:cNvSpPr txBox="1">
            <a:spLocks noChangeArrowheads="1"/>
          </p:cNvSpPr>
          <p:nvPr userDrawn="1"/>
        </p:nvSpPr>
        <p:spPr>
          <a:xfrm>
            <a:off x="469900" y="1700213"/>
            <a:ext cx="7485063" cy="10810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Hier fügen Sie den </a:t>
            </a:r>
            <a:b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Titel der Präsentation ein.</a:t>
            </a:r>
            <a:endParaRPr lang="de-DE" sz="38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7" name="Rectangle 28"/>
          <p:cNvSpPr txBox="1">
            <a:spLocks noChangeArrowheads="1"/>
          </p:cNvSpPr>
          <p:nvPr userDrawn="1"/>
        </p:nvSpPr>
        <p:spPr>
          <a:xfrm>
            <a:off x="469900" y="3062288"/>
            <a:ext cx="7510463" cy="584200"/>
          </a:xfrm>
          <a:prstGeom prst="rect">
            <a:avLst/>
          </a:prstGeom>
        </p:spPr>
        <p:txBody>
          <a:bodyPr/>
          <a:lstStyle>
            <a:lvl1pPr marL="26987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5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de-DE" sz="2400" noProof="1"/>
              <a:t>Fügen Sie hier den Untertitel ein.</a:t>
            </a:r>
            <a:endParaRPr lang="de-DE" sz="2400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4837113"/>
            <a:ext cx="6553200" cy="154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26.09.2024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26.09.2024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  <a:endParaRPr lang="de-AT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9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0000">
                <a:schemeClr val="bg1">
                  <a:lumMod val="65000"/>
                </a:schemeClr>
              </a:gs>
              <a:gs pos="0">
                <a:schemeClr val="tx1">
                  <a:lumMod val="61000"/>
                  <a:lumOff val="39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90117" name="Grafik 6"/>
          <p:cNvPicPr>
            <a:picLocks noChangeAspect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558454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2015/16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D1B3A30B-827A-41C3-9327-D27E88FC99E1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41" r:id="rId8"/>
    <p:sldLayoutId id="2147483742" r:id="rId9"/>
    <p:sldLayoutId id="2147483740" r:id="rId1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702470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C#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C00000"/>
              </a:gs>
              <a:gs pos="0">
                <a:srgbClr val="A40000">
                  <a:lumMod val="100000"/>
                </a:srgbClr>
              </a:gs>
              <a:gs pos="50000">
                <a:srgbClr val="D60000"/>
              </a:gs>
              <a:gs pos="100000">
                <a:srgbClr val="A80000">
                  <a:lumMod val="9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7414" name="Grafik 6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6DD54E4-5D87-4DDA-86A7-5D3265BB197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43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4582" name="Grafik 6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E0A7362-2F94-4D89-A5F0-263D764F0B24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30726" name="Grafik 6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268413"/>
            <a:ext cx="8229600" cy="478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046146C9-533C-4473-A975-7739642B77B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Literale</a:t>
            </a:r>
            <a:br>
              <a:rPr lang="de-AT" dirty="0"/>
            </a:br>
            <a:endParaRPr lang="de-DE" dirty="0"/>
          </a:p>
        </p:txBody>
      </p:sp>
      <p:sp>
        <p:nvSpPr>
          <p:cNvPr id="88" name="Textfeld 87"/>
          <p:cNvSpPr txBox="1"/>
          <p:nvPr/>
        </p:nvSpPr>
        <p:spPr>
          <a:xfrm>
            <a:off x="323527" y="998500"/>
            <a:ext cx="8363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fixed values are called literals. The constants refer to fixed values that the program may not alter during its execution.</a:t>
            </a:r>
            <a:endParaRPr lang="de-AT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68005AE-3B73-73AD-EE3D-7FF74720B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051" y="2996952"/>
            <a:ext cx="6588224" cy="211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199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b="1" dirty="0">
                <a:effectLst/>
                <a:latin typeface="arial" panose="020B0604020202020204" pitchFamily="34" charset="0"/>
              </a:rPr>
              <a:t>Integer Literals in C#:</a:t>
            </a:r>
            <a:br>
              <a:rPr lang="de-AT" b="1" dirty="0">
                <a:effectLst/>
              </a:rPr>
            </a:br>
            <a:br>
              <a:rPr lang="de-AT" dirty="0"/>
            </a:br>
            <a:endParaRPr lang="de-DE" dirty="0"/>
          </a:p>
        </p:txBody>
      </p:sp>
      <p:sp>
        <p:nvSpPr>
          <p:cNvPr id="88" name="Textfeld 87"/>
          <p:cNvSpPr txBox="1"/>
          <p:nvPr/>
        </p:nvSpPr>
        <p:spPr>
          <a:xfrm>
            <a:off x="323527" y="998500"/>
            <a:ext cx="8363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AT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1B88342-20C7-DA20-646E-6569B426A36F}"/>
              </a:ext>
            </a:extLst>
          </p:cNvPr>
          <p:cNvSpPr txBox="1"/>
          <p:nvPr/>
        </p:nvSpPr>
        <p:spPr>
          <a:xfrm>
            <a:off x="256690" y="1779781"/>
            <a:ext cx="863578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de-AT" sz="1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Decimal</a:t>
            </a:r>
            <a:r>
              <a:rPr lang="de-AT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literal</a:t>
            </a:r>
            <a:endParaRPr lang="de-AT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//Allowed Digits: 0 to 9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= 101;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//No suffix is required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</a:p>
          <a:p>
            <a:r>
              <a:rPr lang="de-AT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Hexa-</a:t>
            </a:r>
            <a:r>
              <a:rPr lang="de-AT" sz="1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Decimal</a:t>
            </a:r>
            <a:r>
              <a:rPr lang="de-AT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Literal</a:t>
            </a:r>
            <a:endParaRPr lang="de-AT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//Allowed Digits: 0 to 9 and Character a to f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 = 0x123f;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//Prefix with 0x, and suffix with f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AT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//Binary literal</a:t>
            </a:r>
            <a:endParaRPr lang="de-AT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//Allowed Digits: 0 to 1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d = 0b1111;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//Prefix with 0b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18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b="1" dirty="0">
                <a:effectLst/>
                <a:latin typeface="arial" panose="020B0604020202020204" pitchFamily="34" charset="0"/>
              </a:rPr>
              <a:t>Integer Literals in C#:</a:t>
            </a:r>
            <a:br>
              <a:rPr lang="de-AT" b="1" dirty="0">
                <a:effectLst/>
              </a:rPr>
            </a:br>
            <a:br>
              <a:rPr lang="de-AT" dirty="0"/>
            </a:br>
            <a:endParaRPr lang="de-DE" dirty="0"/>
          </a:p>
        </p:txBody>
      </p:sp>
      <p:sp>
        <p:nvSpPr>
          <p:cNvPr id="88" name="Textfeld 87"/>
          <p:cNvSpPr txBox="1"/>
          <p:nvPr/>
        </p:nvSpPr>
        <p:spPr>
          <a:xfrm>
            <a:off x="323527" y="998500"/>
            <a:ext cx="8363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AT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1B88342-20C7-DA20-646E-6569B426A36F}"/>
              </a:ext>
            </a:extLst>
          </p:cNvPr>
          <p:cNvSpPr txBox="1"/>
          <p:nvPr/>
        </p:nvSpPr>
        <p:spPr>
          <a:xfrm>
            <a:off x="256691" y="1779781"/>
            <a:ext cx="84969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  = 1000;   </a:t>
            </a:r>
            <a:r>
              <a:rPr lang="de-AT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//Integer</a:t>
            </a:r>
            <a:endParaRPr lang="de-AT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  = 1000U;  </a:t>
            </a:r>
            <a:r>
              <a:rPr lang="de-AT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de-AT" sz="1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Unsigned</a:t>
            </a:r>
            <a:r>
              <a:rPr lang="de-AT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Integer</a:t>
            </a:r>
            <a:endParaRPr lang="de-AT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  = 1000L;  </a:t>
            </a:r>
            <a:r>
              <a:rPr lang="de-AT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//Long</a:t>
            </a:r>
            <a:endParaRPr lang="de-AT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ulong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d = 1000UL;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//Unsigned Long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156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b="1" dirty="0">
                <a:effectLst/>
                <a:latin typeface="arial" panose="020B0604020202020204" pitchFamily="34" charset="0"/>
              </a:rPr>
              <a:t>Floating Point Literals in C#:</a:t>
            </a:r>
            <a:br>
              <a:rPr lang="de-AT" b="1" dirty="0">
                <a:effectLst/>
              </a:rPr>
            </a:br>
            <a:br>
              <a:rPr lang="de-AT" dirty="0"/>
            </a:br>
            <a:endParaRPr lang="de-DE" dirty="0"/>
          </a:p>
        </p:txBody>
      </p:sp>
      <p:sp>
        <p:nvSpPr>
          <p:cNvPr id="88" name="Textfeld 87"/>
          <p:cNvSpPr txBox="1"/>
          <p:nvPr/>
        </p:nvSpPr>
        <p:spPr>
          <a:xfrm>
            <a:off x="323527" y="998500"/>
            <a:ext cx="8363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AT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1B88342-20C7-DA20-646E-6569B426A36F}"/>
              </a:ext>
            </a:extLst>
          </p:cNvPr>
          <p:cNvSpPr txBox="1"/>
          <p:nvPr/>
        </p:nvSpPr>
        <p:spPr>
          <a:xfrm>
            <a:off x="256690" y="1779781"/>
            <a:ext cx="885181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//Double Literal</a:t>
            </a:r>
            <a:endParaRPr lang="de-AT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 = 10.15;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//By Default Floating Point Literal is double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AT" dirty="0">
              <a:solidFill>
                <a:srgbClr val="008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de-AT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de-AT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Literal</a:t>
            </a:r>
            <a:endParaRPr lang="de-AT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 = 100.72F;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//Suffix with F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AT" dirty="0">
              <a:solidFill>
                <a:srgbClr val="008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//Double Literal</a:t>
            </a:r>
            <a:endParaRPr lang="de-AT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de-AT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 = 1.45D; </a:t>
            </a:r>
            <a:r>
              <a:rPr lang="de-AT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//Suffix </a:t>
            </a:r>
            <a:r>
              <a:rPr lang="de-AT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de-AT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D</a:t>
            </a:r>
            <a:endParaRPr lang="de-AT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AT" dirty="0">
              <a:solidFill>
                <a:srgbClr val="008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de-AT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Decimal</a:t>
            </a:r>
            <a:r>
              <a:rPr lang="de-AT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Literal</a:t>
            </a:r>
            <a:endParaRPr lang="de-AT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decimal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d = 1.44M;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//Suffix with M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396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b="1" dirty="0">
                <a:effectLst/>
                <a:latin typeface="arial" panose="020B0604020202020204" pitchFamily="34" charset="0"/>
              </a:rPr>
              <a:t>Boolean Literals in C#:</a:t>
            </a:r>
            <a:br>
              <a:rPr lang="de-AT" b="1" dirty="0">
                <a:effectLst/>
              </a:rPr>
            </a:br>
            <a:br>
              <a:rPr lang="de-AT" dirty="0"/>
            </a:br>
            <a:endParaRPr lang="de-DE" dirty="0"/>
          </a:p>
        </p:txBody>
      </p:sp>
      <p:sp>
        <p:nvSpPr>
          <p:cNvPr id="88" name="Textfeld 87"/>
          <p:cNvSpPr txBox="1"/>
          <p:nvPr/>
        </p:nvSpPr>
        <p:spPr>
          <a:xfrm>
            <a:off x="323527" y="998500"/>
            <a:ext cx="8363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AT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1B88342-20C7-DA20-646E-6569B426A36F}"/>
              </a:ext>
            </a:extLst>
          </p:cNvPr>
          <p:cNvSpPr txBox="1"/>
          <p:nvPr/>
        </p:nvSpPr>
        <p:spPr>
          <a:xfrm>
            <a:off x="256690" y="1779781"/>
            <a:ext cx="86357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b1 = </a:t>
            </a:r>
            <a:r>
              <a:rPr lang="de-AT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de-AT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b2 = </a:t>
            </a:r>
            <a:r>
              <a:rPr lang="de-AT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85502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b="1" dirty="0">
                <a:effectLst/>
                <a:latin typeface="arial" panose="020B0604020202020204" pitchFamily="34" charset="0"/>
              </a:rPr>
              <a:t>Character Literals in C#:</a:t>
            </a:r>
            <a:br>
              <a:rPr lang="de-AT" b="1" dirty="0">
                <a:effectLst/>
              </a:rPr>
            </a:br>
            <a:br>
              <a:rPr lang="de-AT" dirty="0"/>
            </a:br>
            <a:endParaRPr lang="de-DE" dirty="0"/>
          </a:p>
        </p:txBody>
      </p:sp>
      <p:sp>
        <p:nvSpPr>
          <p:cNvPr id="88" name="Textfeld 87"/>
          <p:cNvSpPr txBox="1"/>
          <p:nvPr/>
        </p:nvSpPr>
        <p:spPr>
          <a:xfrm>
            <a:off x="323527" y="998500"/>
            <a:ext cx="8363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AT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1B88342-20C7-DA20-646E-6569B426A36F}"/>
              </a:ext>
            </a:extLst>
          </p:cNvPr>
          <p:cNvSpPr txBox="1"/>
          <p:nvPr/>
        </p:nvSpPr>
        <p:spPr>
          <a:xfrm>
            <a:off x="254105" y="1484784"/>
            <a:ext cx="863578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//Character literal using single quote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ch1 = 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'A‘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de-AT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//Character literal </a:t>
            </a:r>
            <a:r>
              <a:rPr lang="de-AT" sz="1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de-AT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Unicode </a:t>
            </a:r>
            <a:r>
              <a:rPr lang="de-AT" sz="1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representation</a:t>
            </a:r>
            <a:endParaRPr lang="de-AT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ch2 = 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de-AT" sz="1800" dirty="0">
                <a:solidFill>
                  <a:srgbClr val="9E5B71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\u0041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‘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de-AT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Escape Sequences in Character Literals</a:t>
            </a:r>
            <a:endParaRPr lang="de-AT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single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= 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de-AT" sz="1800" dirty="0">
                <a:solidFill>
                  <a:srgbClr val="9E5B71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\'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de-AT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dquote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= 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de-AT" sz="1800" dirty="0">
                <a:solidFill>
                  <a:srgbClr val="9E5B71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\"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de-AT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backslash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de-AT" sz="1800" dirty="0">
                <a:solidFill>
                  <a:srgbClr val="9E5B71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\\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de-AT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alert     = 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de-AT" sz="1800" dirty="0">
                <a:solidFill>
                  <a:srgbClr val="9E5B71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\a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de-AT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backspace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de-AT" sz="1800" dirty="0">
                <a:solidFill>
                  <a:srgbClr val="9E5B71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\b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de-AT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formFeed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= 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de-AT" sz="1800" dirty="0">
                <a:solidFill>
                  <a:srgbClr val="9E5B71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\f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de-AT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newLine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= 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de-AT" sz="1800" dirty="0">
                <a:solidFill>
                  <a:srgbClr val="9E5B71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de-AT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cr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= 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de-AT" sz="1800" dirty="0">
                <a:solidFill>
                  <a:srgbClr val="9E5B71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\r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de-AT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horizTab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= 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de-AT" sz="1800" dirty="0">
                <a:solidFill>
                  <a:srgbClr val="9E5B71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\t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de-AT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vertTab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= 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de-AT" sz="1800" dirty="0">
                <a:solidFill>
                  <a:srgbClr val="9E5B71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\v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de-AT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277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b="1" dirty="0">
                <a:effectLst/>
                <a:latin typeface="arial" panose="020B0604020202020204" pitchFamily="34" charset="0"/>
              </a:rPr>
              <a:t>String Literals in C#:</a:t>
            </a:r>
            <a:br>
              <a:rPr lang="de-AT" b="1" dirty="0">
                <a:effectLst/>
              </a:rPr>
            </a:br>
            <a:br>
              <a:rPr lang="de-AT" dirty="0"/>
            </a:br>
            <a:endParaRPr lang="de-DE" dirty="0"/>
          </a:p>
        </p:txBody>
      </p:sp>
      <p:sp>
        <p:nvSpPr>
          <p:cNvPr id="88" name="Textfeld 87"/>
          <p:cNvSpPr txBox="1"/>
          <p:nvPr/>
        </p:nvSpPr>
        <p:spPr>
          <a:xfrm>
            <a:off x="323527" y="998500"/>
            <a:ext cx="8363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AT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1B88342-20C7-DA20-646E-6569B426A36F}"/>
              </a:ext>
            </a:extLst>
          </p:cNvPr>
          <p:cNvSpPr txBox="1"/>
          <p:nvPr/>
        </p:nvSpPr>
        <p:spPr>
          <a:xfrm>
            <a:off x="254105" y="1484784"/>
            <a:ext cx="863578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Regular String Literals</a:t>
            </a:r>
            <a:endParaRPr lang="de-AT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str1 =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"This is a string literal"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str1 =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"first line</a:t>
            </a:r>
            <a:r>
              <a:rPr lang="en-US" sz="1800" dirty="0">
                <a:solidFill>
                  <a:srgbClr val="9E5B71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sz="1800" dirty="0" err="1">
                <a:solidFill>
                  <a:srgbClr val="9E5B71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line"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// new line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AT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Verbatim String Literals</a:t>
            </a:r>
            <a:endParaRPr lang="de-AT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str3 = 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@"This is a string literal"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str4 = 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@"first line\</a:t>
            </a:r>
            <a:r>
              <a:rPr lang="en-US" sz="1800" dirty="0" err="1">
                <a:solidFill>
                  <a:srgbClr val="8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nnext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line"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escape is ignored</a:t>
            </a:r>
          </a:p>
          <a:p>
            <a:endParaRPr lang="en-US" dirty="0">
              <a:solidFill>
                <a:srgbClr val="008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Raw </a:t>
            </a:r>
            <a:r>
              <a:rPr lang="de-AT" sz="1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de-AT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1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literals</a:t>
            </a:r>
            <a:endParaRPr lang="de-AT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singleLine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"""Friends say "hello" as they pass by."""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de-AT" sz="1800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multiLine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"""</a:t>
            </a:r>
          </a:p>
          <a:p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   "Hello World!" first program.</a:t>
            </a:r>
          </a:p>
          <a:p>
            <a:r>
              <a:rPr lang="de-AT" sz="1800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   """</a:t>
            </a:r>
            <a:r>
              <a:rPr lang="de-AT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755965"/>
      </p:ext>
    </p:extLst>
  </p:cSld>
  <p:clrMapOvr>
    <a:masterClrMapping/>
  </p:clrMapOvr>
</p:sld>
</file>

<file path=ppt/theme/theme1.xml><?xml version="1.0" encoding="utf-8"?>
<a:theme xmlns:a="http://schemas.openxmlformats.org/drawingml/2006/main" name="1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6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403</Words>
  <Application>Microsoft Office PowerPoint</Application>
  <PresentationFormat>Bildschirmpräsentation (4:3)</PresentationFormat>
  <Paragraphs>66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7</vt:i4>
      </vt:variant>
    </vt:vector>
  </HeadingPairs>
  <TitlesOfParts>
    <vt:vector size="19" baseType="lpstr">
      <vt:lpstr>Arial</vt:lpstr>
      <vt:lpstr>Arial</vt:lpstr>
      <vt:lpstr>Calibri</vt:lpstr>
      <vt:lpstr>Cascadia Mono</vt:lpstr>
      <vt:lpstr>Courier New</vt:lpstr>
      <vt:lpstr>Symbol</vt:lpstr>
      <vt:lpstr>Wingdings</vt:lpstr>
      <vt:lpstr>1_Larissa</vt:lpstr>
      <vt:lpstr>2_Larissa</vt:lpstr>
      <vt:lpstr>5_Larissa</vt:lpstr>
      <vt:lpstr>6_Larissa</vt:lpstr>
      <vt:lpstr>4_Larissa</vt:lpstr>
      <vt:lpstr>Literale </vt:lpstr>
      <vt:lpstr>Integer Literals in C#:  </vt:lpstr>
      <vt:lpstr>Integer Literals in C#:  </vt:lpstr>
      <vt:lpstr>Floating Point Literals in C#:  </vt:lpstr>
      <vt:lpstr>Boolean Literals in C#:  </vt:lpstr>
      <vt:lpstr>Character Literals in C#:  </vt:lpstr>
      <vt:lpstr>String Literals in C#: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Bucek</dc:creator>
  <cp:lastModifiedBy>Aitenbichler Herbert</cp:lastModifiedBy>
  <cp:revision>769</cp:revision>
  <cp:lastPrinted>2014-09-10T13:20:02Z</cp:lastPrinted>
  <dcterms:created xsi:type="dcterms:W3CDTF">2011-08-18T07:37:01Z</dcterms:created>
  <dcterms:modified xsi:type="dcterms:W3CDTF">2024-09-26T20:26:00Z</dcterms:modified>
</cp:coreProperties>
</file>