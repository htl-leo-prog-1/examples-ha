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3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4.xml" ContentType="application/vnd.openxmlformats-officedocument.theme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9" r:id="rId1"/>
    <p:sldMasterId id="2147483686" r:id="rId2"/>
    <p:sldMasterId id="2147483693" r:id="rId3"/>
    <p:sldMasterId id="2147483698" r:id="rId4"/>
    <p:sldMasterId id="2147483675" r:id="rId5"/>
  </p:sldMasterIdLst>
  <p:notesMasterIdLst>
    <p:notesMasterId r:id="rId20"/>
  </p:notesMasterIdLst>
  <p:handoutMasterIdLst>
    <p:handoutMasterId r:id="rId21"/>
  </p:handoutMasterIdLst>
  <p:sldIdLst>
    <p:sldId id="257" r:id="rId6"/>
    <p:sldId id="287" r:id="rId7"/>
    <p:sldId id="286" r:id="rId8"/>
    <p:sldId id="285" r:id="rId9"/>
    <p:sldId id="265" r:id="rId10"/>
    <p:sldId id="274" r:id="rId11"/>
    <p:sldId id="268" r:id="rId12"/>
    <p:sldId id="269" r:id="rId13"/>
    <p:sldId id="281" r:id="rId14"/>
    <p:sldId id="272" r:id="rId15"/>
    <p:sldId id="273" r:id="rId16"/>
    <p:sldId id="266" r:id="rId17"/>
    <p:sldId id="275" r:id="rId18"/>
    <p:sldId id="282" r:id="rId19"/>
  </p:sldIdLst>
  <p:sldSz cx="9144000" cy="6858000" type="screen4x3"/>
  <p:notesSz cx="6858000" cy="9926638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A80000"/>
    <a:srgbClr val="FFAA01"/>
    <a:srgbClr val="F99707"/>
    <a:srgbClr val="FCB504"/>
    <a:srgbClr val="B52217"/>
    <a:srgbClr val="960000"/>
    <a:srgbClr val="A40000"/>
    <a:srgbClr val="D6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750" autoAdjust="0"/>
  </p:normalViewPr>
  <p:slideViewPr>
    <p:cSldViewPr>
      <p:cViewPr varScale="1">
        <p:scale>
          <a:sx n="110" d="100"/>
          <a:sy n="110" d="100"/>
        </p:scale>
        <p:origin x="1680" y="10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6322"/>
    </p:cViewPr>
  </p:sorterViewPr>
  <p:notesViewPr>
    <p:cSldViewPr>
      <p:cViewPr varScale="1">
        <p:scale>
          <a:sx n="81" d="100"/>
          <a:sy n="81" d="100"/>
        </p:scale>
        <p:origin x="-2844" y="-90"/>
      </p:cViewPr>
      <p:guideLst>
        <p:guide orient="horz" pos="3127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" Type="http://schemas.openxmlformats.org/officeDocument/2006/relationships/slideMaster" Target="slideMasters/slideMaster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1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theme" Target="theme/theme1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10.xml"/><Relationship Id="rId23" Type="http://schemas.openxmlformats.org/officeDocument/2006/relationships/viewProps" Target="view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2547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3852" y="0"/>
            <a:ext cx="2972547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87F52D72-ED1D-48E3-B38D-D27DF71D5328}" type="datetimeFigureOut">
              <a:rPr lang="de-AT"/>
              <a:pPr>
                <a:defRPr/>
              </a:pPr>
              <a:t>17.09.2021</a:t>
            </a:fld>
            <a:endParaRPr lang="de-AT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428164"/>
            <a:ext cx="2972547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3852" y="9428164"/>
            <a:ext cx="2972547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3B8876E5-8CB2-488D-BB52-3FDCCA373F31}" type="slidenum">
              <a:rPr lang="de-AT"/>
              <a:pPr>
                <a:defRPr/>
              </a:pPr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3480354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2547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3852" y="0"/>
            <a:ext cx="2972547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B3163736-15EA-4775-815E-DDF88F21B7ED}" type="datetimeFigureOut">
              <a:rPr lang="de-AT"/>
              <a:pPr>
                <a:defRPr/>
              </a:pPr>
              <a:t>17.09.2021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947738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de-AT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480" y="4714876"/>
            <a:ext cx="5487041" cy="44672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AT" noProof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8164"/>
            <a:ext cx="2972547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3852" y="9428164"/>
            <a:ext cx="2972547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46EAC6C9-0F3A-40E0-896B-88DE66496CB5}" type="slidenum">
              <a:rPr lang="de-AT"/>
              <a:pPr>
                <a:defRPr/>
              </a:pPr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612345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e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-180975" y="-674688"/>
            <a:ext cx="9421813" cy="706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Rechteck 2"/>
          <p:cNvSpPr/>
          <p:nvPr userDrawn="1"/>
        </p:nvSpPr>
        <p:spPr>
          <a:xfrm>
            <a:off x="-180975" y="4437063"/>
            <a:ext cx="9648825" cy="25209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4" name="Rechteck 3"/>
          <p:cNvSpPr/>
          <p:nvPr userDrawn="1"/>
        </p:nvSpPr>
        <p:spPr>
          <a:xfrm>
            <a:off x="4859338" y="0"/>
            <a:ext cx="3816350" cy="9080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651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5" name="Grafik 4"/>
          <p:cNvPicPr>
            <a:picLocks noChangeAspect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059363" y="260350"/>
            <a:ext cx="3400425" cy="504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Rectangle 27"/>
          <p:cNvSpPr txBox="1">
            <a:spLocks noChangeArrowheads="1"/>
          </p:cNvSpPr>
          <p:nvPr userDrawn="1"/>
        </p:nvSpPr>
        <p:spPr>
          <a:xfrm>
            <a:off x="469900" y="1700213"/>
            <a:ext cx="7485063" cy="1081087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3200" b="1" kern="12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pPr fontAlgn="auto">
              <a:spcAft>
                <a:spcPts val="0"/>
              </a:spcAft>
              <a:defRPr/>
            </a:pPr>
            <a:r>
              <a:rPr lang="de-AT" sz="3800" noProof="1"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  <a:t>Hier fügen Sie den </a:t>
            </a:r>
            <a:br>
              <a:rPr lang="de-AT" sz="3800" noProof="1"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</a:br>
            <a:r>
              <a:rPr lang="de-AT" sz="3800" noProof="1"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  <a:t>Titel der Präsentation ein.</a:t>
            </a:r>
            <a:endParaRPr lang="de-DE" sz="3800" dirty="0">
              <a:solidFill>
                <a:schemeClr val="tx1">
                  <a:lumMod val="85000"/>
                  <a:lumOff val="15000"/>
                </a:schemeClr>
              </a:solidFill>
              <a:effectLst/>
            </a:endParaRPr>
          </a:p>
        </p:txBody>
      </p:sp>
      <p:sp>
        <p:nvSpPr>
          <p:cNvPr id="7" name="Rectangle 28"/>
          <p:cNvSpPr txBox="1">
            <a:spLocks noChangeArrowheads="1"/>
          </p:cNvSpPr>
          <p:nvPr userDrawn="1"/>
        </p:nvSpPr>
        <p:spPr>
          <a:xfrm>
            <a:off x="469900" y="3062288"/>
            <a:ext cx="7510463" cy="584200"/>
          </a:xfrm>
          <a:prstGeom prst="rect">
            <a:avLst/>
          </a:prstGeom>
        </p:spPr>
        <p:txBody>
          <a:bodyPr/>
          <a:lstStyle>
            <a:lvl1pPr marL="269875" indent="-269875" algn="l" defTabSz="914400" rtl="0" eaLnBrk="1" latinLnBrk="0" hangingPunct="1">
              <a:spcBef>
                <a:spcPct val="20000"/>
              </a:spcBef>
              <a:buSzPct val="65000"/>
              <a:buFont typeface="Wingdings" pitchFamily="2" charset="2"/>
              <a:buChar char="§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895350" indent="-354013" algn="l" defTabSz="914400" rtl="0" eaLnBrk="1" latinLnBrk="0" hangingPunct="1">
              <a:spcBef>
                <a:spcPct val="20000"/>
              </a:spcBef>
              <a:buFont typeface="Symbol" pitchFamily="18" charset="2"/>
              <a:buChar char="-"/>
              <a:defRPr sz="25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343025" indent="-269875" algn="l" defTabSz="914400" rtl="0" eaLnBrk="1" latinLnBrk="0" hangingPunct="1">
              <a:spcBef>
                <a:spcPct val="20000"/>
              </a:spcBef>
              <a:buSzPct val="65000"/>
              <a:buFont typeface="Wingdings" pitchFamily="2" charset="2"/>
              <a:buChar char="§"/>
              <a:defRPr sz="22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790700" indent="-354013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Font typeface="Wingdings" pitchFamily="2" charset="2"/>
              <a:buNone/>
              <a:defRPr/>
            </a:pPr>
            <a:r>
              <a:rPr lang="de-DE" sz="2400" noProof="1"/>
              <a:t>Fügen Sie hier den Untertitel ein.</a:t>
            </a:r>
            <a:endParaRPr lang="de-DE" sz="2400" dirty="0"/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95288" y="4837113"/>
            <a:ext cx="6553200" cy="15446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Fließ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541337" indent="0">
              <a:buNone/>
              <a:defRPr sz="2400"/>
            </a:lvl2pPr>
            <a:lvl3pPr marL="1073150" indent="0">
              <a:buNone/>
              <a:defRPr sz="2200"/>
            </a:lvl3pPr>
            <a:lvl4pPr marL="1436687" indent="0">
              <a:buNone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Aufzähl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>
            <a:lvl1pPr marL="514350" indent="-514350"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+mj-lt"/>
              <a:buAutoNum type="arabicPeriod"/>
              <a:defRPr sz="2600" baseline="0"/>
            </a:lvl1pPr>
            <a:lvl2pPr marL="998537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lphaLcPeriod"/>
              <a:defRPr sz="2300"/>
            </a:lvl2pPr>
            <a:lvl3pPr marL="1530350" indent="-457200">
              <a:buSzPct val="100000"/>
              <a:buFont typeface="Wingdings" pitchFamily="2" charset="2"/>
              <a:buChar char="§"/>
              <a:defRPr sz="2000" baseline="0"/>
            </a:lvl3pPr>
            <a:lvl4pPr marL="1893887" indent="-457200">
              <a:buFont typeface="+mj-lt"/>
              <a:buAutoNum type="arabicPeriod"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  <a:p>
            <a:pPr lvl="4"/>
            <a:r>
              <a:rPr lang="en-US" dirty="0"/>
              <a:t>Fünfte Ebene</a:t>
            </a:r>
            <a:endParaRPr lang="de-DE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AT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de-AT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ABC9E1A3-5F60-4045-A7A5-F47B61D1FECD}" type="datetimeFigureOut">
              <a:rPr lang="de-AT" smtClean="0"/>
              <a:pPr/>
              <a:t>17.09.2021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4407A703-FA5D-4D14-B9A3-005BE4A028D7}" type="slidenum">
              <a:rPr lang="de-AT" smtClean="0"/>
              <a:pPr/>
              <a:t>‹Nr.›</a:t>
            </a:fld>
            <a:endParaRPr lang="de-AT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AT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ABC9E1A3-5F60-4045-A7A5-F47B61D1FECD}" type="datetimeFigureOut">
              <a:rPr lang="de-AT" smtClean="0"/>
              <a:pPr/>
              <a:t>17.09.2021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4407A703-FA5D-4D14-B9A3-005BE4A028D7}" type="slidenum">
              <a:rPr lang="de-AT" smtClean="0"/>
              <a:pPr/>
              <a:t>‹Nr.›</a:t>
            </a:fld>
            <a:endParaRPr lang="de-AT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Fließ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541337" indent="0">
              <a:buNone/>
              <a:defRPr sz="2400"/>
            </a:lvl2pPr>
            <a:lvl3pPr marL="1073150" indent="0">
              <a:buNone/>
              <a:defRPr sz="2200"/>
            </a:lvl3pPr>
            <a:lvl4pPr marL="1436687" indent="0">
              <a:buNone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Aufzähl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>
            <a:lvl1pPr marL="514350" indent="-514350"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+mj-lt"/>
              <a:buAutoNum type="arabicPeriod"/>
              <a:defRPr sz="2600" baseline="0"/>
            </a:lvl1pPr>
            <a:lvl2pPr marL="998537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lphaLcPeriod"/>
              <a:defRPr sz="2300"/>
            </a:lvl2pPr>
            <a:lvl3pPr marL="1530350" indent="-457200">
              <a:buSzPct val="100000"/>
              <a:buFont typeface="Wingdings" pitchFamily="2" charset="2"/>
              <a:buChar char="§"/>
              <a:defRPr sz="2000" baseline="0"/>
            </a:lvl3pPr>
            <a:lvl4pPr marL="1893887" indent="-457200">
              <a:buFont typeface="+mj-lt"/>
              <a:buAutoNum type="arabicPeriod"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  <a:p>
            <a:pPr lvl="4"/>
            <a:r>
              <a:rPr lang="en-US" dirty="0"/>
              <a:t>Fünfte Ebene</a:t>
            </a:r>
            <a:endParaRPr lang="de-DE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</p:spPr>
        <p:txBody>
          <a:bodyPr/>
          <a:lstStyle/>
          <a:p>
            <a:r>
              <a:rPr lang="en-US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de-DE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Fließ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541337" indent="0">
              <a:buNone/>
              <a:defRPr sz="2400"/>
            </a:lvl2pPr>
            <a:lvl3pPr marL="1073150" indent="0">
              <a:buNone/>
              <a:defRPr sz="2200"/>
            </a:lvl3pPr>
            <a:lvl4pPr marL="1436687" indent="0">
              <a:buNone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Aufzähl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>
            <a:lvl1pPr marL="514350" indent="-514350"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+mj-lt"/>
              <a:buAutoNum type="arabicPeriod"/>
              <a:defRPr sz="2600" baseline="0"/>
            </a:lvl1pPr>
            <a:lvl2pPr marL="998537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lphaLcPeriod"/>
              <a:defRPr sz="2300"/>
            </a:lvl2pPr>
            <a:lvl3pPr marL="1530350" indent="-457200">
              <a:buSzPct val="100000"/>
              <a:buFont typeface="Wingdings" pitchFamily="2" charset="2"/>
              <a:buChar char="§"/>
              <a:defRPr sz="2000" baseline="0"/>
            </a:lvl3pPr>
            <a:lvl4pPr marL="1893887" indent="-457200">
              <a:buFont typeface="+mj-lt"/>
              <a:buAutoNum type="arabicPeriod"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  <a:p>
            <a:pPr lvl="4"/>
            <a:r>
              <a:rPr lang="en-US" dirty="0"/>
              <a:t>Fünfte Ebene</a:t>
            </a:r>
            <a:endParaRPr lang="de-DE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</p:spPr>
        <p:txBody>
          <a:bodyPr/>
          <a:lstStyle/>
          <a:p>
            <a:r>
              <a:rPr lang="en-US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de-DE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AT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/>
              <a:t>Formatvorlage des Untertitelmasters durch Klicken bearbeiten</a:t>
            </a:r>
            <a:endParaRPr lang="de-AT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Fließ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541337" indent="0">
              <a:buNone/>
              <a:defRPr sz="2400"/>
            </a:lvl2pPr>
            <a:lvl3pPr marL="1073150" indent="0">
              <a:buNone/>
              <a:defRPr sz="2200"/>
            </a:lvl3pPr>
            <a:lvl4pPr marL="1436687" indent="0">
              <a:buNone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Aufzähl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>
            <a:lvl1pPr marL="514350" indent="-514350"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+mj-lt"/>
              <a:buAutoNum type="arabicPeriod"/>
              <a:defRPr sz="2600" baseline="0"/>
            </a:lvl1pPr>
            <a:lvl2pPr marL="998537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lphaLcPeriod"/>
              <a:defRPr sz="2300"/>
            </a:lvl2pPr>
            <a:lvl3pPr marL="1530350" indent="-457200">
              <a:buSzPct val="100000"/>
              <a:buFont typeface="Wingdings" pitchFamily="2" charset="2"/>
              <a:buChar char="§"/>
              <a:defRPr sz="2000" baseline="0"/>
            </a:lvl3pPr>
            <a:lvl4pPr marL="1893887" indent="-457200">
              <a:buFont typeface="+mj-lt"/>
              <a:buAutoNum type="arabicPeriod"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  <a:p>
            <a:pPr lvl="4"/>
            <a:r>
              <a:rPr lang="en-US" dirty="0"/>
              <a:t>Fünfte Ebene</a:t>
            </a:r>
            <a:endParaRPr lang="de-DE" dirty="0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</p:spPr>
        <p:txBody>
          <a:bodyPr/>
          <a:lstStyle/>
          <a:p>
            <a:r>
              <a:rPr lang="en-US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de-DE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</p:spPr>
        <p:txBody>
          <a:bodyPr/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268760"/>
            <a:ext cx="4038600" cy="468052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268760"/>
            <a:ext cx="4038600" cy="468052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AT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3" Type="http://schemas.openxmlformats.org/officeDocument/2006/relationships/slideLayout" Target="../slideLayouts/slideLayout13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0.xml"/><Relationship Id="rId9" Type="http://schemas.openxmlformats.org/officeDocument/2006/relationships/image" Target="../media/image1.jpeg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6.xml"/><Relationship Id="rId7" Type="http://schemas.openxmlformats.org/officeDocument/2006/relationships/image" Target="../media/image1.jpeg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theme" Target="../theme/theme4.xml"/><Relationship Id="rId5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7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theme" Target="../theme/theme5.xml"/><Relationship Id="rId2" Type="http://schemas.openxmlformats.org/officeDocument/2006/relationships/slideLayout" Target="../slideLayouts/slideLayout30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0000">
                <a:schemeClr val="bg1">
                  <a:lumMod val="65000"/>
                </a:schemeClr>
              </a:gs>
              <a:gs pos="0">
                <a:schemeClr val="tx1">
                  <a:lumMod val="61000"/>
                  <a:lumOff val="39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tx1">
                  <a:lumMod val="50000"/>
                  <a:lumOff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90117" name="Grafik 6"/>
          <p:cNvPicPr>
            <a:picLocks noChangeAspect="1"/>
          </p:cNvPicPr>
          <p:nvPr userDrawn="1"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Rechteck 8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Masterfolie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1558454" cy="2365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I_POS 2015/16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 </a:t>
            </a:r>
            <a:fld id="{D1B3A30B-827A-41C3-9327-D27E88FC99E1}" type="slidenum">
              <a:rPr lang="de-DE" sz="100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41" r:id="rId8"/>
    <p:sldLayoutId id="2147483742" r:id="rId9"/>
    <p:sldLayoutId id="2147483740" r:id="rId10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7000">
                <a:srgbClr val="4879B4"/>
              </a:gs>
              <a:gs pos="0">
                <a:schemeClr val="tx2"/>
              </a:gs>
              <a:gs pos="50000">
                <a:schemeClr val="accent1"/>
              </a:gs>
              <a:gs pos="100000">
                <a:schemeClr val="tx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12" name="Rechteck 11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10246" name="Grafik 6"/>
          <p:cNvPicPr>
            <a:picLocks noChangeAspect="1"/>
          </p:cNvPicPr>
          <p:nvPr userDrawn="1"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Masterfolie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1702470" cy="2365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I_POS C#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 </a:t>
            </a:r>
            <a:fld id="{C5A4FFB9-E613-43CD-964A-AE1E9E6225EE}" type="slidenum">
              <a:rPr lang="de-DE" sz="100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7000">
                <a:srgbClr val="C00000"/>
              </a:gs>
              <a:gs pos="0">
                <a:srgbClr val="A40000">
                  <a:lumMod val="100000"/>
                </a:srgbClr>
              </a:gs>
              <a:gs pos="50000">
                <a:srgbClr val="D60000"/>
              </a:gs>
              <a:gs pos="100000">
                <a:srgbClr val="A80000">
                  <a:lumMod val="98000"/>
                </a:srgb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9" name="Rechteck 8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rgbClr val="9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17414" name="Grafik 6"/>
          <p:cNvPicPr>
            <a:picLocks noChangeAspect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Masterfolie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1343025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Seite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 </a:t>
            </a:r>
            <a:fld id="{96DD54E4-5D87-4DDA-86A7-5D3265BB197B}" type="slidenum">
              <a:rPr lang="de-DE" sz="100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43" r:id="rId7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7000">
                <a:srgbClr val="FFAA01"/>
              </a:gs>
              <a:gs pos="0">
                <a:srgbClr val="F99707"/>
              </a:gs>
              <a:gs pos="50000">
                <a:srgbClr val="FFC000"/>
              </a:gs>
              <a:gs pos="100000">
                <a:srgbClr val="F99707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12" name="Rechteck 11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rgbClr val="F997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24582" name="Grafik 6"/>
          <p:cNvPicPr>
            <a:picLocks noChangeAspect="1"/>
          </p:cNvPicPr>
          <p:nvPr userDrawn="1"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Masterfolie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1343025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Seite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 </a:t>
            </a:r>
            <a:fld id="{9E0A7362-2F94-4D89-A5F0-263D764F0B24}" type="slidenum">
              <a:rPr lang="de-DE" sz="100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7000">
                <a:srgbClr val="FFAA01"/>
              </a:gs>
              <a:gs pos="0">
                <a:srgbClr val="F99707"/>
              </a:gs>
              <a:gs pos="50000">
                <a:srgbClr val="FFC000"/>
              </a:gs>
              <a:gs pos="100000">
                <a:srgbClr val="F99707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9" name="Rechteck 8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rgbClr val="F997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30726" name="Grafik 6"/>
          <p:cNvPicPr>
            <a:picLocks noChangeAspect="1"/>
          </p:cNvPicPr>
          <p:nvPr userDrawn="1"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0727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457200" y="1268413"/>
            <a:ext cx="8229600" cy="4786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Titelmasterformat durch Klicken bearbeiten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1343025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Seite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 </a:t>
            </a:r>
            <a:fld id="{046146C9-533C-4473-A975-7739642B77BB}" type="slidenum">
              <a:rPr lang="de-DE" sz="100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SzPct val="65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SzPct val="65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hyperlink" Target="https://msdn.microsoft.com/de-de/library/x53a06bb(v=vs.120).aspx" TargetMode="External"/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 smtClean="0"/>
              <a:t>Variablen - Motivation</a:t>
            </a:r>
            <a:r>
              <a:rPr lang="de-AT" dirty="0"/>
              <a:t/>
            </a:r>
            <a:br>
              <a:rPr lang="de-AT" dirty="0"/>
            </a:br>
            <a:endParaRPr lang="de-DE" dirty="0"/>
          </a:p>
        </p:txBody>
      </p:sp>
      <p:sp>
        <p:nvSpPr>
          <p:cNvPr id="88" name="Textfeld 87"/>
          <p:cNvSpPr txBox="1"/>
          <p:nvPr/>
        </p:nvSpPr>
        <p:spPr>
          <a:xfrm>
            <a:off x="323527" y="998500"/>
            <a:ext cx="8363273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AT" dirty="0" smtClean="0"/>
              <a:t>Unser bisheriges „Programm“ hat bei jeden Aufruf immer „Hallo Welt“ ausgegeben.</a:t>
            </a:r>
            <a:br>
              <a:rPr lang="de-AT" dirty="0" smtClean="0"/>
            </a:br>
            <a:endParaRPr lang="de-AT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AT" dirty="0" smtClean="0"/>
              <a:t>Wir wollen den Benutzer auffordern, seinen Namen einzugeben.</a:t>
            </a:r>
            <a:br>
              <a:rPr lang="de-AT" dirty="0" smtClean="0"/>
            </a:br>
            <a:r>
              <a:rPr lang="de-AT" dirty="0" smtClean="0"/>
              <a:t>Der Name soll anschließend ausgegeben werden.</a:t>
            </a:r>
            <a:br>
              <a:rPr lang="de-AT" dirty="0" smtClean="0"/>
            </a:br>
            <a:endParaRPr lang="de-AT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AT" dirty="0" smtClean="0"/>
              <a:t>Der Benutzer soll uns den Vornamen, Nachnamen und sein Alter in Jahren mitteilen.</a:t>
            </a:r>
            <a:br>
              <a:rPr lang="de-AT" dirty="0" smtClean="0"/>
            </a:br>
            <a:r>
              <a:rPr lang="de-AT" dirty="0" smtClean="0"/>
              <a:t>All diese Werte wollen wir uns im Programm merken und wieder ausgeben.</a:t>
            </a:r>
            <a:br>
              <a:rPr lang="de-AT" dirty="0" smtClean="0"/>
            </a:br>
            <a:endParaRPr lang="de-AT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AT" dirty="0" smtClean="0"/>
              <a:t>Der Benutzer sagt uns die Kantenlänge eines Quadrates.</a:t>
            </a:r>
            <a:br>
              <a:rPr lang="de-AT" dirty="0" smtClean="0"/>
            </a:br>
            <a:r>
              <a:rPr lang="de-AT" dirty="0" smtClean="0"/>
              <a:t>Das Programm berechnet und merkt sich den Umfang und den Flächeninhalt.</a:t>
            </a:r>
            <a:br>
              <a:rPr lang="de-AT" dirty="0" smtClean="0"/>
            </a:br>
            <a:r>
              <a:rPr lang="de-AT" dirty="0" smtClean="0"/>
              <a:t>Diese Werte werden anschließend ausgegeben.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AT" sz="2000" dirty="0" smtClean="0"/>
          </a:p>
          <a:p>
            <a:r>
              <a:rPr lang="de-AT" sz="2000" dirty="0" smtClean="0">
                <a:solidFill>
                  <a:srgbClr val="C00000"/>
                </a:solidFill>
              </a:rPr>
              <a:t>Das Programm muss sich Dinge merken können!</a:t>
            </a:r>
          </a:p>
          <a:p>
            <a:r>
              <a:rPr lang="de-AT" sz="2000" dirty="0" smtClean="0">
                <a:solidFill>
                  <a:srgbClr val="C00000"/>
                </a:solidFill>
              </a:rPr>
              <a:t>Die Lösung dafür sind Variablen.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9161991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Variablen</a:t>
            </a:r>
            <a:br>
              <a:rPr lang="de-AT" dirty="0"/>
            </a:br>
            <a:endParaRPr lang="de-DE" dirty="0"/>
          </a:p>
        </p:txBody>
      </p:sp>
      <p:sp>
        <p:nvSpPr>
          <p:cNvPr id="6" name="Rechteck 5"/>
          <p:cNvSpPr/>
          <p:nvPr/>
        </p:nvSpPr>
        <p:spPr>
          <a:xfrm>
            <a:off x="1190937" y="2070140"/>
            <a:ext cx="3600400" cy="42484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7" name="Rechteck 6"/>
          <p:cNvSpPr/>
          <p:nvPr/>
        </p:nvSpPr>
        <p:spPr>
          <a:xfrm>
            <a:off x="1262945" y="212682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8" name="Rechteck 7"/>
          <p:cNvSpPr/>
          <p:nvPr/>
        </p:nvSpPr>
        <p:spPr>
          <a:xfrm>
            <a:off x="2127041" y="212682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9" name="Rechteck 8"/>
          <p:cNvSpPr/>
          <p:nvPr/>
        </p:nvSpPr>
        <p:spPr>
          <a:xfrm>
            <a:off x="2991137" y="212682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10" name="Rechteck 9"/>
          <p:cNvSpPr/>
          <p:nvPr/>
        </p:nvSpPr>
        <p:spPr>
          <a:xfrm>
            <a:off x="3855233" y="212682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11" name="Rechteck 10"/>
          <p:cNvSpPr/>
          <p:nvPr/>
        </p:nvSpPr>
        <p:spPr>
          <a:xfrm>
            <a:off x="1262945" y="234284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12" name="Rechteck 11"/>
          <p:cNvSpPr/>
          <p:nvPr/>
        </p:nvSpPr>
        <p:spPr>
          <a:xfrm>
            <a:off x="2127041" y="234284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13" name="Rechteck 12"/>
          <p:cNvSpPr/>
          <p:nvPr/>
        </p:nvSpPr>
        <p:spPr>
          <a:xfrm>
            <a:off x="2991137" y="234284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14" name="Rechteck 13"/>
          <p:cNvSpPr/>
          <p:nvPr/>
        </p:nvSpPr>
        <p:spPr>
          <a:xfrm>
            <a:off x="3855233" y="234284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15" name="Rechteck 14"/>
          <p:cNvSpPr/>
          <p:nvPr/>
        </p:nvSpPr>
        <p:spPr>
          <a:xfrm>
            <a:off x="1262945" y="255887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16" name="Rechteck 15"/>
          <p:cNvSpPr/>
          <p:nvPr/>
        </p:nvSpPr>
        <p:spPr>
          <a:xfrm>
            <a:off x="2127041" y="255887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17" name="Rechteck 16"/>
          <p:cNvSpPr/>
          <p:nvPr/>
        </p:nvSpPr>
        <p:spPr>
          <a:xfrm>
            <a:off x="2991137" y="255887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18" name="Rechteck 17"/>
          <p:cNvSpPr/>
          <p:nvPr/>
        </p:nvSpPr>
        <p:spPr>
          <a:xfrm>
            <a:off x="3855233" y="255887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19" name="Rechteck 18"/>
          <p:cNvSpPr/>
          <p:nvPr/>
        </p:nvSpPr>
        <p:spPr>
          <a:xfrm>
            <a:off x="1262945" y="277489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20" name="Rechteck 19"/>
          <p:cNvSpPr/>
          <p:nvPr/>
        </p:nvSpPr>
        <p:spPr>
          <a:xfrm>
            <a:off x="2127041" y="277489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21" name="Rechteck 20"/>
          <p:cNvSpPr/>
          <p:nvPr/>
        </p:nvSpPr>
        <p:spPr>
          <a:xfrm>
            <a:off x="2991137" y="277489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22" name="Rechteck 21"/>
          <p:cNvSpPr/>
          <p:nvPr/>
        </p:nvSpPr>
        <p:spPr>
          <a:xfrm>
            <a:off x="3855233" y="277489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23" name="Rechteck 22"/>
          <p:cNvSpPr/>
          <p:nvPr/>
        </p:nvSpPr>
        <p:spPr>
          <a:xfrm>
            <a:off x="1262945" y="300624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24" name="Rechteck 23"/>
          <p:cNvSpPr/>
          <p:nvPr/>
        </p:nvSpPr>
        <p:spPr>
          <a:xfrm>
            <a:off x="2127041" y="3006244"/>
            <a:ext cx="866350" cy="23135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25" name="Rechteck 24"/>
          <p:cNvSpPr/>
          <p:nvPr/>
        </p:nvSpPr>
        <p:spPr>
          <a:xfrm>
            <a:off x="2991137" y="300624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26" name="Rechteck 25"/>
          <p:cNvSpPr/>
          <p:nvPr/>
        </p:nvSpPr>
        <p:spPr>
          <a:xfrm>
            <a:off x="3855233" y="300624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27" name="Rechteck 26"/>
          <p:cNvSpPr/>
          <p:nvPr/>
        </p:nvSpPr>
        <p:spPr>
          <a:xfrm>
            <a:off x="1262945" y="322226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28" name="Rechteck 27"/>
          <p:cNvSpPr/>
          <p:nvPr/>
        </p:nvSpPr>
        <p:spPr>
          <a:xfrm>
            <a:off x="2127041" y="322226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29" name="Rechteck 28"/>
          <p:cNvSpPr/>
          <p:nvPr/>
        </p:nvSpPr>
        <p:spPr>
          <a:xfrm>
            <a:off x="2991137" y="322226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30" name="Rechteck 29"/>
          <p:cNvSpPr/>
          <p:nvPr/>
        </p:nvSpPr>
        <p:spPr>
          <a:xfrm>
            <a:off x="3855233" y="322226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31" name="Rechteck 30"/>
          <p:cNvSpPr/>
          <p:nvPr/>
        </p:nvSpPr>
        <p:spPr>
          <a:xfrm>
            <a:off x="1262945" y="343829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32" name="Rechteck 31"/>
          <p:cNvSpPr/>
          <p:nvPr/>
        </p:nvSpPr>
        <p:spPr>
          <a:xfrm>
            <a:off x="2127041" y="343829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33" name="Rechteck 32"/>
          <p:cNvSpPr/>
          <p:nvPr/>
        </p:nvSpPr>
        <p:spPr>
          <a:xfrm>
            <a:off x="2991137" y="343829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34" name="Rechteck 33"/>
          <p:cNvSpPr/>
          <p:nvPr/>
        </p:nvSpPr>
        <p:spPr>
          <a:xfrm>
            <a:off x="3855233" y="343829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35" name="Rechteck 34"/>
          <p:cNvSpPr/>
          <p:nvPr/>
        </p:nvSpPr>
        <p:spPr>
          <a:xfrm>
            <a:off x="1262945" y="365431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36" name="Rechteck 35"/>
          <p:cNvSpPr/>
          <p:nvPr/>
        </p:nvSpPr>
        <p:spPr>
          <a:xfrm>
            <a:off x="2127041" y="365431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37" name="Rechteck 36"/>
          <p:cNvSpPr/>
          <p:nvPr/>
        </p:nvSpPr>
        <p:spPr>
          <a:xfrm>
            <a:off x="2991137" y="365431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38" name="Rechteck 37"/>
          <p:cNvSpPr/>
          <p:nvPr/>
        </p:nvSpPr>
        <p:spPr>
          <a:xfrm>
            <a:off x="3855233" y="365431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39" name="Rechteck 38"/>
          <p:cNvSpPr/>
          <p:nvPr/>
        </p:nvSpPr>
        <p:spPr>
          <a:xfrm>
            <a:off x="1262945" y="387034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40" name="Rechteck 39"/>
          <p:cNvSpPr/>
          <p:nvPr/>
        </p:nvSpPr>
        <p:spPr>
          <a:xfrm>
            <a:off x="2127041" y="387034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41" name="Rechteck 40"/>
          <p:cNvSpPr/>
          <p:nvPr/>
        </p:nvSpPr>
        <p:spPr>
          <a:xfrm>
            <a:off x="2991137" y="387034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42" name="Rechteck 41"/>
          <p:cNvSpPr/>
          <p:nvPr/>
        </p:nvSpPr>
        <p:spPr>
          <a:xfrm>
            <a:off x="3855233" y="387034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43" name="Rechteck 42"/>
          <p:cNvSpPr/>
          <p:nvPr/>
        </p:nvSpPr>
        <p:spPr>
          <a:xfrm>
            <a:off x="1262945" y="410169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44" name="Rechteck 43"/>
          <p:cNvSpPr/>
          <p:nvPr/>
        </p:nvSpPr>
        <p:spPr>
          <a:xfrm>
            <a:off x="2127041" y="410169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45" name="Rechteck 44"/>
          <p:cNvSpPr/>
          <p:nvPr/>
        </p:nvSpPr>
        <p:spPr>
          <a:xfrm>
            <a:off x="2991137" y="410169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46" name="Rechteck 45"/>
          <p:cNvSpPr/>
          <p:nvPr/>
        </p:nvSpPr>
        <p:spPr>
          <a:xfrm>
            <a:off x="3855233" y="410169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47" name="Rechteck 46"/>
          <p:cNvSpPr/>
          <p:nvPr/>
        </p:nvSpPr>
        <p:spPr>
          <a:xfrm>
            <a:off x="1262945" y="431771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48" name="Rechteck 47"/>
          <p:cNvSpPr/>
          <p:nvPr/>
        </p:nvSpPr>
        <p:spPr>
          <a:xfrm>
            <a:off x="2127041" y="431771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49" name="Rechteck 48"/>
          <p:cNvSpPr/>
          <p:nvPr/>
        </p:nvSpPr>
        <p:spPr>
          <a:xfrm>
            <a:off x="2991137" y="431771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50" name="Rechteck 49"/>
          <p:cNvSpPr/>
          <p:nvPr/>
        </p:nvSpPr>
        <p:spPr>
          <a:xfrm>
            <a:off x="3855233" y="431771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51" name="Rechteck 50"/>
          <p:cNvSpPr/>
          <p:nvPr/>
        </p:nvSpPr>
        <p:spPr>
          <a:xfrm>
            <a:off x="1262945" y="453373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52" name="Rechteck 51"/>
          <p:cNvSpPr/>
          <p:nvPr/>
        </p:nvSpPr>
        <p:spPr>
          <a:xfrm>
            <a:off x="2127041" y="453373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53" name="Rechteck 52"/>
          <p:cNvSpPr/>
          <p:nvPr/>
        </p:nvSpPr>
        <p:spPr>
          <a:xfrm>
            <a:off x="2991137" y="453373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54" name="Rechteck 53"/>
          <p:cNvSpPr/>
          <p:nvPr/>
        </p:nvSpPr>
        <p:spPr>
          <a:xfrm>
            <a:off x="3855233" y="453373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55" name="Rechteck 54"/>
          <p:cNvSpPr/>
          <p:nvPr/>
        </p:nvSpPr>
        <p:spPr>
          <a:xfrm>
            <a:off x="1262945" y="474976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56" name="Rechteck 55"/>
          <p:cNvSpPr/>
          <p:nvPr/>
        </p:nvSpPr>
        <p:spPr>
          <a:xfrm>
            <a:off x="2127041" y="474976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57" name="Rechteck 56"/>
          <p:cNvSpPr/>
          <p:nvPr/>
        </p:nvSpPr>
        <p:spPr>
          <a:xfrm>
            <a:off x="2991137" y="474976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58" name="Rechteck 57"/>
          <p:cNvSpPr/>
          <p:nvPr/>
        </p:nvSpPr>
        <p:spPr>
          <a:xfrm>
            <a:off x="3855233" y="474976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59" name="Rechteck 58"/>
          <p:cNvSpPr/>
          <p:nvPr/>
        </p:nvSpPr>
        <p:spPr>
          <a:xfrm>
            <a:off x="1262945" y="495046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60" name="Rechteck 59"/>
          <p:cNvSpPr/>
          <p:nvPr/>
        </p:nvSpPr>
        <p:spPr>
          <a:xfrm>
            <a:off x="2127041" y="495046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61" name="Rechteck 60"/>
          <p:cNvSpPr/>
          <p:nvPr/>
        </p:nvSpPr>
        <p:spPr>
          <a:xfrm>
            <a:off x="2991137" y="495046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62" name="Rechteck 61"/>
          <p:cNvSpPr/>
          <p:nvPr/>
        </p:nvSpPr>
        <p:spPr>
          <a:xfrm>
            <a:off x="3855233" y="495046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63" name="Rechteck 62"/>
          <p:cNvSpPr/>
          <p:nvPr/>
        </p:nvSpPr>
        <p:spPr>
          <a:xfrm>
            <a:off x="1262945" y="516648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64" name="Rechteck 63"/>
          <p:cNvSpPr/>
          <p:nvPr/>
        </p:nvSpPr>
        <p:spPr>
          <a:xfrm>
            <a:off x="2127041" y="516648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65" name="Rechteck 64"/>
          <p:cNvSpPr/>
          <p:nvPr/>
        </p:nvSpPr>
        <p:spPr>
          <a:xfrm>
            <a:off x="2991137" y="516648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66" name="Rechteck 65"/>
          <p:cNvSpPr/>
          <p:nvPr/>
        </p:nvSpPr>
        <p:spPr>
          <a:xfrm>
            <a:off x="3855233" y="516648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67" name="Rechteck 66"/>
          <p:cNvSpPr/>
          <p:nvPr/>
        </p:nvSpPr>
        <p:spPr>
          <a:xfrm>
            <a:off x="1262945" y="538250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68" name="Rechteck 67"/>
          <p:cNvSpPr/>
          <p:nvPr/>
        </p:nvSpPr>
        <p:spPr>
          <a:xfrm>
            <a:off x="2127041" y="538250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69" name="Rechteck 68"/>
          <p:cNvSpPr/>
          <p:nvPr/>
        </p:nvSpPr>
        <p:spPr>
          <a:xfrm>
            <a:off x="2991137" y="538250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70" name="Rechteck 69"/>
          <p:cNvSpPr/>
          <p:nvPr/>
        </p:nvSpPr>
        <p:spPr>
          <a:xfrm>
            <a:off x="3855233" y="538250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71" name="Rechteck 70"/>
          <p:cNvSpPr/>
          <p:nvPr/>
        </p:nvSpPr>
        <p:spPr>
          <a:xfrm>
            <a:off x="1262945" y="559853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72" name="Rechteck 71"/>
          <p:cNvSpPr/>
          <p:nvPr/>
        </p:nvSpPr>
        <p:spPr>
          <a:xfrm>
            <a:off x="2127041" y="559853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73" name="Rechteck 72"/>
          <p:cNvSpPr/>
          <p:nvPr/>
        </p:nvSpPr>
        <p:spPr>
          <a:xfrm>
            <a:off x="2991137" y="559853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74" name="Rechteck 73"/>
          <p:cNvSpPr/>
          <p:nvPr/>
        </p:nvSpPr>
        <p:spPr>
          <a:xfrm>
            <a:off x="3855233" y="559853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75" name="Rechteck 74"/>
          <p:cNvSpPr/>
          <p:nvPr/>
        </p:nvSpPr>
        <p:spPr>
          <a:xfrm>
            <a:off x="1262945" y="581455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76" name="Rechteck 75"/>
          <p:cNvSpPr/>
          <p:nvPr/>
        </p:nvSpPr>
        <p:spPr>
          <a:xfrm>
            <a:off x="2127041" y="581455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77" name="Rechteck 76"/>
          <p:cNvSpPr/>
          <p:nvPr/>
        </p:nvSpPr>
        <p:spPr>
          <a:xfrm>
            <a:off x="2991137" y="581455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78" name="Rechteck 77"/>
          <p:cNvSpPr/>
          <p:nvPr/>
        </p:nvSpPr>
        <p:spPr>
          <a:xfrm>
            <a:off x="3855233" y="581455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79" name="Rechteck 78"/>
          <p:cNvSpPr/>
          <p:nvPr/>
        </p:nvSpPr>
        <p:spPr>
          <a:xfrm>
            <a:off x="1262945" y="603058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80" name="Rechteck 79"/>
          <p:cNvSpPr/>
          <p:nvPr/>
        </p:nvSpPr>
        <p:spPr>
          <a:xfrm>
            <a:off x="2127041" y="603058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81" name="Rechteck 80"/>
          <p:cNvSpPr/>
          <p:nvPr/>
        </p:nvSpPr>
        <p:spPr>
          <a:xfrm>
            <a:off x="2991137" y="603058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82" name="Rechteck 81"/>
          <p:cNvSpPr/>
          <p:nvPr/>
        </p:nvSpPr>
        <p:spPr>
          <a:xfrm>
            <a:off x="3855233" y="603058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83" name="Textfeld 82"/>
          <p:cNvSpPr txBox="1"/>
          <p:nvPr/>
        </p:nvSpPr>
        <p:spPr>
          <a:xfrm>
            <a:off x="5596744" y="2093430"/>
            <a:ext cx="23903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AT" dirty="0" err="1">
                <a:latin typeface="Courier New" pitchFamily="49" charset="0"/>
                <a:cs typeface="Courier New" pitchFamily="49" charset="0"/>
              </a:rPr>
              <a:t>byte</a:t>
            </a:r>
            <a:r>
              <a:rPr lang="de-AT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AT" dirty="0" err="1">
                <a:latin typeface="Courier New" pitchFamily="49" charset="0"/>
                <a:cs typeface="Courier New" pitchFamily="49" charset="0"/>
              </a:rPr>
              <a:t>number</a:t>
            </a:r>
            <a:r>
              <a:rPr lang="de-AT" dirty="0">
                <a:latin typeface="Courier New" pitchFamily="49" charset="0"/>
                <a:cs typeface="Courier New" pitchFamily="49" charset="0"/>
              </a:rPr>
              <a:t> = 21</a:t>
            </a:r>
          </a:p>
        </p:txBody>
      </p:sp>
      <p:sp>
        <p:nvSpPr>
          <p:cNvPr id="84" name="Textfeld 83"/>
          <p:cNvSpPr txBox="1"/>
          <p:nvPr/>
        </p:nvSpPr>
        <p:spPr>
          <a:xfrm>
            <a:off x="5989480" y="3174067"/>
            <a:ext cx="1604927" cy="12003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AT" dirty="0"/>
              <a:t>Name: </a:t>
            </a:r>
            <a:r>
              <a:rPr lang="de-AT" dirty="0" err="1"/>
              <a:t>number</a:t>
            </a:r>
            <a:endParaRPr lang="de-AT" dirty="0"/>
          </a:p>
          <a:p>
            <a:r>
              <a:rPr lang="de-AT" dirty="0"/>
              <a:t>Typ: </a:t>
            </a:r>
            <a:r>
              <a:rPr lang="de-AT" dirty="0" err="1"/>
              <a:t>byte</a:t>
            </a:r>
            <a:endParaRPr lang="de-AT" dirty="0"/>
          </a:p>
          <a:p>
            <a:r>
              <a:rPr lang="de-AT" dirty="0"/>
              <a:t>Adresse: 17</a:t>
            </a:r>
          </a:p>
          <a:p>
            <a:r>
              <a:rPr lang="de-AT" dirty="0"/>
              <a:t>Wert: 21</a:t>
            </a:r>
          </a:p>
        </p:txBody>
      </p:sp>
      <p:cxnSp>
        <p:nvCxnSpPr>
          <p:cNvPr id="85" name="Gerade Verbindung mit Pfeil 84"/>
          <p:cNvCxnSpPr>
            <a:stCxn id="25" idx="1"/>
            <a:endCxn id="84" idx="1"/>
          </p:cNvCxnSpPr>
          <p:nvPr/>
        </p:nvCxnSpPr>
        <p:spPr>
          <a:xfrm>
            <a:off x="2991137" y="3121919"/>
            <a:ext cx="2998343" cy="652313"/>
          </a:xfrm>
          <a:prstGeom prst="straightConnector1">
            <a:avLst/>
          </a:prstGeom>
          <a:ln w="25400"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Gerade Verbindung mit Pfeil 85"/>
          <p:cNvCxnSpPr>
            <a:stCxn id="83" idx="2"/>
            <a:endCxn id="84" idx="0"/>
          </p:cNvCxnSpPr>
          <p:nvPr/>
        </p:nvCxnSpPr>
        <p:spPr>
          <a:xfrm>
            <a:off x="6791943" y="2462762"/>
            <a:ext cx="1" cy="711305"/>
          </a:xfrm>
          <a:prstGeom prst="straightConnector1">
            <a:avLst/>
          </a:prstGeom>
          <a:ln w="12700" cap="rnd" cmpd="dbl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feld 86"/>
          <p:cNvSpPr txBox="1"/>
          <p:nvPr/>
        </p:nvSpPr>
        <p:spPr>
          <a:xfrm>
            <a:off x="1187624" y="1700808"/>
            <a:ext cx="3600400" cy="369332"/>
          </a:xfrm>
          <a:prstGeom prst="rect">
            <a:avLst/>
          </a:prstGeom>
          <a:noFill/>
          <a:ln w="254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Hauptspeicher</a:t>
            </a:r>
          </a:p>
        </p:txBody>
      </p:sp>
      <p:sp>
        <p:nvSpPr>
          <p:cNvPr id="88" name="Textfeld 87"/>
          <p:cNvSpPr txBox="1"/>
          <p:nvPr/>
        </p:nvSpPr>
        <p:spPr>
          <a:xfrm>
            <a:off x="256845" y="998500"/>
            <a:ext cx="84299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Daten, die im Programm mehrmals benötigt werden, können als Variablen gespeichert werden.</a:t>
            </a:r>
          </a:p>
        </p:txBody>
      </p:sp>
    </p:spTree>
    <p:extLst>
      <p:ext uri="{BB962C8B-B14F-4D97-AF65-F5344CB8AC3E}">
        <p14:creationId xmlns:p14="http://schemas.microsoft.com/office/powerpoint/2010/main" val="19206486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="" xmlns:a16="http://schemas.microsoft.com/office/drawing/2014/main" id="{47B33B7B-0956-4691-A384-E5954D8DBE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828" t="30653" r="40496" b="59858"/>
          <a:stretch/>
        </p:blipFill>
        <p:spPr>
          <a:xfrm>
            <a:off x="755576" y="2996952"/>
            <a:ext cx="7776866" cy="432048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="" xmlns:a16="http://schemas.microsoft.com/office/drawing/2014/main" id="{91AE9513-1234-4703-8392-93226C9A3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Deklaration und Zuweisung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="" xmlns:a16="http://schemas.microsoft.com/office/drawing/2014/main" id="{2011BA9D-4171-4462-9EA8-9AA2E9346A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4077072"/>
            <a:ext cx="8229600" cy="2049091"/>
          </a:xfrm>
        </p:spPr>
        <p:txBody>
          <a:bodyPr/>
          <a:lstStyle/>
          <a:p>
            <a:r>
              <a:rPr lang="de-AT" dirty="0"/>
              <a:t>Man kann ab jetzt der Variablen auch andere Zeichenketten zuweisen:</a:t>
            </a:r>
          </a:p>
        </p:txBody>
      </p:sp>
      <p:sp>
        <p:nvSpPr>
          <p:cNvPr id="6" name="Sprechblase: oval 5">
            <a:extLst>
              <a:ext uri="{FF2B5EF4-FFF2-40B4-BE49-F238E27FC236}">
                <a16:creationId xmlns="" xmlns:a16="http://schemas.microsoft.com/office/drawing/2014/main" id="{381D2117-5022-4813-A7BF-4AD136F123B9}"/>
              </a:ext>
            </a:extLst>
          </p:cNvPr>
          <p:cNvSpPr/>
          <p:nvPr/>
        </p:nvSpPr>
        <p:spPr>
          <a:xfrm>
            <a:off x="107504" y="834887"/>
            <a:ext cx="4248472" cy="1806081"/>
          </a:xfrm>
          <a:prstGeom prst="wedgeEllipseCallout">
            <a:avLst>
              <a:gd name="adj1" fmla="val 7008"/>
              <a:gd name="adj2" fmla="val 6690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Deklaration:</a:t>
            </a:r>
          </a:p>
          <a:p>
            <a:pPr algn="ctr"/>
            <a:r>
              <a:rPr lang="de-AT" dirty="0"/>
              <a:t>Die Variable heißt „</a:t>
            </a:r>
            <a:r>
              <a:rPr lang="de-AT" dirty="0" err="1"/>
              <a:t>name</a:t>
            </a:r>
            <a:r>
              <a:rPr lang="de-AT" dirty="0"/>
              <a:t>“ und ist vom Datentyp „</a:t>
            </a:r>
            <a:r>
              <a:rPr lang="de-AT" dirty="0" err="1"/>
              <a:t>string</a:t>
            </a:r>
            <a:r>
              <a:rPr lang="de-AT" dirty="0"/>
              <a:t>“ (Zeichenkette)</a:t>
            </a:r>
          </a:p>
          <a:p>
            <a:pPr algn="ctr"/>
            <a:endParaRPr lang="de-AT" dirty="0"/>
          </a:p>
        </p:txBody>
      </p:sp>
      <p:sp>
        <p:nvSpPr>
          <p:cNvPr id="8" name="Rechteck: abgerundete Ecken 7">
            <a:extLst>
              <a:ext uri="{FF2B5EF4-FFF2-40B4-BE49-F238E27FC236}">
                <a16:creationId xmlns="" xmlns:a16="http://schemas.microsoft.com/office/drawing/2014/main" id="{41B512A9-2F47-4BE3-801B-74117AF904A6}"/>
              </a:ext>
            </a:extLst>
          </p:cNvPr>
          <p:cNvSpPr/>
          <p:nvPr/>
        </p:nvSpPr>
        <p:spPr>
          <a:xfrm>
            <a:off x="755576" y="2972754"/>
            <a:ext cx="2664294" cy="528253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2" name="Rechteck: abgerundete Ecken 11">
            <a:extLst>
              <a:ext uri="{FF2B5EF4-FFF2-40B4-BE49-F238E27FC236}">
                <a16:creationId xmlns="" xmlns:a16="http://schemas.microsoft.com/office/drawing/2014/main" id="{F78FEF22-9723-4B19-87DD-733E658C05A5}"/>
              </a:ext>
            </a:extLst>
          </p:cNvPr>
          <p:cNvSpPr/>
          <p:nvPr/>
        </p:nvSpPr>
        <p:spPr>
          <a:xfrm>
            <a:off x="3563888" y="2972755"/>
            <a:ext cx="4824536" cy="528253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4" name="Sprechblase: oval 13">
            <a:extLst>
              <a:ext uri="{FF2B5EF4-FFF2-40B4-BE49-F238E27FC236}">
                <a16:creationId xmlns="" xmlns:a16="http://schemas.microsoft.com/office/drawing/2014/main" id="{2DA2CD00-C227-416E-AD24-F1644C50718F}"/>
              </a:ext>
            </a:extLst>
          </p:cNvPr>
          <p:cNvSpPr/>
          <p:nvPr/>
        </p:nvSpPr>
        <p:spPr>
          <a:xfrm>
            <a:off x="5076056" y="980728"/>
            <a:ext cx="3456386" cy="1631032"/>
          </a:xfrm>
          <a:prstGeom prst="wedgeEllipseCallout">
            <a:avLst>
              <a:gd name="adj1" fmla="val -75001"/>
              <a:gd name="adj2" fmla="val 7095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Zuweisung: Die in der Konsole eingegebene Zeichenkette wird der Variablen zugewiesen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="" xmlns:a16="http://schemas.microsoft.com/office/drawing/2014/main" id="{0EA9A304-3051-415B-8085-8020302180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1429" y="5229200"/>
            <a:ext cx="5748883" cy="604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53596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="" xmlns:a16="http://schemas.microsoft.com/office/drawing/2014/main" id="{18B5709C-786B-46D4-8AF1-62D2DAC23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Beispiel: Eine Zeichenkette einlesen</a:t>
            </a:r>
          </a:p>
        </p:txBody>
      </p:sp>
      <p:sp>
        <p:nvSpPr>
          <p:cNvPr id="6" name="Pfeil: nach unten 5">
            <a:extLst>
              <a:ext uri="{FF2B5EF4-FFF2-40B4-BE49-F238E27FC236}">
                <a16:creationId xmlns="" xmlns:a16="http://schemas.microsoft.com/office/drawing/2014/main" id="{938AEF34-9E37-4620-9D27-386ACF24A163}"/>
              </a:ext>
            </a:extLst>
          </p:cNvPr>
          <p:cNvSpPr/>
          <p:nvPr/>
        </p:nvSpPr>
        <p:spPr>
          <a:xfrm>
            <a:off x="3491880" y="3429000"/>
            <a:ext cx="216024" cy="57606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pic>
        <p:nvPicPr>
          <p:cNvPr id="10" name="Grafik 9">
            <a:extLst>
              <a:ext uri="{FF2B5EF4-FFF2-40B4-BE49-F238E27FC236}">
                <a16:creationId xmlns="" xmlns:a16="http://schemas.microsoft.com/office/drawing/2014/main" id="{BD2ECE35-85A6-44BC-9D52-0DDE7859D8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476" y="4293096"/>
            <a:ext cx="4076700" cy="116205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="" xmlns:a16="http://schemas.microsoft.com/office/drawing/2014/main" id="{BF7A0922-B0AF-4396-9CE7-8B36F43383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68" y="1003001"/>
            <a:ext cx="7381875" cy="2276475"/>
          </a:xfrm>
          <a:prstGeom prst="rect">
            <a:avLst/>
          </a:prstGeom>
        </p:spPr>
      </p:pic>
      <p:sp>
        <p:nvSpPr>
          <p:cNvPr id="7" name="Rechteck: abgerundete Ecken 6">
            <a:extLst>
              <a:ext uri="{FF2B5EF4-FFF2-40B4-BE49-F238E27FC236}">
                <a16:creationId xmlns="" xmlns:a16="http://schemas.microsoft.com/office/drawing/2014/main" id="{ADE4EDDF-E84F-44C2-8B8A-414A39087522}"/>
              </a:ext>
            </a:extLst>
          </p:cNvPr>
          <p:cNvSpPr/>
          <p:nvPr/>
        </p:nvSpPr>
        <p:spPr>
          <a:xfrm>
            <a:off x="1115616" y="1628800"/>
            <a:ext cx="1440160" cy="360040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9" name="Rechteck: abgerundete Ecken 8">
            <a:extLst>
              <a:ext uri="{FF2B5EF4-FFF2-40B4-BE49-F238E27FC236}">
                <a16:creationId xmlns="" xmlns:a16="http://schemas.microsoft.com/office/drawing/2014/main" id="{21A3DDD4-0B6E-445E-97BD-8E1FD53FCA54}"/>
              </a:ext>
            </a:extLst>
          </p:cNvPr>
          <p:cNvSpPr/>
          <p:nvPr/>
        </p:nvSpPr>
        <p:spPr>
          <a:xfrm>
            <a:off x="5724128" y="1862682"/>
            <a:ext cx="576064" cy="270174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8457634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9" name="Foliennummernplatzhalter 4"/>
          <p:cNvSpPr>
            <a:spLocks noGrp="1"/>
          </p:cNvSpPr>
          <p:nvPr>
            <p:ph type="sldNum" sz="quarter" idx="4294967295"/>
          </p:nvPr>
        </p:nvSpPr>
        <p:spPr>
          <a:xfrm>
            <a:off x="6773863" y="6380163"/>
            <a:ext cx="2195512" cy="34131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Wingdings" panose="05000000000000000000" pitchFamily="2" charset="2"/>
              <a:buChar char="Ø"/>
              <a:defRPr sz="3200">
                <a:solidFill>
                  <a:srgbClr val="000080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•"/>
              <a:defRPr sz="2800">
                <a:solidFill>
                  <a:srgbClr val="000080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Font typeface="Wingdings" panose="05000000000000000000" pitchFamily="2" charset="2"/>
              <a:buChar char="§"/>
              <a:defRPr sz="2400">
                <a:solidFill>
                  <a:srgbClr val="000080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6623F941-FAC9-418E-8F3D-B355B613E7BE}" type="slidenum">
              <a:rPr lang="de-DE" altLang="de-DE" sz="1400" smtClean="0">
                <a:solidFill>
                  <a:schemeClr val="bg1"/>
                </a:solidFill>
              </a:rPr>
              <a:pPr>
                <a:spcBef>
                  <a:spcPct val="0"/>
                </a:spcBef>
                <a:buFontTx/>
                <a:buNone/>
              </a:pPr>
              <a:t>5</a:t>
            </a:fld>
            <a:endParaRPr lang="de-DE" altLang="de-DE" sz="1400">
              <a:solidFill>
                <a:schemeClr val="bg1"/>
              </a:solidFill>
            </a:endParaRPr>
          </a:p>
        </p:txBody>
      </p:sp>
      <p:sp>
        <p:nvSpPr>
          <p:cNvPr id="1434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altLang="de-DE" dirty="0"/>
              <a:t>Variablen: Name, Datentyp, Daten</a:t>
            </a:r>
          </a:p>
        </p:txBody>
      </p:sp>
      <p:sp>
        <p:nvSpPr>
          <p:cNvPr id="1434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36538" y="1268413"/>
            <a:ext cx="8583612" cy="4835525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de-DE" altLang="de-DE" sz="2000" dirty="0"/>
              <a:t>Variablen sind </a:t>
            </a:r>
            <a:r>
              <a:rPr lang="de-DE" altLang="de-DE" sz="2000" b="1" dirty="0"/>
              <a:t>benannte Platzhalter </a:t>
            </a:r>
            <a:r>
              <a:rPr lang="de-DE" altLang="de-DE" sz="2000" dirty="0"/>
              <a:t>bestimmter Größe für Bereiche im Arbeitsspeicher, in denen Daten gespeichert sind:</a:t>
            </a:r>
            <a:br>
              <a:rPr lang="de-DE" altLang="de-DE" sz="2000" dirty="0"/>
            </a:br>
            <a:endParaRPr lang="de-DE" altLang="de-DE" sz="2000" dirty="0"/>
          </a:p>
          <a:p>
            <a:pPr lvl="1" eaLnBrk="1" hangingPunct="1">
              <a:lnSpc>
                <a:spcPct val="80000"/>
              </a:lnSpc>
            </a:pPr>
            <a:r>
              <a:rPr lang="de-DE" altLang="de-DE" sz="1800" dirty="0"/>
              <a:t>Welchen </a:t>
            </a:r>
            <a:r>
              <a:rPr lang="de-DE" altLang="de-DE" sz="1800" b="1" dirty="0"/>
              <a:t>Namen</a:t>
            </a:r>
            <a:r>
              <a:rPr lang="de-DE" altLang="de-DE" sz="1800" dirty="0"/>
              <a:t> hat die Variable? (</a:t>
            </a:r>
            <a:r>
              <a:rPr lang="de-DE" altLang="de-DE" sz="1800" b="1" dirty="0"/>
              <a:t>Deklaration</a:t>
            </a:r>
            <a:r>
              <a:rPr lang="de-DE" altLang="de-DE" sz="1800" dirty="0"/>
              <a:t> </a:t>
            </a:r>
            <a:r>
              <a:rPr lang="de-DE" altLang="de-DE" sz="1800" dirty="0">
                <a:sym typeface="Wingdings" panose="05000000000000000000" pitchFamily="2" charset="2"/>
              </a:rPr>
              <a:t> </a:t>
            </a:r>
            <a:r>
              <a:rPr lang="de-DE" altLang="de-DE" sz="1800" dirty="0"/>
              <a:t>Bezeichner)</a:t>
            </a:r>
          </a:p>
          <a:p>
            <a:pPr lvl="1" eaLnBrk="1" hangingPunct="1">
              <a:lnSpc>
                <a:spcPct val="80000"/>
              </a:lnSpc>
            </a:pPr>
            <a:r>
              <a:rPr lang="de-DE" altLang="de-DE" sz="1800" dirty="0"/>
              <a:t>Welchen </a:t>
            </a:r>
            <a:r>
              <a:rPr lang="de-DE" altLang="de-DE" sz="1800" b="1" dirty="0"/>
              <a:t>Datentyp</a:t>
            </a:r>
            <a:r>
              <a:rPr lang="de-DE" altLang="de-DE" sz="1800" dirty="0"/>
              <a:t> hat die Variable? (</a:t>
            </a:r>
            <a:r>
              <a:rPr lang="de-DE" altLang="de-DE" sz="1800" b="1" dirty="0"/>
              <a:t>Definition</a:t>
            </a:r>
            <a:r>
              <a:rPr lang="de-DE" altLang="de-DE" sz="1800" dirty="0"/>
              <a:t> </a:t>
            </a:r>
            <a:r>
              <a:rPr lang="de-DE" altLang="de-DE" sz="1800" dirty="0">
                <a:sym typeface="Wingdings" panose="05000000000000000000" pitchFamily="2" charset="2"/>
              </a:rPr>
              <a:t></a:t>
            </a:r>
            <a:r>
              <a:rPr lang="de-DE" altLang="de-DE" sz="1800" dirty="0"/>
              <a:t> Größe im Speicher)</a:t>
            </a:r>
          </a:p>
          <a:p>
            <a:pPr lvl="1" eaLnBrk="1" hangingPunct="1">
              <a:lnSpc>
                <a:spcPct val="80000"/>
              </a:lnSpc>
            </a:pPr>
            <a:r>
              <a:rPr lang="de-DE" altLang="de-DE" sz="1800" dirty="0"/>
              <a:t>Welche </a:t>
            </a:r>
            <a:r>
              <a:rPr lang="de-DE" altLang="de-DE" sz="1800" b="1" dirty="0"/>
              <a:t>Daten</a:t>
            </a:r>
            <a:r>
              <a:rPr lang="de-DE" altLang="de-DE" sz="1800" dirty="0"/>
              <a:t> werden gespeichert? (</a:t>
            </a:r>
            <a:r>
              <a:rPr lang="de-DE" altLang="de-DE" sz="1800" b="1" dirty="0"/>
              <a:t>Initialisierung</a:t>
            </a:r>
            <a:r>
              <a:rPr lang="de-DE" altLang="de-DE" sz="1800" dirty="0"/>
              <a:t> </a:t>
            </a:r>
            <a:r>
              <a:rPr lang="de-DE" altLang="de-DE" sz="1800" dirty="0">
                <a:sym typeface="Wingdings" panose="05000000000000000000" pitchFamily="2" charset="2"/>
              </a:rPr>
              <a:t> </a:t>
            </a:r>
            <a:r>
              <a:rPr lang="de-DE" altLang="de-DE" sz="1800" dirty="0"/>
              <a:t>Wertzuweisung)</a:t>
            </a:r>
          </a:p>
          <a:p>
            <a:pPr lvl="1" eaLnBrk="1" hangingPunct="1">
              <a:lnSpc>
                <a:spcPct val="80000"/>
              </a:lnSpc>
            </a:pPr>
            <a:endParaRPr lang="de-DE" altLang="de-DE" sz="1800" dirty="0"/>
          </a:p>
          <a:p>
            <a:pPr eaLnBrk="1" hangingPunct="1">
              <a:lnSpc>
                <a:spcPct val="80000"/>
              </a:lnSpc>
            </a:pPr>
            <a:r>
              <a:rPr lang="de-DE" altLang="de-DE" sz="2000" dirty="0"/>
              <a:t>Deklaration und Definition:</a:t>
            </a:r>
          </a:p>
          <a:p>
            <a:pPr lvl="1" eaLnBrk="1" hangingPunct="1">
              <a:lnSpc>
                <a:spcPct val="80000"/>
              </a:lnSpc>
            </a:pPr>
            <a:r>
              <a:rPr lang="de-DE" altLang="de-DE" sz="1800" dirty="0"/>
              <a:t>Typ Bezeichner; 		z.B. </a:t>
            </a:r>
            <a:r>
              <a:rPr lang="de-DE" altLang="de-D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altLang="de-D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altLang="de-D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counter</a:t>
            </a:r>
            <a:r>
              <a:rPr lang="de-DE" altLang="de-D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eaLnBrk="1" hangingPunct="1">
              <a:lnSpc>
                <a:spcPct val="80000"/>
              </a:lnSpc>
            </a:pPr>
            <a:r>
              <a:rPr lang="de-DE" altLang="de-DE" sz="2000" dirty="0"/>
              <a:t>Initialisierung / Zuweisung:</a:t>
            </a:r>
          </a:p>
          <a:p>
            <a:pPr lvl="1" eaLnBrk="1" hangingPunct="1">
              <a:lnSpc>
                <a:spcPct val="80000"/>
              </a:lnSpc>
            </a:pPr>
            <a:r>
              <a:rPr lang="de-DE" altLang="de-DE" sz="1800" dirty="0"/>
              <a:t>Bezeichner = Wert; 	z.B. </a:t>
            </a:r>
            <a:r>
              <a:rPr lang="de-DE" altLang="de-D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counter</a:t>
            </a:r>
            <a:r>
              <a:rPr lang="de-DE" altLang="de-D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4;</a:t>
            </a:r>
          </a:p>
          <a:p>
            <a:pPr eaLnBrk="1" hangingPunct="1">
              <a:lnSpc>
                <a:spcPct val="80000"/>
              </a:lnSpc>
            </a:pPr>
            <a:r>
              <a:rPr lang="de-DE" altLang="de-DE" sz="2000" dirty="0"/>
              <a:t>Zusammenfallen von Deklaration und Initialisierung:</a:t>
            </a:r>
          </a:p>
          <a:p>
            <a:pPr lvl="1" eaLnBrk="1" hangingPunct="1">
              <a:lnSpc>
                <a:spcPct val="80000"/>
              </a:lnSpc>
            </a:pPr>
            <a:r>
              <a:rPr lang="de-DE" altLang="de-DE" sz="1800" dirty="0"/>
              <a:t>Typ Bezeichner = Wert; 	z.B. </a:t>
            </a:r>
            <a:r>
              <a:rPr lang="de-DE" altLang="de-D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altLang="de-D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altLang="de-D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counter</a:t>
            </a:r>
            <a:r>
              <a:rPr lang="de-DE" altLang="de-D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4;</a:t>
            </a:r>
          </a:p>
          <a:p>
            <a:pPr lvl="1" eaLnBrk="1" hangingPunct="1">
              <a:lnSpc>
                <a:spcPct val="80000"/>
              </a:lnSpc>
            </a:pPr>
            <a:endParaRPr lang="de-DE" altLang="de-DE" sz="1800" dirty="0"/>
          </a:p>
          <a:p>
            <a:pPr eaLnBrk="1" hangingPunct="1">
              <a:lnSpc>
                <a:spcPct val="80000"/>
              </a:lnSpc>
            </a:pPr>
            <a:r>
              <a:rPr lang="de-DE" altLang="de-DE" sz="2000" dirty="0"/>
              <a:t>Alle </a:t>
            </a:r>
            <a:r>
              <a:rPr lang="de-DE" altLang="de-DE" sz="1800" dirty="0"/>
              <a:t>Variablen</a:t>
            </a:r>
            <a:r>
              <a:rPr lang="de-DE" altLang="de-DE" sz="2000" dirty="0"/>
              <a:t> müssen vor der Benutzung initialisiert werden (aber nicht zwangsläufig sofort bei der Deklaration)</a:t>
            </a:r>
          </a:p>
          <a:p>
            <a:pPr eaLnBrk="1" hangingPunct="1">
              <a:lnSpc>
                <a:spcPct val="80000"/>
              </a:lnSpc>
            </a:pPr>
            <a:endParaRPr lang="de-DE" altLang="de-DE" sz="2000" dirty="0"/>
          </a:p>
        </p:txBody>
      </p:sp>
    </p:spTree>
    <p:extLst>
      <p:ext uri="{BB962C8B-B14F-4D97-AF65-F5344CB8AC3E}">
        <p14:creationId xmlns:p14="http://schemas.microsoft.com/office/powerpoint/2010/main" val="2557494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Datentyp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936103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Für den Prozessor sind Daten eine Folge von zwei verschiedenen Zuständen. </a:t>
            </a:r>
            <a:endParaRPr lang="de-AT" dirty="0"/>
          </a:p>
        </p:txBody>
      </p:sp>
      <p:sp>
        <p:nvSpPr>
          <p:cNvPr id="4" name="Rechteck 3"/>
          <p:cNvSpPr/>
          <p:nvPr/>
        </p:nvSpPr>
        <p:spPr>
          <a:xfrm>
            <a:off x="587729" y="2347139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5" name="Rechteck 4"/>
          <p:cNvSpPr/>
          <p:nvPr/>
        </p:nvSpPr>
        <p:spPr>
          <a:xfrm>
            <a:off x="587729" y="3139227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6" name="Rechteck 5"/>
          <p:cNvSpPr/>
          <p:nvPr/>
        </p:nvSpPr>
        <p:spPr>
          <a:xfrm>
            <a:off x="790568" y="3139227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7" name="Rechteck 6"/>
          <p:cNvSpPr/>
          <p:nvPr/>
        </p:nvSpPr>
        <p:spPr>
          <a:xfrm>
            <a:off x="1006592" y="3139227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8" name="Rechteck 7"/>
          <p:cNvSpPr/>
          <p:nvPr/>
        </p:nvSpPr>
        <p:spPr>
          <a:xfrm>
            <a:off x="1222292" y="3139227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9" name="Rechteck 8"/>
          <p:cNvSpPr/>
          <p:nvPr/>
        </p:nvSpPr>
        <p:spPr>
          <a:xfrm>
            <a:off x="1444367" y="3139227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10" name="Rechteck 9"/>
          <p:cNvSpPr/>
          <p:nvPr/>
        </p:nvSpPr>
        <p:spPr>
          <a:xfrm>
            <a:off x="1654529" y="3139227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11" name="Rechteck 10"/>
          <p:cNvSpPr/>
          <p:nvPr/>
        </p:nvSpPr>
        <p:spPr>
          <a:xfrm>
            <a:off x="1870553" y="3139227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12" name="Rechteck 11"/>
          <p:cNvSpPr/>
          <p:nvPr/>
        </p:nvSpPr>
        <p:spPr>
          <a:xfrm>
            <a:off x="2078114" y="3139227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13" name="Rechteck 12"/>
          <p:cNvSpPr/>
          <p:nvPr/>
        </p:nvSpPr>
        <p:spPr>
          <a:xfrm>
            <a:off x="609512" y="4795411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14" name="Rechteck 13"/>
          <p:cNvSpPr/>
          <p:nvPr/>
        </p:nvSpPr>
        <p:spPr>
          <a:xfrm>
            <a:off x="812351" y="4795411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15" name="Rechteck 14"/>
          <p:cNvSpPr/>
          <p:nvPr/>
        </p:nvSpPr>
        <p:spPr>
          <a:xfrm>
            <a:off x="1028375" y="4795411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16" name="Rechteck 15"/>
          <p:cNvSpPr/>
          <p:nvPr/>
        </p:nvSpPr>
        <p:spPr>
          <a:xfrm>
            <a:off x="1244075" y="4795411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17" name="Rechteck 16"/>
          <p:cNvSpPr/>
          <p:nvPr/>
        </p:nvSpPr>
        <p:spPr>
          <a:xfrm>
            <a:off x="1466150" y="4795411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18" name="Rechteck 17"/>
          <p:cNvSpPr/>
          <p:nvPr/>
        </p:nvSpPr>
        <p:spPr>
          <a:xfrm>
            <a:off x="1676312" y="4795411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19" name="Rechteck 18"/>
          <p:cNvSpPr/>
          <p:nvPr/>
        </p:nvSpPr>
        <p:spPr>
          <a:xfrm>
            <a:off x="1892336" y="4795411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20" name="Rechteck 19"/>
          <p:cNvSpPr/>
          <p:nvPr/>
        </p:nvSpPr>
        <p:spPr>
          <a:xfrm>
            <a:off x="2099897" y="4795411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21" name="Rechteck 20"/>
          <p:cNvSpPr/>
          <p:nvPr/>
        </p:nvSpPr>
        <p:spPr>
          <a:xfrm>
            <a:off x="2319245" y="4795411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22" name="Rechteck 21"/>
          <p:cNvSpPr/>
          <p:nvPr/>
        </p:nvSpPr>
        <p:spPr>
          <a:xfrm>
            <a:off x="2522084" y="4795411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23" name="Rechteck 22"/>
          <p:cNvSpPr/>
          <p:nvPr/>
        </p:nvSpPr>
        <p:spPr>
          <a:xfrm>
            <a:off x="2738108" y="4795411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24" name="Rechteck 23"/>
          <p:cNvSpPr/>
          <p:nvPr/>
        </p:nvSpPr>
        <p:spPr>
          <a:xfrm>
            <a:off x="2953808" y="4795411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25" name="Rechteck 24"/>
          <p:cNvSpPr/>
          <p:nvPr/>
        </p:nvSpPr>
        <p:spPr>
          <a:xfrm>
            <a:off x="3175883" y="4795411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26" name="Rechteck 25"/>
          <p:cNvSpPr/>
          <p:nvPr/>
        </p:nvSpPr>
        <p:spPr>
          <a:xfrm>
            <a:off x="3386045" y="4795411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27" name="Rechteck 26"/>
          <p:cNvSpPr/>
          <p:nvPr/>
        </p:nvSpPr>
        <p:spPr>
          <a:xfrm>
            <a:off x="3602069" y="4795411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28" name="Rechteck 27"/>
          <p:cNvSpPr/>
          <p:nvPr/>
        </p:nvSpPr>
        <p:spPr>
          <a:xfrm>
            <a:off x="3809630" y="4795411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29" name="Rechteck 28"/>
          <p:cNvSpPr/>
          <p:nvPr/>
        </p:nvSpPr>
        <p:spPr>
          <a:xfrm>
            <a:off x="4025654" y="4795411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30" name="Rechteck 29"/>
          <p:cNvSpPr/>
          <p:nvPr/>
        </p:nvSpPr>
        <p:spPr>
          <a:xfrm>
            <a:off x="4228493" y="4795411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31" name="Rechteck 30"/>
          <p:cNvSpPr/>
          <p:nvPr/>
        </p:nvSpPr>
        <p:spPr>
          <a:xfrm>
            <a:off x="4444517" y="4795411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32" name="Rechteck 31"/>
          <p:cNvSpPr/>
          <p:nvPr/>
        </p:nvSpPr>
        <p:spPr>
          <a:xfrm>
            <a:off x="4660217" y="4795411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33" name="Rechteck 32"/>
          <p:cNvSpPr/>
          <p:nvPr/>
        </p:nvSpPr>
        <p:spPr>
          <a:xfrm>
            <a:off x="4882292" y="4795411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34" name="Rechteck 33"/>
          <p:cNvSpPr/>
          <p:nvPr/>
        </p:nvSpPr>
        <p:spPr>
          <a:xfrm>
            <a:off x="5092454" y="4795411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35" name="Rechteck 34"/>
          <p:cNvSpPr/>
          <p:nvPr/>
        </p:nvSpPr>
        <p:spPr>
          <a:xfrm>
            <a:off x="5308478" y="4795411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36" name="Rechteck 35"/>
          <p:cNvSpPr/>
          <p:nvPr/>
        </p:nvSpPr>
        <p:spPr>
          <a:xfrm>
            <a:off x="5516039" y="4795411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37" name="Rechteck 36"/>
          <p:cNvSpPr/>
          <p:nvPr/>
        </p:nvSpPr>
        <p:spPr>
          <a:xfrm>
            <a:off x="5722080" y="4795411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38" name="Rechteck 37"/>
          <p:cNvSpPr/>
          <p:nvPr/>
        </p:nvSpPr>
        <p:spPr>
          <a:xfrm>
            <a:off x="5924919" y="4795411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39" name="Rechteck 38"/>
          <p:cNvSpPr/>
          <p:nvPr/>
        </p:nvSpPr>
        <p:spPr>
          <a:xfrm>
            <a:off x="6140943" y="4795411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40" name="Rechteck 39"/>
          <p:cNvSpPr/>
          <p:nvPr/>
        </p:nvSpPr>
        <p:spPr>
          <a:xfrm>
            <a:off x="6356643" y="4795411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41" name="Rechteck 40"/>
          <p:cNvSpPr/>
          <p:nvPr/>
        </p:nvSpPr>
        <p:spPr>
          <a:xfrm>
            <a:off x="6578718" y="4795411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42" name="Rechteck 41"/>
          <p:cNvSpPr/>
          <p:nvPr/>
        </p:nvSpPr>
        <p:spPr>
          <a:xfrm>
            <a:off x="6788880" y="4795411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43" name="Rechteck 42"/>
          <p:cNvSpPr/>
          <p:nvPr/>
        </p:nvSpPr>
        <p:spPr>
          <a:xfrm>
            <a:off x="7004904" y="4795411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44" name="Rechteck 43"/>
          <p:cNvSpPr/>
          <p:nvPr/>
        </p:nvSpPr>
        <p:spPr>
          <a:xfrm>
            <a:off x="7212465" y="4795411"/>
            <a:ext cx="216024" cy="432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45" name="Textfeld 44"/>
          <p:cNvSpPr txBox="1"/>
          <p:nvPr/>
        </p:nvSpPr>
        <p:spPr>
          <a:xfrm>
            <a:off x="2698832" y="2378497"/>
            <a:ext cx="2857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Bit (Binary Digit), 2 Zustände</a:t>
            </a:r>
          </a:p>
        </p:txBody>
      </p:sp>
      <p:sp>
        <p:nvSpPr>
          <p:cNvPr id="46" name="Textfeld 45"/>
          <p:cNvSpPr txBox="1"/>
          <p:nvPr/>
        </p:nvSpPr>
        <p:spPr>
          <a:xfrm>
            <a:off x="2747969" y="3170585"/>
            <a:ext cx="2485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Byte, 2</a:t>
            </a:r>
            <a:r>
              <a:rPr lang="de-AT" baseline="30000" dirty="0"/>
              <a:t>8</a:t>
            </a:r>
            <a:r>
              <a:rPr lang="de-AT" dirty="0"/>
              <a:t>  = 256 Zustände</a:t>
            </a:r>
          </a:p>
        </p:txBody>
      </p:sp>
      <p:sp>
        <p:nvSpPr>
          <p:cNvPr id="47" name="Textfeld 46"/>
          <p:cNvSpPr txBox="1"/>
          <p:nvPr/>
        </p:nvSpPr>
        <p:spPr>
          <a:xfrm>
            <a:off x="587729" y="5434191"/>
            <a:ext cx="4997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z. Bsp.  </a:t>
            </a:r>
            <a:r>
              <a:rPr lang="de-AT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de-AT" dirty="0"/>
              <a:t> (4 Byte), 2</a:t>
            </a:r>
            <a:r>
              <a:rPr lang="de-AT" baseline="30000" dirty="0"/>
              <a:t>32</a:t>
            </a:r>
            <a:r>
              <a:rPr lang="de-AT" dirty="0"/>
              <a:t>  = 4.294.967.296 Zustände</a:t>
            </a:r>
          </a:p>
        </p:txBody>
      </p:sp>
      <p:sp>
        <p:nvSpPr>
          <p:cNvPr id="48" name="Textfeld 47"/>
          <p:cNvSpPr txBox="1"/>
          <p:nvPr/>
        </p:nvSpPr>
        <p:spPr>
          <a:xfrm>
            <a:off x="467544" y="3861048"/>
            <a:ext cx="81612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In einer Programmiersprache werden ein oder mehrere Bytes zu sogenannten</a:t>
            </a:r>
          </a:p>
          <a:p>
            <a:r>
              <a:rPr lang="de-AT" dirty="0"/>
              <a:t>Datentypen zusammengefasst.</a:t>
            </a:r>
          </a:p>
        </p:txBody>
      </p:sp>
    </p:spTree>
    <p:extLst>
      <p:ext uri="{BB962C8B-B14F-4D97-AF65-F5344CB8AC3E}">
        <p14:creationId xmlns:p14="http://schemas.microsoft.com/office/powerpoint/2010/main" val="14653356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1" name="Foliennummernplatzhalter 4"/>
          <p:cNvSpPr>
            <a:spLocks noGrp="1"/>
          </p:cNvSpPr>
          <p:nvPr>
            <p:ph type="sldNum" sz="quarter" idx="4294967295"/>
          </p:nvPr>
        </p:nvSpPr>
        <p:spPr>
          <a:xfrm>
            <a:off x="6773863" y="6380163"/>
            <a:ext cx="2195512" cy="34131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Wingdings" panose="05000000000000000000" pitchFamily="2" charset="2"/>
              <a:buChar char="Ø"/>
              <a:defRPr sz="3200">
                <a:solidFill>
                  <a:srgbClr val="000080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•"/>
              <a:defRPr sz="2800">
                <a:solidFill>
                  <a:srgbClr val="000080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Font typeface="Wingdings" panose="05000000000000000000" pitchFamily="2" charset="2"/>
              <a:buChar char="§"/>
              <a:defRPr sz="2400">
                <a:solidFill>
                  <a:srgbClr val="000080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46A55494-496A-4535-98D2-ECF1313D8DFB}" type="slidenum">
              <a:rPr lang="de-DE" altLang="de-DE" sz="1400" smtClean="0">
                <a:solidFill>
                  <a:schemeClr val="bg1"/>
                </a:solidFill>
              </a:rPr>
              <a:pPr>
                <a:spcBef>
                  <a:spcPct val="0"/>
                </a:spcBef>
                <a:buFontTx/>
                <a:buNone/>
              </a:pPr>
              <a:t>7</a:t>
            </a:fld>
            <a:endParaRPr lang="de-DE" altLang="de-DE" sz="1400">
              <a:solidFill>
                <a:schemeClr val="bg1"/>
              </a:solidFill>
            </a:endParaRPr>
          </a:p>
        </p:txBody>
      </p:sp>
      <p:sp>
        <p:nvSpPr>
          <p:cNvPr id="1741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altLang="de-DE" sz="2400"/>
              <a:t>Deklaration, Definition und Initialisierung von Variablen</a:t>
            </a:r>
          </a:p>
        </p:txBody>
      </p:sp>
      <p:pic>
        <p:nvPicPr>
          <p:cNvPr id="174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4150" y="1152525"/>
            <a:ext cx="6191250" cy="465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059585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AT" altLang="de-DE"/>
              <a:t>Wichtige Typen am Beginn der Karriere</a:t>
            </a:r>
          </a:p>
        </p:txBody>
      </p:sp>
      <p:sp>
        <p:nvSpPr>
          <p:cNvPr id="18435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de-AT" altLang="de-DE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de-AT" altLang="de-DE" sz="2800" dirty="0"/>
              <a:t> 	</a:t>
            </a:r>
            <a:r>
              <a:rPr lang="de-AT" altLang="de-DE" sz="2400" dirty="0"/>
              <a:t>Texte aus einem oder mehreren Zeichen</a:t>
            </a:r>
          </a:p>
          <a:p>
            <a:pPr eaLnBrk="1" hangingPunct="1"/>
            <a:r>
              <a:rPr lang="de-AT" alt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de-AT" altLang="de-DE" sz="2800" dirty="0"/>
              <a:t>	</a:t>
            </a:r>
            <a:r>
              <a:rPr lang="de-AT" altLang="de-DE" sz="2400" dirty="0"/>
              <a:t>einzelnes Zeichen</a:t>
            </a:r>
          </a:p>
          <a:p>
            <a:pPr eaLnBrk="1" hangingPunct="1"/>
            <a:r>
              <a:rPr lang="de-AT" alt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AT" altLang="de-DE" sz="2800" dirty="0"/>
              <a:t>		</a:t>
            </a:r>
            <a:r>
              <a:rPr lang="de-AT" altLang="de-DE" sz="2400" dirty="0"/>
              <a:t>Ganzzahl zwischen </a:t>
            </a:r>
            <a:br>
              <a:rPr lang="de-AT" altLang="de-DE" sz="2400" dirty="0"/>
            </a:br>
            <a:r>
              <a:rPr lang="de-AT" altLang="de-DE" sz="2400" dirty="0"/>
              <a:t>                  -2.147.483.648 und</a:t>
            </a:r>
            <a:br>
              <a:rPr lang="de-AT" altLang="de-DE" sz="2400" dirty="0"/>
            </a:br>
            <a:r>
              <a:rPr lang="de-AT" altLang="de-DE" sz="2400" dirty="0"/>
              <a:t>                   2.147.483.647</a:t>
            </a:r>
          </a:p>
          <a:p>
            <a:pPr eaLnBrk="1" hangingPunct="1"/>
            <a:r>
              <a:rPr lang="de-AT" alt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de-AT" altLang="de-DE" sz="2800" dirty="0"/>
              <a:t>	</a:t>
            </a:r>
            <a:r>
              <a:rPr lang="de-AT" altLang="de-DE" sz="2400" dirty="0"/>
              <a:t>Wahrheitswert </a:t>
            </a:r>
            <a:r>
              <a:rPr lang="de-AT" altLang="de-DE" sz="2400" dirty="0" err="1"/>
              <a:t>true</a:t>
            </a:r>
            <a:r>
              <a:rPr lang="de-AT" altLang="de-DE" sz="2400" dirty="0"/>
              <a:t> und </a:t>
            </a:r>
            <a:r>
              <a:rPr lang="de-AT" altLang="de-DE" sz="2400" dirty="0" err="1"/>
              <a:t>false</a:t>
            </a:r>
            <a:endParaRPr lang="de-AT" altLang="de-DE" sz="2800" dirty="0"/>
          </a:p>
          <a:p>
            <a:pPr eaLnBrk="1" hangingPunct="1"/>
            <a:r>
              <a:rPr lang="de-AT" alt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de-AT" altLang="de-DE" sz="2800" dirty="0"/>
              <a:t>	</a:t>
            </a:r>
            <a:r>
              <a:rPr lang="de-AT" altLang="de-DE" sz="2400" dirty="0"/>
              <a:t>Gleitkommazahl</a:t>
            </a:r>
            <a:endParaRPr lang="de-AT" altLang="de-DE" sz="2800" dirty="0"/>
          </a:p>
          <a:p>
            <a:pPr eaLnBrk="1" hangingPunct="1"/>
            <a:endParaRPr lang="de-AT" altLang="de-DE" sz="2800" dirty="0"/>
          </a:p>
        </p:txBody>
      </p:sp>
      <p:sp>
        <p:nvSpPr>
          <p:cNvPr id="18437" name="Foliennummernplatzhalter 4"/>
          <p:cNvSpPr>
            <a:spLocks noGrp="1"/>
          </p:cNvSpPr>
          <p:nvPr>
            <p:ph type="sldNum" sz="quarter" idx="4294967295"/>
          </p:nvPr>
        </p:nvSpPr>
        <p:spPr>
          <a:xfrm>
            <a:off x="6773863" y="6380163"/>
            <a:ext cx="2195512" cy="34131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Wingdings" panose="05000000000000000000" pitchFamily="2" charset="2"/>
              <a:buChar char="Ø"/>
              <a:defRPr sz="3200">
                <a:solidFill>
                  <a:srgbClr val="000080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•"/>
              <a:defRPr sz="2800">
                <a:solidFill>
                  <a:srgbClr val="000080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Font typeface="Wingdings" panose="05000000000000000000" pitchFamily="2" charset="2"/>
              <a:buChar char="§"/>
              <a:defRPr sz="2400">
                <a:solidFill>
                  <a:srgbClr val="000080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70F29772-2A36-4BAA-ACC4-970FA6558DF7}" type="slidenum">
              <a:rPr lang="de-DE" altLang="de-DE" sz="1400" smtClean="0">
                <a:solidFill>
                  <a:schemeClr val="bg1"/>
                </a:solidFill>
              </a:rPr>
              <a:pPr>
                <a:spcBef>
                  <a:spcPct val="0"/>
                </a:spcBef>
                <a:buFontTx/>
                <a:buNone/>
              </a:pPr>
              <a:t>8</a:t>
            </a:fld>
            <a:endParaRPr lang="de-DE" altLang="de-DE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72108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Einfache Datentypen in C#</a:t>
            </a:r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457200" y="1295400"/>
            <a:ext cx="8435280" cy="5029200"/>
          </a:xfrm>
          <a:prstGeom prst="rect">
            <a:avLst/>
          </a:prstGeom>
        </p:spPr>
        <p:txBody>
          <a:bodyPr/>
          <a:lstStyle>
            <a:lvl1pPr marL="269875" indent="-26987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SzPct val="80000"/>
              <a:buFont typeface="Wingdings" pitchFamily="2" charset="2"/>
              <a:buChar char="§"/>
              <a:defRPr sz="28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895350" indent="-3540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Font typeface="Symbol" pitchFamily="18" charset="2"/>
              <a:buChar char="-"/>
              <a:defRPr sz="25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343025" indent="-26987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SzPct val="80000"/>
              <a:buFont typeface="Wingdings" pitchFamily="2" charset="2"/>
              <a:buChar char="§"/>
              <a:defRPr sz="22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790700" indent="-3540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Font typeface="Symbol" pitchFamily="18" charset="2"/>
              <a:buChar char="-"/>
              <a:defRPr sz="20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 err="1">
                <a:solidFill>
                  <a:srgbClr val="FF5050"/>
                </a:solidFill>
              </a:rPr>
              <a:t>Schlüsselwort</a:t>
            </a:r>
            <a:r>
              <a:rPr lang="en-US" altLang="de-DE" sz="1800" dirty="0"/>
              <a:t>	</a:t>
            </a:r>
            <a:r>
              <a:rPr lang="en-US" altLang="de-DE" sz="1800" dirty="0" err="1">
                <a:solidFill>
                  <a:srgbClr val="FF5050"/>
                </a:solidFill>
              </a:rPr>
              <a:t>abgebildet</a:t>
            </a:r>
            <a:r>
              <a:rPr lang="en-US" altLang="de-DE" sz="1800" dirty="0">
                <a:solidFill>
                  <a:srgbClr val="FF5050"/>
                </a:solidFill>
              </a:rPr>
              <a:t> auf</a:t>
            </a:r>
            <a:r>
              <a:rPr lang="en-US" altLang="de-DE" sz="1800" dirty="0"/>
              <a:t>	</a:t>
            </a:r>
            <a:r>
              <a:rPr lang="en-US" altLang="de-DE" sz="1800" dirty="0">
                <a:solidFill>
                  <a:schemeClr val="accent2"/>
                </a:solidFill>
              </a:rPr>
              <a:t>	</a:t>
            </a:r>
            <a:r>
              <a:rPr lang="en-US" altLang="de-DE" sz="1800" dirty="0" err="1">
                <a:solidFill>
                  <a:srgbClr val="FF5050"/>
                </a:solidFill>
              </a:rPr>
              <a:t>Wertebereich</a:t>
            </a:r>
            <a:endParaRPr lang="en-US" altLang="de-DE" sz="1800" dirty="0">
              <a:solidFill>
                <a:srgbClr val="FF5050"/>
              </a:solidFill>
            </a:endParaRP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 err="1">
                <a:solidFill>
                  <a:schemeClr val="accent2"/>
                </a:solidFill>
              </a:rPr>
              <a:t>sbyte</a:t>
            </a:r>
            <a:r>
              <a:rPr lang="en-US" altLang="de-DE" sz="1800" dirty="0"/>
              <a:t>	</a:t>
            </a:r>
            <a:r>
              <a:rPr lang="en-US" altLang="de-DE" sz="1800" dirty="0" err="1"/>
              <a:t>System.SByte</a:t>
            </a:r>
            <a:r>
              <a:rPr lang="en-US" altLang="de-DE" sz="1800" dirty="0"/>
              <a:t>		-128 .. 127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>
                <a:solidFill>
                  <a:schemeClr val="accent2"/>
                </a:solidFill>
              </a:rPr>
              <a:t>short</a:t>
            </a:r>
            <a:r>
              <a:rPr lang="en-US" altLang="de-DE" sz="1800" dirty="0"/>
              <a:t>	System.Int16		-32768 .. 32767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 err="1">
                <a:solidFill>
                  <a:schemeClr val="accent2"/>
                </a:solidFill>
              </a:rPr>
              <a:t>int</a:t>
            </a:r>
            <a:r>
              <a:rPr lang="en-US" altLang="de-DE" sz="1800" dirty="0"/>
              <a:t>	System.Int32		-2 147 483 648 .. 2 147 483 647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>
                <a:solidFill>
                  <a:schemeClr val="accent2"/>
                </a:solidFill>
              </a:rPr>
              <a:t>long</a:t>
            </a:r>
            <a:r>
              <a:rPr lang="en-US" altLang="de-DE" sz="1800" dirty="0"/>
              <a:t>	System.Int64		-2</a:t>
            </a:r>
            <a:r>
              <a:rPr lang="en-US" altLang="de-DE" sz="1800" baseline="30000" dirty="0"/>
              <a:t>63</a:t>
            </a:r>
            <a:r>
              <a:rPr lang="en-US" altLang="de-DE" sz="1800" dirty="0"/>
              <a:t> .. 2</a:t>
            </a:r>
            <a:r>
              <a:rPr lang="en-US" altLang="de-DE" sz="1800" baseline="30000" dirty="0"/>
              <a:t>63</a:t>
            </a:r>
            <a:r>
              <a:rPr lang="en-US" altLang="de-DE" sz="1800" dirty="0"/>
              <a:t>-1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>
                <a:solidFill>
                  <a:schemeClr val="accent2"/>
                </a:solidFill>
              </a:rPr>
              <a:t>byte</a:t>
            </a:r>
            <a:r>
              <a:rPr lang="en-US" altLang="de-DE" sz="1800" dirty="0"/>
              <a:t>	</a:t>
            </a:r>
            <a:r>
              <a:rPr lang="en-US" altLang="de-DE" sz="1800" dirty="0" err="1"/>
              <a:t>System.Byte</a:t>
            </a:r>
            <a:r>
              <a:rPr lang="en-US" altLang="de-DE" sz="1800" dirty="0"/>
              <a:t>		0 .. 255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 err="1">
                <a:solidFill>
                  <a:schemeClr val="accent2"/>
                </a:solidFill>
              </a:rPr>
              <a:t>ushort</a:t>
            </a:r>
            <a:r>
              <a:rPr lang="en-US" altLang="de-DE" sz="1800" dirty="0"/>
              <a:t>	System.UInt16		0 .. 65535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 err="1">
                <a:solidFill>
                  <a:schemeClr val="accent2"/>
                </a:solidFill>
              </a:rPr>
              <a:t>uint</a:t>
            </a:r>
            <a:r>
              <a:rPr lang="en-US" altLang="de-DE" sz="1800" dirty="0"/>
              <a:t>	System.UInt32		0 .. 4294967295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 err="1">
                <a:solidFill>
                  <a:schemeClr val="accent2"/>
                </a:solidFill>
              </a:rPr>
              <a:t>ulong</a:t>
            </a:r>
            <a:r>
              <a:rPr lang="en-US" altLang="de-DE" sz="1800" dirty="0"/>
              <a:t>	System.UInt64		0 .. 2</a:t>
            </a:r>
            <a:r>
              <a:rPr lang="en-US" altLang="de-DE" sz="1800" baseline="30000" dirty="0"/>
              <a:t>64</a:t>
            </a:r>
            <a:r>
              <a:rPr lang="en-US" altLang="de-DE" sz="1800" dirty="0"/>
              <a:t>-1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>
                <a:solidFill>
                  <a:schemeClr val="accent2"/>
                </a:solidFill>
              </a:rPr>
              <a:t>float</a:t>
            </a:r>
            <a:r>
              <a:rPr lang="en-US" altLang="de-DE" sz="1800" dirty="0"/>
              <a:t>	</a:t>
            </a:r>
            <a:r>
              <a:rPr lang="en-US" altLang="de-DE" sz="1800" dirty="0" err="1"/>
              <a:t>System.Single</a:t>
            </a:r>
            <a:r>
              <a:rPr lang="en-US" altLang="de-DE" sz="1800" dirty="0"/>
              <a:t>		</a:t>
            </a:r>
            <a:r>
              <a:rPr lang="en-US" altLang="de-DE" sz="1800" dirty="0">
                <a:latin typeface="Symbol" panose="05050102010706020507" pitchFamily="18" charset="2"/>
                <a:sym typeface="Symbol" panose="05050102010706020507" pitchFamily="18" charset="2"/>
              </a:rPr>
              <a:t></a:t>
            </a:r>
            <a:r>
              <a:rPr lang="en-US" altLang="de-DE" sz="1800" dirty="0"/>
              <a:t>1.5E-45 .. </a:t>
            </a:r>
            <a:r>
              <a:rPr lang="en-US" altLang="de-DE" sz="1800" dirty="0">
                <a:latin typeface="Symbol" panose="05050102010706020507" pitchFamily="18" charset="2"/>
                <a:sym typeface="Symbol" panose="05050102010706020507" pitchFamily="18" charset="2"/>
              </a:rPr>
              <a:t></a:t>
            </a:r>
            <a:r>
              <a:rPr lang="en-US" altLang="de-DE" sz="1800" dirty="0"/>
              <a:t>3.4E38 (32 Bit)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>
                <a:solidFill>
                  <a:schemeClr val="accent2"/>
                </a:solidFill>
              </a:rPr>
              <a:t>double</a:t>
            </a:r>
            <a:r>
              <a:rPr lang="en-US" altLang="de-DE" sz="1800" dirty="0"/>
              <a:t>	</a:t>
            </a:r>
            <a:r>
              <a:rPr lang="en-US" altLang="de-DE" sz="1800" dirty="0" err="1"/>
              <a:t>System.Double</a:t>
            </a:r>
            <a:r>
              <a:rPr lang="en-US" altLang="de-DE" sz="1800" dirty="0"/>
              <a:t>		</a:t>
            </a:r>
            <a:r>
              <a:rPr lang="en-US" altLang="de-DE" sz="1800" dirty="0">
                <a:latin typeface="Symbol" panose="05050102010706020507" pitchFamily="18" charset="2"/>
                <a:sym typeface="Symbol" panose="05050102010706020507" pitchFamily="18" charset="2"/>
              </a:rPr>
              <a:t></a:t>
            </a:r>
            <a:r>
              <a:rPr lang="en-US" altLang="de-DE" sz="1800" dirty="0"/>
              <a:t>5E-324 .. </a:t>
            </a:r>
            <a:r>
              <a:rPr lang="en-US" altLang="de-DE" sz="1800" dirty="0">
                <a:latin typeface="Symbol" panose="05050102010706020507" pitchFamily="18" charset="2"/>
                <a:sym typeface="Symbol" panose="05050102010706020507" pitchFamily="18" charset="2"/>
              </a:rPr>
              <a:t></a:t>
            </a:r>
            <a:r>
              <a:rPr lang="en-US" altLang="de-DE" sz="1800" dirty="0"/>
              <a:t>1.7E308 (64 Bit)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>
                <a:solidFill>
                  <a:schemeClr val="accent2"/>
                </a:solidFill>
              </a:rPr>
              <a:t>decimal</a:t>
            </a:r>
            <a:r>
              <a:rPr lang="en-US" altLang="de-DE" sz="1800" dirty="0"/>
              <a:t>	</a:t>
            </a:r>
            <a:r>
              <a:rPr lang="en-US" altLang="de-DE" sz="1800" dirty="0" err="1"/>
              <a:t>System.Decimal</a:t>
            </a:r>
            <a:r>
              <a:rPr lang="en-US" altLang="de-DE" sz="1800" dirty="0"/>
              <a:t>		</a:t>
            </a:r>
            <a:r>
              <a:rPr lang="en-US" altLang="de-DE" sz="1800" dirty="0">
                <a:latin typeface="Symbol" panose="05050102010706020507" pitchFamily="18" charset="2"/>
                <a:sym typeface="Symbol" panose="05050102010706020507" pitchFamily="18" charset="2"/>
              </a:rPr>
              <a:t></a:t>
            </a:r>
            <a:r>
              <a:rPr lang="en-US" altLang="de-DE" sz="1800" dirty="0"/>
              <a:t>1E-28 .. </a:t>
            </a:r>
            <a:r>
              <a:rPr lang="en-US" altLang="de-DE" sz="1800" dirty="0">
                <a:latin typeface="Symbol" panose="05050102010706020507" pitchFamily="18" charset="2"/>
                <a:sym typeface="Symbol" panose="05050102010706020507" pitchFamily="18" charset="2"/>
              </a:rPr>
              <a:t></a:t>
            </a:r>
            <a:r>
              <a:rPr lang="en-US" altLang="de-DE" sz="1800" dirty="0"/>
              <a:t>7.9E28 (128 Bit)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>
                <a:solidFill>
                  <a:schemeClr val="accent2"/>
                </a:solidFill>
              </a:rPr>
              <a:t>bool</a:t>
            </a:r>
            <a:r>
              <a:rPr lang="en-US" altLang="de-DE" sz="1800" dirty="0"/>
              <a:t>	</a:t>
            </a:r>
            <a:r>
              <a:rPr lang="en-US" altLang="de-DE" sz="1800" dirty="0" err="1"/>
              <a:t>System.Boolean</a:t>
            </a:r>
            <a:r>
              <a:rPr lang="en-US" altLang="de-DE" sz="1800" dirty="0"/>
              <a:t>		true, false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>
                <a:solidFill>
                  <a:schemeClr val="accent2"/>
                </a:solidFill>
              </a:rPr>
              <a:t>char</a:t>
            </a:r>
            <a:r>
              <a:rPr lang="en-US" altLang="de-DE" sz="1800" dirty="0"/>
              <a:t>	</a:t>
            </a:r>
            <a:r>
              <a:rPr lang="en-US" altLang="de-DE" sz="1800" dirty="0" err="1"/>
              <a:t>System.Char</a:t>
            </a:r>
            <a:r>
              <a:rPr lang="en-US" altLang="de-DE" sz="1800" dirty="0"/>
              <a:t>		Unicode-</a:t>
            </a:r>
            <a:r>
              <a:rPr lang="en-US" altLang="de-DE" sz="1800" dirty="0" err="1"/>
              <a:t>Zeichen</a:t>
            </a:r>
            <a:endParaRPr lang="en-US" altLang="de-DE" sz="1800" dirty="0"/>
          </a:p>
        </p:txBody>
      </p:sp>
      <p:cxnSp>
        <p:nvCxnSpPr>
          <p:cNvPr id="6" name="Gerader Verbinder 5"/>
          <p:cNvCxnSpPr/>
          <p:nvPr/>
        </p:nvCxnSpPr>
        <p:spPr>
          <a:xfrm>
            <a:off x="529208" y="2924944"/>
            <a:ext cx="800323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/>
          <p:cNvCxnSpPr/>
          <p:nvPr/>
        </p:nvCxnSpPr>
        <p:spPr>
          <a:xfrm>
            <a:off x="529208" y="4293096"/>
            <a:ext cx="800323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/>
          <p:cNvCxnSpPr/>
          <p:nvPr/>
        </p:nvCxnSpPr>
        <p:spPr>
          <a:xfrm>
            <a:off x="529208" y="5301208"/>
            <a:ext cx="800323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/>
          <p:cNvCxnSpPr/>
          <p:nvPr/>
        </p:nvCxnSpPr>
        <p:spPr>
          <a:xfrm>
            <a:off x="539552" y="1628800"/>
            <a:ext cx="800323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3093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7" name="Foliennummernplatzhalter 4"/>
          <p:cNvSpPr>
            <a:spLocks noGrp="1"/>
          </p:cNvSpPr>
          <p:nvPr>
            <p:ph type="sldNum" sz="quarter" idx="4294967295"/>
          </p:nvPr>
        </p:nvSpPr>
        <p:spPr>
          <a:xfrm>
            <a:off x="6773863" y="6380163"/>
            <a:ext cx="2195512" cy="34131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Wingdings" panose="05000000000000000000" pitchFamily="2" charset="2"/>
              <a:buChar char="Ø"/>
              <a:defRPr sz="3200">
                <a:solidFill>
                  <a:srgbClr val="000080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•"/>
              <a:defRPr sz="2800">
                <a:solidFill>
                  <a:srgbClr val="000080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Font typeface="Wingdings" panose="05000000000000000000" pitchFamily="2" charset="2"/>
              <a:buChar char="§"/>
              <a:defRPr sz="2400">
                <a:solidFill>
                  <a:srgbClr val="000080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E00ABB23-8E16-40B9-A845-CB6C3B14536A}" type="slidenum">
              <a:rPr lang="de-DE" altLang="de-DE" sz="1400" smtClean="0">
                <a:solidFill>
                  <a:schemeClr val="bg1"/>
                </a:solidFill>
              </a:rPr>
              <a:pPr>
                <a:spcBef>
                  <a:spcPct val="0"/>
                </a:spcBef>
                <a:buFontTx/>
                <a:buNone/>
              </a:pPr>
              <a:t>10</a:t>
            </a:fld>
            <a:endParaRPr lang="de-DE" altLang="de-DE" sz="1400">
              <a:solidFill>
                <a:schemeClr val="bg1"/>
              </a:solidFill>
            </a:endParaRPr>
          </a:p>
        </p:txBody>
      </p:sp>
      <p:sp>
        <p:nvSpPr>
          <p:cNvPr id="2150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altLang="de-DE"/>
              <a:t>Zuweisungsoperator</a:t>
            </a:r>
          </a:p>
        </p:txBody>
      </p:sp>
      <p:pic>
        <p:nvPicPr>
          <p:cNvPr id="2150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8150" y="1730375"/>
            <a:ext cx="5727700" cy="3397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984216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altLang="de-DE"/>
              <a:t>Zuweisungsoperator</a:t>
            </a:r>
          </a:p>
        </p:txBody>
      </p:sp>
      <p:sp>
        <p:nvSpPr>
          <p:cNvPr id="22531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altLang="de-DE" sz="2800" dirty="0"/>
              <a:t>Vorsicht</a:t>
            </a:r>
          </a:p>
          <a:p>
            <a:pPr lvl="1"/>
            <a:r>
              <a:rPr lang="de-AT" altLang="de-DE" sz="2400" dirty="0"/>
              <a:t>Zugewiesener Wert muss zum Typ der Variablen kompatibel sein (im verfügbaren Speicher Platz haben)</a:t>
            </a:r>
          </a:p>
          <a:p>
            <a:pPr lvl="2"/>
            <a:r>
              <a:rPr lang="de-AT" altLang="de-DE" sz="2000" dirty="0"/>
              <a:t>Klein in Groß funktioniert, aber nicht umgekehrt!</a:t>
            </a:r>
          </a:p>
          <a:p>
            <a:pPr lvl="2"/>
            <a:r>
              <a:rPr lang="de-AT" altLang="de-DE" sz="2000" dirty="0"/>
              <a:t>Zuweisung kann aber erzwungen werden</a:t>
            </a:r>
          </a:p>
          <a:p>
            <a:pPr lvl="1"/>
            <a:endParaRPr lang="de-AT" altLang="de-DE" sz="2400" dirty="0"/>
          </a:p>
        </p:txBody>
      </p:sp>
      <p:sp>
        <p:nvSpPr>
          <p:cNvPr id="22533" name="Foliennummernplatzhalter 4"/>
          <p:cNvSpPr>
            <a:spLocks noGrp="1"/>
          </p:cNvSpPr>
          <p:nvPr>
            <p:ph type="sldNum" sz="quarter" idx="4294967295"/>
          </p:nvPr>
        </p:nvSpPr>
        <p:spPr>
          <a:xfrm>
            <a:off x="6773863" y="6380163"/>
            <a:ext cx="2195512" cy="34131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Wingdings" panose="05000000000000000000" pitchFamily="2" charset="2"/>
              <a:buChar char="Ø"/>
              <a:defRPr sz="3200">
                <a:solidFill>
                  <a:srgbClr val="000080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•"/>
              <a:defRPr sz="2800">
                <a:solidFill>
                  <a:srgbClr val="000080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Font typeface="Wingdings" panose="05000000000000000000" pitchFamily="2" charset="2"/>
              <a:buChar char="§"/>
              <a:defRPr sz="2400">
                <a:solidFill>
                  <a:srgbClr val="000080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73527D3E-CF4A-4B6C-9479-3B3C35CCFC8A}" type="slidenum">
              <a:rPr lang="de-DE" altLang="de-DE" sz="1400" smtClean="0">
                <a:solidFill>
                  <a:schemeClr val="bg1"/>
                </a:solidFill>
              </a:rPr>
              <a:pPr>
                <a:spcBef>
                  <a:spcPct val="0"/>
                </a:spcBef>
                <a:buFontTx/>
                <a:buNone/>
              </a:pPr>
              <a:t>11</a:t>
            </a:fld>
            <a:endParaRPr lang="de-DE" altLang="de-DE" sz="1400">
              <a:solidFill>
                <a:schemeClr val="bg1"/>
              </a:solidFill>
            </a:endParaRPr>
          </a:p>
        </p:txBody>
      </p:sp>
      <p:grpSp>
        <p:nvGrpSpPr>
          <p:cNvPr id="22534" name="Group 3"/>
          <p:cNvGrpSpPr>
            <a:grpSpLocks/>
          </p:cNvGrpSpPr>
          <p:nvPr/>
        </p:nvGrpSpPr>
        <p:grpSpPr bwMode="auto">
          <a:xfrm>
            <a:off x="457200" y="4437110"/>
            <a:ext cx="8199884" cy="1475027"/>
            <a:chOff x="548" y="2296"/>
            <a:chExt cx="4032" cy="432"/>
          </a:xfrm>
        </p:grpSpPr>
        <p:sp>
          <p:nvSpPr>
            <p:cNvPr id="22535" name="AutoShape 4"/>
            <p:cNvSpPr>
              <a:spLocks noChangeArrowheads="1"/>
            </p:cNvSpPr>
            <p:nvPr/>
          </p:nvSpPr>
          <p:spPr bwMode="auto">
            <a:xfrm>
              <a:off x="548" y="2296"/>
              <a:ext cx="432" cy="192"/>
            </a:xfrm>
            <a:prstGeom prst="flowChartProcess">
              <a:avLst/>
            </a:prstGeom>
            <a:solidFill>
              <a:srgbClr val="00CC99"/>
            </a:solidFill>
            <a:ln w="1260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ct val="20000"/>
                </a:spcBef>
                <a:buFont typeface="Wingdings" panose="05000000000000000000" pitchFamily="2" charset="2"/>
                <a:buChar char="Ø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2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8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Font typeface="Wingdings" panose="05000000000000000000" pitchFamily="2" charset="2"/>
                <a:buChar char="§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4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de-DE" sz="2000">
                  <a:solidFill>
                    <a:srgbClr val="000000"/>
                  </a:solidFill>
                  <a:latin typeface="Arial" panose="020B0604020202020204" pitchFamily="34" charset="0"/>
                </a:rPr>
                <a:t>byte</a:t>
              </a:r>
            </a:p>
          </p:txBody>
        </p:sp>
        <p:sp>
          <p:nvSpPr>
            <p:cNvPr id="22536" name="AutoShape 5"/>
            <p:cNvSpPr>
              <a:spLocks noChangeArrowheads="1"/>
            </p:cNvSpPr>
            <p:nvPr/>
          </p:nvSpPr>
          <p:spPr bwMode="auto">
            <a:xfrm>
              <a:off x="1268" y="2536"/>
              <a:ext cx="432" cy="192"/>
            </a:xfrm>
            <a:prstGeom prst="flowChartProcess">
              <a:avLst/>
            </a:prstGeom>
            <a:solidFill>
              <a:srgbClr val="00CC99"/>
            </a:solidFill>
            <a:ln w="1260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ct val="20000"/>
                </a:spcBef>
                <a:buFont typeface="Wingdings" panose="05000000000000000000" pitchFamily="2" charset="2"/>
                <a:buChar char="Ø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2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8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Font typeface="Wingdings" panose="05000000000000000000" pitchFamily="2" charset="2"/>
                <a:buChar char="§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4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de-DE" sz="2000">
                  <a:solidFill>
                    <a:srgbClr val="000000"/>
                  </a:solidFill>
                  <a:latin typeface="Arial" panose="020B0604020202020204" pitchFamily="34" charset="0"/>
                </a:rPr>
                <a:t>char</a:t>
              </a:r>
            </a:p>
          </p:txBody>
        </p:sp>
        <p:sp>
          <p:nvSpPr>
            <p:cNvPr id="22537" name="AutoShape 6"/>
            <p:cNvSpPr>
              <a:spLocks noChangeArrowheads="1"/>
            </p:cNvSpPr>
            <p:nvPr/>
          </p:nvSpPr>
          <p:spPr bwMode="auto">
            <a:xfrm>
              <a:off x="1268" y="2296"/>
              <a:ext cx="432" cy="192"/>
            </a:xfrm>
            <a:prstGeom prst="flowChartProcess">
              <a:avLst/>
            </a:prstGeom>
            <a:solidFill>
              <a:srgbClr val="00CC99"/>
            </a:solidFill>
            <a:ln w="1260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ct val="20000"/>
                </a:spcBef>
                <a:buFont typeface="Wingdings" panose="05000000000000000000" pitchFamily="2" charset="2"/>
                <a:buChar char="Ø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2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8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Font typeface="Wingdings" panose="05000000000000000000" pitchFamily="2" charset="2"/>
                <a:buChar char="§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4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de-DE" sz="2000">
                  <a:solidFill>
                    <a:srgbClr val="000000"/>
                  </a:solidFill>
                  <a:latin typeface="Arial" panose="020B0604020202020204" pitchFamily="34" charset="0"/>
                </a:rPr>
                <a:t>short</a:t>
              </a:r>
            </a:p>
          </p:txBody>
        </p:sp>
        <p:sp>
          <p:nvSpPr>
            <p:cNvPr id="22538" name="AutoShape 7"/>
            <p:cNvSpPr>
              <a:spLocks noChangeArrowheads="1"/>
            </p:cNvSpPr>
            <p:nvPr/>
          </p:nvSpPr>
          <p:spPr bwMode="auto">
            <a:xfrm>
              <a:off x="1988" y="2296"/>
              <a:ext cx="432" cy="192"/>
            </a:xfrm>
            <a:prstGeom prst="flowChartProcess">
              <a:avLst/>
            </a:prstGeom>
            <a:solidFill>
              <a:srgbClr val="00CC99"/>
            </a:solidFill>
            <a:ln w="1260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ct val="20000"/>
                </a:spcBef>
                <a:buFont typeface="Wingdings" panose="05000000000000000000" pitchFamily="2" charset="2"/>
                <a:buChar char="Ø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2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8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Font typeface="Wingdings" panose="05000000000000000000" pitchFamily="2" charset="2"/>
                <a:buChar char="§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4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de-DE" sz="2000">
                  <a:solidFill>
                    <a:srgbClr val="000000"/>
                  </a:solidFill>
                  <a:latin typeface="Arial" panose="020B0604020202020204" pitchFamily="34" charset="0"/>
                </a:rPr>
                <a:t>int</a:t>
              </a:r>
            </a:p>
          </p:txBody>
        </p:sp>
        <p:sp>
          <p:nvSpPr>
            <p:cNvPr id="22539" name="AutoShape 8"/>
            <p:cNvSpPr>
              <a:spLocks noChangeArrowheads="1"/>
            </p:cNvSpPr>
            <p:nvPr/>
          </p:nvSpPr>
          <p:spPr bwMode="auto">
            <a:xfrm>
              <a:off x="2708" y="2296"/>
              <a:ext cx="432" cy="192"/>
            </a:xfrm>
            <a:prstGeom prst="flowChartProcess">
              <a:avLst/>
            </a:prstGeom>
            <a:solidFill>
              <a:srgbClr val="00CC99"/>
            </a:solidFill>
            <a:ln w="1260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ct val="20000"/>
                </a:spcBef>
                <a:buFont typeface="Wingdings" panose="05000000000000000000" pitchFamily="2" charset="2"/>
                <a:buChar char="Ø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2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8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Font typeface="Wingdings" panose="05000000000000000000" pitchFamily="2" charset="2"/>
                <a:buChar char="§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4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de-DE" sz="2000">
                  <a:solidFill>
                    <a:srgbClr val="000000"/>
                  </a:solidFill>
                  <a:latin typeface="Arial" panose="020B0604020202020204" pitchFamily="34" charset="0"/>
                </a:rPr>
                <a:t>long</a:t>
              </a:r>
            </a:p>
          </p:txBody>
        </p:sp>
        <p:sp>
          <p:nvSpPr>
            <p:cNvPr id="22540" name="AutoShape 9"/>
            <p:cNvSpPr>
              <a:spLocks noChangeArrowheads="1"/>
            </p:cNvSpPr>
            <p:nvPr/>
          </p:nvSpPr>
          <p:spPr bwMode="auto">
            <a:xfrm>
              <a:off x="3428" y="2296"/>
              <a:ext cx="432" cy="192"/>
            </a:xfrm>
            <a:prstGeom prst="flowChartProcess">
              <a:avLst/>
            </a:prstGeom>
            <a:solidFill>
              <a:srgbClr val="00CC99"/>
            </a:solidFill>
            <a:ln w="1260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ct val="20000"/>
                </a:spcBef>
                <a:buFont typeface="Wingdings" panose="05000000000000000000" pitchFamily="2" charset="2"/>
                <a:buChar char="Ø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2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8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Font typeface="Wingdings" panose="05000000000000000000" pitchFamily="2" charset="2"/>
                <a:buChar char="§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4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de-DE" sz="2000">
                  <a:solidFill>
                    <a:srgbClr val="000000"/>
                  </a:solidFill>
                  <a:latin typeface="Arial" panose="020B0604020202020204" pitchFamily="34" charset="0"/>
                </a:rPr>
                <a:t>float</a:t>
              </a:r>
            </a:p>
          </p:txBody>
        </p:sp>
        <p:sp>
          <p:nvSpPr>
            <p:cNvPr id="22541" name="AutoShape 10"/>
            <p:cNvSpPr>
              <a:spLocks noChangeArrowheads="1"/>
            </p:cNvSpPr>
            <p:nvPr/>
          </p:nvSpPr>
          <p:spPr bwMode="auto">
            <a:xfrm>
              <a:off x="4148" y="2296"/>
              <a:ext cx="432" cy="192"/>
            </a:xfrm>
            <a:prstGeom prst="flowChartProcess">
              <a:avLst/>
            </a:prstGeom>
            <a:solidFill>
              <a:srgbClr val="00CC99"/>
            </a:solidFill>
            <a:ln w="1260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ct val="20000"/>
                </a:spcBef>
                <a:buFont typeface="Wingdings" panose="05000000000000000000" pitchFamily="2" charset="2"/>
                <a:buChar char="Ø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2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8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Font typeface="Wingdings" panose="05000000000000000000" pitchFamily="2" charset="2"/>
                <a:buChar char="§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4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de-DE" sz="2000">
                  <a:solidFill>
                    <a:srgbClr val="000000"/>
                  </a:solidFill>
                  <a:latin typeface="Arial" panose="020B0604020202020204" pitchFamily="34" charset="0"/>
                </a:rPr>
                <a:t>double</a:t>
              </a:r>
            </a:p>
          </p:txBody>
        </p:sp>
        <p:cxnSp>
          <p:nvCxnSpPr>
            <p:cNvPr id="22542" name="AutoShape 11"/>
            <p:cNvCxnSpPr>
              <a:cxnSpLocks noChangeShapeType="1"/>
              <a:stCxn id="22535" idx="3"/>
              <a:endCxn id="22537" idx="1"/>
            </p:cNvCxnSpPr>
            <p:nvPr/>
          </p:nvCxnSpPr>
          <p:spPr bwMode="auto">
            <a:xfrm>
              <a:off x="980" y="2392"/>
              <a:ext cx="288" cy="1"/>
            </a:xfrm>
            <a:prstGeom prst="straightConnector1">
              <a:avLst/>
            </a:prstGeom>
            <a:noFill/>
            <a:ln w="12600">
              <a:solidFill>
                <a:srgbClr val="000000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2543" name="AutoShape 12"/>
            <p:cNvCxnSpPr>
              <a:cxnSpLocks noChangeShapeType="1"/>
            </p:cNvCxnSpPr>
            <p:nvPr/>
          </p:nvCxnSpPr>
          <p:spPr bwMode="auto">
            <a:xfrm>
              <a:off x="1700" y="2392"/>
              <a:ext cx="288" cy="1"/>
            </a:xfrm>
            <a:prstGeom prst="straightConnector1">
              <a:avLst/>
            </a:prstGeom>
            <a:noFill/>
            <a:ln w="12600">
              <a:solidFill>
                <a:srgbClr val="000000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2544" name="AutoShape 13"/>
            <p:cNvCxnSpPr>
              <a:cxnSpLocks noChangeShapeType="1"/>
            </p:cNvCxnSpPr>
            <p:nvPr/>
          </p:nvCxnSpPr>
          <p:spPr bwMode="auto">
            <a:xfrm>
              <a:off x="2420" y="2392"/>
              <a:ext cx="288" cy="1"/>
            </a:xfrm>
            <a:prstGeom prst="straightConnector1">
              <a:avLst/>
            </a:prstGeom>
            <a:noFill/>
            <a:ln w="12600">
              <a:solidFill>
                <a:srgbClr val="000000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2545" name="AutoShape 14"/>
            <p:cNvCxnSpPr>
              <a:cxnSpLocks noChangeShapeType="1"/>
            </p:cNvCxnSpPr>
            <p:nvPr/>
          </p:nvCxnSpPr>
          <p:spPr bwMode="auto">
            <a:xfrm>
              <a:off x="3140" y="2392"/>
              <a:ext cx="288" cy="1"/>
            </a:xfrm>
            <a:prstGeom prst="straightConnector1">
              <a:avLst/>
            </a:prstGeom>
            <a:noFill/>
            <a:ln w="12600">
              <a:solidFill>
                <a:srgbClr val="000000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2546" name="AutoShape 15"/>
            <p:cNvCxnSpPr>
              <a:cxnSpLocks noChangeShapeType="1"/>
            </p:cNvCxnSpPr>
            <p:nvPr/>
          </p:nvCxnSpPr>
          <p:spPr bwMode="auto">
            <a:xfrm>
              <a:off x="3860" y="2392"/>
              <a:ext cx="288" cy="1"/>
            </a:xfrm>
            <a:prstGeom prst="straightConnector1">
              <a:avLst/>
            </a:prstGeom>
            <a:noFill/>
            <a:ln w="12600">
              <a:solidFill>
                <a:srgbClr val="000000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2547" name="AutoShape 16"/>
            <p:cNvCxnSpPr>
              <a:cxnSpLocks noChangeShapeType="1"/>
              <a:stCxn id="22536" idx="3"/>
              <a:endCxn id="22538" idx="1"/>
            </p:cNvCxnSpPr>
            <p:nvPr/>
          </p:nvCxnSpPr>
          <p:spPr bwMode="auto">
            <a:xfrm flipV="1">
              <a:off x="1700" y="2392"/>
              <a:ext cx="288" cy="240"/>
            </a:xfrm>
            <a:prstGeom prst="bentConnector3">
              <a:avLst>
                <a:gd name="adj1" fmla="val 50000"/>
              </a:avLst>
            </a:prstGeom>
            <a:noFill/>
            <a:ln w="12600">
              <a:solidFill>
                <a:srgbClr val="000000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2168441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3" name="Foliennummernplatzhalter 4"/>
          <p:cNvSpPr>
            <a:spLocks noGrp="1"/>
          </p:cNvSpPr>
          <p:nvPr>
            <p:ph type="sldNum" sz="quarter" idx="4294967295"/>
          </p:nvPr>
        </p:nvSpPr>
        <p:spPr>
          <a:xfrm>
            <a:off x="6773863" y="6380163"/>
            <a:ext cx="2195512" cy="34131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Wingdings" panose="05000000000000000000" pitchFamily="2" charset="2"/>
              <a:buChar char="Ø"/>
              <a:defRPr sz="3200">
                <a:solidFill>
                  <a:srgbClr val="000080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•"/>
              <a:defRPr sz="2800">
                <a:solidFill>
                  <a:srgbClr val="000080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Font typeface="Wingdings" panose="05000000000000000000" pitchFamily="2" charset="2"/>
              <a:buChar char="§"/>
              <a:defRPr sz="2400">
                <a:solidFill>
                  <a:srgbClr val="000080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C4A61D47-9B62-4C54-9F0F-F9D105DA4D4A}" type="slidenum">
              <a:rPr lang="de-DE" altLang="de-DE" sz="1400" smtClean="0">
                <a:solidFill>
                  <a:schemeClr val="bg1"/>
                </a:solidFill>
              </a:rPr>
              <a:pPr>
                <a:spcBef>
                  <a:spcPct val="0"/>
                </a:spcBef>
                <a:buFontTx/>
                <a:buNone/>
              </a:pPr>
              <a:t>12</a:t>
            </a:fld>
            <a:endParaRPr lang="de-DE" altLang="de-DE" sz="1400">
              <a:solidFill>
                <a:schemeClr val="bg1"/>
              </a:solidFill>
            </a:endParaRPr>
          </a:p>
        </p:txBody>
      </p:sp>
      <p:sp>
        <p:nvSpPr>
          <p:cNvPr id="1536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altLang="de-DE" dirty="0"/>
              <a:t>Bezeichner – Namen von Variablen </a:t>
            </a:r>
          </a:p>
        </p:txBody>
      </p:sp>
      <p:sp>
        <p:nvSpPr>
          <p:cNvPr id="1536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268414"/>
            <a:ext cx="8229600" cy="4857750"/>
          </a:xfrm>
        </p:spPr>
        <p:txBody>
          <a:bodyPr/>
          <a:lstStyle/>
          <a:p>
            <a:pPr eaLnBrk="1" hangingPunct="1"/>
            <a:r>
              <a:rPr lang="de-DE" altLang="de-DE" sz="2400" dirty="0"/>
              <a:t>Kombination aus Zeichen, Ziffern, _, @</a:t>
            </a:r>
          </a:p>
          <a:p>
            <a:pPr eaLnBrk="1" hangingPunct="1"/>
            <a:r>
              <a:rPr lang="de-DE" altLang="de-DE" sz="2400" dirty="0"/>
              <a:t>Case-sensitiv</a:t>
            </a:r>
          </a:p>
          <a:p>
            <a:pPr eaLnBrk="1" hangingPunct="1"/>
            <a:r>
              <a:rPr lang="de-DE" altLang="de-DE" sz="2400" dirty="0"/>
              <a:t>Schlüsselwörter dürfen nicht verwendet werden</a:t>
            </a:r>
          </a:p>
          <a:p>
            <a:pPr lvl="1" eaLnBrk="1" hangingPunct="1"/>
            <a:r>
              <a:rPr lang="de-DE" altLang="de-DE" sz="2100" dirty="0"/>
              <a:t>Siehe </a:t>
            </a:r>
            <a:r>
              <a:rPr lang="de-DE" altLang="de-DE" sz="2100" dirty="0">
                <a:hlinkClick r:id="rId2"/>
              </a:rPr>
              <a:t>https://msdn.microsoft.com/de-de/library/x53a06bb%28v=vs.120%29.aspx</a:t>
            </a:r>
            <a:endParaRPr lang="de-DE" altLang="de-DE" sz="2100" dirty="0"/>
          </a:p>
          <a:p>
            <a:pPr eaLnBrk="1" hangingPunct="1"/>
            <a:r>
              <a:rPr lang="de-DE" altLang="de-DE" sz="2400" dirty="0"/>
              <a:t>Richtlinien für die Namenswahl:</a:t>
            </a:r>
          </a:p>
          <a:p>
            <a:pPr lvl="1" eaLnBrk="1" hangingPunct="1"/>
            <a:r>
              <a:rPr lang="de-DE" altLang="de-DE" sz="2000" dirty="0"/>
              <a:t>Sprechende Bezeichner verwenden – der Name beschreibt, was in der Variablen gespeichert ist!</a:t>
            </a:r>
          </a:p>
          <a:p>
            <a:pPr lvl="1" eaLnBrk="1" hangingPunct="1"/>
            <a:r>
              <a:rPr lang="de-DE" altLang="de-DE" sz="2000" dirty="0"/>
              <a:t>Nur englische Namen verwenden</a:t>
            </a:r>
          </a:p>
          <a:p>
            <a:pPr lvl="1" eaLnBrk="1" hangingPunct="1"/>
            <a:r>
              <a:rPr lang="de-DE" altLang="de-DE" sz="2100" dirty="0"/>
              <a:t>„</a:t>
            </a:r>
            <a:r>
              <a:rPr lang="de-DE" altLang="de-DE" sz="2100" dirty="0" err="1"/>
              <a:t>CamelCase</a:t>
            </a:r>
            <a:r>
              <a:rPr lang="de-DE" altLang="de-DE" sz="2100" dirty="0"/>
              <a:t>“</a:t>
            </a:r>
          </a:p>
          <a:p>
            <a:pPr lvl="2" eaLnBrk="1" hangingPunct="1"/>
            <a:r>
              <a:rPr lang="de-DE" altLang="de-DE" sz="1800" dirty="0"/>
              <a:t>Beginnen mit kleinem Anfangsbuchstaben</a:t>
            </a:r>
          </a:p>
          <a:p>
            <a:pPr lvl="2" eaLnBrk="1" hangingPunct="1"/>
            <a:r>
              <a:rPr lang="de-DE" altLang="de-DE" sz="1800" dirty="0"/>
              <a:t>Jedes innere Teilwort groß beginnen</a:t>
            </a:r>
          </a:p>
          <a:p>
            <a:pPr lvl="2" eaLnBrk="1" hangingPunct="1"/>
            <a:r>
              <a:rPr lang="de-DE" altLang="de-DE" sz="1800" dirty="0" err="1"/>
              <a:t>Bsp</a:t>
            </a:r>
            <a:r>
              <a:rPr lang="de-DE" altLang="de-DE" sz="1800" dirty="0"/>
              <a:t>: </a:t>
            </a:r>
            <a:r>
              <a:rPr lang="de-DE" altLang="de-DE" sz="18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myVariableInCamelCaseNotation</a:t>
            </a:r>
            <a:endParaRPr lang="de-DE" altLang="de-DE" sz="1800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eaLnBrk="1" hangingPunct="1"/>
            <a:endParaRPr lang="de-DE" altLang="de-DE" sz="2800" dirty="0"/>
          </a:p>
          <a:p>
            <a:pPr eaLnBrk="1" hangingPunct="1"/>
            <a:endParaRPr lang="de-DE" altLang="de-DE" sz="2800" dirty="0"/>
          </a:p>
          <a:p>
            <a:pPr eaLnBrk="1" hangingPunct="1"/>
            <a:endParaRPr lang="de-DE" altLang="de-DE" sz="2800" dirty="0"/>
          </a:p>
          <a:p>
            <a:pPr eaLnBrk="1" hangingPunct="1"/>
            <a:endParaRPr lang="de-DE" altLang="de-DE" sz="2800" dirty="0"/>
          </a:p>
        </p:txBody>
      </p:sp>
      <p:pic>
        <p:nvPicPr>
          <p:cNvPr id="1030" name="Picture 6" descr="http://duden.de/_media_/full/K/Kamel-201100285794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95291" y="4653136"/>
            <a:ext cx="1521817" cy="1353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245399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Variablen - Beispiele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052736"/>
            <a:ext cx="8229600" cy="5073427"/>
          </a:xfrm>
        </p:spPr>
        <p:txBody>
          <a:bodyPr/>
          <a:lstStyle/>
          <a:p>
            <a:pPr lvl="0">
              <a:defRPr sz="1800"/>
            </a:pPr>
            <a:r>
              <a:rPr lang="en-US" dirty="0"/>
              <a:t>string </a:t>
            </a:r>
            <a:r>
              <a:rPr lang="en-US" dirty="0" err="1"/>
              <a:t>someText</a:t>
            </a:r>
            <a:r>
              <a:rPr lang="en-US" dirty="0"/>
              <a:t> = “Important text”;</a:t>
            </a:r>
          </a:p>
          <a:p>
            <a:pPr lvl="0">
              <a:defRPr sz="1800"/>
            </a:pPr>
            <a:r>
              <a:rPr lang="en-US" dirty="0" err="1"/>
              <a:t>int</a:t>
            </a:r>
            <a:r>
              <a:rPr lang="en-US" dirty="0"/>
              <a:t> value = 42;</a:t>
            </a:r>
          </a:p>
          <a:p>
            <a:pPr lvl="0">
              <a:defRPr sz="1800"/>
            </a:pPr>
            <a:r>
              <a:rPr lang="en-US" dirty="0"/>
              <a:t>bool </a:t>
            </a:r>
            <a:r>
              <a:rPr lang="en-US" dirty="0" err="1"/>
              <a:t>isValid</a:t>
            </a:r>
            <a:r>
              <a:rPr lang="en-US" dirty="0"/>
              <a:t> = true;</a:t>
            </a:r>
          </a:p>
          <a:p>
            <a:pPr lvl="0">
              <a:defRPr sz="1800"/>
            </a:pPr>
            <a:r>
              <a:rPr lang="en-US" dirty="0"/>
              <a:t>double </a:t>
            </a:r>
            <a:r>
              <a:rPr lang="en-US" dirty="0" err="1"/>
              <a:t>decimalValue</a:t>
            </a:r>
            <a:r>
              <a:rPr lang="en-US" dirty="0"/>
              <a:t> = 3.141592653;</a:t>
            </a:r>
          </a:p>
          <a:p>
            <a:pPr lvl="0">
              <a:defRPr sz="1800"/>
            </a:pPr>
            <a:endParaRPr lang="en-US" dirty="0"/>
          </a:p>
          <a:p>
            <a:pPr lvl="0">
              <a:defRPr sz="1800"/>
            </a:pPr>
            <a:endParaRPr lang="de-AT" sz="1800" dirty="0">
              <a:latin typeface="Monaco"/>
              <a:ea typeface="Monaco"/>
              <a:cs typeface="Monaco"/>
              <a:sym typeface="Monaco"/>
            </a:endParaRPr>
          </a:p>
          <a:p>
            <a:pPr lvl="0">
              <a:defRPr sz="1800"/>
            </a:pPr>
            <a:r>
              <a:rPr lang="de-AT" sz="1800" dirty="0" err="1"/>
              <a:t>string</a:t>
            </a:r>
            <a:r>
              <a:rPr lang="de-AT" sz="1800" dirty="0"/>
              <a:t> </a:t>
            </a:r>
            <a:r>
              <a:rPr lang="de-AT" sz="1800" dirty="0" err="1"/>
              <a:t>firstName</a:t>
            </a:r>
            <a:r>
              <a:rPr lang="de-AT" sz="1800" dirty="0"/>
              <a:t> = “Hansi”;</a:t>
            </a:r>
          </a:p>
          <a:p>
            <a:pPr lvl="0">
              <a:defRPr sz="1800"/>
            </a:pPr>
            <a:r>
              <a:rPr lang="de-AT" sz="1800" dirty="0" err="1"/>
              <a:t>string</a:t>
            </a:r>
            <a:r>
              <a:rPr lang="de-AT" sz="1800" dirty="0"/>
              <a:t> </a:t>
            </a:r>
            <a:r>
              <a:rPr lang="de-AT" sz="1800" dirty="0" err="1"/>
              <a:t>lastName</a:t>
            </a:r>
            <a:r>
              <a:rPr lang="de-AT" sz="1800" dirty="0"/>
              <a:t> = “Hinterseer”;</a:t>
            </a:r>
          </a:p>
          <a:p>
            <a:pPr lvl="0">
              <a:defRPr sz="1800"/>
            </a:pPr>
            <a:r>
              <a:rPr lang="de-AT" sz="1800" dirty="0"/>
              <a:t>Console.WriteLine(</a:t>
            </a:r>
            <a:r>
              <a:rPr lang="de-AT" sz="1800" dirty="0" err="1"/>
              <a:t>firstName</a:t>
            </a:r>
            <a:r>
              <a:rPr lang="de-AT" sz="1800" dirty="0"/>
              <a:t> + “ “ + </a:t>
            </a:r>
            <a:r>
              <a:rPr lang="de-AT" sz="1800" dirty="0" err="1"/>
              <a:t>lastName</a:t>
            </a:r>
            <a:r>
              <a:rPr lang="de-AT" sz="1800" dirty="0"/>
              <a:t>);</a:t>
            </a:r>
          </a:p>
          <a:p>
            <a:pPr lvl="0">
              <a:defRPr sz="1800"/>
            </a:pPr>
            <a:endParaRPr lang="de-AT" sz="1800" dirty="0"/>
          </a:p>
          <a:p>
            <a:pPr lvl="0">
              <a:defRPr sz="1800"/>
            </a:pPr>
            <a:endParaRPr lang="de-AT" sz="1800" dirty="0"/>
          </a:p>
          <a:p>
            <a:pPr lvl="0">
              <a:defRPr sz="1800"/>
            </a:pPr>
            <a:r>
              <a:rPr lang="en-US" sz="1800" dirty="0" err="1"/>
              <a:t>int</a:t>
            </a:r>
            <a:r>
              <a:rPr lang="en-US" sz="1800" dirty="0"/>
              <a:t> summand1 = 17;</a:t>
            </a:r>
          </a:p>
          <a:p>
            <a:pPr lvl="0">
              <a:defRPr sz="1800"/>
            </a:pPr>
            <a:r>
              <a:rPr lang="en-US" sz="1800" dirty="0" err="1"/>
              <a:t>int</a:t>
            </a:r>
            <a:r>
              <a:rPr lang="en-US" sz="1800" dirty="0"/>
              <a:t> summand2 = 42;</a:t>
            </a:r>
          </a:p>
          <a:p>
            <a:pPr lvl="0">
              <a:defRPr sz="1800"/>
            </a:pPr>
            <a:r>
              <a:rPr lang="en-US" sz="1800" dirty="0" err="1"/>
              <a:t>int</a:t>
            </a:r>
            <a:r>
              <a:rPr lang="en-US" sz="1800" dirty="0"/>
              <a:t> sum = summand1 + summand2;</a:t>
            </a:r>
          </a:p>
          <a:p>
            <a:pPr>
              <a:defRPr sz="1800"/>
            </a:pPr>
            <a:r>
              <a:rPr lang="de-AT" sz="1800" dirty="0"/>
              <a:t>Console.WriteLine(“Die Summe beträgt “ + </a:t>
            </a:r>
            <a:r>
              <a:rPr lang="de-AT" sz="1800" dirty="0" err="1"/>
              <a:t>sum</a:t>
            </a:r>
            <a:r>
              <a:rPr lang="de-AT" sz="1800" dirty="0"/>
              <a:t>);</a:t>
            </a:r>
          </a:p>
          <a:p>
            <a:pPr lvl="0">
              <a:defRPr sz="1800"/>
            </a:pPr>
            <a:endParaRPr lang="en-US" sz="1800" dirty="0"/>
          </a:p>
          <a:p>
            <a:pPr lvl="0">
              <a:defRPr sz="1800"/>
            </a:pPr>
            <a:endParaRPr lang="de-AT" sz="1800" dirty="0"/>
          </a:p>
          <a:p>
            <a:pPr lvl="0">
              <a:defRPr sz="1800"/>
            </a:pPr>
            <a:endParaRPr lang="de-AT" sz="1800" dirty="0">
              <a:latin typeface="Monaco"/>
              <a:ea typeface="Monaco"/>
              <a:cs typeface="Monaco"/>
              <a:sym typeface="Monaco"/>
            </a:endParaRPr>
          </a:p>
          <a:p>
            <a:pPr lvl="0">
              <a:defRPr sz="1800"/>
            </a:pPr>
            <a:endParaRPr lang="en-US" dirty="0"/>
          </a:p>
          <a:p>
            <a:endParaRPr lang="de-AT" dirty="0"/>
          </a:p>
        </p:txBody>
      </p:sp>
      <p:grpSp>
        <p:nvGrpSpPr>
          <p:cNvPr id="6" name="Gruppieren 5"/>
          <p:cNvGrpSpPr/>
          <p:nvPr/>
        </p:nvGrpSpPr>
        <p:grpSpPr>
          <a:xfrm>
            <a:off x="3563888" y="1484784"/>
            <a:ext cx="2448272" cy="504056"/>
            <a:chOff x="5436096" y="2132856"/>
            <a:chExt cx="2448272" cy="504056"/>
          </a:xfrm>
        </p:grpSpPr>
        <p:sp>
          <p:nvSpPr>
            <p:cNvPr id="4" name="Ovale Legende 3"/>
            <p:cNvSpPr/>
            <p:nvPr/>
          </p:nvSpPr>
          <p:spPr>
            <a:xfrm>
              <a:off x="5436096" y="2132856"/>
              <a:ext cx="2448272" cy="504056"/>
            </a:xfrm>
            <a:prstGeom prst="wedgeEllipseCallou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/>
            </a:p>
          </p:txBody>
        </p:sp>
        <p:sp>
          <p:nvSpPr>
            <p:cNvPr id="5" name="Textfeld 4"/>
            <p:cNvSpPr txBox="1"/>
            <p:nvPr/>
          </p:nvSpPr>
          <p:spPr>
            <a:xfrm>
              <a:off x="5796136" y="2257127"/>
              <a:ext cx="194421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AT" sz="1400" dirty="0">
                  <a:solidFill>
                    <a:schemeClr val="bg1"/>
                  </a:solidFill>
                </a:rPr>
                <a:t>Punkt oder Komma?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964961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Konstanten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307901"/>
            <a:ext cx="8229600" cy="4929411"/>
          </a:xfrm>
        </p:spPr>
        <p:txBody>
          <a:bodyPr/>
          <a:lstStyle/>
          <a:p>
            <a:r>
              <a:rPr lang="de-AT" sz="2400" dirty="0"/>
              <a:t>Schlüsselwort: </a:t>
            </a:r>
            <a:r>
              <a:rPr lang="de-AT" sz="2400" b="1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endParaRPr lang="de-AT" sz="2400" b="1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AT" sz="2400" dirty="0"/>
              <a:t>Verwendung:</a:t>
            </a:r>
          </a:p>
          <a:p>
            <a:pPr lvl="1"/>
            <a:r>
              <a:rPr lang="de-AT" sz="2400" dirty="0"/>
              <a:t>Fixe Werte, die sich während des Programmablaufs nie ändern, und im Programm mehrmals benötigt werden.</a:t>
            </a:r>
          </a:p>
          <a:p>
            <a:r>
              <a:rPr lang="de-AT" sz="2400" dirty="0"/>
              <a:t>Richtlinien:</a:t>
            </a:r>
          </a:p>
          <a:p>
            <a:pPr lvl="1"/>
            <a:r>
              <a:rPr lang="de-AT" sz="2400" dirty="0"/>
              <a:t>Immer groß schreiben</a:t>
            </a:r>
          </a:p>
          <a:p>
            <a:pPr lvl="1"/>
            <a:r>
              <a:rPr lang="de-AT" sz="2400" dirty="0"/>
              <a:t>Am Beginn des Programmcodes sammeln</a:t>
            </a:r>
          </a:p>
          <a:p>
            <a:r>
              <a:rPr lang="de-AT" sz="2400" dirty="0"/>
              <a:t>Beispiele:</a:t>
            </a:r>
          </a:p>
          <a:p>
            <a:pPr marL="541337" lvl="1" indent="0">
              <a:buNone/>
            </a:pPr>
            <a:r>
              <a:rPr lang="de-AT" sz="2400" b="1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de-AT" sz="24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sz="2400" b="1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AT" sz="24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GROWN_UP_AGE = 19;</a:t>
            </a:r>
          </a:p>
          <a:p>
            <a:pPr marL="541337" lvl="1" indent="0">
              <a:buNone/>
            </a:pPr>
            <a:r>
              <a:rPr lang="de-AT" sz="2400" b="1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de-AT" sz="24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sz="2400" b="1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AT" sz="24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TAX_RATE = 20.0;</a:t>
            </a:r>
          </a:p>
        </p:txBody>
      </p:sp>
    </p:spTree>
    <p:extLst>
      <p:ext uri="{BB962C8B-B14F-4D97-AF65-F5344CB8AC3E}">
        <p14:creationId xmlns:p14="http://schemas.microsoft.com/office/powerpoint/2010/main" val="4217222768"/>
      </p:ext>
    </p:extLst>
  </p:cSld>
  <p:clrMapOvr>
    <a:masterClrMapping/>
  </p:clrMapOvr>
</p:sld>
</file>

<file path=ppt/theme/theme1.xml><?xml version="1.0" encoding="utf-8"?>
<a:theme xmlns:a="http://schemas.openxmlformats.org/drawingml/2006/main" name="1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5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6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4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544</Words>
  <Application>Microsoft Office PowerPoint</Application>
  <PresentationFormat>Bildschirmpräsentation (4:3)</PresentationFormat>
  <Paragraphs>245</Paragraphs>
  <Slides>14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5</vt:i4>
      </vt:variant>
      <vt:variant>
        <vt:lpstr>Folientitel</vt:lpstr>
      </vt:variant>
      <vt:variant>
        <vt:i4>14</vt:i4>
      </vt:variant>
    </vt:vector>
  </HeadingPairs>
  <TitlesOfParts>
    <vt:vector size="26" baseType="lpstr">
      <vt:lpstr>Arial</vt:lpstr>
      <vt:lpstr>Calibri</vt:lpstr>
      <vt:lpstr>Courier New</vt:lpstr>
      <vt:lpstr>Monaco</vt:lpstr>
      <vt:lpstr>Symbol</vt:lpstr>
      <vt:lpstr>Times New Roman</vt:lpstr>
      <vt:lpstr>Wingdings</vt:lpstr>
      <vt:lpstr>1_Larissa</vt:lpstr>
      <vt:lpstr>2_Larissa</vt:lpstr>
      <vt:lpstr>5_Larissa</vt:lpstr>
      <vt:lpstr>6_Larissa</vt:lpstr>
      <vt:lpstr>4_Larissa</vt:lpstr>
      <vt:lpstr>Variablen - Motivation </vt:lpstr>
      <vt:lpstr>Variablen </vt:lpstr>
      <vt:lpstr>Deklaration und Zuweisung</vt:lpstr>
      <vt:lpstr>Beispiel: Eine Zeichenkette einlesen</vt:lpstr>
      <vt:lpstr>Variablen: Name, Datentyp, Daten</vt:lpstr>
      <vt:lpstr>Datentyp</vt:lpstr>
      <vt:lpstr>Deklaration, Definition und Initialisierung von Variablen</vt:lpstr>
      <vt:lpstr>Wichtige Typen am Beginn der Karriere</vt:lpstr>
      <vt:lpstr>Einfache Datentypen in C#</vt:lpstr>
      <vt:lpstr>Zuweisungsoperator</vt:lpstr>
      <vt:lpstr>Zuweisungsoperator</vt:lpstr>
      <vt:lpstr>Bezeichner – Namen von Variablen </vt:lpstr>
      <vt:lpstr>Variablen - Beispiele</vt:lpstr>
      <vt:lpstr>Konstanten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Michael Bucek</dc:creator>
  <cp:lastModifiedBy>Aitenbichler Herbert</cp:lastModifiedBy>
  <cp:revision>733</cp:revision>
  <cp:lastPrinted>2014-09-10T13:20:02Z</cp:lastPrinted>
  <dcterms:created xsi:type="dcterms:W3CDTF">2011-08-18T07:37:01Z</dcterms:created>
  <dcterms:modified xsi:type="dcterms:W3CDTF">2021-09-17T09:10:51Z</dcterms:modified>
</cp:coreProperties>
</file>