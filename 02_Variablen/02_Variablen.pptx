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9" r:id="rId1"/>
    <p:sldMasterId id="2147483686" r:id="rId2"/>
    <p:sldMasterId id="2147483693" r:id="rId3"/>
    <p:sldMasterId id="2147483698" r:id="rId4"/>
    <p:sldMasterId id="2147483675" r:id="rId5"/>
  </p:sldMasterIdLst>
  <p:notesMasterIdLst>
    <p:notesMasterId r:id="rId19"/>
  </p:notesMasterIdLst>
  <p:handoutMasterIdLst>
    <p:handoutMasterId r:id="rId20"/>
  </p:handoutMasterIdLst>
  <p:sldIdLst>
    <p:sldId id="257" r:id="rId6"/>
    <p:sldId id="287" r:id="rId7"/>
    <p:sldId id="286" r:id="rId8"/>
    <p:sldId id="290" r:id="rId9"/>
    <p:sldId id="269" r:id="rId10"/>
    <p:sldId id="281" r:id="rId11"/>
    <p:sldId id="289" r:id="rId12"/>
    <p:sldId id="288" r:id="rId13"/>
    <p:sldId id="272" r:id="rId14"/>
    <p:sldId id="273" r:id="rId15"/>
    <p:sldId id="275" r:id="rId16"/>
    <p:sldId id="266" r:id="rId17"/>
    <p:sldId id="282" r:id="rId18"/>
  </p:sldIdLst>
  <p:sldSz cx="9144000" cy="6858000" type="screen4x3"/>
  <p:notesSz cx="6858000" cy="992663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A80000"/>
    <a:srgbClr val="FFAA01"/>
    <a:srgbClr val="F99707"/>
    <a:srgbClr val="FCB504"/>
    <a:srgbClr val="B52217"/>
    <a:srgbClr val="960000"/>
    <a:srgbClr val="A40000"/>
    <a:srgbClr val="D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750" autoAdjust="0"/>
  </p:normalViewPr>
  <p:slideViewPr>
    <p:cSldViewPr>
      <p:cViewPr varScale="1">
        <p:scale>
          <a:sx n="110" d="100"/>
          <a:sy n="110" d="100"/>
        </p:scale>
        <p:origin x="1680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6322"/>
    </p:cViewPr>
  </p:sorterViewPr>
  <p:notesViewPr>
    <p:cSldViewPr>
      <p:cViewPr varScale="1">
        <p:scale>
          <a:sx n="81" d="100"/>
          <a:sy n="81" d="100"/>
        </p:scale>
        <p:origin x="-2844" y="-90"/>
      </p:cViewPr>
      <p:guideLst>
        <p:guide orient="horz" pos="3127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87F52D72-ED1D-48E3-B38D-D27DF71D5328}" type="datetimeFigureOut">
              <a:rPr lang="de-AT"/>
              <a:pPr>
                <a:defRPr/>
              </a:pPr>
              <a:t>22.09.2021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B8876E5-8CB2-488D-BB52-3FDCCA373F31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8035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52" y="0"/>
            <a:ext cx="2972547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3163736-15EA-4775-815E-DDF88F21B7ED}" type="datetimeFigureOut">
              <a:rPr lang="de-AT"/>
              <a:pPr>
                <a:defRPr/>
              </a:pPr>
              <a:t>22.09.2021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47738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AT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480" y="4714876"/>
            <a:ext cx="5487041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AT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52" y="9428164"/>
            <a:ext cx="2972547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6EAC6C9-0F3A-40E0-896B-88DE66496CB5}" type="slidenum">
              <a:rPr lang="de-AT"/>
              <a:pPr>
                <a:defRPr/>
              </a:pPr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1234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180975" y="-674688"/>
            <a:ext cx="9421813" cy="706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Rechteck 2"/>
          <p:cNvSpPr/>
          <p:nvPr userDrawn="1"/>
        </p:nvSpPr>
        <p:spPr>
          <a:xfrm>
            <a:off x="-180975" y="4437063"/>
            <a:ext cx="9648825" cy="25209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4" name="Rechteck 3"/>
          <p:cNvSpPr/>
          <p:nvPr userDrawn="1"/>
        </p:nvSpPr>
        <p:spPr>
          <a:xfrm>
            <a:off x="4859338" y="0"/>
            <a:ext cx="3816350" cy="9080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59363" y="260350"/>
            <a:ext cx="3400425" cy="50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27"/>
          <p:cNvSpPr txBox="1">
            <a:spLocks noChangeArrowheads="1"/>
          </p:cNvSpPr>
          <p:nvPr userDrawn="1"/>
        </p:nvSpPr>
        <p:spPr>
          <a:xfrm>
            <a:off x="469900" y="1700213"/>
            <a:ext cx="7485063" cy="108108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32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Hier fügen Sie den </a:t>
            </a:r>
            <a:b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</a:br>
            <a:r>
              <a:rPr lang="de-AT" sz="3800" noProof="1"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Titel der Präsentation ein.</a:t>
            </a:r>
            <a:endParaRPr lang="de-DE" sz="3800" dirty="0">
              <a:solidFill>
                <a:schemeClr val="tx1">
                  <a:lumMod val="85000"/>
                  <a:lumOff val="15000"/>
                </a:schemeClr>
              </a:solidFill>
              <a:effectLst/>
            </a:endParaRPr>
          </a:p>
        </p:txBody>
      </p:sp>
      <p:sp>
        <p:nvSpPr>
          <p:cNvPr id="7" name="Rectangle 28"/>
          <p:cNvSpPr txBox="1">
            <a:spLocks noChangeArrowheads="1"/>
          </p:cNvSpPr>
          <p:nvPr userDrawn="1"/>
        </p:nvSpPr>
        <p:spPr>
          <a:xfrm>
            <a:off x="469900" y="3062288"/>
            <a:ext cx="7510463" cy="584200"/>
          </a:xfrm>
          <a:prstGeom prst="rect">
            <a:avLst/>
          </a:prstGeom>
        </p:spPr>
        <p:txBody>
          <a:bodyPr/>
          <a:lstStyle>
            <a:lvl1pPr marL="26987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defTabSz="914400" rtl="0" eaLnBrk="1" latinLnBrk="0" hangingPunct="1">
              <a:spcBef>
                <a:spcPct val="20000"/>
              </a:spcBef>
              <a:buFont typeface="Symbol" pitchFamily="18" charset="2"/>
              <a:buChar char="-"/>
              <a:defRPr sz="25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defTabSz="914400" rtl="0" eaLnBrk="1" latinLnBrk="0" hangingPunct="1">
              <a:spcBef>
                <a:spcPct val="20000"/>
              </a:spcBef>
              <a:buSzPct val="65000"/>
              <a:buFont typeface="Wingdings" pitchFamily="2" charset="2"/>
              <a:buChar char="§"/>
              <a:defRPr sz="22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Font typeface="Wingdings" pitchFamily="2" charset="2"/>
              <a:buNone/>
              <a:defRPr/>
            </a:pPr>
            <a:r>
              <a:rPr lang="de-DE" sz="2400" noProof="1"/>
              <a:t>Fügen Sie hier den Untertitel ein.</a:t>
            </a:r>
            <a:endParaRPr lang="de-DE" sz="2400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5288" y="4837113"/>
            <a:ext cx="6553200" cy="154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22.09.2021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AT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BC9E1A3-5F60-4045-A7A5-F47B61D1FECD}" type="datetimeFigureOut">
              <a:rPr lang="de-AT" smtClean="0"/>
              <a:pPr/>
              <a:t>22.09.2021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4407A703-FA5D-4D14-B9A3-005BE4A028D7}" type="slidenum">
              <a:rPr lang="de-AT" smtClean="0"/>
              <a:pPr/>
              <a:t>‹Nr.›</a:t>
            </a:fld>
            <a:endParaRPr lang="de-AT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68760"/>
            <a:ext cx="4038600" cy="46805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Relationship Id="rId9" Type="http://schemas.openxmlformats.org/officeDocument/2006/relationships/image" Target="../media/image1.jpe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0000">
                <a:schemeClr val="bg1">
                  <a:lumMod val="65000"/>
                </a:schemeClr>
              </a:gs>
              <a:gs pos="0">
                <a:schemeClr val="tx1">
                  <a:lumMod val="61000"/>
                  <a:lumOff val="39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90117" name="Grafik 6"/>
          <p:cNvPicPr>
            <a:picLocks noChangeAspect="1"/>
          </p:cNvPicPr>
          <p:nvPr userDrawn="1"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558454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D1B3A30B-827A-41C3-9327-D27E88FC99E1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41" r:id="rId8"/>
    <p:sldLayoutId id="2147483742" r:id="rId9"/>
    <p:sldLayoutId id="2147483740" r:id="rId10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70247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C#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C5A4FFB9-E613-43CD-964A-AE1E9E6225EE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C00000"/>
              </a:gs>
              <a:gs pos="0">
                <a:srgbClr val="A40000">
                  <a:lumMod val="100000"/>
                </a:srgbClr>
              </a:gs>
              <a:gs pos="50000">
                <a:srgbClr val="D60000"/>
              </a:gs>
              <a:gs pos="100000">
                <a:srgbClr val="A80000">
                  <a:lumMod val="9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7414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6DD54E4-5D87-4DDA-86A7-5D3265BB197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43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4582" name="Grafik 6"/>
          <p:cNvPicPr>
            <a:picLocks noChangeAspect="1"/>
          </p:cNvPicPr>
          <p:nvPr userDrawn="1"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9E0A7362-2F94-4D89-A5F0-263D764F0B24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FFAA01"/>
              </a:gs>
              <a:gs pos="0">
                <a:srgbClr val="F99707"/>
              </a:gs>
              <a:gs pos="50000">
                <a:srgbClr val="FFC000"/>
              </a:gs>
              <a:gs pos="100000">
                <a:srgbClr val="F99707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9" name="Rechteck 8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rgbClr val="F99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30726" name="Grafik 6"/>
          <p:cNvPicPr>
            <a:picLocks noChangeAspect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57200" y="1268413"/>
            <a:ext cx="8229600" cy="4786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1343025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Seite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</a:t>
            </a:r>
            <a:fld id="{046146C9-533C-4473-A975-7739642B77BB}" type="slidenum">
              <a:rPr lang="de-DE" sz="100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SzPct val="65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msdn.microsoft.com/de-de/library/x53a06bb(v=vs.120).aspx" TargetMode="Externa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Variablen - Motivation</a:t>
            </a:r>
            <a:r>
              <a:rPr lang="de-AT" dirty="0"/>
              <a:t/>
            </a:r>
            <a:br>
              <a:rPr lang="de-AT" dirty="0"/>
            </a:br>
            <a:endParaRPr lang="de-DE" dirty="0"/>
          </a:p>
        </p:txBody>
      </p:sp>
      <p:sp>
        <p:nvSpPr>
          <p:cNvPr id="88" name="Textfeld 87"/>
          <p:cNvSpPr txBox="1"/>
          <p:nvPr/>
        </p:nvSpPr>
        <p:spPr>
          <a:xfrm>
            <a:off x="323527" y="998500"/>
            <a:ext cx="8363273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Unser bisheriges „Programm“ hat bei </a:t>
            </a:r>
            <a:r>
              <a:rPr lang="de-AT" dirty="0" smtClean="0"/>
              <a:t>jedem </a:t>
            </a:r>
            <a:r>
              <a:rPr lang="de-AT" dirty="0" smtClean="0"/>
              <a:t>Aufruf immer „Hallo Welt“ ausgegeben.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Wir wollen den Benutzer auffordern, seinen Namen einzugeben.</a:t>
            </a:r>
            <a:br>
              <a:rPr lang="de-AT" dirty="0" smtClean="0"/>
            </a:br>
            <a:r>
              <a:rPr lang="de-AT" dirty="0" smtClean="0"/>
              <a:t>Der Name soll anschließend ausgegeben werden.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Der Benutzer soll uns den Vornamen, Nachnamen und sein Alter in Jahren mitteilen.</a:t>
            </a:r>
            <a:br>
              <a:rPr lang="de-AT" dirty="0" smtClean="0"/>
            </a:br>
            <a:r>
              <a:rPr lang="de-AT" dirty="0" smtClean="0"/>
              <a:t>All diese Werte wollen wir uns im Programm merken und wieder ausgeben.</a:t>
            </a:r>
            <a:br>
              <a:rPr lang="de-AT" dirty="0" smtClean="0"/>
            </a:br>
            <a:endParaRPr lang="de-AT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dirty="0" smtClean="0"/>
              <a:t>Der Benutzer sagt uns die Kantenlänge eines Quadrates.</a:t>
            </a:r>
            <a:br>
              <a:rPr lang="de-AT" dirty="0" smtClean="0"/>
            </a:br>
            <a:r>
              <a:rPr lang="de-AT" dirty="0" smtClean="0"/>
              <a:t>Das Programm berechnet und merkt sich den Umfang und den Flächeninhalt.</a:t>
            </a:r>
            <a:br>
              <a:rPr lang="de-AT" dirty="0" smtClean="0"/>
            </a:br>
            <a:r>
              <a:rPr lang="de-AT" dirty="0" smtClean="0"/>
              <a:t>Diese Werte werden anschließend ausgegeben.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sz="2000" dirty="0" smtClean="0"/>
          </a:p>
          <a:p>
            <a:r>
              <a:rPr lang="de-AT" sz="2000" dirty="0" smtClean="0">
                <a:solidFill>
                  <a:srgbClr val="C00000"/>
                </a:solidFill>
              </a:rPr>
              <a:t>Das Programm muss sich Dinge merken können!</a:t>
            </a:r>
          </a:p>
          <a:p>
            <a:r>
              <a:rPr lang="de-AT" sz="2000" dirty="0" smtClean="0">
                <a:solidFill>
                  <a:srgbClr val="C00000"/>
                </a:solidFill>
              </a:rPr>
              <a:t>Die Lösung dafür sind Variablen.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16199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</a:t>
            </a:r>
            <a:br>
              <a:rPr lang="de-AT" dirty="0"/>
            </a:br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190937" y="2070140"/>
            <a:ext cx="3600400" cy="42484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Rechteck 6"/>
          <p:cNvSpPr/>
          <p:nvPr/>
        </p:nvSpPr>
        <p:spPr>
          <a:xfrm>
            <a:off x="1262945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" name="Rechteck 7"/>
          <p:cNvSpPr/>
          <p:nvPr/>
        </p:nvSpPr>
        <p:spPr>
          <a:xfrm>
            <a:off x="2127041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9" name="Rechteck 8"/>
          <p:cNvSpPr/>
          <p:nvPr/>
        </p:nvSpPr>
        <p:spPr>
          <a:xfrm>
            <a:off x="2991137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0" name="Rechteck 9"/>
          <p:cNvSpPr/>
          <p:nvPr/>
        </p:nvSpPr>
        <p:spPr>
          <a:xfrm>
            <a:off x="3855233" y="212682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1" name="Rechteck 10"/>
          <p:cNvSpPr/>
          <p:nvPr/>
        </p:nvSpPr>
        <p:spPr>
          <a:xfrm>
            <a:off x="1262945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2" name="Rechteck 11"/>
          <p:cNvSpPr/>
          <p:nvPr/>
        </p:nvSpPr>
        <p:spPr>
          <a:xfrm>
            <a:off x="2127041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3" name="Rechteck 12"/>
          <p:cNvSpPr/>
          <p:nvPr/>
        </p:nvSpPr>
        <p:spPr>
          <a:xfrm>
            <a:off x="2991137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4" name="Rechteck 13"/>
          <p:cNvSpPr/>
          <p:nvPr/>
        </p:nvSpPr>
        <p:spPr>
          <a:xfrm>
            <a:off x="3855233" y="234284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5" name="Rechteck 14"/>
          <p:cNvSpPr/>
          <p:nvPr/>
        </p:nvSpPr>
        <p:spPr>
          <a:xfrm>
            <a:off x="1262945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6" name="Rechteck 15"/>
          <p:cNvSpPr/>
          <p:nvPr/>
        </p:nvSpPr>
        <p:spPr>
          <a:xfrm>
            <a:off x="2127041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7" name="Rechteck 16"/>
          <p:cNvSpPr/>
          <p:nvPr/>
        </p:nvSpPr>
        <p:spPr>
          <a:xfrm>
            <a:off x="2991137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8" name="Rechteck 17"/>
          <p:cNvSpPr/>
          <p:nvPr/>
        </p:nvSpPr>
        <p:spPr>
          <a:xfrm>
            <a:off x="3855233" y="255887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19" name="Rechteck 18"/>
          <p:cNvSpPr/>
          <p:nvPr/>
        </p:nvSpPr>
        <p:spPr>
          <a:xfrm>
            <a:off x="1262945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0" name="Rechteck 19"/>
          <p:cNvSpPr/>
          <p:nvPr/>
        </p:nvSpPr>
        <p:spPr>
          <a:xfrm>
            <a:off x="2127041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1" name="Rechteck 20"/>
          <p:cNvSpPr/>
          <p:nvPr/>
        </p:nvSpPr>
        <p:spPr>
          <a:xfrm>
            <a:off x="2991137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2" name="Rechteck 21"/>
          <p:cNvSpPr/>
          <p:nvPr/>
        </p:nvSpPr>
        <p:spPr>
          <a:xfrm>
            <a:off x="3855233" y="277489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3" name="Rechteck 22"/>
          <p:cNvSpPr/>
          <p:nvPr/>
        </p:nvSpPr>
        <p:spPr>
          <a:xfrm>
            <a:off x="1262945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4" name="Rechteck 23"/>
          <p:cNvSpPr/>
          <p:nvPr/>
        </p:nvSpPr>
        <p:spPr>
          <a:xfrm>
            <a:off x="2127041" y="3006244"/>
            <a:ext cx="866350" cy="23135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5" name="Rechteck 24"/>
          <p:cNvSpPr/>
          <p:nvPr/>
        </p:nvSpPr>
        <p:spPr>
          <a:xfrm>
            <a:off x="2991137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6" name="Rechteck 25"/>
          <p:cNvSpPr/>
          <p:nvPr/>
        </p:nvSpPr>
        <p:spPr>
          <a:xfrm>
            <a:off x="3855233" y="300624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7" name="Rechteck 26"/>
          <p:cNvSpPr/>
          <p:nvPr/>
        </p:nvSpPr>
        <p:spPr>
          <a:xfrm>
            <a:off x="1262945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8" name="Rechteck 27"/>
          <p:cNvSpPr/>
          <p:nvPr/>
        </p:nvSpPr>
        <p:spPr>
          <a:xfrm>
            <a:off x="2127041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29" name="Rechteck 28"/>
          <p:cNvSpPr/>
          <p:nvPr/>
        </p:nvSpPr>
        <p:spPr>
          <a:xfrm>
            <a:off x="2991137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0" name="Rechteck 29"/>
          <p:cNvSpPr/>
          <p:nvPr/>
        </p:nvSpPr>
        <p:spPr>
          <a:xfrm>
            <a:off x="3855233" y="322226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1" name="Rechteck 30"/>
          <p:cNvSpPr/>
          <p:nvPr/>
        </p:nvSpPr>
        <p:spPr>
          <a:xfrm>
            <a:off x="1262945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2" name="Rechteck 31"/>
          <p:cNvSpPr/>
          <p:nvPr/>
        </p:nvSpPr>
        <p:spPr>
          <a:xfrm>
            <a:off x="2127041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3" name="Rechteck 32"/>
          <p:cNvSpPr/>
          <p:nvPr/>
        </p:nvSpPr>
        <p:spPr>
          <a:xfrm>
            <a:off x="2991137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4" name="Rechteck 33"/>
          <p:cNvSpPr/>
          <p:nvPr/>
        </p:nvSpPr>
        <p:spPr>
          <a:xfrm>
            <a:off x="3855233" y="343829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5" name="Rechteck 34"/>
          <p:cNvSpPr/>
          <p:nvPr/>
        </p:nvSpPr>
        <p:spPr>
          <a:xfrm>
            <a:off x="1262945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6" name="Rechteck 35"/>
          <p:cNvSpPr/>
          <p:nvPr/>
        </p:nvSpPr>
        <p:spPr>
          <a:xfrm>
            <a:off x="2127041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7" name="Rechteck 36"/>
          <p:cNvSpPr/>
          <p:nvPr/>
        </p:nvSpPr>
        <p:spPr>
          <a:xfrm>
            <a:off x="2991137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8" name="Rechteck 37"/>
          <p:cNvSpPr/>
          <p:nvPr/>
        </p:nvSpPr>
        <p:spPr>
          <a:xfrm>
            <a:off x="3855233" y="365431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39" name="Rechteck 38"/>
          <p:cNvSpPr/>
          <p:nvPr/>
        </p:nvSpPr>
        <p:spPr>
          <a:xfrm>
            <a:off x="1262945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0" name="Rechteck 39"/>
          <p:cNvSpPr/>
          <p:nvPr/>
        </p:nvSpPr>
        <p:spPr>
          <a:xfrm>
            <a:off x="2127041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1" name="Rechteck 40"/>
          <p:cNvSpPr/>
          <p:nvPr/>
        </p:nvSpPr>
        <p:spPr>
          <a:xfrm>
            <a:off x="2991137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2" name="Rechteck 41"/>
          <p:cNvSpPr/>
          <p:nvPr/>
        </p:nvSpPr>
        <p:spPr>
          <a:xfrm>
            <a:off x="3855233" y="387034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3" name="Rechteck 42"/>
          <p:cNvSpPr/>
          <p:nvPr/>
        </p:nvSpPr>
        <p:spPr>
          <a:xfrm>
            <a:off x="1262945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4" name="Rechteck 43"/>
          <p:cNvSpPr/>
          <p:nvPr/>
        </p:nvSpPr>
        <p:spPr>
          <a:xfrm>
            <a:off x="2127041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5" name="Rechteck 44"/>
          <p:cNvSpPr/>
          <p:nvPr/>
        </p:nvSpPr>
        <p:spPr>
          <a:xfrm>
            <a:off x="2991137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6" name="Rechteck 45"/>
          <p:cNvSpPr/>
          <p:nvPr/>
        </p:nvSpPr>
        <p:spPr>
          <a:xfrm>
            <a:off x="3855233" y="410169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7" name="Rechteck 46"/>
          <p:cNvSpPr/>
          <p:nvPr/>
        </p:nvSpPr>
        <p:spPr>
          <a:xfrm>
            <a:off x="1262945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8" name="Rechteck 47"/>
          <p:cNvSpPr/>
          <p:nvPr/>
        </p:nvSpPr>
        <p:spPr>
          <a:xfrm>
            <a:off x="2127041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49" name="Rechteck 48"/>
          <p:cNvSpPr/>
          <p:nvPr/>
        </p:nvSpPr>
        <p:spPr>
          <a:xfrm>
            <a:off x="2991137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0" name="Rechteck 49"/>
          <p:cNvSpPr/>
          <p:nvPr/>
        </p:nvSpPr>
        <p:spPr>
          <a:xfrm>
            <a:off x="3855233" y="431771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1" name="Rechteck 50"/>
          <p:cNvSpPr/>
          <p:nvPr/>
        </p:nvSpPr>
        <p:spPr>
          <a:xfrm>
            <a:off x="1262945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2" name="Rechteck 51"/>
          <p:cNvSpPr/>
          <p:nvPr/>
        </p:nvSpPr>
        <p:spPr>
          <a:xfrm>
            <a:off x="2127041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3" name="Rechteck 52"/>
          <p:cNvSpPr/>
          <p:nvPr/>
        </p:nvSpPr>
        <p:spPr>
          <a:xfrm>
            <a:off x="2991137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4" name="Rechteck 53"/>
          <p:cNvSpPr/>
          <p:nvPr/>
        </p:nvSpPr>
        <p:spPr>
          <a:xfrm>
            <a:off x="3855233" y="453373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5" name="Rechteck 54"/>
          <p:cNvSpPr/>
          <p:nvPr/>
        </p:nvSpPr>
        <p:spPr>
          <a:xfrm>
            <a:off x="1262945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6" name="Rechteck 55"/>
          <p:cNvSpPr/>
          <p:nvPr/>
        </p:nvSpPr>
        <p:spPr>
          <a:xfrm>
            <a:off x="2127041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7" name="Rechteck 56"/>
          <p:cNvSpPr/>
          <p:nvPr/>
        </p:nvSpPr>
        <p:spPr>
          <a:xfrm>
            <a:off x="2991137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8" name="Rechteck 57"/>
          <p:cNvSpPr/>
          <p:nvPr/>
        </p:nvSpPr>
        <p:spPr>
          <a:xfrm>
            <a:off x="3855233" y="474976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59" name="Rechteck 58"/>
          <p:cNvSpPr/>
          <p:nvPr/>
        </p:nvSpPr>
        <p:spPr>
          <a:xfrm>
            <a:off x="1262945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0" name="Rechteck 59"/>
          <p:cNvSpPr/>
          <p:nvPr/>
        </p:nvSpPr>
        <p:spPr>
          <a:xfrm>
            <a:off x="2127041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1" name="Rechteck 60"/>
          <p:cNvSpPr/>
          <p:nvPr/>
        </p:nvSpPr>
        <p:spPr>
          <a:xfrm>
            <a:off x="2991137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2" name="Rechteck 61"/>
          <p:cNvSpPr/>
          <p:nvPr/>
        </p:nvSpPr>
        <p:spPr>
          <a:xfrm>
            <a:off x="3855233" y="495046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3" name="Rechteck 62"/>
          <p:cNvSpPr/>
          <p:nvPr/>
        </p:nvSpPr>
        <p:spPr>
          <a:xfrm>
            <a:off x="1262945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4" name="Rechteck 63"/>
          <p:cNvSpPr/>
          <p:nvPr/>
        </p:nvSpPr>
        <p:spPr>
          <a:xfrm>
            <a:off x="2127041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5" name="Rechteck 64"/>
          <p:cNvSpPr/>
          <p:nvPr/>
        </p:nvSpPr>
        <p:spPr>
          <a:xfrm>
            <a:off x="2991137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6" name="Rechteck 65"/>
          <p:cNvSpPr/>
          <p:nvPr/>
        </p:nvSpPr>
        <p:spPr>
          <a:xfrm>
            <a:off x="3855233" y="5166484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7" name="Rechteck 66"/>
          <p:cNvSpPr/>
          <p:nvPr/>
        </p:nvSpPr>
        <p:spPr>
          <a:xfrm>
            <a:off x="1262945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8" name="Rechteck 67"/>
          <p:cNvSpPr/>
          <p:nvPr/>
        </p:nvSpPr>
        <p:spPr>
          <a:xfrm>
            <a:off x="2127041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69" name="Rechteck 68"/>
          <p:cNvSpPr/>
          <p:nvPr/>
        </p:nvSpPr>
        <p:spPr>
          <a:xfrm>
            <a:off x="2991137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0" name="Rechteck 69"/>
          <p:cNvSpPr/>
          <p:nvPr/>
        </p:nvSpPr>
        <p:spPr>
          <a:xfrm>
            <a:off x="3855233" y="5382508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1" name="Rechteck 70"/>
          <p:cNvSpPr/>
          <p:nvPr/>
        </p:nvSpPr>
        <p:spPr>
          <a:xfrm>
            <a:off x="1262945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2" name="Rechteck 71"/>
          <p:cNvSpPr/>
          <p:nvPr/>
        </p:nvSpPr>
        <p:spPr>
          <a:xfrm>
            <a:off x="2127041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3" name="Rechteck 72"/>
          <p:cNvSpPr/>
          <p:nvPr/>
        </p:nvSpPr>
        <p:spPr>
          <a:xfrm>
            <a:off x="2991137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4" name="Rechteck 73"/>
          <p:cNvSpPr/>
          <p:nvPr/>
        </p:nvSpPr>
        <p:spPr>
          <a:xfrm>
            <a:off x="3855233" y="5598532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5" name="Rechteck 74"/>
          <p:cNvSpPr/>
          <p:nvPr/>
        </p:nvSpPr>
        <p:spPr>
          <a:xfrm>
            <a:off x="1262945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6" name="Rechteck 75"/>
          <p:cNvSpPr/>
          <p:nvPr/>
        </p:nvSpPr>
        <p:spPr>
          <a:xfrm>
            <a:off x="2127041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7" name="Rechteck 76"/>
          <p:cNvSpPr/>
          <p:nvPr/>
        </p:nvSpPr>
        <p:spPr>
          <a:xfrm>
            <a:off x="2991137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8" name="Rechteck 77"/>
          <p:cNvSpPr/>
          <p:nvPr/>
        </p:nvSpPr>
        <p:spPr>
          <a:xfrm>
            <a:off x="3855233" y="5814556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79" name="Rechteck 78"/>
          <p:cNvSpPr/>
          <p:nvPr/>
        </p:nvSpPr>
        <p:spPr>
          <a:xfrm>
            <a:off x="1262945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0" name="Rechteck 79"/>
          <p:cNvSpPr/>
          <p:nvPr/>
        </p:nvSpPr>
        <p:spPr>
          <a:xfrm>
            <a:off x="2127041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1" name="Rechteck 80"/>
          <p:cNvSpPr/>
          <p:nvPr/>
        </p:nvSpPr>
        <p:spPr>
          <a:xfrm>
            <a:off x="2991137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2" name="Rechteck 81"/>
          <p:cNvSpPr/>
          <p:nvPr/>
        </p:nvSpPr>
        <p:spPr>
          <a:xfrm>
            <a:off x="3855233" y="6030580"/>
            <a:ext cx="866350" cy="231350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>
                <a:solidFill>
                  <a:schemeClr val="tx1"/>
                </a:solidFill>
              </a:rPr>
              <a:t>00010101</a:t>
            </a:r>
          </a:p>
        </p:txBody>
      </p:sp>
      <p:sp>
        <p:nvSpPr>
          <p:cNvPr id="83" name="Textfeld 82"/>
          <p:cNvSpPr txBox="1"/>
          <p:nvPr/>
        </p:nvSpPr>
        <p:spPr>
          <a:xfrm>
            <a:off x="5596744" y="2093430"/>
            <a:ext cx="23903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 err="1">
                <a:latin typeface="Courier New" pitchFamily="49" charset="0"/>
                <a:cs typeface="Courier New" pitchFamily="49" charset="0"/>
              </a:rPr>
              <a:t>byte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AT" dirty="0" err="1">
                <a:latin typeface="Courier New" pitchFamily="49" charset="0"/>
                <a:cs typeface="Courier New" pitchFamily="49" charset="0"/>
              </a:rPr>
              <a:t>number</a:t>
            </a:r>
            <a:r>
              <a:rPr lang="de-AT" dirty="0">
                <a:latin typeface="Courier New" pitchFamily="49" charset="0"/>
                <a:cs typeface="Courier New" pitchFamily="49" charset="0"/>
              </a:rPr>
              <a:t> = 21</a:t>
            </a:r>
          </a:p>
        </p:txBody>
      </p:sp>
      <p:sp>
        <p:nvSpPr>
          <p:cNvPr id="84" name="Textfeld 83"/>
          <p:cNvSpPr txBox="1"/>
          <p:nvPr/>
        </p:nvSpPr>
        <p:spPr>
          <a:xfrm>
            <a:off x="5989480" y="3174067"/>
            <a:ext cx="1604927" cy="120032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AT" dirty="0"/>
              <a:t>Name: </a:t>
            </a:r>
            <a:r>
              <a:rPr lang="de-AT" dirty="0" err="1"/>
              <a:t>number</a:t>
            </a:r>
            <a:endParaRPr lang="de-AT" dirty="0"/>
          </a:p>
          <a:p>
            <a:r>
              <a:rPr lang="de-AT" dirty="0"/>
              <a:t>Typ: </a:t>
            </a:r>
            <a:r>
              <a:rPr lang="de-AT" dirty="0" err="1"/>
              <a:t>byte</a:t>
            </a:r>
            <a:endParaRPr lang="de-AT" dirty="0"/>
          </a:p>
          <a:p>
            <a:r>
              <a:rPr lang="de-AT" dirty="0"/>
              <a:t>Adresse: 17</a:t>
            </a:r>
          </a:p>
          <a:p>
            <a:r>
              <a:rPr lang="de-AT" dirty="0"/>
              <a:t>Wert: 21</a:t>
            </a:r>
          </a:p>
        </p:txBody>
      </p:sp>
      <p:cxnSp>
        <p:nvCxnSpPr>
          <p:cNvPr id="85" name="Gerade Verbindung mit Pfeil 84"/>
          <p:cNvCxnSpPr>
            <a:stCxn id="25" idx="1"/>
            <a:endCxn id="84" idx="1"/>
          </p:cNvCxnSpPr>
          <p:nvPr/>
        </p:nvCxnSpPr>
        <p:spPr>
          <a:xfrm>
            <a:off x="2991137" y="3121919"/>
            <a:ext cx="2998343" cy="652313"/>
          </a:xfrm>
          <a:prstGeom prst="straightConnector1">
            <a:avLst/>
          </a:prstGeom>
          <a:ln w="25400"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83" idx="2"/>
            <a:endCxn id="84" idx="0"/>
          </p:cNvCxnSpPr>
          <p:nvPr/>
        </p:nvCxnSpPr>
        <p:spPr>
          <a:xfrm>
            <a:off x="6791943" y="2462762"/>
            <a:ext cx="1" cy="711305"/>
          </a:xfrm>
          <a:prstGeom prst="straightConnector1">
            <a:avLst/>
          </a:prstGeom>
          <a:ln w="12700" cap="rnd" cmpd="dbl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/>
          <p:cNvSpPr txBox="1"/>
          <p:nvPr/>
        </p:nvSpPr>
        <p:spPr>
          <a:xfrm>
            <a:off x="1187624" y="1700808"/>
            <a:ext cx="3600400" cy="369332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AT" dirty="0">
                <a:solidFill>
                  <a:schemeClr val="tx2">
                    <a:lumMod val="75000"/>
                  </a:schemeClr>
                </a:solidFill>
              </a:rPr>
              <a:t>Hauptspeicher</a:t>
            </a:r>
          </a:p>
        </p:txBody>
      </p:sp>
      <p:sp>
        <p:nvSpPr>
          <p:cNvPr id="88" name="Textfeld 87"/>
          <p:cNvSpPr txBox="1"/>
          <p:nvPr/>
        </p:nvSpPr>
        <p:spPr>
          <a:xfrm>
            <a:off x="256845" y="998500"/>
            <a:ext cx="8429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Daten, die im Programm mehrmals benötigt werden, können als Variablen gespeichert werden.</a:t>
            </a:r>
          </a:p>
        </p:txBody>
      </p:sp>
    </p:spTree>
    <p:extLst>
      <p:ext uri="{BB962C8B-B14F-4D97-AF65-F5344CB8AC3E}">
        <p14:creationId xmlns:p14="http://schemas.microsoft.com/office/powerpoint/2010/main" val="1920648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xmlns="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Deklaration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xmlns="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24744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 smtClean="0"/>
              <a:t>Bevor eine Variable verwendet werden kann muss diese bekanntgegeben (=deklariert) werden.</a:t>
            </a:r>
          </a:p>
          <a:p>
            <a:endParaRPr lang="de-AT" dirty="0" smtClean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 smtClean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 smtClean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 smtClean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		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tage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de-AT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 smtClean="0"/>
          </a:p>
        </p:txBody>
      </p:sp>
      <p:sp>
        <p:nvSpPr>
          <p:cNvPr id="6" name="Sprechblase: oval 5">
            <a:extLst>
              <a:ext uri="{FF2B5EF4-FFF2-40B4-BE49-F238E27FC236}">
                <a16:creationId xmlns:a16="http://schemas.microsoft.com/office/drawing/2014/main" xmlns="" id="{381D2117-5022-4813-A7BF-4AD136F123B9}"/>
              </a:ext>
            </a:extLst>
          </p:cNvPr>
          <p:cNvSpPr/>
          <p:nvPr/>
        </p:nvSpPr>
        <p:spPr>
          <a:xfrm>
            <a:off x="457200" y="2798936"/>
            <a:ext cx="3816424" cy="1374230"/>
          </a:xfrm>
          <a:prstGeom prst="wedgeEllipseCallout">
            <a:avLst>
              <a:gd name="adj1" fmla="val 7008"/>
              <a:gd name="adj2" fmla="val 669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 smtClean="0"/>
              <a:t>Die </a:t>
            </a:r>
            <a:r>
              <a:rPr lang="de-AT" dirty="0"/>
              <a:t>Variable heißt </a:t>
            </a:r>
            <a:r>
              <a:rPr lang="de-AT" dirty="0" smtClean="0"/>
              <a:t>„</a:t>
            </a:r>
            <a:r>
              <a:rPr lang="de-AT" dirty="0" err="1" smtClean="0"/>
              <a:t>vorname</a:t>
            </a:r>
            <a:r>
              <a:rPr lang="de-AT" dirty="0"/>
              <a:t>“ und ist vom Datentyp „</a:t>
            </a:r>
            <a:r>
              <a:rPr lang="de-AT" dirty="0" err="1"/>
              <a:t>string</a:t>
            </a:r>
            <a:r>
              <a:rPr lang="de-AT" dirty="0"/>
              <a:t>“ (Zeichenkette)</a:t>
            </a:r>
          </a:p>
          <a:p>
            <a:pPr algn="ctr"/>
            <a:endParaRPr lang="de-AT" dirty="0"/>
          </a:p>
        </p:txBody>
      </p:sp>
      <p:sp>
        <p:nvSpPr>
          <p:cNvPr id="10" name="Sprechblase: oval 5">
            <a:extLst>
              <a:ext uri="{FF2B5EF4-FFF2-40B4-BE49-F238E27FC236}">
                <a16:creationId xmlns:a16="http://schemas.microsoft.com/office/drawing/2014/main" xmlns="" id="{381D2117-5022-4813-A7BF-4AD136F123B9}"/>
              </a:ext>
            </a:extLst>
          </p:cNvPr>
          <p:cNvSpPr/>
          <p:nvPr/>
        </p:nvSpPr>
        <p:spPr>
          <a:xfrm>
            <a:off x="4709010" y="2811187"/>
            <a:ext cx="3816424" cy="1374230"/>
          </a:xfrm>
          <a:prstGeom prst="wedgeEllipseCallout">
            <a:avLst>
              <a:gd name="adj1" fmla="val 7008"/>
              <a:gd name="adj2" fmla="val 6690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 smtClean="0"/>
              <a:t>Die </a:t>
            </a:r>
            <a:r>
              <a:rPr lang="de-AT" dirty="0"/>
              <a:t>Variable heißt </a:t>
            </a:r>
            <a:r>
              <a:rPr lang="de-AT" dirty="0" smtClean="0"/>
              <a:t>„tage“ </a:t>
            </a:r>
            <a:r>
              <a:rPr lang="de-AT" dirty="0"/>
              <a:t>und ist vom Datentyp </a:t>
            </a:r>
            <a:r>
              <a:rPr lang="de-AT" dirty="0" smtClean="0"/>
              <a:t>„</a:t>
            </a:r>
            <a:r>
              <a:rPr lang="de-AT" dirty="0" err="1" smtClean="0"/>
              <a:t>int</a:t>
            </a:r>
            <a:r>
              <a:rPr lang="de-AT" dirty="0" smtClean="0"/>
              <a:t>“ (Ganzzahl)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655359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xmlns="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Deklaration mit Initialisierung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xmlns="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24744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 smtClean="0"/>
              <a:t>Bei der Deklaration einer Variable kann auch gleichzeitig ein Wert festgelegt werden:</a:t>
            </a:r>
          </a:p>
          <a:p>
            <a:pPr marL="0" indent="0">
              <a:buNone/>
            </a:pPr>
            <a:endParaRPr lang="de-AT" dirty="0" smtClean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nachname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Mustermann"; </a:t>
            </a:r>
          </a:p>
          <a:p>
            <a:pPr marL="0" indent="0">
              <a:buNone/>
            </a:pP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wohnort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err="1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tage = 9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de-AT" dirty="0" err="1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minuten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 smtClean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24 * 60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endParaRPr lang="de-AT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AT" dirty="0" smtClean="0"/>
          </a:p>
          <a:p>
            <a:pPr marL="0" indent="0">
              <a:buNone/>
            </a:pPr>
            <a:r>
              <a:rPr lang="de-DE" sz="1600" dirty="0"/>
              <a:t>Alle Variablen müssen vor der Benutzung initialisiert werden (aber nicht zwangsläufig sofort bei der Deklaration</a:t>
            </a:r>
            <a:endParaRPr lang="de-AT" sz="1600" dirty="0" smtClean="0"/>
          </a:p>
        </p:txBody>
      </p:sp>
    </p:spTree>
    <p:extLst>
      <p:ext uri="{BB962C8B-B14F-4D97-AF65-F5344CB8AC3E}">
        <p14:creationId xmlns:p14="http://schemas.microsoft.com/office/powerpoint/2010/main" val="557777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AT" altLang="de-DE" dirty="0" smtClean="0"/>
              <a:t>Datentypen - Übersicht</a:t>
            </a:r>
            <a:endParaRPr lang="de-AT" altLang="de-DE" dirty="0"/>
          </a:p>
        </p:txBody>
      </p:sp>
      <p:sp>
        <p:nvSpPr>
          <p:cNvPr id="18435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de-AT" altLang="de-DE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2800" dirty="0"/>
              <a:t> 	</a:t>
            </a:r>
            <a:r>
              <a:rPr lang="de-AT" altLang="de-DE" sz="2400" dirty="0"/>
              <a:t>Texte aus einem oder mehreren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de-AT" altLang="de-DE" sz="2800" dirty="0"/>
              <a:t>	</a:t>
            </a:r>
            <a:r>
              <a:rPr lang="de-AT" altLang="de-DE" sz="2400" dirty="0"/>
              <a:t>einzelnes Zeichen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2800" dirty="0"/>
              <a:t>		</a:t>
            </a:r>
            <a:r>
              <a:rPr lang="de-AT" altLang="de-DE" sz="2400" dirty="0"/>
              <a:t>Ganzzahl zwischen </a:t>
            </a:r>
            <a:br>
              <a:rPr lang="de-AT" altLang="de-DE" sz="2400" dirty="0"/>
            </a:br>
            <a:r>
              <a:rPr lang="de-AT" altLang="de-DE" sz="2400" dirty="0"/>
              <a:t>                  -2.147.483.648 und</a:t>
            </a:r>
            <a:br>
              <a:rPr lang="de-AT" altLang="de-DE" sz="2400" dirty="0"/>
            </a:br>
            <a:r>
              <a:rPr lang="de-AT" altLang="de-DE" sz="2400" dirty="0"/>
              <a:t>                   2.147.483.647</a:t>
            </a:r>
          </a:p>
          <a:p>
            <a:pPr eaLnBrk="1" hangingPunct="1"/>
            <a:r>
              <a:rPr lang="de-AT" altLang="de-D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AT" altLang="de-DE" sz="2800" dirty="0"/>
              <a:t>	</a:t>
            </a:r>
            <a:r>
              <a:rPr lang="de-AT" altLang="de-DE" sz="2400" dirty="0"/>
              <a:t>Wahrheitswert </a:t>
            </a:r>
            <a:r>
              <a:rPr lang="de-AT" altLang="de-DE" sz="2400" dirty="0" err="1"/>
              <a:t>true</a:t>
            </a:r>
            <a:r>
              <a:rPr lang="de-AT" altLang="de-DE" sz="2400" dirty="0"/>
              <a:t> und </a:t>
            </a:r>
            <a:r>
              <a:rPr lang="de-AT" altLang="de-DE" sz="2400" dirty="0" err="1"/>
              <a:t>false</a:t>
            </a:r>
            <a:endParaRPr lang="de-AT" altLang="de-DE" sz="2800" dirty="0"/>
          </a:p>
          <a:p>
            <a:pPr eaLnBrk="1" hangingPunct="1"/>
            <a:r>
              <a:rPr lang="de-AT" alt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de-AT" altLang="de-DE" sz="2800" dirty="0"/>
              <a:t>	</a:t>
            </a:r>
            <a:r>
              <a:rPr lang="de-AT" altLang="de-DE" sz="2400" dirty="0"/>
              <a:t>Gleitkommazahl</a:t>
            </a:r>
            <a:endParaRPr lang="de-AT" altLang="de-DE" sz="2800" dirty="0"/>
          </a:p>
          <a:p>
            <a:pPr eaLnBrk="1" hangingPunct="1"/>
            <a:endParaRPr lang="de-AT" altLang="de-DE" sz="2800" dirty="0"/>
          </a:p>
        </p:txBody>
      </p:sp>
      <p:sp>
        <p:nvSpPr>
          <p:cNvPr id="1843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0F29772-2A36-4BAA-ACC4-970FA6558DF7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5</a:t>
            </a:fld>
            <a:endParaRPr lang="de-DE" altLang="de-DE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210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Einfache Datentypen in C#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457200" y="1295400"/>
            <a:ext cx="8435280" cy="5029200"/>
          </a:xfrm>
          <a:prstGeom prst="rect">
            <a:avLst/>
          </a:prstGeom>
        </p:spPr>
        <p:txBody>
          <a:bodyPr/>
          <a:lstStyle>
            <a:lvl1pPr marL="26987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8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89535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5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343025" indent="-2698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SzPct val="80000"/>
              <a:buFont typeface="Wingdings" pitchFamily="2" charset="2"/>
              <a:buChar char="§"/>
              <a:defRPr sz="22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790700" indent="-3540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595959"/>
              </a:buClr>
              <a:buFont typeface="Symbol" pitchFamily="18" charset="2"/>
              <a:buChar char="-"/>
              <a:defRPr sz="2000" kern="1200">
                <a:solidFill>
                  <a:srgbClr val="404040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rgbClr val="FF5050"/>
                </a:solidFill>
              </a:rPr>
              <a:t>Schlüsselwort</a:t>
            </a:r>
            <a:r>
              <a:rPr lang="en-US" altLang="de-DE" sz="1800" dirty="0"/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abgebildet</a:t>
            </a:r>
            <a:r>
              <a:rPr lang="en-US" altLang="de-DE" sz="1800" dirty="0">
                <a:solidFill>
                  <a:srgbClr val="FF5050"/>
                </a:solidFill>
              </a:rPr>
              <a:t> auf</a:t>
            </a:r>
            <a:r>
              <a:rPr lang="en-US" altLang="de-DE" sz="1800" dirty="0"/>
              <a:t>	</a:t>
            </a:r>
            <a:r>
              <a:rPr lang="en-US" altLang="de-DE" sz="1800" dirty="0">
                <a:solidFill>
                  <a:schemeClr val="accent2"/>
                </a:solidFill>
              </a:rPr>
              <a:t>	</a:t>
            </a:r>
            <a:r>
              <a:rPr lang="en-US" altLang="de-DE" sz="1800" dirty="0" err="1">
                <a:solidFill>
                  <a:srgbClr val="FF5050"/>
                </a:solidFill>
              </a:rPr>
              <a:t>Wertebereich</a:t>
            </a:r>
            <a:endParaRPr lang="en-US" altLang="de-DE" sz="1800" dirty="0">
              <a:solidFill>
                <a:srgbClr val="FF5050"/>
              </a:solidFill>
            </a:endParaRP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sbyte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System.SByte</a:t>
            </a:r>
            <a:r>
              <a:rPr lang="en-US" altLang="de-DE" sz="1800" dirty="0"/>
              <a:t>		-128 .. 127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short</a:t>
            </a:r>
            <a:r>
              <a:rPr lang="en-US" altLang="de-DE" sz="1800" dirty="0"/>
              <a:t>	System.Int16		-32768 .. 32767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int</a:t>
            </a:r>
            <a:r>
              <a:rPr lang="en-US" altLang="de-DE" sz="1800" dirty="0"/>
              <a:t>	System.Int32		-2 147 483 648 .. 2 147 483 647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long</a:t>
            </a:r>
            <a:r>
              <a:rPr lang="en-US" altLang="de-DE" sz="1800" dirty="0"/>
              <a:t>	System.Int64		-2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 .. 2</a:t>
            </a:r>
            <a:r>
              <a:rPr lang="en-US" altLang="de-DE" sz="1800" baseline="30000" dirty="0"/>
              <a:t>63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byte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System.Byte</a:t>
            </a:r>
            <a:r>
              <a:rPr lang="en-US" altLang="de-DE" sz="1800" dirty="0"/>
              <a:t>		0 .. 255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ushort</a:t>
            </a:r>
            <a:r>
              <a:rPr lang="en-US" altLang="de-DE" sz="1800" dirty="0"/>
              <a:t>	System.UInt16		0 .. 65535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uint</a:t>
            </a:r>
            <a:r>
              <a:rPr lang="en-US" altLang="de-DE" sz="1800" dirty="0"/>
              <a:t>	System.UInt32		0 .. 4294967295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 err="1">
                <a:solidFill>
                  <a:schemeClr val="accent2"/>
                </a:solidFill>
              </a:rPr>
              <a:t>ulong</a:t>
            </a:r>
            <a:r>
              <a:rPr lang="en-US" altLang="de-DE" sz="1800" dirty="0"/>
              <a:t>	System.UInt64		0 .. 2</a:t>
            </a:r>
            <a:r>
              <a:rPr lang="en-US" altLang="de-DE" sz="1800" baseline="30000" dirty="0"/>
              <a:t>64</a:t>
            </a:r>
            <a:r>
              <a:rPr lang="en-US" altLang="de-DE" sz="1800" dirty="0"/>
              <a:t>-1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float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System.Single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1.5E-45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3.4E38 (32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double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System.Double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5E-324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1.7E308 (64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decimal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System.Decimal</a:t>
            </a:r>
            <a:r>
              <a:rPr lang="en-US" altLang="de-DE" sz="1800" dirty="0"/>
              <a:t>		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1E-28 .. </a:t>
            </a:r>
            <a:r>
              <a:rPr lang="en-US" altLang="de-DE" sz="1800" dirty="0">
                <a:latin typeface="Symbol" panose="05050102010706020507" pitchFamily="18" charset="2"/>
                <a:sym typeface="Symbol" panose="05050102010706020507" pitchFamily="18" charset="2"/>
              </a:rPr>
              <a:t></a:t>
            </a:r>
            <a:r>
              <a:rPr lang="en-US" altLang="de-DE" sz="1800" dirty="0"/>
              <a:t>7.9E28 (128 Bit)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bool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System.Boolean</a:t>
            </a:r>
            <a:r>
              <a:rPr lang="en-US" altLang="de-DE" sz="1800" dirty="0"/>
              <a:t>		true, false</a:t>
            </a:r>
          </a:p>
          <a:p>
            <a:pPr marL="0" indent="0" defTabSz="911225">
              <a:buFontTx/>
              <a:buNone/>
              <a:tabLst>
                <a:tab pos="1519238" algn="l"/>
                <a:tab pos="3340100" algn="l"/>
                <a:tab pos="4568825" algn="l"/>
              </a:tabLst>
            </a:pPr>
            <a:r>
              <a:rPr lang="en-US" altLang="de-DE" sz="1800" dirty="0">
                <a:solidFill>
                  <a:schemeClr val="accent2"/>
                </a:solidFill>
              </a:rPr>
              <a:t>char</a:t>
            </a:r>
            <a:r>
              <a:rPr lang="en-US" altLang="de-DE" sz="1800" dirty="0"/>
              <a:t>	</a:t>
            </a:r>
            <a:r>
              <a:rPr lang="en-US" altLang="de-DE" sz="1800" dirty="0" err="1"/>
              <a:t>System.Char</a:t>
            </a:r>
            <a:r>
              <a:rPr lang="en-US" altLang="de-DE" sz="1800" dirty="0"/>
              <a:t>		Unicode-</a:t>
            </a:r>
            <a:r>
              <a:rPr lang="en-US" altLang="de-DE" sz="1800" dirty="0" err="1"/>
              <a:t>Zeichen</a:t>
            </a:r>
            <a:endParaRPr lang="en-US" altLang="de-DE" sz="1800" dirty="0"/>
          </a:p>
        </p:txBody>
      </p:sp>
      <p:cxnSp>
        <p:nvCxnSpPr>
          <p:cNvPr id="6" name="Gerader Verbinder 5"/>
          <p:cNvCxnSpPr/>
          <p:nvPr/>
        </p:nvCxnSpPr>
        <p:spPr>
          <a:xfrm>
            <a:off x="529208" y="2924944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/>
          <p:cNvCxnSpPr/>
          <p:nvPr/>
        </p:nvCxnSpPr>
        <p:spPr>
          <a:xfrm>
            <a:off x="529208" y="4293096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/>
          <p:cNvCxnSpPr/>
          <p:nvPr/>
        </p:nvCxnSpPr>
        <p:spPr>
          <a:xfrm>
            <a:off x="529208" y="5301208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/>
          <p:cNvCxnSpPr/>
          <p:nvPr/>
        </p:nvCxnSpPr>
        <p:spPr>
          <a:xfrm>
            <a:off x="539552" y="1628800"/>
            <a:ext cx="80032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309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xmlns="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Verwendung (Evaluation)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xmlns="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070" y="1295999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 smtClean="0"/>
              <a:t>Der aktuelle Wert einer Variablen kann jederzeit bestimmt werden.</a:t>
            </a:r>
          </a:p>
          <a:p>
            <a:pPr marL="0" indent="0">
              <a:buNone/>
            </a:pP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(tage + 7);</a:t>
            </a:r>
          </a:p>
          <a:p>
            <a:pPr marL="0" indent="0">
              <a:buNone/>
            </a:pPr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200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xmlns="" id="{91AE9513-1234-4703-8392-93226C9A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smtClean="0"/>
              <a:t>Zuweisung (</a:t>
            </a:r>
            <a:r>
              <a:rPr lang="de-AT" dirty="0" err="1" smtClean="0"/>
              <a:t>Assignment</a:t>
            </a:r>
            <a:r>
              <a:rPr lang="de-AT" dirty="0" smtClean="0"/>
              <a:t>)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xmlns="" id="{2011BA9D-4171-4462-9EA8-9AA2E9346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070" y="1295999"/>
            <a:ext cx="8229600" cy="2049091"/>
          </a:xfrm>
        </p:spPr>
        <p:txBody>
          <a:bodyPr/>
          <a:lstStyle/>
          <a:p>
            <a:pPr marL="0" indent="0">
              <a:buNone/>
            </a:pPr>
            <a:r>
              <a:rPr lang="de-AT" dirty="0" smtClean="0"/>
              <a:t>An einer beliebigen Stellen im Programm kann der Wert einer Variable verändert werden</a:t>
            </a:r>
            <a:br>
              <a:rPr lang="de-AT" dirty="0" smtClean="0"/>
            </a:br>
            <a:endParaRPr lang="de-AT" dirty="0" smtClean="0"/>
          </a:p>
          <a:p>
            <a:pPr marL="0" indent="0">
              <a:buNone/>
            </a:pP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vorname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Max";</a:t>
            </a:r>
          </a:p>
          <a:p>
            <a:pPr marL="0" indent="0">
              <a:buNone/>
            </a:pP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tage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7;</a:t>
            </a:r>
          </a:p>
          <a:p>
            <a:pPr marL="0" indent="0">
              <a:buNone/>
            </a:pP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nachname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Console.ReadLine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de-A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dirty="0" smtClean="0"/>
              <a:t>Eine Zuweisung erfolgt durch das Zeichen </a:t>
            </a:r>
            <a:r>
              <a:rPr lang="de-AT" dirty="0" smtClean="0">
                <a:solidFill>
                  <a:srgbClr val="0000FF"/>
                </a:solidFill>
              </a:rPr>
              <a:t>=</a:t>
            </a:r>
            <a:r>
              <a:rPr lang="de-AT" dirty="0" smtClean="0"/>
              <a:t>  </a:t>
            </a:r>
          </a:p>
          <a:p>
            <a:r>
              <a:rPr lang="de-AT" dirty="0" smtClean="0"/>
              <a:t>Links vom </a:t>
            </a:r>
            <a:r>
              <a:rPr lang="de-AT" dirty="0">
                <a:solidFill>
                  <a:srgbClr val="0000FF"/>
                </a:solidFill>
              </a:rPr>
              <a:t>= </a:t>
            </a:r>
            <a:r>
              <a:rPr lang="de-AT" dirty="0" smtClean="0"/>
              <a:t>steht der Variablenname.</a:t>
            </a:r>
          </a:p>
          <a:p>
            <a:r>
              <a:rPr lang="de-AT" dirty="0" smtClean="0"/>
              <a:t>Rechts steht der neue Wert (=Term). </a:t>
            </a:r>
            <a:endParaRPr lang="de-AT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89850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0ABB23-8E16-40B9-A845-CB6C3B14536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9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2150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/>
              <a:t>Zuweisungsoperator</a:t>
            </a:r>
          </a:p>
        </p:txBody>
      </p:sp>
      <p:pic>
        <p:nvPicPr>
          <p:cNvPr id="21509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150" y="1730375"/>
            <a:ext cx="5727700" cy="339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8421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altLang="de-DE"/>
              <a:t>Zuweisungsoperator</a:t>
            </a:r>
          </a:p>
        </p:txBody>
      </p:sp>
      <p:sp>
        <p:nvSpPr>
          <p:cNvPr id="22531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AT" altLang="de-DE" sz="2800" dirty="0"/>
              <a:t>Vorsicht</a:t>
            </a:r>
          </a:p>
          <a:p>
            <a:pPr lvl="1"/>
            <a:r>
              <a:rPr lang="de-AT" altLang="de-DE" sz="2400" dirty="0"/>
              <a:t>Zugewiesener Wert muss zum Typ der Variablen kompatibel sein (im verfügbaren Speicher Platz haben)</a:t>
            </a:r>
          </a:p>
          <a:p>
            <a:pPr lvl="2"/>
            <a:r>
              <a:rPr lang="de-AT" altLang="de-DE" sz="2000" dirty="0"/>
              <a:t>Klein in Groß funktioniert, aber nicht umgekehrt!</a:t>
            </a:r>
          </a:p>
          <a:p>
            <a:pPr lvl="2"/>
            <a:r>
              <a:rPr lang="de-AT" altLang="de-DE" sz="2000" dirty="0"/>
              <a:t>Zuweisung kann aber erzwungen werden</a:t>
            </a:r>
          </a:p>
          <a:p>
            <a:pPr lvl="1"/>
            <a:endParaRPr lang="de-AT" altLang="de-DE" sz="2400" dirty="0"/>
          </a:p>
        </p:txBody>
      </p:sp>
      <p:sp>
        <p:nvSpPr>
          <p:cNvPr id="2253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3527D3E-CF4A-4B6C-9479-3B3C35CCFC8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10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grpSp>
        <p:nvGrpSpPr>
          <p:cNvPr id="22534" name="Group 3"/>
          <p:cNvGrpSpPr>
            <a:grpSpLocks/>
          </p:cNvGrpSpPr>
          <p:nvPr/>
        </p:nvGrpSpPr>
        <p:grpSpPr bwMode="auto">
          <a:xfrm>
            <a:off x="457200" y="4437110"/>
            <a:ext cx="8199884" cy="1475027"/>
            <a:chOff x="548" y="2296"/>
            <a:chExt cx="4032" cy="432"/>
          </a:xfrm>
        </p:grpSpPr>
        <p:sp>
          <p:nvSpPr>
            <p:cNvPr id="22535" name="AutoShape 4"/>
            <p:cNvSpPr>
              <a:spLocks noChangeArrowheads="1"/>
            </p:cNvSpPr>
            <p:nvPr/>
          </p:nvSpPr>
          <p:spPr bwMode="auto">
            <a:xfrm>
              <a:off x="5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byte</a:t>
              </a:r>
            </a:p>
          </p:txBody>
        </p:sp>
        <p:sp>
          <p:nvSpPr>
            <p:cNvPr id="22536" name="AutoShape 5"/>
            <p:cNvSpPr>
              <a:spLocks noChangeArrowheads="1"/>
            </p:cNvSpPr>
            <p:nvPr/>
          </p:nvSpPr>
          <p:spPr bwMode="auto">
            <a:xfrm>
              <a:off x="1268" y="253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char</a:t>
              </a:r>
            </a:p>
          </p:txBody>
        </p:sp>
        <p:sp>
          <p:nvSpPr>
            <p:cNvPr id="22537" name="AutoShape 6"/>
            <p:cNvSpPr>
              <a:spLocks noChangeArrowheads="1"/>
            </p:cNvSpPr>
            <p:nvPr/>
          </p:nvSpPr>
          <p:spPr bwMode="auto">
            <a:xfrm>
              <a:off x="126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short</a:t>
              </a:r>
            </a:p>
          </p:txBody>
        </p:sp>
        <p:sp>
          <p:nvSpPr>
            <p:cNvPr id="22538" name="AutoShape 7"/>
            <p:cNvSpPr>
              <a:spLocks noChangeArrowheads="1"/>
            </p:cNvSpPr>
            <p:nvPr/>
          </p:nvSpPr>
          <p:spPr bwMode="auto">
            <a:xfrm>
              <a:off x="198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int</a:t>
              </a:r>
            </a:p>
          </p:txBody>
        </p:sp>
        <p:sp>
          <p:nvSpPr>
            <p:cNvPr id="22539" name="AutoShape 8"/>
            <p:cNvSpPr>
              <a:spLocks noChangeArrowheads="1"/>
            </p:cNvSpPr>
            <p:nvPr/>
          </p:nvSpPr>
          <p:spPr bwMode="auto">
            <a:xfrm>
              <a:off x="270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long</a:t>
              </a:r>
            </a:p>
          </p:txBody>
        </p:sp>
        <p:sp>
          <p:nvSpPr>
            <p:cNvPr id="22540" name="AutoShape 9"/>
            <p:cNvSpPr>
              <a:spLocks noChangeArrowheads="1"/>
            </p:cNvSpPr>
            <p:nvPr/>
          </p:nvSpPr>
          <p:spPr bwMode="auto">
            <a:xfrm>
              <a:off x="342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float</a:t>
              </a:r>
            </a:p>
          </p:txBody>
        </p:sp>
        <p:sp>
          <p:nvSpPr>
            <p:cNvPr id="22541" name="AutoShape 10"/>
            <p:cNvSpPr>
              <a:spLocks noChangeArrowheads="1"/>
            </p:cNvSpPr>
            <p:nvPr/>
          </p:nvSpPr>
          <p:spPr bwMode="auto">
            <a:xfrm>
              <a:off x="4148" y="2296"/>
              <a:ext cx="432" cy="192"/>
            </a:xfrm>
            <a:prstGeom prst="flowChartProcess">
              <a:avLst/>
            </a:prstGeom>
            <a:solidFill>
              <a:srgbClr val="00CC99"/>
            </a:solidFill>
            <a:ln w="12600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lIns="90000" tIns="46800" rIns="90000" bIns="46800" anchor="ctr"/>
            <a:lstStyle>
              <a:lvl1pPr>
                <a:spcBef>
                  <a:spcPct val="20000"/>
                </a:spcBef>
                <a:buFont typeface="Wingdings" panose="05000000000000000000" pitchFamily="2" charset="2"/>
                <a:buChar char="Ø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32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•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8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Font typeface="Wingdings" panose="05000000000000000000" pitchFamily="2" charset="2"/>
                <a:buChar char="§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4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0" algn="l"/>
                  <a:tab pos="457200" algn="l"/>
                  <a:tab pos="914400" algn="l"/>
                  <a:tab pos="1371600" algn="l"/>
                  <a:tab pos="1828800" algn="l"/>
                  <a:tab pos="2286000" algn="l"/>
                  <a:tab pos="2743200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400" algn="l"/>
                  <a:tab pos="5943600" algn="l"/>
                  <a:tab pos="6400800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  <a:defRPr sz="2000">
                  <a:solidFill>
                    <a:srgbClr val="000080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de-DE" sz="2000">
                  <a:solidFill>
                    <a:srgbClr val="000000"/>
                  </a:solidFill>
                  <a:latin typeface="Arial" panose="020B0604020202020204" pitchFamily="34" charset="0"/>
                </a:rPr>
                <a:t>double</a:t>
              </a:r>
            </a:p>
          </p:txBody>
        </p:sp>
        <p:cxnSp>
          <p:nvCxnSpPr>
            <p:cNvPr id="22542" name="AutoShape 11"/>
            <p:cNvCxnSpPr>
              <a:cxnSpLocks noChangeShapeType="1"/>
              <a:stCxn id="22535" idx="3"/>
              <a:endCxn id="22537" idx="1"/>
            </p:cNvCxnSpPr>
            <p:nvPr/>
          </p:nvCxnSpPr>
          <p:spPr bwMode="auto">
            <a:xfrm>
              <a:off x="98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3" name="AutoShape 12"/>
            <p:cNvCxnSpPr>
              <a:cxnSpLocks noChangeShapeType="1"/>
            </p:cNvCxnSpPr>
            <p:nvPr/>
          </p:nvCxnSpPr>
          <p:spPr bwMode="auto">
            <a:xfrm>
              <a:off x="170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4" name="AutoShape 13"/>
            <p:cNvCxnSpPr>
              <a:cxnSpLocks noChangeShapeType="1"/>
            </p:cNvCxnSpPr>
            <p:nvPr/>
          </p:nvCxnSpPr>
          <p:spPr bwMode="auto">
            <a:xfrm>
              <a:off x="242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5" name="AutoShape 14"/>
            <p:cNvCxnSpPr>
              <a:cxnSpLocks noChangeShapeType="1"/>
            </p:cNvCxnSpPr>
            <p:nvPr/>
          </p:nvCxnSpPr>
          <p:spPr bwMode="auto">
            <a:xfrm>
              <a:off x="314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6" name="AutoShape 15"/>
            <p:cNvCxnSpPr>
              <a:cxnSpLocks noChangeShapeType="1"/>
            </p:cNvCxnSpPr>
            <p:nvPr/>
          </p:nvCxnSpPr>
          <p:spPr bwMode="auto">
            <a:xfrm>
              <a:off x="3860" y="2392"/>
              <a:ext cx="288" cy="1"/>
            </a:xfrm>
            <a:prstGeom prst="straightConnector1">
              <a:avLst/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2547" name="AutoShape 16"/>
            <p:cNvCxnSpPr>
              <a:cxnSpLocks noChangeShapeType="1"/>
              <a:stCxn id="22536" idx="3"/>
              <a:endCxn id="22538" idx="1"/>
            </p:cNvCxnSpPr>
            <p:nvPr/>
          </p:nvCxnSpPr>
          <p:spPr bwMode="auto">
            <a:xfrm flipV="1">
              <a:off x="1700" y="2392"/>
              <a:ext cx="288" cy="240"/>
            </a:xfrm>
            <a:prstGeom prst="bentConnector3">
              <a:avLst>
                <a:gd name="adj1" fmla="val 50000"/>
              </a:avLst>
            </a:prstGeom>
            <a:noFill/>
            <a:ln w="12600">
              <a:solidFill>
                <a:srgbClr val="000000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16844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Variablen - Beispiele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84576"/>
          </a:xfrm>
        </p:spPr>
        <p:txBody>
          <a:bodyPr/>
          <a:lstStyle/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Important text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errorCount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42;</a:t>
            </a:r>
          </a:p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isValid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true;</a:t>
            </a:r>
          </a:p>
          <a:p>
            <a:pPr marL="0" lvl="0" indent="0">
              <a:buNone/>
              <a:defRPr sz="1800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piValue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 3.141592653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AT" sz="1800" dirty="0" smtClean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  <a:p>
            <a:pPr marL="0" lvl="0" indent="0">
              <a:buNone/>
              <a:defRPr sz="1800"/>
            </a:pPr>
            <a:r>
              <a:rPr lang="de-AT" sz="18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Hansi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Hinterseer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lvl="0">
              <a:defRPr sz="1800"/>
            </a:pP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summand1 = 17;</a:t>
            </a: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summand2 = 42;</a:t>
            </a:r>
          </a:p>
          <a:p>
            <a:pPr marL="0" lvl="0" indent="0">
              <a:buNone/>
              <a:defRPr sz="1800"/>
            </a:pP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 = summand1 + summand2;</a:t>
            </a:r>
          </a:p>
          <a:p>
            <a:pPr marL="0" indent="0">
              <a:buNone/>
              <a:defRPr sz="1800"/>
            </a:pP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AT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Die 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Summe beträgt </a:t>
            </a:r>
            <a:r>
              <a:rPr lang="de-AT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  <a:defRPr sz="1800"/>
            </a:pPr>
            <a:endParaRPr lang="de-AT" sz="18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  <a:defRPr sz="1800"/>
            </a:pPr>
            <a:r>
              <a:rPr lang="de-AT" sz="18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18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  <a:b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AT" sz="18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AT" sz="18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de-AT" sz="18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+ 1;</a:t>
            </a: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lvl="0" indent="0">
              <a:buNone/>
              <a:defRPr sz="1800"/>
            </a:pPr>
            <a:endParaRPr lang="de-AT" sz="1800" dirty="0"/>
          </a:p>
          <a:p>
            <a:pPr lvl="0">
              <a:defRPr sz="1800"/>
            </a:pPr>
            <a:endParaRPr lang="de-AT" sz="1800" dirty="0">
              <a:latin typeface="Monaco"/>
              <a:ea typeface="Monaco"/>
              <a:cs typeface="Monaco"/>
              <a:sym typeface="Monaco"/>
            </a:endParaRPr>
          </a:p>
          <a:p>
            <a:pPr lvl="0">
              <a:defRPr sz="1800"/>
            </a:pPr>
            <a:endParaRPr lang="en-US" dirty="0"/>
          </a:p>
          <a:p>
            <a:endParaRPr lang="de-AT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3563888" y="1484784"/>
            <a:ext cx="2448272" cy="504056"/>
            <a:chOff x="5436096" y="2132856"/>
            <a:chExt cx="2448272" cy="504056"/>
          </a:xfrm>
        </p:grpSpPr>
        <p:sp>
          <p:nvSpPr>
            <p:cNvPr id="4" name="Ovale Legende 3"/>
            <p:cNvSpPr/>
            <p:nvPr/>
          </p:nvSpPr>
          <p:spPr>
            <a:xfrm>
              <a:off x="5436096" y="2132856"/>
              <a:ext cx="2448272" cy="504056"/>
            </a:xfrm>
            <a:prstGeom prst="wedgeEllipseCallou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5" name="Textfeld 4"/>
            <p:cNvSpPr txBox="1"/>
            <p:nvPr/>
          </p:nvSpPr>
          <p:spPr>
            <a:xfrm>
              <a:off x="5796136" y="2257127"/>
              <a:ext cx="19442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sz="1400" dirty="0">
                  <a:solidFill>
                    <a:schemeClr val="bg1"/>
                  </a:solidFill>
                </a:rPr>
                <a:t>Punkt oder Komma?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96496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Foliennummernplatzhalter 4"/>
          <p:cNvSpPr>
            <a:spLocks noGrp="1"/>
          </p:cNvSpPr>
          <p:nvPr>
            <p:ph type="sldNum" sz="quarter" idx="4294967295"/>
          </p:nvPr>
        </p:nvSpPr>
        <p:spPr>
          <a:xfrm>
            <a:off x="6773863" y="6380163"/>
            <a:ext cx="2195512" cy="34131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Wingdings" panose="05000000000000000000" pitchFamily="2" charset="2"/>
              <a:buChar char="Ø"/>
              <a:defRPr sz="3200">
                <a:solidFill>
                  <a:srgbClr val="000080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•"/>
              <a:defRPr sz="2800">
                <a:solidFill>
                  <a:srgbClr val="000080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Font typeface="Wingdings" panose="05000000000000000000" pitchFamily="2" charset="2"/>
              <a:buChar char="§"/>
              <a:defRPr sz="2400">
                <a:solidFill>
                  <a:srgbClr val="000080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0008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4A61D47-9B62-4C54-9F0F-F9D105DA4D4A}" type="slidenum">
              <a:rPr lang="de-DE" altLang="de-DE" sz="1400" smtClean="0">
                <a:solidFill>
                  <a:schemeClr val="bg1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de-DE" altLang="de-DE" sz="1400">
              <a:solidFill>
                <a:schemeClr val="bg1"/>
              </a:solidFill>
            </a:endParaRPr>
          </a:p>
        </p:txBody>
      </p:sp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Bezeichner – Namen von Variablen </a:t>
            </a:r>
          </a:p>
        </p:txBody>
      </p:sp>
      <p:sp>
        <p:nvSpPr>
          <p:cNvPr id="1536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68414"/>
            <a:ext cx="8229600" cy="4857750"/>
          </a:xfrm>
        </p:spPr>
        <p:txBody>
          <a:bodyPr/>
          <a:lstStyle/>
          <a:p>
            <a:pPr eaLnBrk="1" hangingPunct="1"/>
            <a:r>
              <a:rPr lang="de-DE" altLang="de-DE" sz="2400" dirty="0"/>
              <a:t>Kombination aus Zeichen, Ziffern, _, @</a:t>
            </a:r>
          </a:p>
          <a:p>
            <a:pPr eaLnBrk="1" hangingPunct="1"/>
            <a:r>
              <a:rPr lang="de-DE" altLang="de-DE" sz="2400" dirty="0"/>
              <a:t>Case-sensitiv</a:t>
            </a:r>
          </a:p>
          <a:p>
            <a:pPr eaLnBrk="1" hangingPunct="1"/>
            <a:r>
              <a:rPr lang="de-DE" altLang="de-DE" sz="2400" dirty="0"/>
              <a:t>Schlüsselwörter dürfen nicht verwendet werden</a:t>
            </a:r>
          </a:p>
          <a:p>
            <a:pPr lvl="1" eaLnBrk="1" hangingPunct="1"/>
            <a:r>
              <a:rPr lang="de-DE" altLang="de-DE" sz="2100" dirty="0"/>
              <a:t>Siehe </a:t>
            </a:r>
            <a:r>
              <a:rPr lang="de-DE" altLang="de-DE" sz="2100" dirty="0">
                <a:hlinkClick r:id="rId2"/>
              </a:rPr>
              <a:t>https://msdn.microsoft.com/de-de/library/x53a06bb%28v=vs.120%29.aspx</a:t>
            </a:r>
            <a:endParaRPr lang="de-DE" altLang="de-DE" sz="2100" dirty="0"/>
          </a:p>
          <a:p>
            <a:pPr eaLnBrk="1" hangingPunct="1"/>
            <a:r>
              <a:rPr lang="de-DE" altLang="de-DE" sz="2400" dirty="0"/>
              <a:t>Richtlinien für die Namenswahl:</a:t>
            </a:r>
          </a:p>
          <a:p>
            <a:pPr lvl="1" eaLnBrk="1" hangingPunct="1"/>
            <a:r>
              <a:rPr lang="de-DE" altLang="de-DE" sz="2000" dirty="0"/>
              <a:t>Sprechende Bezeichner verwenden – der Name beschreibt, was in der Variablen gespeichert ist!</a:t>
            </a:r>
          </a:p>
          <a:p>
            <a:pPr lvl="1" eaLnBrk="1" hangingPunct="1"/>
            <a:r>
              <a:rPr lang="de-DE" altLang="de-DE" sz="2000" dirty="0"/>
              <a:t>Nur englische Namen verwenden</a:t>
            </a:r>
          </a:p>
          <a:p>
            <a:pPr lvl="1" eaLnBrk="1" hangingPunct="1"/>
            <a:r>
              <a:rPr lang="de-DE" altLang="de-DE" sz="2100" dirty="0"/>
              <a:t>„</a:t>
            </a:r>
            <a:r>
              <a:rPr lang="de-DE" altLang="de-DE" sz="2100" dirty="0" err="1"/>
              <a:t>CamelCase</a:t>
            </a:r>
            <a:r>
              <a:rPr lang="de-DE" altLang="de-DE" sz="2100" dirty="0"/>
              <a:t>“</a:t>
            </a:r>
          </a:p>
          <a:p>
            <a:pPr lvl="2" eaLnBrk="1" hangingPunct="1"/>
            <a:r>
              <a:rPr lang="de-DE" altLang="de-DE" sz="1800" dirty="0"/>
              <a:t>Beginnen mit kleinem Anfangsbuchstaben</a:t>
            </a:r>
          </a:p>
          <a:p>
            <a:pPr lvl="2" eaLnBrk="1" hangingPunct="1"/>
            <a:r>
              <a:rPr lang="de-DE" altLang="de-DE" sz="1800" dirty="0"/>
              <a:t>Jedes innere Teilwort groß beginnen</a:t>
            </a:r>
          </a:p>
          <a:p>
            <a:pPr lvl="2" eaLnBrk="1" hangingPunct="1"/>
            <a:r>
              <a:rPr lang="de-DE" altLang="de-DE" sz="1800" dirty="0" err="1"/>
              <a:t>Bsp</a:t>
            </a:r>
            <a:r>
              <a:rPr lang="de-DE" altLang="de-DE" sz="1800" dirty="0"/>
              <a:t>: </a:t>
            </a:r>
            <a:r>
              <a:rPr lang="de-DE" altLang="de-DE" sz="18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myVariableInCamelCaseNotation</a:t>
            </a:r>
            <a:endParaRPr lang="de-DE" altLang="de-DE" sz="1800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  <a:p>
            <a:pPr eaLnBrk="1" hangingPunct="1"/>
            <a:endParaRPr lang="de-DE" altLang="de-DE" sz="2800" dirty="0"/>
          </a:p>
        </p:txBody>
      </p:sp>
      <p:pic>
        <p:nvPicPr>
          <p:cNvPr id="1030" name="Picture 6" descr="http://duden.de/_media_/full/K/Kamel-201100285794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95291" y="4653136"/>
            <a:ext cx="1521817" cy="1353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4539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Konstanten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07901"/>
            <a:ext cx="8229600" cy="4929411"/>
          </a:xfrm>
        </p:spPr>
        <p:txBody>
          <a:bodyPr/>
          <a:lstStyle/>
          <a:p>
            <a:r>
              <a:rPr lang="de-AT" sz="2400" dirty="0"/>
              <a:t>Schlüsselwort: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endParaRPr lang="de-AT" sz="2400" b="1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sz="2400" dirty="0"/>
              <a:t>Verwendung:</a:t>
            </a:r>
          </a:p>
          <a:p>
            <a:pPr lvl="1"/>
            <a:r>
              <a:rPr lang="de-AT" sz="2400" dirty="0"/>
              <a:t>Fixe Werte, die sich während des Programmablaufs nie ändern, und im Programm mehrmals benötigt werden.</a:t>
            </a:r>
          </a:p>
          <a:p>
            <a:r>
              <a:rPr lang="de-AT" sz="2400" dirty="0"/>
              <a:t>Richtlinien:</a:t>
            </a:r>
          </a:p>
          <a:p>
            <a:pPr lvl="1"/>
            <a:r>
              <a:rPr lang="de-AT" sz="2400" dirty="0"/>
              <a:t>Immer groß schreiben</a:t>
            </a:r>
          </a:p>
          <a:p>
            <a:pPr lvl="1"/>
            <a:r>
              <a:rPr lang="de-AT" sz="2400" dirty="0"/>
              <a:t>Am Beginn des Programmcodes sammeln</a:t>
            </a:r>
          </a:p>
          <a:p>
            <a:r>
              <a:rPr lang="de-AT" sz="2400" dirty="0"/>
              <a:t>Beispiele: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GROWN_UP_AGE = 19;</a:t>
            </a:r>
          </a:p>
          <a:p>
            <a:pPr marL="541337" lvl="1" indent="0">
              <a:buNone/>
            </a:pP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AT" sz="24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TAX_RATE = 20.0;</a:t>
            </a:r>
          </a:p>
        </p:txBody>
      </p:sp>
    </p:spTree>
    <p:extLst>
      <p:ext uri="{BB962C8B-B14F-4D97-AF65-F5344CB8AC3E}">
        <p14:creationId xmlns:p14="http://schemas.microsoft.com/office/powerpoint/2010/main" val="4217222768"/>
      </p:ext>
    </p:extLst>
  </p:cSld>
  <p:clrMapOvr>
    <a:masterClrMapping/>
  </p:clrMapOvr>
</p:sld>
</file>

<file path=ppt/theme/theme1.xml><?xml version="1.0" encoding="utf-8"?>
<a:theme xmlns:a="http://schemas.openxmlformats.org/drawingml/2006/main" name="1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5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6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466</Words>
  <Application>Microsoft Office PowerPoint</Application>
  <PresentationFormat>Bildschirmpräsentation (4:3)</PresentationFormat>
  <Paragraphs>204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13</vt:i4>
      </vt:variant>
    </vt:vector>
  </HeadingPairs>
  <TitlesOfParts>
    <vt:vector size="25" baseType="lpstr">
      <vt:lpstr>Arial</vt:lpstr>
      <vt:lpstr>Calibri</vt:lpstr>
      <vt:lpstr>Courier New</vt:lpstr>
      <vt:lpstr>Monaco</vt:lpstr>
      <vt:lpstr>Symbol</vt:lpstr>
      <vt:lpstr>Times New Roman</vt:lpstr>
      <vt:lpstr>Wingdings</vt:lpstr>
      <vt:lpstr>1_Larissa</vt:lpstr>
      <vt:lpstr>2_Larissa</vt:lpstr>
      <vt:lpstr>5_Larissa</vt:lpstr>
      <vt:lpstr>6_Larissa</vt:lpstr>
      <vt:lpstr>4_Larissa</vt:lpstr>
      <vt:lpstr>Variablen - Motivation </vt:lpstr>
      <vt:lpstr>Variablen </vt:lpstr>
      <vt:lpstr>Deklaration</vt:lpstr>
      <vt:lpstr>Deklaration mit Initialisierung</vt:lpstr>
      <vt:lpstr>Datentypen - Übersicht</vt:lpstr>
      <vt:lpstr>Einfache Datentypen in C#</vt:lpstr>
      <vt:lpstr>Verwendung (Evaluation)</vt:lpstr>
      <vt:lpstr>Zuweisung (Assignment)</vt:lpstr>
      <vt:lpstr>Zuweisungsoperator</vt:lpstr>
      <vt:lpstr>Zuweisungsoperator</vt:lpstr>
      <vt:lpstr>Variablen - Beispiele</vt:lpstr>
      <vt:lpstr>Bezeichner – Namen von Variablen </vt:lpstr>
      <vt:lpstr>Konstanten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748</cp:revision>
  <cp:lastPrinted>2014-09-10T13:20:02Z</cp:lastPrinted>
  <dcterms:created xsi:type="dcterms:W3CDTF">2011-08-18T07:37:01Z</dcterms:created>
  <dcterms:modified xsi:type="dcterms:W3CDTF">2021-09-22T15:19:56Z</dcterms:modified>
</cp:coreProperties>
</file>