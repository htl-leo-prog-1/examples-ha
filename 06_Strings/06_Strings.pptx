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3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57" r:id="rId3"/>
    <p:sldId id="258" r:id="rId4"/>
    <p:sldId id="259" r:id="rId5"/>
    <p:sldId id="267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8" r:id="rId14"/>
    <p:sldId id="260" r:id="rId15"/>
    <p:sldId id="269" r:id="rId16"/>
    <p:sldId id="262" r:id="rId17"/>
    <p:sldId id="265" r:id="rId18"/>
  </p:sldIdLst>
  <p:sldSz cx="9144000" cy="6858000" type="screen4x3"/>
  <p:notesSz cx="6724650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5050"/>
    <a:srgbClr val="FFFFCC"/>
    <a:srgbClr val="FF9999"/>
    <a:srgbClr val="DDDDDD"/>
    <a:srgbClr val="FF0000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433" autoAdjust="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1854" y="-84"/>
      </p:cViewPr>
      <p:guideLst>
        <p:guide orient="horz" pos="3126"/>
        <p:guide pos="2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3" Type="http://schemas.openxmlformats.org/officeDocument/2006/relationships/slide" Target="slides/slide3.xml"/><Relationship Id="rId7" Type="http://schemas.openxmlformats.org/officeDocument/2006/relationships/slide" Target="slides/slide14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3.xml"/><Relationship Id="rId5" Type="http://schemas.openxmlformats.org/officeDocument/2006/relationships/slide" Target="slides/slide12.xml"/><Relationship Id="rId4" Type="http://schemas.openxmlformats.org/officeDocument/2006/relationships/slide" Target="slides/slide4.xml"/><Relationship Id="rId9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2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92538" y="0"/>
            <a:ext cx="29591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1975"/>
            <a:ext cx="2882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Überblick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92538" y="9451975"/>
            <a:ext cx="2959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7149545-2F8A-43A6-8C23-8F4A3FEBA1B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58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2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92538" y="0"/>
            <a:ext cx="29591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68350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9638" y="4687888"/>
            <a:ext cx="49307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51975"/>
            <a:ext cx="2882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Überblick</a:t>
            </a: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2538" y="9451975"/>
            <a:ext cx="2959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0B9B8EA-5A08-4DD3-8A40-A5434941CF8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625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Überblick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B9B8EA-5A08-4DD3-8A40-A5434941CF8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1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3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Rechteck 4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6" name="Grafik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347653" y="1758156"/>
            <a:ext cx="8134548" cy="914400"/>
          </a:xfrm>
          <a:prstGeom prst="rect">
            <a:avLst/>
          </a:prstGeom>
        </p:spPr>
        <p:txBody>
          <a:bodyPr/>
          <a:lstStyle>
            <a:lvl1pPr>
              <a:defRPr lang="de-DE" sz="3800" b="1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01467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56937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64228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85128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7025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16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25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76FED-246E-4FB4-BD58-27A137334D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91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2495A-A55D-42F7-9659-05D820528A9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06718-6FF1-4222-98DF-B1AB4EC8C50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6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67B03-3676-41DA-97C2-989A5805118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368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FDE0E-3642-4E7B-B12E-A94A352C80B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519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83BB8-20F9-4F72-B849-37880A376A7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438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1C2D2-63B8-429B-99EF-0123A6E75CF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0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4DDEC-A269-407D-9F6E-583B4A02834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240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33FE6-C82B-48B7-9A32-9DEDE8977C9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7093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EC9DD-6A01-4273-91A2-5FD8D115A37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48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DF70E-9FC2-4203-898C-64EEED393B2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424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de-AT" sz="3200" smtClean="0">
              <a:solidFill>
                <a:schemeClr val="tx2"/>
              </a:solidFill>
              <a:cs typeface="Times New Roman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3417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30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032" name="Rectangle 10"/>
          <p:cNvSpPr>
            <a:spLocks noChangeArrowheads="1"/>
          </p:cNvSpPr>
          <p:nvPr userDrawn="1"/>
        </p:nvSpPr>
        <p:spPr bwMode="gray">
          <a:xfrm>
            <a:off x="349250" y="6381327"/>
            <a:ext cx="2134518" cy="227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de-DE" sz="9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charset="0"/>
              </a:rPr>
              <a:t>I_POS 2015/16 </a:t>
            </a:r>
            <a:r>
              <a:rPr lang="de-DE" sz="9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charset="0"/>
                <a:sym typeface="Wingdings" pitchFamily="2" charset="2"/>
              </a:rPr>
              <a:t> Strings  </a:t>
            </a:r>
            <a:r>
              <a:rPr lang="de-DE" sz="9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charset="0"/>
              </a:rPr>
              <a:t>Seite </a:t>
            </a:r>
            <a:fld id="{C5A4FFB9-E613-43CD-964A-AE1E9E6225EE}" type="slidenum">
              <a:rPr lang="de-DE" sz="9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charset="0"/>
              </a:rPr>
              <a:pPr/>
              <a:t>‹Nr.›</a:t>
            </a:fld>
            <a:endParaRPr lang="de-DE" sz="900" dirty="0" smtClean="0">
              <a:solidFill>
                <a:srgbClr val="7F7F7F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2056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de-AT" smtClean="0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>
                  <a:latin typeface="Times New Roman" charset="0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de-AT" smtClean="0"/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de-AT" smtClean="0"/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de-AT" smtClean="0"/>
            </a:p>
          </p:txBody>
        </p:sp>
      </p:grp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BD9AF5-8819-4400-A7C7-05E66024415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unicode.org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unicode-table.com/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de-de/library/system.string_methods(v=vs.110).aspx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dirty="0" smtClean="0"/>
              <a:t>Datentyp String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46125" y="1433513"/>
            <a:ext cx="1144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>
                <a:latin typeface="+mn-lt"/>
              </a:rPr>
              <a:t> a, b;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878138" y="1447800"/>
            <a:ext cx="31021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Bibliothekstyp für Zeichenarrays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762000" y="1935160"/>
            <a:ext cx="6673851" cy="352424"/>
            <a:chOff x="480" y="1219"/>
            <a:chExt cx="4204" cy="222"/>
          </a:xfrm>
        </p:grpSpPr>
        <p:sp>
          <p:nvSpPr>
            <p:cNvPr id="8222" name="Text Box 5"/>
            <p:cNvSpPr txBox="1">
              <a:spLocks noChangeArrowheads="1"/>
            </p:cNvSpPr>
            <p:nvPr/>
          </p:nvSpPr>
          <p:spPr bwMode="auto">
            <a:xfrm>
              <a:off x="480" y="1219"/>
              <a:ext cx="75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>
                  <a:latin typeface="+mn-lt"/>
                </a:rPr>
                <a:t>a = </a:t>
              </a:r>
              <a:r>
                <a:rPr lang="de-AT" altLang="de-DE">
                  <a:solidFill>
                    <a:schemeClr val="accent2"/>
                  </a:solidFill>
                  <a:latin typeface="+mn-lt"/>
                </a:rPr>
                <a:t>"Hello"</a:t>
              </a:r>
              <a:r>
                <a:rPr lang="de-AT" altLang="de-DE">
                  <a:latin typeface="+mn-lt"/>
                </a:rPr>
                <a:t>;</a:t>
              </a:r>
            </a:p>
          </p:txBody>
        </p:sp>
        <p:sp>
          <p:nvSpPr>
            <p:cNvPr id="8223" name="Text Box 6"/>
            <p:cNvSpPr txBox="1">
              <a:spLocks noChangeArrowheads="1"/>
            </p:cNvSpPr>
            <p:nvPr/>
          </p:nvSpPr>
          <p:spPr bwMode="auto">
            <a:xfrm>
              <a:off x="1823" y="1228"/>
              <a:ext cx="28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>
                  <a:latin typeface="+mn-lt"/>
                </a:rPr>
                <a:t>Stringkonstante (unter doppelten Hochkommas)</a:t>
              </a:r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762000" y="2436813"/>
            <a:ext cx="6350001" cy="1930400"/>
            <a:chOff x="480" y="1535"/>
            <a:chExt cx="4000" cy="1216"/>
          </a:xfrm>
        </p:grpSpPr>
        <p:sp>
          <p:nvSpPr>
            <p:cNvPr id="8212" name="Text Box 7"/>
            <p:cNvSpPr txBox="1">
              <a:spLocks noChangeArrowheads="1"/>
            </p:cNvSpPr>
            <p:nvPr/>
          </p:nvSpPr>
          <p:spPr bwMode="auto">
            <a:xfrm>
              <a:off x="480" y="1535"/>
              <a:ext cx="44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>
                  <a:latin typeface="+mn-lt"/>
                </a:rPr>
                <a:t>b = a</a:t>
              </a:r>
              <a:r>
                <a:rPr lang="de-AT" altLang="de-DE" dirty="0"/>
                <a:t>;</a:t>
              </a:r>
            </a:p>
          </p:txBody>
        </p:sp>
        <p:sp>
          <p:nvSpPr>
            <p:cNvPr id="8213" name="Text Box 8"/>
            <p:cNvSpPr txBox="1">
              <a:spLocks noChangeArrowheads="1"/>
            </p:cNvSpPr>
            <p:nvPr/>
          </p:nvSpPr>
          <p:spPr bwMode="auto">
            <a:xfrm>
              <a:off x="1823" y="2072"/>
              <a:ext cx="2657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>
                  <a:latin typeface="+mn-lt"/>
                </a:rPr>
                <a:t>Stringvariablen sind </a:t>
              </a:r>
              <a:r>
                <a:rPr lang="de-AT" altLang="de-DE" u="sng" dirty="0">
                  <a:latin typeface="+mn-lt"/>
                </a:rPr>
                <a:t>Zeiger</a:t>
              </a:r>
              <a:r>
                <a:rPr lang="de-AT" altLang="de-DE" dirty="0">
                  <a:latin typeface="+mn-lt"/>
                </a:rPr>
                <a:t> auf </a:t>
              </a:r>
              <a:r>
                <a:rPr lang="de-AT" altLang="de-DE" dirty="0" err="1">
                  <a:latin typeface="+mn-lt"/>
                </a:rPr>
                <a:t>Stringobjekte</a:t>
              </a:r>
              <a:endParaRPr lang="de-AT" altLang="de-DE" dirty="0">
                <a:latin typeface="+mn-lt"/>
              </a:endParaRPr>
            </a:p>
            <a:p>
              <a:r>
                <a:rPr lang="de-AT" altLang="de-DE" dirty="0" err="1">
                  <a:latin typeface="+mn-lt"/>
                </a:rPr>
                <a:t>Stringzuweisung</a:t>
              </a:r>
              <a:r>
                <a:rPr lang="de-AT" altLang="de-DE" dirty="0">
                  <a:latin typeface="+mn-lt"/>
                </a:rPr>
                <a:t> ist eine </a:t>
              </a:r>
              <a:r>
                <a:rPr lang="de-AT" altLang="de-DE" u="sng" dirty="0">
                  <a:latin typeface="+mn-lt"/>
                </a:rPr>
                <a:t>Zeigerzuweisung</a:t>
              </a:r>
            </a:p>
            <a:p>
              <a:r>
                <a:rPr lang="de-AT" altLang="de-DE" dirty="0" err="1">
                  <a:latin typeface="+mn-lt"/>
                </a:rPr>
                <a:t>Stringobjekte</a:t>
              </a:r>
              <a:r>
                <a:rPr lang="de-AT" altLang="de-DE" dirty="0">
                  <a:latin typeface="+mn-lt"/>
                </a:rPr>
                <a:t> sind </a:t>
              </a:r>
              <a:r>
                <a:rPr lang="de-AT" altLang="de-DE" u="sng" dirty="0">
                  <a:latin typeface="+mn-lt"/>
                </a:rPr>
                <a:t>nicht veränderbar:</a:t>
              </a:r>
            </a:p>
            <a:p>
              <a:r>
                <a:rPr lang="de-AT" altLang="de-DE" dirty="0">
                  <a:latin typeface="+mn-lt"/>
                </a:rPr>
                <a:t>	</a:t>
              </a:r>
              <a:r>
                <a:rPr lang="de-AT" altLang="de-DE" dirty="0">
                  <a:solidFill>
                    <a:srgbClr val="FF0000"/>
                  </a:solidFill>
                  <a:latin typeface="+mn-lt"/>
                </a:rPr>
                <a:t>nicht erlaubt: a[4]=´5´; </a:t>
              </a:r>
            </a:p>
          </p:txBody>
        </p:sp>
        <p:sp>
          <p:nvSpPr>
            <p:cNvPr id="8214" name="Rectangle 9"/>
            <p:cNvSpPr>
              <a:spLocks noChangeArrowheads="1"/>
            </p:cNvSpPr>
            <p:nvPr/>
          </p:nvSpPr>
          <p:spPr bwMode="auto">
            <a:xfrm>
              <a:off x="2475" y="1612"/>
              <a:ext cx="480" cy="19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15" name="Text Box 10"/>
            <p:cNvSpPr txBox="1">
              <a:spLocks noChangeArrowheads="1"/>
            </p:cNvSpPr>
            <p:nvPr/>
          </p:nvSpPr>
          <p:spPr bwMode="auto">
            <a:xfrm>
              <a:off x="2475" y="1612"/>
              <a:ext cx="5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 err="1">
                  <a:latin typeface="Courier New" panose="02070309020205020404" pitchFamily="49" charset="0"/>
                </a:rPr>
                <a:t>Hello</a:t>
              </a:r>
              <a:endParaRPr lang="de-AT" altLang="de-DE" dirty="0">
                <a:latin typeface="Courier New" panose="02070309020205020404" pitchFamily="49" charset="0"/>
              </a:endParaRPr>
            </a:p>
          </p:txBody>
        </p:sp>
        <p:sp>
          <p:nvSpPr>
            <p:cNvPr id="8216" name="Rectangle 11"/>
            <p:cNvSpPr>
              <a:spLocks noChangeArrowheads="1"/>
            </p:cNvSpPr>
            <p:nvPr/>
          </p:nvSpPr>
          <p:spPr bwMode="auto">
            <a:xfrm>
              <a:off x="1995" y="1612"/>
              <a:ext cx="144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17" name="Rectangle 12"/>
            <p:cNvSpPr>
              <a:spLocks noChangeArrowheads="1"/>
            </p:cNvSpPr>
            <p:nvPr/>
          </p:nvSpPr>
          <p:spPr bwMode="auto">
            <a:xfrm>
              <a:off x="1995" y="1804"/>
              <a:ext cx="144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18" name="Line 13"/>
            <p:cNvSpPr>
              <a:spLocks noChangeShapeType="1"/>
            </p:cNvSpPr>
            <p:nvPr/>
          </p:nvSpPr>
          <p:spPr bwMode="auto">
            <a:xfrm>
              <a:off x="2091" y="1660"/>
              <a:ext cx="38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8219" name="Line 14"/>
            <p:cNvSpPr>
              <a:spLocks noChangeShapeType="1"/>
            </p:cNvSpPr>
            <p:nvPr/>
          </p:nvSpPr>
          <p:spPr bwMode="auto">
            <a:xfrm flipV="1">
              <a:off x="2091" y="1708"/>
              <a:ext cx="384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8220" name="Text Box 15"/>
            <p:cNvSpPr txBox="1">
              <a:spLocks noChangeArrowheads="1"/>
            </p:cNvSpPr>
            <p:nvPr/>
          </p:nvSpPr>
          <p:spPr bwMode="auto">
            <a:xfrm>
              <a:off x="1824" y="1564"/>
              <a:ext cx="1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a</a:t>
              </a:r>
            </a:p>
          </p:txBody>
        </p:sp>
        <p:sp>
          <p:nvSpPr>
            <p:cNvPr id="8221" name="Text Box 16"/>
            <p:cNvSpPr txBox="1">
              <a:spLocks noChangeArrowheads="1"/>
            </p:cNvSpPr>
            <p:nvPr/>
          </p:nvSpPr>
          <p:spPr bwMode="auto">
            <a:xfrm>
              <a:off x="1824" y="175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b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762000" y="4525960"/>
            <a:ext cx="6507163" cy="1589086"/>
            <a:chOff x="480" y="2851"/>
            <a:chExt cx="4099" cy="1001"/>
          </a:xfrm>
        </p:grpSpPr>
        <p:sp>
          <p:nvSpPr>
            <p:cNvPr id="8200" name="Text Box 17"/>
            <p:cNvSpPr txBox="1">
              <a:spLocks noChangeArrowheads="1"/>
            </p:cNvSpPr>
            <p:nvPr/>
          </p:nvSpPr>
          <p:spPr bwMode="auto">
            <a:xfrm>
              <a:off x="480" y="2851"/>
              <a:ext cx="105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>
                  <a:latin typeface="+mn-lt"/>
                </a:rPr>
                <a:t>b = a </a:t>
              </a:r>
              <a:r>
                <a:rPr lang="de-AT" altLang="de-DE" dirty="0">
                  <a:solidFill>
                    <a:srgbClr val="FF0000"/>
                  </a:solidFill>
                  <a:latin typeface="+mn-lt"/>
                </a:rPr>
                <a:t>+</a:t>
              </a:r>
              <a:r>
                <a:rPr lang="de-AT" altLang="de-DE" dirty="0">
                  <a:latin typeface="+mn-lt"/>
                </a:rPr>
                <a:t> " World";</a:t>
              </a:r>
            </a:p>
          </p:txBody>
        </p:sp>
        <p:sp>
          <p:nvSpPr>
            <p:cNvPr id="8201" name="Text Box 18"/>
            <p:cNvSpPr txBox="1">
              <a:spLocks noChangeArrowheads="1"/>
            </p:cNvSpPr>
            <p:nvPr/>
          </p:nvSpPr>
          <p:spPr bwMode="auto">
            <a:xfrm>
              <a:off x="1823" y="3484"/>
              <a:ext cx="275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>
                  <a:latin typeface="+mn-lt"/>
                </a:rPr>
                <a:t>Verkettung mit "+" erzeugt neues </a:t>
              </a:r>
              <a:r>
                <a:rPr lang="de-AT" altLang="de-DE" dirty="0" err="1">
                  <a:latin typeface="+mn-lt"/>
                </a:rPr>
                <a:t>Stringobjekt</a:t>
              </a:r>
              <a:r>
                <a:rPr lang="de-AT" altLang="de-DE" dirty="0">
                  <a:latin typeface="+mn-lt"/>
                </a:rPr>
                <a:t> </a:t>
              </a:r>
              <a:endParaRPr lang="de-AT" altLang="de-DE" dirty="0" smtClean="0">
                <a:latin typeface="+mn-lt"/>
              </a:endParaRPr>
            </a:p>
            <a:p>
              <a:r>
                <a:rPr lang="de-AT" altLang="de-DE" dirty="0" smtClean="0">
                  <a:latin typeface="+mn-lt"/>
                </a:rPr>
                <a:t>(</a:t>
              </a:r>
              <a:r>
                <a:rPr lang="de-AT" altLang="de-DE" dirty="0">
                  <a:latin typeface="+mn-lt"/>
                </a:rPr>
                <a:t>relativ teure Operation)</a:t>
              </a:r>
              <a:endParaRPr lang="de-AT" altLang="de-DE" u="sng" dirty="0">
                <a:latin typeface="+mn-lt"/>
              </a:endParaRPr>
            </a:p>
          </p:txBody>
        </p:sp>
        <p:sp>
          <p:nvSpPr>
            <p:cNvPr id="8202" name="Rectangle 19"/>
            <p:cNvSpPr>
              <a:spLocks noChangeArrowheads="1"/>
            </p:cNvSpPr>
            <p:nvPr/>
          </p:nvSpPr>
          <p:spPr bwMode="auto">
            <a:xfrm>
              <a:off x="2475" y="2928"/>
              <a:ext cx="480" cy="19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03" name="Text Box 20"/>
            <p:cNvSpPr txBox="1">
              <a:spLocks noChangeArrowheads="1"/>
            </p:cNvSpPr>
            <p:nvPr/>
          </p:nvSpPr>
          <p:spPr bwMode="auto">
            <a:xfrm>
              <a:off x="2475" y="2928"/>
              <a:ext cx="5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8204" name="Rectangle 21"/>
            <p:cNvSpPr>
              <a:spLocks noChangeArrowheads="1"/>
            </p:cNvSpPr>
            <p:nvPr/>
          </p:nvSpPr>
          <p:spPr bwMode="auto">
            <a:xfrm>
              <a:off x="1995" y="2928"/>
              <a:ext cx="144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05" name="Rectangle 22"/>
            <p:cNvSpPr>
              <a:spLocks noChangeArrowheads="1"/>
            </p:cNvSpPr>
            <p:nvPr/>
          </p:nvSpPr>
          <p:spPr bwMode="auto">
            <a:xfrm>
              <a:off x="1995" y="3171"/>
              <a:ext cx="144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06" name="Line 23"/>
            <p:cNvSpPr>
              <a:spLocks noChangeShapeType="1"/>
            </p:cNvSpPr>
            <p:nvPr/>
          </p:nvSpPr>
          <p:spPr bwMode="auto">
            <a:xfrm>
              <a:off x="2091" y="2976"/>
              <a:ext cx="38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8207" name="Text Box 24"/>
            <p:cNvSpPr txBox="1">
              <a:spLocks noChangeArrowheads="1"/>
            </p:cNvSpPr>
            <p:nvPr/>
          </p:nvSpPr>
          <p:spPr bwMode="auto">
            <a:xfrm>
              <a:off x="1824" y="2880"/>
              <a:ext cx="1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a</a:t>
              </a:r>
            </a:p>
          </p:txBody>
        </p:sp>
        <p:sp>
          <p:nvSpPr>
            <p:cNvPr id="8208" name="Text Box 25"/>
            <p:cNvSpPr txBox="1">
              <a:spLocks noChangeArrowheads="1"/>
            </p:cNvSpPr>
            <p:nvPr/>
          </p:nvSpPr>
          <p:spPr bwMode="auto">
            <a:xfrm>
              <a:off x="1824" y="312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b</a:t>
              </a:r>
            </a:p>
          </p:txBody>
        </p:sp>
        <p:sp>
          <p:nvSpPr>
            <p:cNvPr id="8209" name="Rectangle 26"/>
            <p:cNvSpPr>
              <a:spLocks noChangeArrowheads="1"/>
            </p:cNvSpPr>
            <p:nvPr/>
          </p:nvSpPr>
          <p:spPr bwMode="auto">
            <a:xfrm>
              <a:off x="2478" y="3170"/>
              <a:ext cx="1008" cy="175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8210" name="Text Box 27"/>
            <p:cNvSpPr txBox="1">
              <a:spLocks noChangeArrowheads="1"/>
            </p:cNvSpPr>
            <p:nvPr/>
          </p:nvSpPr>
          <p:spPr bwMode="auto">
            <a:xfrm>
              <a:off x="2478" y="3153"/>
              <a:ext cx="10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>
                  <a:latin typeface="Courier New" panose="02070309020205020404" pitchFamily="49" charset="0"/>
                </a:rPr>
                <a:t>Hello World</a:t>
              </a:r>
            </a:p>
          </p:txBody>
        </p:sp>
        <p:sp>
          <p:nvSpPr>
            <p:cNvPr id="8211" name="Line 28"/>
            <p:cNvSpPr>
              <a:spLocks noChangeShapeType="1"/>
            </p:cNvSpPr>
            <p:nvPr/>
          </p:nvSpPr>
          <p:spPr bwMode="auto">
            <a:xfrm>
              <a:off x="2112" y="3219"/>
              <a:ext cx="35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/>
              <a:t>Stringvergleiche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92150" y="1433513"/>
            <a:ext cx="29610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string s = Console.ReadLine();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359150" y="1447800"/>
            <a:ext cx="2233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liest ein Wort, z.B. </a:t>
            </a:r>
            <a:r>
              <a:rPr lang="de-AT" altLang="de-DE" sz="1400" i="1">
                <a:solidFill>
                  <a:srgbClr val="009900"/>
                </a:solidFill>
                <a:latin typeface="+mn-lt"/>
              </a:rPr>
              <a:t>Hello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85800" y="1782763"/>
            <a:ext cx="17812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if</a:t>
            </a:r>
            <a:r>
              <a:rPr lang="de-AT" altLang="de-DE">
                <a:latin typeface="+mn-lt"/>
              </a:rPr>
              <a:t> (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s == "Hello"</a:t>
            </a:r>
            <a:r>
              <a:rPr lang="de-AT" altLang="de-DE">
                <a:latin typeface="+mn-lt"/>
              </a:rPr>
              <a:t>) ...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352800" y="1797050"/>
            <a:ext cx="54569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liefert true in C# (in Java kann String so nicht verglichen werden)</a:t>
            </a:r>
            <a:endParaRPr lang="de-AT" altLang="de-DE" sz="1400" i="1">
              <a:solidFill>
                <a:srgbClr val="009900"/>
              </a:solidFill>
              <a:latin typeface="+mn-lt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20713" y="4613275"/>
            <a:ext cx="7315200" cy="598488"/>
            <a:chOff x="432" y="2035"/>
            <a:chExt cx="4608" cy="377"/>
          </a:xfrm>
        </p:grpSpPr>
        <p:sp>
          <p:nvSpPr>
            <p:cNvPr id="9225" name="Text Box 17"/>
            <p:cNvSpPr txBox="1">
              <a:spLocks noChangeArrowheads="1"/>
            </p:cNvSpPr>
            <p:nvPr/>
          </p:nvSpPr>
          <p:spPr bwMode="auto">
            <a:xfrm>
              <a:off x="432" y="2035"/>
              <a:ext cx="141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>
                  <a:solidFill>
                    <a:schemeClr val="accent2"/>
                  </a:solidFill>
                  <a:latin typeface="+mn-lt"/>
                </a:rPr>
                <a:t>if</a:t>
              </a:r>
              <a:r>
                <a:rPr lang="de-AT" altLang="de-DE">
                  <a:latin typeface="+mn-lt"/>
                </a:rPr>
                <a:t> (</a:t>
              </a:r>
              <a:r>
                <a:rPr lang="de-AT" altLang="de-DE">
                  <a:solidFill>
                    <a:srgbClr val="FF0000"/>
                  </a:solidFill>
                  <a:latin typeface="+mn-lt"/>
                </a:rPr>
                <a:t>s.Equals("Hello")</a:t>
              </a:r>
              <a:r>
                <a:rPr lang="de-AT" altLang="de-DE">
                  <a:latin typeface="+mn-lt"/>
                </a:rPr>
                <a:t>) ...</a:t>
              </a:r>
            </a:p>
          </p:txBody>
        </p:sp>
        <p:sp>
          <p:nvSpPr>
            <p:cNvPr id="9226" name="Text Box 18"/>
            <p:cNvSpPr txBox="1">
              <a:spLocks noChangeArrowheads="1"/>
            </p:cNvSpPr>
            <p:nvPr/>
          </p:nvSpPr>
          <p:spPr bwMode="auto">
            <a:xfrm>
              <a:off x="2112" y="2044"/>
              <a:ext cx="292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 dirty="0">
                  <a:solidFill>
                    <a:srgbClr val="009900"/>
                  </a:solidFill>
                  <a:latin typeface="+mn-lt"/>
                </a:rPr>
                <a:t>// liefert </a:t>
              </a:r>
              <a:r>
                <a:rPr lang="de-AT" altLang="de-DE" dirty="0" err="1">
                  <a:solidFill>
                    <a:srgbClr val="009900"/>
                  </a:solidFill>
                  <a:latin typeface="+mn-lt"/>
                </a:rPr>
                <a:t>true</a:t>
              </a:r>
              <a:r>
                <a:rPr lang="de-AT" altLang="de-DE" dirty="0">
                  <a:solidFill>
                    <a:srgbClr val="009900"/>
                  </a:solidFill>
                  <a:latin typeface="+mn-lt"/>
                </a:rPr>
                <a:t>! (</a:t>
              </a:r>
              <a:r>
                <a:rPr lang="de-AT" altLang="de-DE" i="1" dirty="0">
                  <a:solidFill>
                    <a:srgbClr val="009900"/>
                  </a:solidFill>
                  <a:latin typeface="+mn-lt"/>
                </a:rPr>
                <a:t>Wertvergleich</a:t>
              </a:r>
              <a:r>
                <a:rPr lang="de-AT" altLang="de-DE" dirty="0">
                  <a:solidFill>
                    <a:srgbClr val="009900"/>
                  </a:solidFill>
                  <a:latin typeface="+mn-lt"/>
                </a:rPr>
                <a:t>) </a:t>
              </a:r>
            </a:p>
            <a:p>
              <a:r>
                <a:rPr lang="de-AT" altLang="de-DE" i="1" dirty="0">
                  <a:solidFill>
                    <a:srgbClr val="009900"/>
                  </a:solidFill>
                  <a:latin typeface="+mn-lt"/>
                </a:rPr>
                <a:t>// Diese Variante sollte immer verwendet werden!</a:t>
              </a:r>
            </a:p>
          </p:txBody>
        </p:sp>
      </p:grpSp>
      <p:sp>
        <p:nvSpPr>
          <p:cNvPr id="210966" name="Text Box 22"/>
          <p:cNvSpPr txBox="1">
            <a:spLocks noChangeArrowheads="1"/>
          </p:cNvSpPr>
          <p:nvPr/>
        </p:nvSpPr>
        <p:spPr bwMode="auto">
          <a:xfrm>
            <a:off x="620713" y="3717032"/>
            <a:ext cx="64782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2000" dirty="0">
                <a:latin typeface="+mn-lt"/>
              </a:rPr>
              <a:t>Weitere Möglichkeit zum </a:t>
            </a:r>
            <a:r>
              <a:rPr lang="de-AT" altLang="de-DE" sz="2000" dirty="0" err="1">
                <a:latin typeface="+mn-lt"/>
              </a:rPr>
              <a:t>Stringvergleich</a:t>
            </a:r>
            <a:r>
              <a:rPr lang="de-AT" altLang="de-DE" sz="2000" dirty="0">
                <a:latin typeface="+mn-lt"/>
              </a:rPr>
              <a:t> mittels </a:t>
            </a:r>
            <a:r>
              <a:rPr lang="de-AT" altLang="de-DE" sz="2000" dirty="0" err="1">
                <a:latin typeface="+mn-lt"/>
              </a:rPr>
              <a:t>Equals</a:t>
            </a:r>
            <a:r>
              <a:rPr lang="de-AT" altLang="de-DE" sz="2000" dirty="0">
                <a:latin typeface="+mn-lt"/>
              </a:rPr>
              <a:t> </a:t>
            </a:r>
            <a:endParaRPr lang="de-AT" altLang="de-DE" sz="2000" dirty="0" smtClean="0">
              <a:latin typeface="+mn-lt"/>
            </a:endParaRPr>
          </a:p>
          <a:p>
            <a:r>
              <a:rPr lang="de-AT" altLang="de-DE" sz="2000" dirty="0" smtClean="0">
                <a:latin typeface="+mn-lt"/>
              </a:rPr>
              <a:t>(</a:t>
            </a:r>
            <a:r>
              <a:rPr lang="de-AT" altLang="de-DE" sz="2000" dirty="0">
                <a:latin typeface="+mn-lt"/>
              </a:rPr>
              <a:t>in Java nur so möglich):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6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/>
              <a:t>Stringoperationen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746125" y="1281113"/>
            <a:ext cx="24016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>
                <a:latin typeface="+mn-lt"/>
              </a:rPr>
              <a:t> s = "a long string";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62000" y="1812925"/>
            <a:ext cx="18117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int</a:t>
            </a:r>
            <a:r>
              <a:rPr lang="de-AT" altLang="de-DE">
                <a:latin typeface="+mn-lt"/>
              </a:rPr>
              <a:t> len = s.Length;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279775" y="1812925"/>
            <a:ext cx="5622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Anzahl der Zeichen in </a:t>
            </a:r>
            <a:r>
              <a:rPr lang="de-AT" altLang="de-DE" sz="1400" i="1">
                <a:solidFill>
                  <a:srgbClr val="00B050"/>
                </a:solidFill>
                <a:latin typeface="+mn-lt"/>
              </a:rPr>
              <a:t>s (hier 13)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nach Length keine Klammern </a:t>
            </a:r>
            <a:r>
              <a:rPr lang="de-AT" altLang="de-DE" sz="140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 da Length eine Property ist (2.JG)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762000" y="2482850"/>
            <a:ext cx="1483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char</a:t>
            </a:r>
            <a:r>
              <a:rPr lang="de-AT" altLang="de-DE">
                <a:latin typeface="+mn-lt"/>
              </a:rPr>
              <a:t> ch = s[3];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279775" y="2482850"/>
            <a:ext cx="3403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das Zeichen mit Index 3 (hier 'o')</a:t>
            </a:r>
          </a:p>
        </p:txBody>
      </p:sp>
      <p:sp>
        <p:nvSpPr>
          <p:cNvPr id="10248" name="Rectangle 14"/>
          <p:cNvSpPr>
            <a:spLocks noChangeArrowheads="1"/>
          </p:cNvSpPr>
          <p:nvPr/>
        </p:nvSpPr>
        <p:spPr bwMode="auto">
          <a:xfrm>
            <a:off x="3581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49" name="Text Box 15"/>
          <p:cNvSpPr txBox="1">
            <a:spLocks noChangeArrowheads="1"/>
          </p:cNvSpPr>
          <p:nvPr/>
        </p:nvSpPr>
        <p:spPr bwMode="auto">
          <a:xfrm>
            <a:off x="35560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a</a:t>
            </a:r>
          </a:p>
        </p:txBody>
      </p:sp>
      <p:sp>
        <p:nvSpPr>
          <p:cNvPr id="10250" name="Text Box 16"/>
          <p:cNvSpPr txBox="1">
            <a:spLocks noChangeArrowheads="1"/>
          </p:cNvSpPr>
          <p:nvPr/>
        </p:nvSpPr>
        <p:spPr bwMode="auto">
          <a:xfrm>
            <a:off x="35560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0</a:t>
            </a:r>
          </a:p>
        </p:txBody>
      </p:sp>
      <p:sp>
        <p:nvSpPr>
          <p:cNvPr id="10251" name="Rectangle 17"/>
          <p:cNvSpPr>
            <a:spLocks noChangeArrowheads="1"/>
          </p:cNvSpPr>
          <p:nvPr/>
        </p:nvSpPr>
        <p:spPr bwMode="auto">
          <a:xfrm>
            <a:off x="3810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52" name="Text Box 18"/>
          <p:cNvSpPr txBox="1">
            <a:spLocks noChangeArrowheads="1"/>
          </p:cNvSpPr>
          <p:nvPr/>
        </p:nvSpPr>
        <p:spPr bwMode="auto">
          <a:xfrm>
            <a:off x="37846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</a:t>
            </a:r>
          </a:p>
        </p:txBody>
      </p:sp>
      <p:sp>
        <p:nvSpPr>
          <p:cNvPr id="10253" name="Rectangle 19"/>
          <p:cNvSpPr>
            <a:spLocks noChangeArrowheads="1"/>
          </p:cNvSpPr>
          <p:nvPr/>
        </p:nvSpPr>
        <p:spPr bwMode="auto">
          <a:xfrm>
            <a:off x="4038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54" name="Text Box 20"/>
          <p:cNvSpPr txBox="1">
            <a:spLocks noChangeArrowheads="1"/>
          </p:cNvSpPr>
          <p:nvPr/>
        </p:nvSpPr>
        <p:spPr bwMode="auto">
          <a:xfrm>
            <a:off x="4013200" y="129540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l</a:t>
            </a:r>
          </a:p>
        </p:txBody>
      </p:sp>
      <p:sp>
        <p:nvSpPr>
          <p:cNvPr id="10255" name="Text Box 21"/>
          <p:cNvSpPr txBox="1">
            <a:spLocks noChangeArrowheads="1"/>
          </p:cNvSpPr>
          <p:nvPr/>
        </p:nvSpPr>
        <p:spPr bwMode="auto">
          <a:xfrm>
            <a:off x="40132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2</a:t>
            </a:r>
          </a:p>
        </p:txBody>
      </p:sp>
      <p:sp>
        <p:nvSpPr>
          <p:cNvPr id="10256" name="Rectangle 22"/>
          <p:cNvSpPr>
            <a:spLocks noChangeArrowheads="1"/>
          </p:cNvSpPr>
          <p:nvPr/>
        </p:nvSpPr>
        <p:spPr bwMode="auto">
          <a:xfrm>
            <a:off x="42672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57" name="Text Box 23"/>
          <p:cNvSpPr txBox="1">
            <a:spLocks noChangeArrowheads="1"/>
          </p:cNvSpPr>
          <p:nvPr/>
        </p:nvSpPr>
        <p:spPr bwMode="auto">
          <a:xfrm>
            <a:off x="42418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o</a:t>
            </a:r>
          </a:p>
        </p:txBody>
      </p:sp>
      <p:sp>
        <p:nvSpPr>
          <p:cNvPr id="10258" name="Text Box 24"/>
          <p:cNvSpPr txBox="1">
            <a:spLocks noChangeArrowheads="1"/>
          </p:cNvSpPr>
          <p:nvPr/>
        </p:nvSpPr>
        <p:spPr bwMode="auto">
          <a:xfrm>
            <a:off x="42418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3</a:t>
            </a:r>
          </a:p>
        </p:txBody>
      </p:sp>
      <p:sp>
        <p:nvSpPr>
          <p:cNvPr id="10259" name="Rectangle 25"/>
          <p:cNvSpPr>
            <a:spLocks noChangeArrowheads="1"/>
          </p:cNvSpPr>
          <p:nvPr/>
        </p:nvSpPr>
        <p:spPr bwMode="auto">
          <a:xfrm>
            <a:off x="44958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60" name="Text Box 26"/>
          <p:cNvSpPr txBox="1">
            <a:spLocks noChangeArrowheads="1"/>
          </p:cNvSpPr>
          <p:nvPr/>
        </p:nvSpPr>
        <p:spPr bwMode="auto">
          <a:xfrm>
            <a:off x="44704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n</a:t>
            </a:r>
          </a:p>
        </p:txBody>
      </p:sp>
      <p:sp>
        <p:nvSpPr>
          <p:cNvPr id="10261" name="Text Box 27"/>
          <p:cNvSpPr txBox="1">
            <a:spLocks noChangeArrowheads="1"/>
          </p:cNvSpPr>
          <p:nvPr/>
        </p:nvSpPr>
        <p:spPr bwMode="auto">
          <a:xfrm>
            <a:off x="44704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4</a:t>
            </a:r>
          </a:p>
        </p:txBody>
      </p:sp>
      <p:sp>
        <p:nvSpPr>
          <p:cNvPr id="10262" name="Rectangle 28"/>
          <p:cNvSpPr>
            <a:spLocks noChangeArrowheads="1"/>
          </p:cNvSpPr>
          <p:nvPr/>
        </p:nvSpPr>
        <p:spPr bwMode="auto">
          <a:xfrm>
            <a:off x="4724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63" name="Text Box 29"/>
          <p:cNvSpPr txBox="1">
            <a:spLocks noChangeArrowheads="1"/>
          </p:cNvSpPr>
          <p:nvPr/>
        </p:nvSpPr>
        <p:spPr bwMode="auto">
          <a:xfrm>
            <a:off x="46990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g</a:t>
            </a:r>
          </a:p>
        </p:txBody>
      </p:sp>
      <p:sp>
        <p:nvSpPr>
          <p:cNvPr id="10264" name="Text Box 30"/>
          <p:cNvSpPr txBox="1">
            <a:spLocks noChangeArrowheads="1"/>
          </p:cNvSpPr>
          <p:nvPr/>
        </p:nvSpPr>
        <p:spPr bwMode="auto">
          <a:xfrm>
            <a:off x="46990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5</a:t>
            </a:r>
          </a:p>
        </p:txBody>
      </p:sp>
      <p:sp>
        <p:nvSpPr>
          <p:cNvPr id="10265" name="Rectangle 31"/>
          <p:cNvSpPr>
            <a:spLocks noChangeArrowheads="1"/>
          </p:cNvSpPr>
          <p:nvPr/>
        </p:nvSpPr>
        <p:spPr bwMode="auto">
          <a:xfrm>
            <a:off x="4953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66" name="Text Box 32"/>
          <p:cNvSpPr txBox="1">
            <a:spLocks noChangeArrowheads="1"/>
          </p:cNvSpPr>
          <p:nvPr/>
        </p:nvSpPr>
        <p:spPr bwMode="auto">
          <a:xfrm>
            <a:off x="49276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6</a:t>
            </a:r>
          </a:p>
        </p:txBody>
      </p:sp>
      <p:sp>
        <p:nvSpPr>
          <p:cNvPr id="10267" name="Rectangle 33"/>
          <p:cNvSpPr>
            <a:spLocks noChangeArrowheads="1"/>
          </p:cNvSpPr>
          <p:nvPr/>
        </p:nvSpPr>
        <p:spPr bwMode="auto">
          <a:xfrm>
            <a:off x="5181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68" name="Text Box 34"/>
          <p:cNvSpPr txBox="1">
            <a:spLocks noChangeArrowheads="1"/>
          </p:cNvSpPr>
          <p:nvPr/>
        </p:nvSpPr>
        <p:spPr bwMode="auto">
          <a:xfrm>
            <a:off x="5156200" y="1295400"/>
            <a:ext cx="3209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S</a:t>
            </a:r>
          </a:p>
        </p:txBody>
      </p:sp>
      <p:sp>
        <p:nvSpPr>
          <p:cNvPr id="10269" name="Text Box 35"/>
          <p:cNvSpPr txBox="1">
            <a:spLocks noChangeArrowheads="1"/>
          </p:cNvSpPr>
          <p:nvPr/>
        </p:nvSpPr>
        <p:spPr bwMode="auto">
          <a:xfrm>
            <a:off x="51562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7</a:t>
            </a:r>
          </a:p>
        </p:txBody>
      </p:sp>
      <p:sp>
        <p:nvSpPr>
          <p:cNvPr id="10270" name="Rectangle 36"/>
          <p:cNvSpPr>
            <a:spLocks noChangeArrowheads="1"/>
          </p:cNvSpPr>
          <p:nvPr/>
        </p:nvSpPr>
        <p:spPr bwMode="auto">
          <a:xfrm>
            <a:off x="54102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71" name="Text Box 37"/>
          <p:cNvSpPr txBox="1">
            <a:spLocks noChangeArrowheads="1"/>
          </p:cNvSpPr>
          <p:nvPr/>
        </p:nvSpPr>
        <p:spPr bwMode="auto">
          <a:xfrm>
            <a:off x="5384800" y="1295400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t</a:t>
            </a:r>
          </a:p>
        </p:txBody>
      </p:sp>
      <p:sp>
        <p:nvSpPr>
          <p:cNvPr id="10272" name="Text Box 38"/>
          <p:cNvSpPr txBox="1">
            <a:spLocks noChangeArrowheads="1"/>
          </p:cNvSpPr>
          <p:nvPr/>
        </p:nvSpPr>
        <p:spPr bwMode="auto">
          <a:xfrm>
            <a:off x="53848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8</a:t>
            </a:r>
          </a:p>
        </p:txBody>
      </p:sp>
      <p:sp>
        <p:nvSpPr>
          <p:cNvPr id="10273" name="Rectangle 39"/>
          <p:cNvSpPr>
            <a:spLocks noChangeArrowheads="1"/>
          </p:cNvSpPr>
          <p:nvPr/>
        </p:nvSpPr>
        <p:spPr bwMode="auto">
          <a:xfrm>
            <a:off x="56388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74" name="Text Box 40"/>
          <p:cNvSpPr txBox="1">
            <a:spLocks noChangeArrowheads="1"/>
          </p:cNvSpPr>
          <p:nvPr/>
        </p:nvSpPr>
        <p:spPr bwMode="auto">
          <a:xfrm>
            <a:off x="5613400" y="1295400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r</a:t>
            </a:r>
          </a:p>
        </p:txBody>
      </p:sp>
      <p:sp>
        <p:nvSpPr>
          <p:cNvPr id="10275" name="Text Box 41"/>
          <p:cNvSpPr txBox="1">
            <a:spLocks noChangeArrowheads="1"/>
          </p:cNvSpPr>
          <p:nvPr/>
        </p:nvSpPr>
        <p:spPr bwMode="auto">
          <a:xfrm>
            <a:off x="56134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9</a:t>
            </a:r>
          </a:p>
        </p:txBody>
      </p:sp>
      <p:sp>
        <p:nvSpPr>
          <p:cNvPr id="10276" name="Rectangle 42"/>
          <p:cNvSpPr>
            <a:spLocks noChangeArrowheads="1"/>
          </p:cNvSpPr>
          <p:nvPr/>
        </p:nvSpPr>
        <p:spPr bwMode="auto">
          <a:xfrm>
            <a:off x="5867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77" name="Text Box 43"/>
          <p:cNvSpPr txBox="1">
            <a:spLocks noChangeArrowheads="1"/>
          </p:cNvSpPr>
          <p:nvPr/>
        </p:nvSpPr>
        <p:spPr bwMode="auto">
          <a:xfrm>
            <a:off x="5842000" y="129540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i</a:t>
            </a:r>
          </a:p>
        </p:txBody>
      </p:sp>
      <p:sp>
        <p:nvSpPr>
          <p:cNvPr id="10278" name="Text Box 44"/>
          <p:cNvSpPr txBox="1">
            <a:spLocks noChangeArrowheads="1"/>
          </p:cNvSpPr>
          <p:nvPr/>
        </p:nvSpPr>
        <p:spPr bwMode="auto">
          <a:xfrm>
            <a:off x="5797550" y="1098550"/>
            <a:ext cx="406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 dirty="0">
                <a:latin typeface="+mn-lt"/>
              </a:rPr>
              <a:t>10</a:t>
            </a:r>
          </a:p>
        </p:txBody>
      </p:sp>
      <p:sp>
        <p:nvSpPr>
          <p:cNvPr id="10279" name="Rectangle 45"/>
          <p:cNvSpPr>
            <a:spLocks noChangeArrowheads="1"/>
          </p:cNvSpPr>
          <p:nvPr/>
        </p:nvSpPr>
        <p:spPr bwMode="auto">
          <a:xfrm>
            <a:off x="6096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80" name="Text Box 46"/>
          <p:cNvSpPr txBox="1">
            <a:spLocks noChangeArrowheads="1"/>
          </p:cNvSpPr>
          <p:nvPr/>
        </p:nvSpPr>
        <p:spPr bwMode="auto">
          <a:xfrm>
            <a:off x="60706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n</a:t>
            </a:r>
          </a:p>
        </p:txBody>
      </p:sp>
      <p:sp>
        <p:nvSpPr>
          <p:cNvPr id="10281" name="Text Box 47"/>
          <p:cNvSpPr txBox="1">
            <a:spLocks noChangeArrowheads="1"/>
          </p:cNvSpPr>
          <p:nvPr/>
        </p:nvSpPr>
        <p:spPr bwMode="auto">
          <a:xfrm>
            <a:off x="6019800" y="10985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11</a:t>
            </a:r>
          </a:p>
        </p:txBody>
      </p:sp>
      <p:sp>
        <p:nvSpPr>
          <p:cNvPr id="10282" name="Rectangle 48"/>
          <p:cNvSpPr>
            <a:spLocks noChangeArrowheads="1"/>
          </p:cNvSpPr>
          <p:nvPr/>
        </p:nvSpPr>
        <p:spPr bwMode="auto">
          <a:xfrm>
            <a:off x="6324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0283" name="Text Box 49"/>
          <p:cNvSpPr txBox="1">
            <a:spLocks noChangeArrowheads="1"/>
          </p:cNvSpPr>
          <p:nvPr/>
        </p:nvSpPr>
        <p:spPr bwMode="auto">
          <a:xfrm>
            <a:off x="62992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g</a:t>
            </a:r>
          </a:p>
        </p:txBody>
      </p:sp>
      <p:sp>
        <p:nvSpPr>
          <p:cNvPr id="10284" name="Text Box 50"/>
          <p:cNvSpPr txBox="1">
            <a:spLocks noChangeArrowheads="1"/>
          </p:cNvSpPr>
          <p:nvPr/>
        </p:nvSpPr>
        <p:spPr bwMode="auto">
          <a:xfrm>
            <a:off x="6248400" y="10985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dirty="0" smtClean="0"/>
              <a:t>Umwandeln Zeichen </a:t>
            </a:r>
            <a:r>
              <a:rPr lang="de-AT" dirty="0" smtClean="0">
                <a:sym typeface="Wingdings" panose="05000000000000000000" pitchFamily="2" charset="2"/>
              </a:rPr>
              <a:t> Zahl</a:t>
            </a:r>
            <a:endParaRPr lang="de-AT" dirty="0" smtClean="0"/>
          </a:p>
        </p:txBody>
      </p:sp>
      <p:sp>
        <p:nvSpPr>
          <p:cNvPr id="11267" name="Foliennummernplatzhalt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94613" y="6400800"/>
            <a:ext cx="14493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43D05E-CB0F-4E25-A04F-275F452A3E47}" type="slidenum">
              <a:rPr lang="de-DE" altLang="de-DE" sz="1200"/>
              <a:pPr/>
              <a:t>4</a:t>
            </a:fld>
            <a:endParaRPr lang="de-DE" altLang="de-DE" sz="1200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2411413" y="962025"/>
            <a:ext cx="6472237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 dirty="0" smtClean="0">
                <a:solidFill>
                  <a:srgbClr val="00B050"/>
                </a:solidFill>
                <a:latin typeface="+mn-lt"/>
              </a:rPr>
              <a:t>// 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liefert das Zeichen mit Index 1 und speichert dieses in die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</a:rPr>
              <a:t>char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-Variable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</a:rPr>
              <a:t>ch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 (hier ´2´) </a:t>
            </a: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// intern wird in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char</a:t>
            </a:r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 der numerische Unicode-Wert des Zeichens gespeichert (hier 50)</a:t>
            </a:r>
          </a:p>
          <a:p>
            <a:endParaRPr lang="de-AT" altLang="de-DE" sz="1400" dirty="0">
              <a:solidFill>
                <a:srgbClr val="00B050"/>
              </a:solidFill>
              <a:latin typeface="+mn-lt"/>
              <a:sym typeface="Wingdings" panose="05000000000000000000" pitchFamily="2" charset="2"/>
            </a:endParaRP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// zur Umwandlung in die entsprechende Ziffer muss der Unicode-Wert der Ziffer ´0´ abgezogen werden. (Hier: 50-48 = 2)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323850" y="1131888"/>
            <a:ext cx="18245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 dirty="0">
                <a:latin typeface="+mn-lt"/>
              </a:rPr>
              <a:t> s = "a2b3";</a:t>
            </a:r>
          </a:p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char</a:t>
            </a:r>
            <a:r>
              <a:rPr lang="de-AT" altLang="de-DE" dirty="0">
                <a:latin typeface="+mn-lt"/>
              </a:rPr>
              <a:t> </a:t>
            </a:r>
            <a:r>
              <a:rPr lang="de-AT" altLang="de-DE" dirty="0" err="1">
                <a:latin typeface="+mn-lt"/>
              </a:rPr>
              <a:t>ch</a:t>
            </a:r>
            <a:r>
              <a:rPr lang="de-AT" altLang="de-DE" dirty="0">
                <a:latin typeface="+mn-lt"/>
              </a:rPr>
              <a:t> = s[1];</a:t>
            </a:r>
          </a:p>
          <a:p>
            <a:endParaRPr lang="de-AT" altLang="de-DE" dirty="0">
              <a:latin typeface="+mn-lt"/>
            </a:endParaRPr>
          </a:p>
          <a:p>
            <a:endParaRPr lang="de-AT" altLang="de-DE" dirty="0">
              <a:solidFill>
                <a:schemeClr val="accent2"/>
              </a:solidFill>
              <a:latin typeface="+mn-lt"/>
            </a:endParaRPr>
          </a:p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int</a:t>
            </a:r>
            <a:r>
              <a:rPr lang="de-AT" altLang="de-DE" dirty="0">
                <a:latin typeface="+mn-lt"/>
              </a:rPr>
              <a:t> </a:t>
            </a:r>
            <a:r>
              <a:rPr lang="de-AT" altLang="de-DE" dirty="0" err="1">
                <a:latin typeface="+mn-lt"/>
              </a:rPr>
              <a:t>digit</a:t>
            </a:r>
            <a:r>
              <a:rPr lang="de-AT" altLang="de-DE" dirty="0">
                <a:latin typeface="+mn-lt"/>
              </a:rPr>
              <a:t> = </a:t>
            </a:r>
            <a:r>
              <a:rPr lang="de-AT" altLang="de-DE" dirty="0" err="1">
                <a:latin typeface="+mn-lt"/>
              </a:rPr>
              <a:t>ch</a:t>
            </a:r>
            <a:r>
              <a:rPr lang="de-AT" altLang="de-DE" dirty="0">
                <a:latin typeface="+mn-lt"/>
              </a:rPr>
              <a:t> – ´0´;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Zeichenkodierung: ASCII</a:t>
            </a:r>
            <a:endParaRPr lang="de-AT" dirty="0"/>
          </a:p>
        </p:txBody>
      </p:sp>
      <p:sp>
        <p:nvSpPr>
          <p:cNvPr id="3" name="Rechteck 2"/>
          <p:cNvSpPr/>
          <p:nvPr/>
        </p:nvSpPr>
        <p:spPr>
          <a:xfrm>
            <a:off x="457200" y="1412776"/>
            <a:ext cx="8229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latin typeface="+mn-lt"/>
              </a:rPr>
              <a:t>American Standard Code </a:t>
            </a:r>
            <a:r>
              <a:rPr lang="de-DE" sz="2800" dirty="0" err="1">
                <a:latin typeface="+mn-lt"/>
              </a:rPr>
              <a:t>for</a:t>
            </a:r>
            <a:r>
              <a:rPr lang="de-DE" sz="2800" dirty="0">
                <a:latin typeface="+mn-lt"/>
              </a:rPr>
              <a:t> Information Interchange</a:t>
            </a:r>
            <a:endParaRPr lang="de-DE" sz="2000" dirty="0">
              <a:latin typeface="+mn-lt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1. Version 1963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Aktuelle Version: </a:t>
            </a:r>
            <a:r>
              <a:rPr lang="de-DE" sz="2000" dirty="0" smtClean="0">
                <a:latin typeface="+mn-lt"/>
              </a:rPr>
              <a:t/>
            </a:r>
            <a:br>
              <a:rPr lang="de-DE" sz="2000" dirty="0" smtClean="0">
                <a:latin typeface="+mn-lt"/>
              </a:rPr>
            </a:br>
            <a:r>
              <a:rPr lang="de-AT" sz="2000" dirty="0" smtClean="0">
                <a:latin typeface="+mn-lt"/>
              </a:rPr>
              <a:t>ANSI </a:t>
            </a:r>
            <a:r>
              <a:rPr lang="de-AT" sz="2000" dirty="0">
                <a:latin typeface="+mn-lt"/>
              </a:rPr>
              <a:t>X3.4-1986</a:t>
            </a:r>
            <a:endParaRPr lang="de-AT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3000" dirty="0">
                <a:latin typeface="+mn-lt"/>
              </a:rPr>
              <a:t>7-Bit Kodierung = 2</a:t>
            </a:r>
            <a:r>
              <a:rPr lang="de-AT" sz="3000" baseline="30000" dirty="0">
                <a:latin typeface="+mn-lt"/>
              </a:rPr>
              <a:t>7</a:t>
            </a:r>
            <a:r>
              <a:rPr lang="de-AT" sz="3000" dirty="0">
                <a:latin typeface="+mn-lt"/>
              </a:rPr>
              <a:t> = 128 Zeichen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AT" sz="2200" dirty="0">
                <a:latin typeface="+mn-lt"/>
              </a:rPr>
              <a:t>[</a:t>
            </a:r>
            <a:r>
              <a:rPr lang="de-AT" sz="1800" dirty="0">
                <a:latin typeface="+mn-lt"/>
                <a:cs typeface="Courier New" panose="02070309020205020404" pitchFamily="49" charset="0"/>
              </a:rPr>
              <a:t>0 .. 127</a:t>
            </a:r>
            <a:r>
              <a:rPr lang="de-AT" sz="2200" dirty="0">
                <a:latin typeface="+mn-lt"/>
              </a:rPr>
              <a:t>] bzw. [</a:t>
            </a:r>
            <a:r>
              <a:rPr lang="de-AT" sz="1800" dirty="0">
                <a:latin typeface="+mn-lt"/>
                <a:cs typeface="Courier New" panose="02070309020205020404" pitchFamily="49" charset="0"/>
              </a:rPr>
              <a:t>0x00 .. 0x7F</a:t>
            </a:r>
            <a:r>
              <a:rPr lang="de-AT" sz="2200" dirty="0">
                <a:latin typeface="+mn-lt"/>
              </a:rPr>
              <a:t>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AT" sz="2200" dirty="0">
                <a:latin typeface="+mn-lt"/>
              </a:rPr>
              <a:t>[</a:t>
            </a:r>
            <a:r>
              <a:rPr lang="de-AT" sz="1800" dirty="0">
                <a:latin typeface="+mn-lt"/>
                <a:cs typeface="Courier New" panose="02070309020205020404" pitchFamily="49" charset="0"/>
              </a:rPr>
              <a:t>0x00 .. 0x1F</a:t>
            </a:r>
            <a:r>
              <a:rPr lang="de-AT" sz="2200" dirty="0">
                <a:latin typeface="+mn-lt"/>
              </a:rPr>
              <a:t>]: 32 Steuerzeichen (nicht druckbar)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AT" sz="2200" dirty="0">
                <a:latin typeface="+mn-lt"/>
              </a:rPr>
              <a:t>[</a:t>
            </a:r>
            <a:r>
              <a:rPr lang="de-AT" sz="1800" dirty="0">
                <a:latin typeface="+mn-lt"/>
                <a:cs typeface="Courier New" panose="02070309020205020404" pitchFamily="49" charset="0"/>
              </a:rPr>
              <a:t>0x20 .. 0x7E</a:t>
            </a:r>
            <a:r>
              <a:rPr lang="de-AT" sz="2200" dirty="0">
                <a:latin typeface="+mn-lt"/>
              </a:rPr>
              <a:t>]: 95 druckbare Zeichen: Englische Buchstaben, arabische Ziffern, einige Satzzeichen =&gt; entspricht einer englischen Tastaturbelegung / Schreibmaschine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AT" sz="2200" dirty="0">
                <a:latin typeface="+mn-lt"/>
              </a:rPr>
              <a:t>[</a:t>
            </a:r>
            <a:r>
              <a:rPr lang="de-AT" sz="1800" dirty="0">
                <a:latin typeface="+mn-lt"/>
                <a:cs typeface="Courier New" panose="02070309020205020404" pitchFamily="49" charset="0"/>
              </a:rPr>
              <a:t>0x7F</a:t>
            </a:r>
            <a:r>
              <a:rPr lang="de-AT" sz="2200" dirty="0">
                <a:latin typeface="+mn-lt"/>
              </a:rPr>
              <a:t>]: Steuerzeichen „DEL“ (nicht druckbar)</a:t>
            </a:r>
            <a:endParaRPr lang="de-DE" sz="2200" dirty="0">
              <a:latin typeface="+mn-lt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008634"/>
            <a:ext cx="40290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4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ASCII: Steuerzeichen</a:t>
            </a:r>
            <a:endParaRPr lang="de-AT" dirty="0"/>
          </a:p>
        </p:txBody>
      </p:sp>
      <p:graphicFrame>
        <p:nvGraphicFramePr>
          <p:cNvPr id="3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9370527"/>
              </p:ext>
            </p:extLst>
          </p:nvPr>
        </p:nvGraphicFramePr>
        <p:xfrm>
          <a:off x="457200" y="1989138"/>
          <a:ext cx="843528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23"/>
                <a:gridCol w="731297"/>
                <a:gridCol w="1032608"/>
                <a:gridCol w="671662"/>
                <a:gridCol w="5309990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Dez.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Hex.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 / Java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ISO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Bedeutung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NUL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Zeichenkettenterminator in C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7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0x07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\a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BEL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Tonsignal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8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0x08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\b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BS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Backspace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9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0x09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HT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Horizontal</a:t>
                      </a:r>
                      <a:r>
                        <a:rPr lang="de-AT" baseline="0" dirty="0" smtClean="0"/>
                        <a:t> Tab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0x0A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LF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Line</a:t>
                      </a:r>
                      <a:r>
                        <a:rPr lang="de-AT" baseline="0" dirty="0" smtClean="0"/>
                        <a:t> Feed (Zeilenende in Unix/</a:t>
                      </a:r>
                      <a:r>
                        <a:rPr lang="de-AT" baseline="0" dirty="0" err="1" smtClean="0"/>
                        <a:t>MacOSX</a:t>
                      </a:r>
                      <a:r>
                        <a:rPr lang="de-AT" baseline="0" dirty="0" smtClean="0"/>
                        <a:t>)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11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0x0B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\v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VT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Vertical</a:t>
                      </a:r>
                      <a:r>
                        <a:rPr lang="de-AT" dirty="0" smtClean="0"/>
                        <a:t> Tab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12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0x0C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\f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FF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Form Feed (Seitenvorschub)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13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0x0D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\r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Carriage</a:t>
                      </a:r>
                      <a:r>
                        <a:rPr lang="de-AT" dirty="0" smtClean="0"/>
                        <a:t> Return</a:t>
                      </a:r>
                      <a:r>
                        <a:rPr lang="de-AT" baseline="0" dirty="0" smtClean="0"/>
                        <a:t> (CR+LF = Zeilenende in </a:t>
                      </a:r>
                      <a:r>
                        <a:rPr lang="de-AT" dirty="0" smtClean="0"/>
                        <a:t>DOS/Windows)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127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0x7F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Delete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77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ASCII: Druckbare Zeichen</a:t>
            </a:r>
            <a:endParaRPr lang="de-AT" dirty="0"/>
          </a:p>
        </p:txBody>
      </p:sp>
      <p:graphicFrame>
        <p:nvGraphicFramePr>
          <p:cNvPr id="3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1052450"/>
              </p:ext>
            </p:extLst>
          </p:nvPr>
        </p:nvGraphicFramePr>
        <p:xfrm>
          <a:off x="1267890" y="1924040"/>
          <a:ext cx="6688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46"/>
                <a:gridCol w="5426840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Dez.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Bedeutung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65</a:t>
                      </a:r>
                      <a:r>
                        <a:rPr lang="de-AT" baseline="0" dirty="0" smtClean="0"/>
                        <a:t> – 90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Lateinische</a:t>
                      </a:r>
                      <a:r>
                        <a:rPr lang="de-AT" baseline="0" dirty="0" smtClean="0"/>
                        <a:t> Großbuchstaben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97</a:t>
                      </a:r>
                      <a:r>
                        <a:rPr lang="de-AT" baseline="0" dirty="0" smtClean="0"/>
                        <a:t> – 122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Lateinische Kleinbuchstaben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48 - 57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Arabische</a:t>
                      </a:r>
                      <a:r>
                        <a:rPr lang="de-AT" baseline="0" dirty="0" smtClean="0"/>
                        <a:t> Ziffern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32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Space (Blank, Leerzeichen)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Rest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Symbole</a:t>
                      </a:r>
                      <a:r>
                        <a:rPr lang="de-AT" baseline="0" dirty="0" smtClean="0"/>
                        <a:t> (Satzzeichen, Klammern, Operatoren, …)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feld 3"/>
          <p:cNvSpPr txBox="1"/>
          <p:nvPr/>
        </p:nvSpPr>
        <p:spPr>
          <a:xfrm>
            <a:off x="3275856" y="980728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\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V/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-(@ @)-</a:t>
            </a:r>
          </a:p>
          <a:p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--oOO--(_)--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OOo--</a:t>
            </a:r>
            <a:endParaRPr lang="de-AT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133" y="4437112"/>
            <a:ext cx="40290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4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ASCII-Tabelle</a:t>
            </a:r>
            <a:endParaRPr lang="de-AT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96" y="908720"/>
            <a:ext cx="7813608" cy="533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Unicode	</a:t>
            </a:r>
            <a:endParaRPr lang="de-AT" dirty="0"/>
          </a:p>
        </p:txBody>
      </p:sp>
      <p:sp>
        <p:nvSpPr>
          <p:cNvPr id="3" name="Inhaltsplatzhalter 1"/>
          <p:cNvSpPr txBox="1">
            <a:spLocks/>
          </p:cNvSpPr>
          <p:nvPr/>
        </p:nvSpPr>
        <p:spPr>
          <a:xfrm>
            <a:off x="457200" y="1628801"/>
            <a:ext cx="8229600" cy="1728192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anose="05000000000000000000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anose="05050102010706020507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anose="05000000000000000000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anose="05050102010706020507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mtClean="0"/>
              <a:t>Unicode Consortium (</a:t>
            </a:r>
            <a:r>
              <a:rPr lang="de-AT" smtClean="0">
                <a:hlinkClick r:id="rId2"/>
              </a:rPr>
              <a:t>www.unicode.org</a:t>
            </a:r>
            <a:r>
              <a:rPr lang="de-AT" smtClean="0"/>
              <a:t>)</a:t>
            </a:r>
          </a:p>
          <a:p>
            <a:pPr lvl="1"/>
            <a:r>
              <a:rPr lang="de-AT" smtClean="0"/>
              <a:t>Ziel: Abbildung sämtlicher lebender und historischer Zeichenvorräte</a:t>
            </a:r>
            <a:endParaRPr lang="de-AT" dirty="0" smtClean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62842"/>
              </p:ext>
            </p:extLst>
          </p:nvPr>
        </p:nvGraphicFramePr>
        <p:xfrm>
          <a:off x="539552" y="3267176"/>
          <a:ext cx="8064897" cy="2970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4176464"/>
                <a:gridCol w="2664297"/>
              </a:tblGrid>
              <a:tr h="351040">
                <a:tc>
                  <a:txBody>
                    <a:bodyPr/>
                    <a:lstStyle/>
                    <a:p>
                      <a:r>
                        <a:rPr lang="de-AT" dirty="0" smtClean="0"/>
                        <a:t>Version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Sprachumfang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Codepoints</a:t>
                      </a:r>
                      <a:endParaRPr lang="de-AT" dirty="0"/>
                    </a:p>
                  </a:txBody>
                  <a:tcPr/>
                </a:tc>
              </a:tr>
              <a:tr h="616500">
                <a:tc>
                  <a:txBody>
                    <a:bodyPr/>
                    <a:lstStyle/>
                    <a:p>
                      <a:r>
                        <a:rPr lang="de-AT" dirty="0" smtClean="0"/>
                        <a:t>1.0.0</a:t>
                      </a:r>
                    </a:p>
                    <a:p>
                      <a:r>
                        <a:rPr lang="de-AT" dirty="0" smtClean="0"/>
                        <a:t>Okt. 1991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Europäische, nahöstliche,</a:t>
                      </a:r>
                      <a:r>
                        <a:rPr lang="de-AT" baseline="0" dirty="0" smtClean="0"/>
                        <a:t> indische Sprachen, </a:t>
                      </a:r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7.161</a:t>
                      </a:r>
                      <a:r>
                        <a:rPr lang="de-AT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Zeichen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Max. 65536 (16-Bit)</a:t>
                      </a:r>
                    </a:p>
                    <a:p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U+0000 .. U+FFFF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14321">
                <a:tc>
                  <a:txBody>
                    <a:bodyPr/>
                    <a:lstStyle/>
                    <a:p>
                      <a:r>
                        <a:rPr lang="de-AT" dirty="0" smtClean="0"/>
                        <a:t>1.0.1</a:t>
                      </a:r>
                    </a:p>
                    <a:p>
                      <a:r>
                        <a:rPr lang="de-AT" dirty="0" smtClean="0"/>
                        <a:t>Mai 1992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+ ostasiatische Sprachen, </a:t>
                      </a:r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28.359 Zeichen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Max. 65536 (16-Bit)</a:t>
                      </a:r>
                    </a:p>
                    <a:p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U+0000 .. U+FFFF</a:t>
                      </a:r>
                      <a:endParaRPr lang="de-AT" sz="18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14321">
                <a:tc>
                  <a:txBody>
                    <a:bodyPr/>
                    <a:lstStyle/>
                    <a:p>
                      <a:r>
                        <a:rPr lang="de-AT" dirty="0" smtClean="0"/>
                        <a:t>2.0.0</a:t>
                      </a:r>
                    </a:p>
                    <a:p>
                      <a:r>
                        <a:rPr lang="de-AT" dirty="0" smtClean="0"/>
                        <a:t>Juli 1996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Erweiterung</a:t>
                      </a:r>
                      <a:r>
                        <a:rPr lang="de-AT" baseline="0" dirty="0" smtClean="0"/>
                        <a:t> auf bis zu 4 Byte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38.950 Zeichen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Max 1.114.112</a:t>
                      </a:r>
                    </a:p>
                    <a:p>
                      <a:pPr marL="0" algn="l" defTabSz="914400" rtl="0" eaLnBrk="1" latinLnBrk="0" hangingPunct="1"/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U+0000 .. U+10FFFF</a:t>
                      </a:r>
                    </a:p>
                  </a:txBody>
                  <a:tcPr/>
                </a:tc>
              </a:tr>
              <a:tr h="684136">
                <a:tc>
                  <a:txBody>
                    <a:bodyPr/>
                    <a:lstStyle/>
                    <a:p>
                      <a:r>
                        <a:rPr lang="de-AT" dirty="0" smtClean="0"/>
                        <a:t>7.0.0</a:t>
                      </a:r>
                    </a:p>
                    <a:p>
                      <a:r>
                        <a:rPr lang="de-AT" dirty="0" smtClean="0"/>
                        <a:t>Juni 2014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123 Sprachfamilien, </a:t>
                      </a:r>
                      <a:r>
                        <a:rPr lang="de-AT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113 021 Zeichen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A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 descr="http://upload.wikimedia.org/wikipedia/commons/thumb/a/ab/Unicode_logo.svg/108px-Unicode_logo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49" y="1556776"/>
            <a:ext cx="102870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Unicode-Tabelle	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smtClean="0"/>
              <a:t>Die ersten 128 Plätze („</a:t>
            </a:r>
            <a:r>
              <a:rPr lang="de-AT" b="1" i="1" dirty="0" smtClean="0"/>
              <a:t>Codepoints</a:t>
            </a:r>
            <a:r>
              <a:rPr lang="de-AT" dirty="0" smtClean="0"/>
              <a:t>“) sind identisch mit ASCII</a:t>
            </a:r>
          </a:p>
          <a:p>
            <a:r>
              <a:rPr lang="de-AT" dirty="0" smtClean="0"/>
              <a:t>Die insgesamt 1.114.112 Codepoints sind in Ebenen („</a:t>
            </a:r>
            <a:r>
              <a:rPr lang="de-AT" b="1" i="1" dirty="0" smtClean="0"/>
              <a:t>Planes</a:t>
            </a:r>
            <a:r>
              <a:rPr lang="de-AT" dirty="0" smtClean="0"/>
              <a:t>“) unterteilt</a:t>
            </a:r>
          </a:p>
          <a:p>
            <a:pPr lvl="1"/>
            <a:r>
              <a:rPr lang="de-AT" dirty="0" smtClean="0"/>
              <a:t>Die meisten / gebräuchlichsten Zeichen liegen in der „</a:t>
            </a:r>
            <a:r>
              <a:rPr lang="de-AT" b="1" i="1" dirty="0" smtClean="0"/>
              <a:t>Basic Multilingual Plane</a:t>
            </a:r>
            <a:r>
              <a:rPr lang="de-AT" dirty="0" smtClean="0"/>
              <a:t>“ (BMP)</a:t>
            </a:r>
          </a:p>
          <a:p>
            <a:pPr lvl="2"/>
            <a:r>
              <a:rPr lang="de-AT" dirty="0" smtClean="0"/>
              <a:t>Das sind die Codepoints zwischen 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00 00 </a:t>
            </a:r>
            <a:r>
              <a:rPr lang="de-AT" dirty="0" smtClean="0"/>
              <a:t>und 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FF FD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smtClean="0"/>
              <a:t>(0 und 65.533) =&gt; 2 Byte reichen für die Darstellung!</a:t>
            </a:r>
          </a:p>
          <a:p>
            <a:pPr lvl="1"/>
            <a:r>
              <a:rPr lang="de-AT" dirty="0" smtClean="0"/>
              <a:t>Für alle anderen Planes wird ein drittes Byte benötigt (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1 00 00 </a:t>
            </a:r>
            <a:r>
              <a:rPr lang="de-AT" dirty="0" smtClean="0"/>
              <a:t>– 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10 FF FD</a:t>
            </a:r>
            <a:r>
              <a:rPr lang="de-AT" dirty="0" smtClean="0"/>
              <a:t>)</a:t>
            </a:r>
          </a:p>
          <a:p>
            <a:pPr lvl="2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8116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Unicode: Beispiele</a:t>
            </a:r>
            <a:endParaRPr lang="de-AT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523100"/>
              </p:ext>
            </p:extLst>
          </p:nvPr>
        </p:nvGraphicFramePr>
        <p:xfrm>
          <a:off x="179512" y="1758424"/>
          <a:ext cx="82089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0"/>
                <a:gridCol w="1152128"/>
                <a:gridCol w="1296144"/>
                <a:gridCol w="2160240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Name des Zeichens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Zeichen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Unicode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Unicode</a:t>
                      </a:r>
                      <a:r>
                        <a:rPr lang="de-AT" baseline="0" dirty="0" smtClean="0"/>
                        <a:t> </a:t>
                      </a:r>
                      <a:r>
                        <a:rPr lang="de-AT" dirty="0" smtClean="0"/>
                        <a:t>dezimal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Latin</a:t>
                      </a:r>
                      <a:r>
                        <a:rPr lang="de-AT" dirty="0" smtClean="0"/>
                        <a:t> Capital Letter V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/>
                        <a:t>V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U+0056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86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Latin</a:t>
                      </a:r>
                      <a:r>
                        <a:rPr lang="de-AT" baseline="0" dirty="0" smtClean="0"/>
                        <a:t> Small Letter a </a:t>
                      </a:r>
                      <a:r>
                        <a:rPr lang="de-AT" baseline="0" dirty="0" err="1" smtClean="0"/>
                        <a:t>with</a:t>
                      </a:r>
                      <a:r>
                        <a:rPr lang="de-AT" baseline="0" dirty="0" smtClean="0"/>
                        <a:t> </a:t>
                      </a:r>
                      <a:r>
                        <a:rPr lang="de-AT" baseline="0" dirty="0" err="1" smtClean="0"/>
                        <a:t>Diaresis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/>
                        <a:t>ä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U+00E4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228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Cyrillic</a:t>
                      </a:r>
                      <a:r>
                        <a:rPr lang="de-AT" dirty="0" smtClean="0"/>
                        <a:t> Capital</a:t>
                      </a:r>
                      <a:r>
                        <a:rPr lang="de-AT" baseline="0" dirty="0" smtClean="0"/>
                        <a:t> Letter </a:t>
                      </a:r>
                      <a:r>
                        <a:rPr lang="de-AT" baseline="0" dirty="0" err="1" smtClean="0"/>
                        <a:t>Nje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Њ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U+040A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1.034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Devanagari</a:t>
                      </a:r>
                      <a:r>
                        <a:rPr lang="de-AT" dirty="0" smtClean="0"/>
                        <a:t> Letter </a:t>
                      </a:r>
                      <a:r>
                        <a:rPr lang="de-AT" dirty="0" err="1" smtClean="0"/>
                        <a:t>Ca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dirty="0" smtClean="0"/>
                        <a:t>च</a:t>
                      </a:r>
                      <a:endParaRPr lang="de-AT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U+091A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2.330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Cjk</a:t>
                      </a:r>
                      <a:r>
                        <a:rPr lang="de-AT" baseline="0" dirty="0" smtClean="0"/>
                        <a:t> </a:t>
                      </a:r>
                      <a:r>
                        <a:rPr lang="de-AT" baseline="0" dirty="0" err="1" smtClean="0"/>
                        <a:t>unified</a:t>
                      </a:r>
                      <a:r>
                        <a:rPr lang="de-AT" baseline="0" dirty="0" smtClean="0"/>
                        <a:t> </a:t>
                      </a:r>
                      <a:r>
                        <a:rPr lang="de-AT" baseline="0" dirty="0" err="1" smtClean="0"/>
                        <a:t>ideograph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de-DE" dirty="0" smtClean="0"/>
                        <a:t>变</a:t>
                      </a:r>
                      <a:endParaRPr lang="de-AT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U+53D8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21.464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Gothic</a:t>
                      </a:r>
                      <a:r>
                        <a:rPr lang="de-AT" dirty="0" smtClean="0"/>
                        <a:t> Letter </a:t>
                      </a:r>
                      <a:r>
                        <a:rPr lang="de-AT" dirty="0" err="1" smtClean="0"/>
                        <a:t>Thiuth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latin typeface="Segoe UI Historic" panose="020B0502040204020203" pitchFamily="34" charset="0"/>
                          <a:ea typeface="Segoe UI Historic" panose="020B0502040204020203" pitchFamily="34" charset="0"/>
                          <a:cs typeface="Segoe UI Historic" panose="020B0502040204020203" pitchFamily="34" charset="0"/>
                        </a:rPr>
                        <a:t>𐌸</a:t>
                      </a:r>
                      <a:endParaRPr lang="de-AT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U+10338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66.360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Ambulance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dirty="0" smtClean="0"/>
                        <a:t>🚑</a:t>
                      </a:r>
                      <a:endParaRPr lang="de-AT" dirty="0" smtClean="0">
                        <a:latin typeface="Segoe UI Historic" panose="020B0502040204020203" pitchFamily="34" charset="0"/>
                        <a:ea typeface="Segoe UI Historic" panose="020B0502040204020203" pitchFamily="34" charset="0"/>
                        <a:cs typeface="Segoe UI Historic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U+1F691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128.657</a:t>
                      </a:r>
                      <a:endParaRPr lang="de-AT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hteck 6"/>
          <p:cNvSpPr/>
          <p:nvPr/>
        </p:nvSpPr>
        <p:spPr>
          <a:xfrm>
            <a:off x="3203848" y="1268760"/>
            <a:ext cx="28302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dirty="0">
                <a:latin typeface="+mn-lt"/>
                <a:hlinkClick r:id="rId3"/>
              </a:rPr>
              <a:t>http://unicode-table.com/de</a:t>
            </a:r>
            <a:r>
              <a:rPr lang="de-AT" dirty="0" smtClean="0">
                <a:latin typeface="+mn-lt"/>
                <a:hlinkClick r:id="rId3"/>
              </a:rPr>
              <a:t>/</a:t>
            </a:r>
            <a:endParaRPr lang="de-AT" dirty="0" smtClean="0">
              <a:latin typeface="+mn-lt"/>
            </a:endParaRPr>
          </a:p>
          <a:p>
            <a:endParaRPr lang="de-AT" dirty="0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50824" y="5157192"/>
            <a:ext cx="79215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de-AT" altLang="de-DE" b="1" dirty="0" smtClean="0">
                <a:solidFill>
                  <a:schemeClr val="accent2"/>
                </a:solidFill>
                <a:latin typeface="+mn-lt"/>
              </a:rPr>
              <a:t>Achtung</a:t>
            </a:r>
            <a:r>
              <a:rPr lang="de-AT" altLang="de-DE" dirty="0" smtClean="0">
                <a:solidFill>
                  <a:schemeClr val="accent2"/>
                </a:solidFill>
                <a:latin typeface="+mn-lt"/>
              </a:rPr>
              <a:t>: </a:t>
            </a:r>
            <a:br>
              <a:rPr lang="de-AT" altLang="de-DE" dirty="0" smtClean="0">
                <a:solidFill>
                  <a:schemeClr val="accent2"/>
                </a:solidFill>
                <a:latin typeface="+mn-lt"/>
              </a:rPr>
            </a:br>
            <a:r>
              <a:rPr lang="de-AT" altLang="de-DE" dirty="0" smtClean="0">
                <a:solidFill>
                  <a:schemeClr val="accent2"/>
                </a:solidFill>
                <a:latin typeface="+mn-lt"/>
              </a:rPr>
              <a:t>Es hängt vom eingestellten Font (Zeichensatz) ab, ob ein Unicode-Zeichen auch wirklich richtig am Bildschirm dargestellt werden kann!</a:t>
            </a:r>
            <a:endParaRPr lang="de-AT" alt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712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>
                <a:latin typeface="+mn-lt"/>
              </a:rPr>
              <a:t>Ist ein Zeichen eine Zahl?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250824" y="1700808"/>
            <a:ext cx="7417519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 dirty="0" smtClean="0">
                <a:solidFill>
                  <a:srgbClr val="00B050"/>
                </a:solidFill>
                <a:latin typeface="+mn-lt"/>
              </a:rPr>
              <a:t>/*</a:t>
            </a:r>
            <a:endParaRPr lang="de-AT" altLang="de-DE" sz="1400" dirty="0">
              <a:solidFill>
                <a:srgbClr val="00B050"/>
              </a:solidFill>
              <a:latin typeface="+mn-lt"/>
            </a:endParaRP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…liefert das Zeichen mit Index 1 und speichert dieses in die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</a:rPr>
              <a:t>char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-Variable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</a:rPr>
              <a:t>ch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 (hier ´2´) </a:t>
            </a: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intern wird in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char</a:t>
            </a:r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 der numerische Unicode-Wert des Zeichens gespeichert (hier 50)</a:t>
            </a:r>
          </a:p>
          <a:p>
            <a:endParaRPr lang="de-AT" altLang="de-DE" sz="1400" dirty="0">
              <a:solidFill>
                <a:srgbClr val="00B050"/>
              </a:solidFill>
              <a:latin typeface="+mn-lt"/>
              <a:sym typeface="Wingdings" panose="05000000000000000000" pitchFamily="2" charset="2"/>
            </a:endParaRP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Zur Prüfung ob das in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ch</a:t>
            </a:r>
            <a:r>
              <a:rPr lang="de-AT" altLang="de-DE" sz="1400" dirty="0">
                <a:solidFill>
                  <a:srgbClr val="00B050"/>
                </a:solidFill>
                <a:latin typeface="+mn-lt"/>
                <a:sym typeface="Wingdings" panose="05000000000000000000" pitchFamily="2" charset="2"/>
              </a:rPr>
              <a:t> gespeicherte Zeichen eine Zahl ist, wird überprüft ob der Unicode-Wert des zu prüfenden Zeichens größer oder gleich dem Unicode-Wert des Zeichen ‚0‘ ist und kleiner oder gleich dem Unicode-Wert des Zeichens ‚9‘. */</a:t>
            </a:r>
            <a:endParaRPr lang="de-AT" altLang="de-DE" sz="1400" b="1" dirty="0">
              <a:solidFill>
                <a:srgbClr val="00B050"/>
              </a:solidFill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250825" y="1162050"/>
            <a:ext cx="71834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 dirty="0">
                <a:latin typeface="+mn-lt"/>
              </a:rPr>
              <a:t> s = "a2b3";</a:t>
            </a:r>
          </a:p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char</a:t>
            </a:r>
            <a:r>
              <a:rPr lang="de-AT" altLang="de-DE" dirty="0">
                <a:latin typeface="+mn-lt"/>
              </a:rPr>
              <a:t> </a:t>
            </a:r>
            <a:r>
              <a:rPr lang="de-AT" altLang="de-DE" dirty="0" err="1">
                <a:latin typeface="+mn-lt"/>
              </a:rPr>
              <a:t>ch</a:t>
            </a:r>
            <a:r>
              <a:rPr lang="de-AT" altLang="de-DE" dirty="0">
                <a:latin typeface="+mn-lt"/>
              </a:rPr>
              <a:t> = s[1];</a:t>
            </a: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250825" y="3300413"/>
            <a:ext cx="71834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 dirty="0">
              <a:solidFill>
                <a:schemeClr val="accent2"/>
              </a:solidFill>
              <a:latin typeface="+mn-lt"/>
            </a:endParaRPr>
          </a:p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if</a:t>
            </a:r>
            <a:r>
              <a:rPr lang="de-AT" altLang="de-DE" dirty="0">
                <a:latin typeface="+mn-lt"/>
              </a:rPr>
              <a:t> ((</a:t>
            </a:r>
            <a:r>
              <a:rPr lang="de-AT" altLang="de-DE" dirty="0" err="1" smtClean="0">
                <a:latin typeface="+mn-lt"/>
              </a:rPr>
              <a:t>ch</a:t>
            </a:r>
            <a:r>
              <a:rPr lang="de-AT" altLang="de-DE" dirty="0" smtClean="0">
                <a:latin typeface="+mn-lt"/>
              </a:rPr>
              <a:t> &gt;= ´</a:t>
            </a:r>
            <a:r>
              <a:rPr lang="de-AT" altLang="de-DE" dirty="0">
                <a:latin typeface="+mn-lt"/>
              </a:rPr>
              <a:t>0´) &amp;&amp; (</a:t>
            </a:r>
            <a:r>
              <a:rPr lang="de-AT" altLang="de-DE" dirty="0" err="1" smtClean="0">
                <a:latin typeface="+mn-lt"/>
              </a:rPr>
              <a:t>ch</a:t>
            </a:r>
            <a:r>
              <a:rPr lang="de-AT" altLang="de-DE" dirty="0" smtClean="0">
                <a:latin typeface="+mn-lt"/>
              </a:rPr>
              <a:t> &lt;= ´</a:t>
            </a:r>
            <a:r>
              <a:rPr lang="de-AT" altLang="de-DE" dirty="0">
                <a:latin typeface="+mn-lt"/>
              </a:rPr>
              <a:t>9´))</a:t>
            </a:r>
          </a:p>
          <a:p>
            <a:r>
              <a:rPr lang="de-AT" altLang="de-DE" dirty="0">
                <a:latin typeface="+mn-lt"/>
              </a:rPr>
              <a:t>{</a:t>
            </a:r>
          </a:p>
          <a:p>
            <a:r>
              <a:rPr lang="de-AT" altLang="de-DE" dirty="0">
                <a:latin typeface="+mn-lt"/>
              </a:rPr>
              <a:t>	</a:t>
            </a:r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Console.WriteLine</a:t>
            </a:r>
            <a:r>
              <a:rPr lang="de-AT" altLang="de-DE" dirty="0">
                <a:latin typeface="+mn-lt"/>
              </a:rPr>
              <a:t>(“Dieses Zeichen ist eine Zahl!“);</a:t>
            </a:r>
          </a:p>
          <a:p>
            <a:r>
              <a:rPr lang="de-AT" altLang="de-DE" dirty="0">
                <a:latin typeface="+mn-lt"/>
              </a:rPr>
              <a:t>}</a:t>
            </a: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250825" y="4362450"/>
            <a:ext cx="6472238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 sz="1400" dirty="0">
              <a:solidFill>
                <a:srgbClr val="00B050"/>
              </a:solidFill>
              <a:latin typeface="+mn-lt"/>
            </a:endParaRPr>
          </a:p>
          <a:p>
            <a:endParaRPr lang="de-AT" altLang="de-DE" sz="1400" dirty="0">
              <a:solidFill>
                <a:srgbClr val="00B050"/>
              </a:solidFill>
              <a:latin typeface="+mn-lt"/>
            </a:endParaRPr>
          </a:p>
          <a:p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//Hierfür gibt es auch eine fertige Funktion der Klasse </a:t>
            </a:r>
            <a:r>
              <a:rPr lang="de-AT" altLang="de-DE" sz="1400" dirty="0" err="1">
                <a:solidFill>
                  <a:srgbClr val="00B050"/>
                </a:solidFill>
                <a:latin typeface="+mn-lt"/>
              </a:rPr>
              <a:t>char</a:t>
            </a:r>
            <a:r>
              <a:rPr lang="de-AT" altLang="de-DE" sz="1400" dirty="0">
                <a:solidFill>
                  <a:srgbClr val="00B050"/>
                </a:solidFill>
                <a:latin typeface="+mn-lt"/>
              </a:rPr>
              <a:t>:</a:t>
            </a:r>
            <a:endParaRPr lang="de-AT" altLang="de-DE" sz="1400" dirty="0">
              <a:solidFill>
                <a:srgbClr val="00B050"/>
              </a:solidFill>
              <a:latin typeface="+mn-lt"/>
              <a:sym typeface="Wingdings" panose="05000000000000000000" pitchFamily="2" charset="2"/>
            </a:endParaRPr>
          </a:p>
          <a:p>
            <a:endParaRPr lang="de-AT" altLang="de-DE" sz="1400" b="1" dirty="0">
              <a:solidFill>
                <a:srgbClr val="00B050"/>
              </a:solidFill>
              <a:latin typeface="+mn-lt"/>
              <a:sym typeface="Wingdings" panose="05000000000000000000" pitchFamily="2" charset="2"/>
            </a:endParaRPr>
          </a:p>
          <a:p>
            <a:r>
              <a:rPr lang="de-AT" altLang="de-DE" sz="1400" dirty="0" err="1">
                <a:solidFill>
                  <a:schemeClr val="accent2"/>
                </a:solidFill>
                <a:latin typeface="+mn-lt"/>
              </a:rPr>
              <a:t>if</a:t>
            </a:r>
            <a:r>
              <a:rPr lang="de-AT" altLang="de-DE" sz="1400" dirty="0">
                <a:latin typeface="+mn-lt"/>
              </a:rPr>
              <a:t> (</a:t>
            </a:r>
            <a:r>
              <a:rPr lang="de-AT" altLang="de-DE" sz="1400" dirty="0" err="1">
                <a:latin typeface="+mn-lt"/>
              </a:rPr>
              <a:t>char.IsDigit</a:t>
            </a:r>
            <a:r>
              <a:rPr lang="de-AT" altLang="de-DE" sz="1400" dirty="0">
                <a:latin typeface="+mn-lt"/>
              </a:rPr>
              <a:t>(</a:t>
            </a:r>
            <a:r>
              <a:rPr lang="de-AT" altLang="de-DE" sz="1400" dirty="0" err="1">
                <a:latin typeface="+mn-lt"/>
              </a:rPr>
              <a:t>ch</a:t>
            </a:r>
            <a:r>
              <a:rPr lang="de-AT" altLang="de-DE" sz="1400" dirty="0" smtClean="0">
                <a:latin typeface="+mn-lt"/>
              </a:rPr>
              <a:t>) == </a:t>
            </a:r>
            <a:r>
              <a:rPr lang="de-AT" altLang="de-DE" sz="1400" dirty="0" err="1" smtClean="0">
                <a:latin typeface="+mn-lt"/>
              </a:rPr>
              <a:t>true</a:t>
            </a:r>
            <a:r>
              <a:rPr lang="de-AT" altLang="de-DE" sz="1400" dirty="0">
                <a:latin typeface="+mn-lt"/>
              </a:rPr>
              <a:t>)</a:t>
            </a:r>
          </a:p>
          <a:p>
            <a:r>
              <a:rPr lang="de-AT" altLang="de-DE" sz="1400" dirty="0">
                <a:latin typeface="+mn-lt"/>
              </a:rPr>
              <a:t>{</a:t>
            </a:r>
          </a:p>
          <a:p>
            <a:r>
              <a:rPr lang="de-AT" altLang="de-DE" sz="1400" dirty="0">
                <a:latin typeface="+mn-lt"/>
              </a:rPr>
              <a:t>	</a:t>
            </a:r>
            <a:r>
              <a:rPr lang="de-AT" altLang="de-DE" sz="1400" dirty="0" err="1">
                <a:solidFill>
                  <a:schemeClr val="accent2"/>
                </a:solidFill>
                <a:latin typeface="+mn-lt"/>
              </a:rPr>
              <a:t>Console.WriteLine</a:t>
            </a:r>
            <a:r>
              <a:rPr lang="de-AT" altLang="de-DE" sz="1400" dirty="0">
                <a:latin typeface="+mn-lt"/>
              </a:rPr>
              <a:t>(“Dieses Zeichen ist eine Zahl!“);</a:t>
            </a:r>
          </a:p>
          <a:p>
            <a:r>
              <a:rPr lang="de-AT" altLang="de-DE" sz="1400" dirty="0">
                <a:latin typeface="+mn-lt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/>
              <a:t>Einige Stringfunktionen</a:t>
            </a:r>
          </a:p>
        </p:txBody>
      </p:sp>
      <p:sp>
        <p:nvSpPr>
          <p:cNvPr id="13315" name="Text Box 8"/>
          <p:cNvSpPr txBox="1">
            <a:spLocks noChangeArrowheads="1"/>
          </p:cNvSpPr>
          <p:nvPr/>
        </p:nvSpPr>
        <p:spPr bwMode="auto">
          <a:xfrm>
            <a:off x="749300" y="2987675"/>
            <a:ext cx="230063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int</a:t>
            </a:r>
            <a:r>
              <a:rPr lang="de-AT" altLang="de-DE">
                <a:latin typeface="+mn-lt"/>
              </a:rPr>
              <a:t> i = s.IndexOf("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ng</a:t>
            </a:r>
            <a:r>
              <a:rPr lang="de-AT" altLang="de-DE">
                <a:latin typeface="+mn-lt"/>
              </a:rPr>
              <a:t>");</a:t>
            </a:r>
          </a:p>
          <a:p>
            <a:endParaRPr lang="de-AT" altLang="de-DE">
              <a:latin typeface="+mn-lt"/>
            </a:endParaRPr>
          </a:p>
          <a:p>
            <a:endParaRPr lang="de-AT" altLang="de-DE">
              <a:latin typeface="+mn-lt"/>
            </a:endParaRPr>
          </a:p>
          <a:p>
            <a:r>
              <a:rPr lang="de-AT" altLang="de-DE">
                <a:latin typeface="+mn-lt"/>
              </a:rPr>
              <a:t>i = s.IndexOf("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ng</a:t>
            </a:r>
            <a:r>
              <a:rPr lang="de-AT" altLang="de-DE">
                <a:latin typeface="+mn-lt"/>
              </a:rPr>
              <a:t>", 5);</a:t>
            </a:r>
          </a:p>
          <a:p>
            <a:r>
              <a:rPr lang="de-AT" altLang="de-DE">
                <a:latin typeface="+mn-lt"/>
              </a:rPr>
              <a:t>i = s.LastIndexOf("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ng</a:t>
            </a:r>
            <a:r>
              <a:rPr lang="de-AT" altLang="de-DE">
                <a:latin typeface="+mn-lt"/>
              </a:rPr>
              <a:t>");</a:t>
            </a:r>
          </a:p>
        </p:txBody>
      </p:sp>
      <p:sp>
        <p:nvSpPr>
          <p:cNvPr id="13316" name="Text Box 9"/>
          <p:cNvSpPr txBox="1">
            <a:spLocks noChangeArrowheads="1"/>
          </p:cNvSpPr>
          <p:nvPr/>
        </p:nvSpPr>
        <p:spPr bwMode="auto">
          <a:xfrm>
            <a:off x="3279775" y="2955925"/>
            <a:ext cx="5670976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Index des 1. Vorkommens von "ng" in </a:t>
            </a:r>
            <a:r>
              <a:rPr lang="de-AT" altLang="de-DE" sz="1400" i="1">
                <a:solidFill>
                  <a:srgbClr val="00B050"/>
                </a:solidFill>
                <a:latin typeface="+mn-lt"/>
              </a:rPr>
              <a:t>s</a:t>
            </a:r>
            <a:r>
              <a:rPr lang="de-AT" altLang="de-DE" sz="1400">
                <a:solidFill>
                  <a:srgbClr val="00B050"/>
                </a:solidFill>
                <a:latin typeface="+mn-lt"/>
              </a:rPr>
              <a:t> (hier 4) oder -1 wenn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der gesuchte Teilstring nicht vorkommt.</a:t>
            </a:r>
          </a:p>
          <a:p>
            <a:endParaRPr lang="de-AT" altLang="de-DE" sz="1400">
              <a:solidFill>
                <a:srgbClr val="00B050"/>
              </a:solidFill>
              <a:latin typeface="+mn-lt"/>
            </a:endParaRP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Index des 1. Vorkommens von "ng" ab Index 5 (hier 11)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Index des letzten Vorkommens von "ng" (Varianten wie oben)</a:t>
            </a:r>
          </a:p>
        </p:txBody>
      </p:sp>
      <p:sp>
        <p:nvSpPr>
          <p:cNvPr id="13317" name="Text Box 10"/>
          <p:cNvSpPr txBox="1">
            <a:spLocks noChangeArrowheads="1"/>
          </p:cNvSpPr>
          <p:nvPr/>
        </p:nvSpPr>
        <p:spPr bwMode="auto">
          <a:xfrm>
            <a:off x="746125" y="4487863"/>
            <a:ext cx="20874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x = s.Substring(2);</a:t>
            </a:r>
          </a:p>
          <a:p>
            <a:r>
              <a:rPr lang="de-AT" altLang="de-DE">
                <a:latin typeface="+mn-lt"/>
              </a:rPr>
              <a:t>x = s.Substring(2, 4);</a:t>
            </a:r>
          </a:p>
        </p:txBody>
      </p:sp>
      <p:sp>
        <p:nvSpPr>
          <p:cNvPr id="13318" name="Text Box 11"/>
          <p:cNvSpPr txBox="1">
            <a:spLocks noChangeArrowheads="1"/>
          </p:cNvSpPr>
          <p:nvPr/>
        </p:nvSpPr>
        <p:spPr bwMode="auto">
          <a:xfrm>
            <a:off x="3221038" y="4456113"/>
            <a:ext cx="563096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Teilstring ab Index 2 (hier "long string")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Teilstring ab Index 2 werden die nächsten 4 Zeichen geliefert</a:t>
            </a:r>
            <a:br>
              <a:rPr lang="de-AT" altLang="de-DE" sz="1400">
                <a:solidFill>
                  <a:srgbClr val="00B050"/>
                </a:solidFill>
                <a:latin typeface="+mn-lt"/>
              </a:rPr>
            </a:br>
            <a:r>
              <a:rPr lang="de-AT" altLang="de-DE" sz="1400">
                <a:solidFill>
                  <a:srgbClr val="00B050"/>
                </a:solidFill>
                <a:latin typeface="+mn-lt"/>
              </a:rPr>
              <a:t>// (hier: "long")</a:t>
            </a:r>
          </a:p>
        </p:txBody>
      </p:sp>
      <p:sp>
        <p:nvSpPr>
          <p:cNvPr id="13319" name="Text Box 12"/>
          <p:cNvSpPr txBox="1">
            <a:spLocks noChangeArrowheads="1"/>
          </p:cNvSpPr>
          <p:nvPr/>
        </p:nvSpPr>
        <p:spPr bwMode="auto">
          <a:xfrm>
            <a:off x="749300" y="5661025"/>
            <a:ext cx="24336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if</a:t>
            </a:r>
            <a:r>
              <a:rPr lang="de-AT" altLang="de-DE">
                <a:latin typeface="+mn-lt"/>
              </a:rPr>
              <a:t> (s.StartsWith("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abc</a:t>
            </a:r>
            <a:r>
              <a:rPr lang="de-AT" altLang="de-DE">
                <a:latin typeface="+mn-lt"/>
              </a:rPr>
              <a:t>")) ...</a:t>
            </a:r>
          </a:p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if</a:t>
            </a:r>
            <a:r>
              <a:rPr lang="de-AT" altLang="de-DE">
                <a:latin typeface="+mn-lt"/>
              </a:rPr>
              <a:t> (s.EndsWith("</a:t>
            </a:r>
            <a:r>
              <a:rPr lang="de-AT" altLang="de-DE">
                <a:solidFill>
                  <a:srgbClr val="FF0000"/>
                </a:solidFill>
                <a:latin typeface="+mn-lt"/>
              </a:rPr>
              <a:t>abc</a:t>
            </a:r>
            <a:r>
              <a:rPr lang="de-AT" altLang="de-DE">
                <a:latin typeface="+mn-lt"/>
              </a:rPr>
              <a:t>")) ...</a:t>
            </a:r>
          </a:p>
        </p:txBody>
      </p:sp>
      <p:sp>
        <p:nvSpPr>
          <p:cNvPr id="13320" name="Text Box 13"/>
          <p:cNvSpPr txBox="1">
            <a:spLocks noChangeArrowheads="1"/>
          </p:cNvSpPr>
          <p:nvPr/>
        </p:nvSpPr>
        <p:spPr bwMode="auto">
          <a:xfrm>
            <a:off x="3281363" y="5640388"/>
            <a:ext cx="30780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true, falls </a:t>
            </a:r>
            <a:r>
              <a:rPr lang="de-AT" altLang="de-DE" sz="1400" i="1">
                <a:solidFill>
                  <a:srgbClr val="00B050"/>
                </a:solidFill>
                <a:latin typeface="+mn-lt"/>
              </a:rPr>
              <a:t>s</a:t>
            </a:r>
            <a:r>
              <a:rPr lang="de-AT" altLang="de-DE" sz="1400">
                <a:solidFill>
                  <a:srgbClr val="00B050"/>
                </a:solidFill>
                <a:latin typeface="+mn-lt"/>
              </a:rPr>
              <a:t> mit "abc" beginnt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true, falls </a:t>
            </a:r>
            <a:r>
              <a:rPr lang="de-AT" altLang="de-DE" sz="1400" i="1">
                <a:solidFill>
                  <a:srgbClr val="00B050"/>
                </a:solidFill>
                <a:latin typeface="+mn-lt"/>
              </a:rPr>
              <a:t>s</a:t>
            </a:r>
            <a:r>
              <a:rPr lang="de-AT" altLang="de-DE" sz="1400">
                <a:solidFill>
                  <a:srgbClr val="00B050"/>
                </a:solidFill>
                <a:latin typeface="+mn-lt"/>
              </a:rPr>
              <a:t> mit "abc" ended</a:t>
            </a:r>
          </a:p>
        </p:txBody>
      </p:sp>
      <p:sp>
        <p:nvSpPr>
          <p:cNvPr id="13321" name="Text Box 3"/>
          <p:cNvSpPr txBox="1">
            <a:spLocks noChangeArrowheads="1"/>
          </p:cNvSpPr>
          <p:nvPr/>
        </p:nvSpPr>
        <p:spPr bwMode="auto">
          <a:xfrm>
            <a:off x="746125" y="1281113"/>
            <a:ext cx="24016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dirty="0" err="1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 dirty="0">
                <a:latin typeface="+mn-lt"/>
              </a:rPr>
              <a:t> s = "a </a:t>
            </a:r>
            <a:r>
              <a:rPr lang="de-AT" altLang="de-DE" dirty="0" err="1">
                <a:latin typeface="+mn-lt"/>
              </a:rPr>
              <a:t>long</a:t>
            </a:r>
            <a:r>
              <a:rPr lang="de-AT" altLang="de-DE" dirty="0">
                <a:latin typeface="+mn-lt"/>
              </a:rPr>
              <a:t> </a:t>
            </a:r>
            <a:r>
              <a:rPr lang="de-AT" altLang="de-DE" dirty="0" err="1">
                <a:latin typeface="+mn-lt"/>
              </a:rPr>
              <a:t>string</a:t>
            </a:r>
            <a:r>
              <a:rPr lang="de-AT" altLang="de-DE" dirty="0">
                <a:latin typeface="+mn-lt"/>
              </a:rPr>
              <a:t>";</a:t>
            </a:r>
          </a:p>
        </p:txBody>
      </p:sp>
      <p:sp>
        <p:nvSpPr>
          <p:cNvPr id="13322" name="Rectangle 14"/>
          <p:cNvSpPr>
            <a:spLocks noChangeArrowheads="1"/>
          </p:cNvSpPr>
          <p:nvPr/>
        </p:nvSpPr>
        <p:spPr bwMode="auto">
          <a:xfrm>
            <a:off x="3581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23" name="Text Box 15"/>
          <p:cNvSpPr txBox="1">
            <a:spLocks noChangeArrowheads="1"/>
          </p:cNvSpPr>
          <p:nvPr/>
        </p:nvSpPr>
        <p:spPr bwMode="auto">
          <a:xfrm>
            <a:off x="35560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a</a:t>
            </a:r>
          </a:p>
        </p:txBody>
      </p:sp>
      <p:sp>
        <p:nvSpPr>
          <p:cNvPr id="13324" name="Text Box 16"/>
          <p:cNvSpPr txBox="1">
            <a:spLocks noChangeArrowheads="1"/>
          </p:cNvSpPr>
          <p:nvPr/>
        </p:nvSpPr>
        <p:spPr bwMode="auto">
          <a:xfrm>
            <a:off x="35560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0</a:t>
            </a:r>
          </a:p>
        </p:txBody>
      </p:sp>
      <p:sp>
        <p:nvSpPr>
          <p:cNvPr id="13325" name="Rectangle 17"/>
          <p:cNvSpPr>
            <a:spLocks noChangeArrowheads="1"/>
          </p:cNvSpPr>
          <p:nvPr/>
        </p:nvSpPr>
        <p:spPr bwMode="auto">
          <a:xfrm>
            <a:off x="3810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26" name="Text Box 18"/>
          <p:cNvSpPr txBox="1">
            <a:spLocks noChangeArrowheads="1"/>
          </p:cNvSpPr>
          <p:nvPr/>
        </p:nvSpPr>
        <p:spPr bwMode="auto">
          <a:xfrm>
            <a:off x="37846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</a:t>
            </a:r>
          </a:p>
        </p:txBody>
      </p:sp>
      <p:sp>
        <p:nvSpPr>
          <p:cNvPr id="13327" name="Rectangle 19"/>
          <p:cNvSpPr>
            <a:spLocks noChangeArrowheads="1"/>
          </p:cNvSpPr>
          <p:nvPr/>
        </p:nvSpPr>
        <p:spPr bwMode="auto">
          <a:xfrm>
            <a:off x="4038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28" name="Text Box 20"/>
          <p:cNvSpPr txBox="1">
            <a:spLocks noChangeArrowheads="1"/>
          </p:cNvSpPr>
          <p:nvPr/>
        </p:nvSpPr>
        <p:spPr bwMode="auto">
          <a:xfrm>
            <a:off x="4013200" y="129540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l</a:t>
            </a:r>
          </a:p>
        </p:txBody>
      </p:sp>
      <p:sp>
        <p:nvSpPr>
          <p:cNvPr id="13329" name="Text Box 21"/>
          <p:cNvSpPr txBox="1">
            <a:spLocks noChangeArrowheads="1"/>
          </p:cNvSpPr>
          <p:nvPr/>
        </p:nvSpPr>
        <p:spPr bwMode="auto">
          <a:xfrm>
            <a:off x="40132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2</a:t>
            </a:r>
          </a:p>
        </p:txBody>
      </p:sp>
      <p:sp>
        <p:nvSpPr>
          <p:cNvPr id="13330" name="Rectangle 22"/>
          <p:cNvSpPr>
            <a:spLocks noChangeArrowheads="1"/>
          </p:cNvSpPr>
          <p:nvPr/>
        </p:nvSpPr>
        <p:spPr bwMode="auto">
          <a:xfrm>
            <a:off x="42672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31" name="Text Box 23"/>
          <p:cNvSpPr txBox="1">
            <a:spLocks noChangeArrowheads="1"/>
          </p:cNvSpPr>
          <p:nvPr/>
        </p:nvSpPr>
        <p:spPr bwMode="auto">
          <a:xfrm>
            <a:off x="42418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o</a:t>
            </a:r>
          </a:p>
        </p:txBody>
      </p:sp>
      <p:sp>
        <p:nvSpPr>
          <p:cNvPr id="13332" name="Text Box 24"/>
          <p:cNvSpPr txBox="1">
            <a:spLocks noChangeArrowheads="1"/>
          </p:cNvSpPr>
          <p:nvPr/>
        </p:nvSpPr>
        <p:spPr bwMode="auto">
          <a:xfrm>
            <a:off x="42418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3</a:t>
            </a:r>
          </a:p>
        </p:txBody>
      </p:sp>
      <p:sp>
        <p:nvSpPr>
          <p:cNvPr id="13333" name="Rectangle 25"/>
          <p:cNvSpPr>
            <a:spLocks noChangeArrowheads="1"/>
          </p:cNvSpPr>
          <p:nvPr/>
        </p:nvSpPr>
        <p:spPr bwMode="auto">
          <a:xfrm>
            <a:off x="44958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34" name="Text Box 26"/>
          <p:cNvSpPr txBox="1">
            <a:spLocks noChangeArrowheads="1"/>
          </p:cNvSpPr>
          <p:nvPr/>
        </p:nvSpPr>
        <p:spPr bwMode="auto">
          <a:xfrm>
            <a:off x="44704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n</a:t>
            </a:r>
          </a:p>
        </p:txBody>
      </p:sp>
      <p:sp>
        <p:nvSpPr>
          <p:cNvPr id="13335" name="Text Box 27"/>
          <p:cNvSpPr txBox="1">
            <a:spLocks noChangeArrowheads="1"/>
          </p:cNvSpPr>
          <p:nvPr/>
        </p:nvSpPr>
        <p:spPr bwMode="auto">
          <a:xfrm>
            <a:off x="44704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4</a:t>
            </a:r>
          </a:p>
        </p:txBody>
      </p:sp>
      <p:sp>
        <p:nvSpPr>
          <p:cNvPr id="13336" name="Rectangle 28"/>
          <p:cNvSpPr>
            <a:spLocks noChangeArrowheads="1"/>
          </p:cNvSpPr>
          <p:nvPr/>
        </p:nvSpPr>
        <p:spPr bwMode="auto">
          <a:xfrm>
            <a:off x="4724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37" name="Text Box 29"/>
          <p:cNvSpPr txBox="1">
            <a:spLocks noChangeArrowheads="1"/>
          </p:cNvSpPr>
          <p:nvPr/>
        </p:nvSpPr>
        <p:spPr bwMode="auto">
          <a:xfrm>
            <a:off x="46990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g</a:t>
            </a:r>
          </a:p>
        </p:txBody>
      </p:sp>
      <p:sp>
        <p:nvSpPr>
          <p:cNvPr id="13338" name="Text Box 30"/>
          <p:cNvSpPr txBox="1">
            <a:spLocks noChangeArrowheads="1"/>
          </p:cNvSpPr>
          <p:nvPr/>
        </p:nvSpPr>
        <p:spPr bwMode="auto">
          <a:xfrm>
            <a:off x="46990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5</a:t>
            </a:r>
          </a:p>
        </p:txBody>
      </p:sp>
      <p:sp>
        <p:nvSpPr>
          <p:cNvPr id="13339" name="Rectangle 31"/>
          <p:cNvSpPr>
            <a:spLocks noChangeArrowheads="1"/>
          </p:cNvSpPr>
          <p:nvPr/>
        </p:nvSpPr>
        <p:spPr bwMode="auto">
          <a:xfrm>
            <a:off x="4953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40" name="Text Box 32"/>
          <p:cNvSpPr txBox="1">
            <a:spLocks noChangeArrowheads="1"/>
          </p:cNvSpPr>
          <p:nvPr/>
        </p:nvSpPr>
        <p:spPr bwMode="auto">
          <a:xfrm>
            <a:off x="49276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6</a:t>
            </a:r>
          </a:p>
        </p:txBody>
      </p:sp>
      <p:sp>
        <p:nvSpPr>
          <p:cNvPr id="13341" name="Rectangle 33"/>
          <p:cNvSpPr>
            <a:spLocks noChangeArrowheads="1"/>
          </p:cNvSpPr>
          <p:nvPr/>
        </p:nvSpPr>
        <p:spPr bwMode="auto">
          <a:xfrm>
            <a:off x="5181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42" name="Text Box 34"/>
          <p:cNvSpPr txBox="1">
            <a:spLocks noChangeArrowheads="1"/>
          </p:cNvSpPr>
          <p:nvPr/>
        </p:nvSpPr>
        <p:spPr bwMode="auto">
          <a:xfrm>
            <a:off x="5156200" y="1295400"/>
            <a:ext cx="3209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S</a:t>
            </a:r>
          </a:p>
        </p:txBody>
      </p:sp>
      <p:sp>
        <p:nvSpPr>
          <p:cNvPr id="13343" name="Text Box 35"/>
          <p:cNvSpPr txBox="1">
            <a:spLocks noChangeArrowheads="1"/>
          </p:cNvSpPr>
          <p:nvPr/>
        </p:nvSpPr>
        <p:spPr bwMode="auto">
          <a:xfrm>
            <a:off x="51562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7</a:t>
            </a:r>
          </a:p>
        </p:txBody>
      </p:sp>
      <p:sp>
        <p:nvSpPr>
          <p:cNvPr id="13344" name="Rectangle 36"/>
          <p:cNvSpPr>
            <a:spLocks noChangeArrowheads="1"/>
          </p:cNvSpPr>
          <p:nvPr/>
        </p:nvSpPr>
        <p:spPr bwMode="auto">
          <a:xfrm>
            <a:off x="54102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45" name="Text Box 37"/>
          <p:cNvSpPr txBox="1">
            <a:spLocks noChangeArrowheads="1"/>
          </p:cNvSpPr>
          <p:nvPr/>
        </p:nvSpPr>
        <p:spPr bwMode="auto">
          <a:xfrm>
            <a:off x="5384800" y="1295400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t</a:t>
            </a:r>
          </a:p>
        </p:txBody>
      </p:sp>
      <p:sp>
        <p:nvSpPr>
          <p:cNvPr id="13346" name="Text Box 38"/>
          <p:cNvSpPr txBox="1">
            <a:spLocks noChangeArrowheads="1"/>
          </p:cNvSpPr>
          <p:nvPr/>
        </p:nvSpPr>
        <p:spPr bwMode="auto">
          <a:xfrm>
            <a:off x="53848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8</a:t>
            </a:r>
          </a:p>
        </p:txBody>
      </p:sp>
      <p:sp>
        <p:nvSpPr>
          <p:cNvPr id="13347" name="Rectangle 39"/>
          <p:cNvSpPr>
            <a:spLocks noChangeArrowheads="1"/>
          </p:cNvSpPr>
          <p:nvPr/>
        </p:nvSpPr>
        <p:spPr bwMode="auto">
          <a:xfrm>
            <a:off x="56388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48" name="Text Box 40"/>
          <p:cNvSpPr txBox="1">
            <a:spLocks noChangeArrowheads="1"/>
          </p:cNvSpPr>
          <p:nvPr/>
        </p:nvSpPr>
        <p:spPr bwMode="auto">
          <a:xfrm>
            <a:off x="5613400" y="1295400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r</a:t>
            </a:r>
          </a:p>
        </p:txBody>
      </p:sp>
      <p:sp>
        <p:nvSpPr>
          <p:cNvPr id="13349" name="Text Box 41"/>
          <p:cNvSpPr txBox="1">
            <a:spLocks noChangeArrowheads="1"/>
          </p:cNvSpPr>
          <p:nvPr/>
        </p:nvSpPr>
        <p:spPr bwMode="auto">
          <a:xfrm>
            <a:off x="5613400" y="109855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9</a:t>
            </a:r>
          </a:p>
        </p:txBody>
      </p:sp>
      <p:sp>
        <p:nvSpPr>
          <p:cNvPr id="13350" name="Rectangle 42"/>
          <p:cNvSpPr>
            <a:spLocks noChangeArrowheads="1"/>
          </p:cNvSpPr>
          <p:nvPr/>
        </p:nvSpPr>
        <p:spPr bwMode="auto">
          <a:xfrm>
            <a:off x="58674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51" name="Text Box 43"/>
          <p:cNvSpPr txBox="1">
            <a:spLocks noChangeArrowheads="1"/>
          </p:cNvSpPr>
          <p:nvPr/>
        </p:nvSpPr>
        <p:spPr bwMode="auto">
          <a:xfrm>
            <a:off x="5842000" y="129540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i</a:t>
            </a:r>
          </a:p>
        </p:txBody>
      </p:sp>
      <p:sp>
        <p:nvSpPr>
          <p:cNvPr id="13352" name="Text Box 44"/>
          <p:cNvSpPr txBox="1">
            <a:spLocks noChangeArrowheads="1"/>
          </p:cNvSpPr>
          <p:nvPr/>
        </p:nvSpPr>
        <p:spPr bwMode="auto">
          <a:xfrm>
            <a:off x="5797550" y="1098550"/>
            <a:ext cx="406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 dirty="0">
                <a:latin typeface="+mn-lt"/>
              </a:rPr>
              <a:t>10</a:t>
            </a:r>
          </a:p>
        </p:txBody>
      </p:sp>
      <p:sp>
        <p:nvSpPr>
          <p:cNvPr id="13353" name="Rectangle 45"/>
          <p:cNvSpPr>
            <a:spLocks noChangeArrowheads="1"/>
          </p:cNvSpPr>
          <p:nvPr/>
        </p:nvSpPr>
        <p:spPr bwMode="auto">
          <a:xfrm>
            <a:off x="60960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54" name="Text Box 46"/>
          <p:cNvSpPr txBox="1">
            <a:spLocks noChangeArrowheads="1"/>
          </p:cNvSpPr>
          <p:nvPr/>
        </p:nvSpPr>
        <p:spPr bwMode="auto">
          <a:xfrm>
            <a:off x="60706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n</a:t>
            </a:r>
          </a:p>
        </p:txBody>
      </p:sp>
      <p:sp>
        <p:nvSpPr>
          <p:cNvPr id="13355" name="Text Box 47"/>
          <p:cNvSpPr txBox="1">
            <a:spLocks noChangeArrowheads="1"/>
          </p:cNvSpPr>
          <p:nvPr/>
        </p:nvSpPr>
        <p:spPr bwMode="auto">
          <a:xfrm>
            <a:off x="6019800" y="10985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11</a:t>
            </a:r>
          </a:p>
        </p:txBody>
      </p:sp>
      <p:sp>
        <p:nvSpPr>
          <p:cNvPr id="13356" name="Rectangle 48"/>
          <p:cNvSpPr>
            <a:spLocks noChangeArrowheads="1"/>
          </p:cNvSpPr>
          <p:nvPr/>
        </p:nvSpPr>
        <p:spPr bwMode="auto">
          <a:xfrm>
            <a:off x="6324600" y="1327150"/>
            <a:ext cx="228600" cy="27305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>
              <a:latin typeface="+mn-lt"/>
            </a:endParaRPr>
          </a:p>
        </p:txBody>
      </p:sp>
      <p:sp>
        <p:nvSpPr>
          <p:cNvPr id="13357" name="Text Box 49"/>
          <p:cNvSpPr txBox="1">
            <a:spLocks noChangeArrowheads="1"/>
          </p:cNvSpPr>
          <p:nvPr/>
        </p:nvSpPr>
        <p:spPr bwMode="auto">
          <a:xfrm>
            <a:off x="6299200" y="1295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latin typeface="+mn-lt"/>
              </a:rPr>
              <a:t>g</a:t>
            </a:r>
          </a:p>
        </p:txBody>
      </p:sp>
      <p:sp>
        <p:nvSpPr>
          <p:cNvPr id="13358" name="Text Box 50"/>
          <p:cNvSpPr txBox="1">
            <a:spLocks noChangeArrowheads="1"/>
          </p:cNvSpPr>
          <p:nvPr/>
        </p:nvSpPr>
        <p:spPr bwMode="auto">
          <a:xfrm>
            <a:off x="6248400" y="10985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200">
                <a:latin typeface="+mn-lt"/>
              </a:rPr>
              <a:t>12</a:t>
            </a:r>
          </a:p>
        </p:txBody>
      </p:sp>
      <p:sp>
        <p:nvSpPr>
          <p:cNvPr id="13359" name="Text Box 12"/>
          <p:cNvSpPr txBox="1">
            <a:spLocks noChangeArrowheads="1"/>
          </p:cNvSpPr>
          <p:nvPr/>
        </p:nvSpPr>
        <p:spPr bwMode="auto">
          <a:xfrm>
            <a:off x="746125" y="1720850"/>
            <a:ext cx="16526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altLang="de-DE">
                <a:latin typeface="+mn-lt"/>
              </a:rPr>
              <a:t> x;</a:t>
            </a:r>
            <a:endParaRPr lang="de-AT" altLang="de-DE">
              <a:solidFill>
                <a:schemeClr val="accent2"/>
              </a:solidFill>
              <a:latin typeface="+mn-lt"/>
            </a:endParaRPr>
          </a:p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x = </a:t>
            </a:r>
            <a:r>
              <a:rPr lang="de-AT" altLang="de-DE">
                <a:latin typeface="+mn-lt"/>
              </a:rPr>
              <a:t>s.ToUpper();</a:t>
            </a:r>
          </a:p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x = </a:t>
            </a:r>
            <a:r>
              <a:rPr lang="de-AT" altLang="de-DE">
                <a:latin typeface="+mn-lt"/>
              </a:rPr>
              <a:t>s.ToLower();</a:t>
            </a:r>
          </a:p>
        </p:txBody>
      </p:sp>
      <p:sp>
        <p:nvSpPr>
          <p:cNvPr id="13360" name="Text Box 13"/>
          <p:cNvSpPr txBox="1">
            <a:spLocks noChangeArrowheads="1"/>
          </p:cNvSpPr>
          <p:nvPr/>
        </p:nvSpPr>
        <p:spPr bwMode="auto">
          <a:xfrm>
            <a:off x="3275013" y="1985963"/>
            <a:ext cx="45125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s in Großbuchstaben (hier „A LONG STRING“)</a:t>
            </a:r>
          </a:p>
          <a:p>
            <a:r>
              <a:rPr lang="de-AT" altLang="de-DE" sz="1400">
                <a:solidFill>
                  <a:srgbClr val="00B050"/>
                </a:solidFill>
                <a:latin typeface="+mn-lt"/>
              </a:rPr>
              <a:t>// liefert s in Kleinbuchstaben (hier: „a long string“)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/>
              <a:t>Weitere Stringfunktionen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882650" y="1557338"/>
            <a:ext cx="8028929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de-AT" dirty="0">
                <a:latin typeface="+mn-lt"/>
              </a:rPr>
              <a:t>Suche mit einer Suchmaschine (z.B. Google) nach C# </a:t>
            </a:r>
            <a:r>
              <a:rPr lang="de-AT" dirty="0" err="1">
                <a:latin typeface="+mn-lt"/>
              </a:rPr>
              <a:t>Stringfunktionen</a:t>
            </a:r>
            <a:r>
              <a:rPr lang="de-AT" dirty="0">
                <a:latin typeface="+mn-lt"/>
              </a:rPr>
              <a:t>.</a:t>
            </a:r>
          </a:p>
          <a:p>
            <a:pPr marL="285750" indent="-285750">
              <a:buFontTx/>
              <a:buChar char="-"/>
              <a:defRPr/>
            </a:pPr>
            <a:endParaRPr lang="de-AT" dirty="0">
              <a:latin typeface="+mn-lt"/>
            </a:endParaRPr>
          </a:p>
          <a:p>
            <a:pPr marL="285750" indent="-285750">
              <a:buFontTx/>
              <a:buChar char="-"/>
              <a:defRPr/>
            </a:pPr>
            <a:r>
              <a:rPr lang="de-AT" dirty="0">
                <a:latin typeface="+mn-lt"/>
              </a:rPr>
              <a:t>Die Microsoft C# (.NET) Dokumentation ist ebenfalls hilfreich:</a:t>
            </a:r>
          </a:p>
          <a:p>
            <a:pPr marL="285750" indent="-285750">
              <a:buFontTx/>
              <a:buChar char="-"/>
              <a:defRPr/>
            </a:pPr>
            <a:endParaRPr lang="de-AT" dirty="0">
              <a:latin typeface="+mn-lt"/>
            </a:endParaRPr>
          </a:p>
          <a:p>
            <a:pPr>
              <a:defRPr/>
            </a:pPr>
            <a:r>
              <a:rPr lang="de-AT" dirty="0">
                <a:latin typeface="+mn-lt"/>
                <a:hlinkClick r:id="rId2"/>
              </a:rPr>
              <a:t>http://msdn.microsoft.com/de-de/library/system.string_methods%28v=vs.110%29.aspx</a:t>
            </a:r>
            <a:endParaRPr lang="de-AT" dirty="0">
              <a:latin typeface="+mn-lt"/>
            </a:endParaRPr>
          </a:p>
          <a:p>
            <a:pPr marL="285750" indent="-285750">
              <a:buFontTx/>
              <a:buChar char="-"/>
              <a:defRPr/>
            </a:pPr>
            <a:endParaRPr lang="de-AT" dirty="0">
              <a:latin typeface="+mn-lt"/>
            </a:endParaRPr>
          </a:p>
          <a:p>
            <a:pPr marL="285750" indent="-285750">
              <a:buFontTx/>
              <a:buChar char="-"/>
              <a:defRPr/>
            </a:pPr>
            <a:endParaRPr lang="de-AT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mtClean="0"/>
              <a:t>Stringkonversionen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746125" y="1433513"/>
            <a:ext cx="3151825" cy="10772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dirty="0" err="1">
                <a:solidFill>
                  <a:schemeClr val="accent2"/>
                </a:solidFill>
                <a:latin typeface="+mn-lt"/>
              </a:rPr>
              <a:t>int</a:t>
            </a:r>
            <a:r>
              <a:rPr lang="de-AT" dirty="0">
                <a:latin typeface="+mn-lt"/>
              </a:rPr>
              <a:t> i = </a:t>
            </a:r>
            <a:r>
              <a:rPr lang="de-AT" dirty="0" err="1">
                <a:latin typeface="+mn-lt"/>
              </a:rPr>
              <a:t>int.Parse</a:t>
            </a:r>
            <a:r>
              <a:rPr lang="de-AT" dirty="0">
                <a:latin typeface="+mn-lt"/>
              </a:rPr>
              <a:t>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"123"</a:t>
            </a:r>
            <a:r>
              <a:rPr lang="de-AT" dirty="0">
                <a:latin typeface="+mn-lt"/>
              </a:rPr>
              <a:t>);</a:t>
            </a:r>
          </a:p>
          <a:p>
            <a:pPr>
              <a:defRPr/>
            </a:pPr>
            <a:r>
              <a:rPr lang="de-AT" dirty="0">
                <a:latin typeface="+mn-lt"/>
              </a:rPr>
              <a:t>i = </a:t>
            </a:r>
            <a:r>
              <a:rPr lang="de-AT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Convert</a:t>
            </a:r>
            <a:r>
              <a:rPr lang="de-AT" dirty="0">
                <a:latin typeface="+mn-lt"/>
              </a:rPr>
              <a:t>.ToInt32(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"123"</a:t>
            </a:r>
            <a:r>
              <a:rPr lang="de-AT" dirty="0">
                <a:latin typeface="+mn-lt"/>
              </a:rPr>
              <a:t>);</a:t>
            </a:r>
          </a:p>
          <a:p>
            <a:pPr>
              <a:defRPr/>
            </a:pPr>
            <a:r>
              <a:rPr lang="de-AT" dirty="0">
                <a:solidFill>
                  <a:schemeClr val="accent2"/>
                </a:solidFill>
                <a:latin typeface="+mn-lt"/>
              </a:rPr>
              <a:t>double </a:t>
            </a:r>
            <a:r>
              <a:rPr lang="de-AT" dirty="0">
                <a:latin typeface="+mn-lt"/>
              </a:rPr>
              <a:t>d = </a:t>
            </a:r>
            <a:r>
              <a:rPr lang="de-AT" dirty="0" err="1">
                <a:latin typeface="+mn-lt"/>
              </a:rPr>
              <a:t>double.Parse</a:t>
            </a:r>
            <a:r>
              <a:rPr lang="de-AT" dirty="0">
                <a:latin typeface="+mn-lt"/>
              </a:rPr>
              <a:t>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"3.14"</a:t>
            </a:r>
            <a:r>
              <a:rPr lang="de-AT" dirty="0">
                <a:latin typeface="+mn-lt"/>
              </a:rPr>
              <a:t>);</a:t>
            </a:r>
          </a:p>
          <a:p>
            <a:pPr>
              <a:defRPr/>
            </a:pPr>
            <a:r>
              <a:rPr lang="de-AT" dirty="0">
                <a:latin typeface="+mn-lt"/>
              </a:rPr>
              <a:t>d = </a:t>
            </a:r>
            <a:r>
              <a:rPr lang="de-AT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Convert</a:t>
            </a:r>
            <a:r>
              <a:rPr lang="de-AT" dirty="0" err="1">
                <a:latin typeface="+mn-lt"/>
              </a:rPr>
              <a:t>.ToDouble</a:t>
            </a:r>
            <a:r>
              <a:rPr lang="de-AT" dirty="0">
                <a:latin typeface="+mn-lt"/>
              </a:rPr>
              <a:t>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"3.14"</a:t>
            </a:r>
            <a:r>
              <a:rPr lang="de-AT" dirty="0">
                <a:latin typeface="+mn-lt"/>
              </a:rPr>
              <a:t>);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5410200" y="1412875"/>
            <a:ext cx="16161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String </a:t>
            </a:r>
            <a:r>
              <a:rPr lang="de-AT" altLang="de-DE" sz="1400">
                <a:solidFill>
                  <a:srgbClr val="009900"/>
                </a:solidFill>
                <a:latin typeface="+mn-lt"/>
                <a:sym typeface="Symbol" panose="05050102010706020507" pitchFamily="18" charset="2"/>
              </a:rPr>
              <a:t></a:t>
            </a:r>
            <a:r>
              <a:rPr lang="de-AT" altLang="de-DE" sz="1400">
                <a:solidFill>
                  <a:srgbClr val="009900"/>
                </a:solidFill>
                <a:latin typeface="+mn-lt"/>
              </a:rPr>
              <a:t> int</a:t>
            </a:r>
          </a:p>
          <a:p>
            <a:endParaRPr lang="de-AT" altLang="de-DE" sz="1400">
              <a:solidFill>
                <a:srgbClr val="009900"/>
              </a:solidFill>
              <a:latin typeface="+mn-lt"/>
            </a:endParaRP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String </a:t>
            </a:r>
            <a:r>
              <a:rPr lang="de-AT" altLang="de-DE" sz="1400">
                <a:solidFill>
                  <a:srgbClr val="009900"/>
                </a:solidFill>
                <a:latin typeface="+mn-lt"/>
                <a:sym typeface="Symbol" panose="05050102010706020507" pitchFamily="18" charset="2"/>
              </a:rPr>
              <a:t></a:t>
            </a:r>
            <a:r>
              <a:rPr lang="de-AT" altLang="de-DE" sz="1400">
                <a:solidFill>
                  <a:srgbClr val="009900"/>
                </a:solidFill>
                <a:latin typeface="+mn-lt"/>
              </a:rPr>
              <a:t> double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755650" y="4795838"/>
            <a:ext cx="2644955" cy="8309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dirty="0" err="1">
                <a:solidFill>
                  <a:schemeClr val="accent2"/>
                </a:solidFill>
                <a:latin typeface="+mn-lt"/>
              </a:rPr>
              <a:t>string</a:t>
            </a:r>
            <a:r>
              <a:rPr lang="de-AT" dirty="0">
                <a:latin typeface="+mn-lt"/>
              </a:rPr>
              <a:t> s;</a:t>
            </a:r>
          </a:p>
          <a:p>
            <a:pPr>
              <a:defRPr/>
            </a:pPr>
            <a:r>
              <a:rPr lang="de-AT" dirty="0">
                <a:latin typeface="+mn-lt"/>
              </a:rPr>
              <a:t>s = </a:t>
            </a:r>
            <a:r>
              <a:rPr lang="de-AT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Convert</a:t>
            </a:r>
            <a:r>
              <a:rPr lang="de-AT" dirty="0" err="1">
                <a:latin typeface="+mn-lt"/>
              </a:rPr>
              <a:t>.ToString</a:t>
            </a:r>
            <a:r>
              <a:rPr lang="de-AT" dirty="0">
                <a:latin typeface="+mn-lt"/>
              </a:rPr>
              <a:t>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123</a:t>
            </a:r>
            <a:r>
              <a:rPr lang="de-AT" dirty="0">
                <a:latin typeface="+mn-lt"/>
              </a:rPr>
              <a:t>);</a:t>
            </a:r>
          </a:p>
          <a:p>
            <a:pPr>
              <a:defRPr/>
            </a:pPr>
            <a:r>
              <a:rPr lang="de-AT" dirty="0">
                <a:latin typeface="+mn-lt"/>
              </a:rPr>
              <a:t>s = </a:t>
            </a:r>
            <a:r>
              <a:rPr lang="de-AT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Convert</a:t>
            </a:r>
            <a:r>
              <a:rPr lang="de-AT" dirty="0" err="1">
                <a:latin typeface="+mn-lt"/>
              </a:rPr>
              <a:t>.ToString</a:t>
            </a:r>
            <a:r>
              <a:rPr lang="de-AT" dirty="0">
                <a:latin typeface="+mn-lt"/>
              </a:rPr>
              <a:t>(</a:t>
            </a:r>
            <a:r>
              <a:rPr lang="de-AT" dirty="0">
                <a:solidFill>
                  <a:srgbClr val="FF0000"/>
                </a:solidFill>
                <a:latin typeface="+mn-lt"/>
              </a:rPr>
              <a:t>3.14</a:t>
            </a:r>
            <a:r>
              <a:rPr lang="de-AT" dirty="0">
                <a:latin typeface="+mn-lt"/>
              </a:rPr>
              <a:t>);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508625" y="4797425"/>
            <a:ext cx="16161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de-AT" altLang="de-DE" sz="1400">
              <a:latin typeface="+mn-lt"/>
            </a:endParaRP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int </a:t>
            </a:r>
            <a:r>
              <a:rPr lang="de-AT" altLang="de-DE" sz="1400">
                <a:solidFill>
                  <a:srgbClr val="009900"/>
                </a:solidFill>
                <a:latin typeface="+mn-lt"/>
                <a:sym typeface="Symbol" panose="05050102010706020507" pitchFamily="18" charset="2"/>
              </a:rPr>
              <a:t></a:t>
            </a:r>
            <a:r>
              <a:rPr lang="de-AT" altLang="de-DE" sz="1400">
                <a:solidFill>
                  <a:srgbClr val="009900"/>
                </a:solidFill>
                <a:latin typeface="+mn-lt"/>
              </a:rPr>
              <a:t> String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double </a:t>
            </a:r>
            <a:r>
              <a:rPr lang="de-AT" altLang="de-DE" sz="1400">
                <a:solidFill>
                  <a:srgbClr val="009900"/>
                </a:solidFill>
                <a:latin typeface="+mn-lt"/>
                <a:sym typeface="Symbol" panose="05050102010706020507" pitchFamily="18" charset="2"/>
              </a:rPr>
              <a:t></a:t>
            </a:r>
            <a:r>
              <a:rPr lang="de-AT" altLang="de-DE" sz="1400">
                <a:solidFill>
                  <a:srgbClr val="009900"/>
                </a:solidFill>
                <a:latin typeface="+mn-lt"/>
              </a:rPr>
              <a:t> String</a:t>
            </a:r>
          </a:p>
        </p:txBody>
      </p:sp>
      <p:sp>
        <p:nvSpPr>
          <p:cNvPr id="15367" name="Text Box 3"/>
          <p:cNvSpPr txBox="1">
            <a:spLocks noChangeArrowheads="1"/>
          </p:cNvSpPr>
          <p:nvPr/>
        </p:nvSpPr>
        <p:spPr bwMode="auto">
          <a:xfrm>
            <a:off x="746125" y="2855913"/>
            <a:ext cx="44275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int</a:t>
            </a:r>
            <a:r>
              <a:rPr lang="de-AT" altLang="de-DE">
                <a:latin typeface="+mn-lt"/>
              </a:rPr>
              <a:t> x;</a:t>
            </a:r>
          </a:p>
          <a:p>
            <a:endParaRPr lang="de-AT" altLang="de-DE">
              <a:latin typeface="+mn-lt"/>
            </a:endParaRPr>
          </a:p>
          <a:p>
            <a:r>
              <a:rPr lang="en-US" altLang="de-DE">
                <a:solidFill>
                  <a:schemeClr val="accent2"/>
                </a:solidFill>
                <a:latin typeface="+mn-lt"/>
              </a:rPr>
              <a:t>if</a:t>
            </a:r>
            <a:r>
              <a:rPr lang="en-US" altLang="de-DE">
                <a:latin typeface="+mn-lt"/>
              </a:rPr>
              <a:t> (int.TryParse(</a:t>
            </a:r>
            <a:r>
              <a:rPr lang="en-US" altLang="de-DE">
                <a:solidFill>
                  <a:srgbClr val="FF5050"/>
                </a:solidFill>
                <a:latin typeface="+mn-lt"/>
              </a:rPr>
              <a:t>"123"</a:t>
            </a:r>
            <a:r>
              <a:rPr lang="en-US" altLang="de-DE">
                <a:latin typeface="+mn-lt"/>
              </a:rPr>
              <a:t>, </a:t>
            </a:r>
            <a:r>
              <a:rPr lang="en-US" altLang="de-DE">
                <a:solidFill>
                  <a:schemeClr val="accent2"/>
                </a:solidFill>
                <a:latin typeface="+mn-lt"/>
              </a:rPr>
              <a:t>out</a:t>
            </a:r>
            <a:r>
              <a:rPr lang="en-US" altLang="de-DE">
                <a:latin typeface="+mn-lt"/>
              </a:rPr>
              <a:t> x) == </a:t>
            </a:r>
            <a:r>
              <a:rPr lang="en-US" altLang="de-DE">
                <a:solidFill>
                  <a:schemeClr val="accent2"/>
                </a:solidFill>
                <a:latin typeface="+mn-lt"/>
              </a:rPr>
              <a:t>true</a:t>
            </a:r>
            <a:r>
              <a:rPr lang="en-US" altLang="de-DE">
                <a:latin typeface="+mn-lt"/>
              </a:rPr>
              <a:t>)…</a:t>
            </a:r>
          </a:p>
        </p:txBody>
      </p:sp>
      <p:sp>
        <p:nvSpPr>
          <p:cNvPr id="15368" name="Text Box 4"/>
          <p:cNvSpPr txBox="1">
            <a:spLocks noChangeArrowheads="1"/>
          </p:cNvSpPr>
          <p:nvPr/>
        </p:nvSpPr>
        <p:spPr bwMode="auto">
          <a:xfrm>
            <a:off x="5449888" y="2633663"/>
            <a:ext cx="3278462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Konvertierung mit Gültigkeitsprüfung: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Wenn die Konvertierung gut geht,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dann liefert die Methode true und 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der konvertierte Wert steht in x</a:t>
            </a:r>
          </a:p>
        </p:txBody>
      </p:sp>
      <p:sp>
        <p:nvSpPr>
          <p:cNvPr id="15369" name="Text Box 3"/>
          <p:cNvSpPr txBox="1">
            <a:spLocks noChangeArrowheads="1"/>
          </p:cNvSpPr>
          <p:nvPr/>
        </p:nvSpPr>
        <p:spPr bwMode="auto">
          <a:xfrm>
            <a:off x="746125" y="3822700"/>
            <a:ext cx="4088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>
                <a:solidFill>
                  <a:schemeClr val="accent2"/>
                </a:solidFill>
                <a:latin typeface="+mn-lt"/>
              </a:rPr>
              <a:t>double d</a:t>
            </a:r>
            <a:r>
              <a:rPr lang="de-AT" altLang="de-DE">
                <a:latin typeface="+mn-lt"/>
              </a:rPr>
              <a:t>;</a:t>
            </a:r>
          </a:p>
          <a:p>
            <a:endParaRPr lang="de-AT" altLang="de-DE">
              <a:latin typeface="+mn-lt"/>
            </a:endParaRPr>
          </a:p>
          <a:p>
            <a:r>
              <a:rPr lang="en-US" altLang="de-DE">
                <a:solidFill>
                  <a:schemeClr val="accent2"/>
                </a:solidFill>
                <a:latin typeface="+mn-lt"/>
              </a:rPr>
              <a:t>if</a:t>
            </a:r>
            <a:r>
              <a:rPr lang="en-US" altLang="de-DE">
                <a:latin typeface="+mn-lt"/>
              </a:rPr>
              <a:t> (double.TryParse(</a:t>
            </a:r>
            <a:r>
              <a:rPr lang="en-US" altLang="de-DE">
                <a:solidFill>
                  <a:srgbClr val="FF5050"/>
                </a:solidFill>
                <a:latin typeface="+mn-lt"/>
              </a:rPr>
              <a:t>“3.14"</a:t>
            </a:r>
            <a:r>
              <a:rPr lang="en-US" altLang="de-DE">
                <a:latin typeface="+mn-lt"/>
              </a:rPr>
              <a:t>, </a:t>
            </a:r>
            <a:r>
              <a:rPr lang="en-US" altLang="de-DE">
                <a:solidFill>
                  <a:schemeClr val="accent2"/>
                </a:solidFill>
                <a:latin typeface="+mn-lt"/>
              </a:rPr>
              <a:t>out</a:t>
            </a:r>
            <a:r>
              <a:rPr lang="en-US" altLang="de-DE">
                <a:latin typeface="+mn-lt"/>
              </a:rPr>
              <a:t> f) == </a:t>
            </a:r>
            <a:r>
              <a:rPr lang="en-US" altLang="de-DE">
                <a:solidFill>
                  <a:schemeClr val="accent2"/>
                </a:solidFill>
                <a:latin typeface="+mn-lt"/>
              </a:rPr>
              <a:t>true</a:t>
            </a:r>
            <a:r>
              <a:rPr lang="en-US" altLang="de-DE">
                <a:latin typeface="+mn-lt"/>
              </a:rPr>
              <a:t>)…</a:t>
            </a:r>
          </a:p>
        </p:txBody>
      </p:sp>
      <p:sp>
        <p:nvSpPr>
          <p:cNvPr id="15370" name="Text Box 4"/>
          <p:cNvSpPr txBox="1">
            <a:spLocks noChangeArrowheads="1"/>
          </p:cNvSpPr>
          <p:nvPr/>
        </p:nvSpPr>
        <p:spPr bwMode="auto">
          <a:xfrm>
            <a:off x="5435600" y="3860800"/>
            <a:ext cx="325922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Diese Möglichkeit der Konvertierung 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gibt es für alle einfachen Typen</a:t>
            </a:r>
          </a:p>
          <a:p>
            <a:r>
              <a:rPr lang="de-AT" altLang="de-DE" sz="1400">
                <a:solidFill>
                  <a:srgbClr val="009900"/>
                </a:solidFill>
                <a:latin typeface="+mn-lt"/>
              </a:rPr>
              <a:t>// short, long, int, byte….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 sz="2400" dirty="0" smtClean="0"/>
              <a:t>Beispiel: Zahl in String konvertieren (ohne </a:t>
            </a:r>
            <a:r>
              <a:rPr lang="de-AT" sz="2400" dirty="0" err="1" smtClean="0"/>
              <a:t>Convert</a:t>
            </a:r>
            <a:r>
              <a:rPr lang="de-AT" sz="2400" dirty="0" smtClean="0"/>
              <a:t>)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469900" y="1146175"/>
            <a:ext cx="71547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2000" dirty="0">
                <a:latin typeface="+mn-lt"/>
              </a:rPr>
              <a:t>Idee: Ziffern mit </a:t>
            </a:r>
            <a:r>
              <a:rPr lang="de-AT" altLang="de-DE" sz="2000" i="1" dirty="0">
                <a:latin typeface="+mn-lt"/>
              </a:rPr>
              <a:t>n</a:t>
            </a:r>
            <a:r>
              <a:rPr lang="de-AT" altLang="de-DE" sz="2000" dirty="0">
                <a:latin typeface="+mn-lt"/>
              </a:rPr>
              <a:t> % 10 abspalten und in </a:t>
            </a:r>
            <a:r>
              <a:rPr lang="de-AT" altLang="de-DE" sz="2000" i="1" dirty="0" err="1">
                <a:latin typeface="+mn-lt"/>
              </a:rPr>
              <a:t>char</a:t>
            </a:r>
            <a:r>
              <a:rPr lang="de-AT" altLang="de-DE" sz="2000" dirty="0">
                <a:latin typeface="+mn-lt"/>
              </a:rPr>
              <a:t>-Array sammeln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946150" y="1928813"/>
            <a:ext cx="3330575" cy="378618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    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int</a:t>
            </a:r>
            <a:r>
              <a:rPr lang="de-AT" dirty="0">
                <a:latin typeface="Times New Roman" charset="0"/>
              </a:rPr>
              <a:t> n = 154; //Umzuwandelnde Zahl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char</a:t>
            </a:r>
            <a:r>
              <a:rPr lang="de-AT" dirty="0">
                <a:latin typeface="Times New Roman" charset="0"/>
              </a:rPr>
              <a:t>[] a = 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new</a:t>
            </a:r>
            <a:r>
              <a:rPr lang="de-AT" dirty="0">
                <a:latin typeface="Times New Roman" charset="0"/>
              </a:rPr>
              <a:t> 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char</a:t>
            </a:r>
            <a:r>
              <a:rPr lang="de-AT" dirty="0">
                <a:latin typeface="Times New Roman" charset="0"/>
              </a:rPr>
              <a:t>[10];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int</a:t>
            </a:r>
            <a:r>
              <a:rPr lang="de-AT" dirty="0">
                <a:latin typeface="Times New Roman" charset="0"/>
              </a:rPr>
              <a:t> i = 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>
                <a:solidFill>
                  <a:schemeClr val="accent2"/>
                </a:solidFill>
                <a:latin typeface="Times New Roman" charset="0"/>
              </a:rPr>
              <a:t>do</a:t>
            </a:r>
            <a:r>
              <a:rPr lang="de-AT" dirty="0">
                <a:latin typeface="Times New Roman" charset="0"/>
              </a:rPr>
              <a:t> </a:t>
            </a:r>
            <a:r>
              <a:rPr lang="de-AT" dirty="0">
                <a:solidFill>
                  <a:srgbClr val="FF0000"/>
                </a:solidFill>
                <a:latin typeface="Times New Roman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	a[i] = (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char</a:t>
            </a:r>
            <a:r>
              <a:rPr lang="de-AT" dirty="0">
                <a:latin typeface="Times New Roman" charset="0"/>
              </a:rPr>
              <a:t>) (n % 10 + '0');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	n = n / 10;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	i++;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>
                <a:solidFill>
                  <a:srgbClr val="FF0000"/>
                </a:solidFill>
                <a:latin typeface="Times New Roman" charset="0"/>
              </a:rPr>
              <a:t>}</a:t>
            </a:r>
            <a:r>
              <a:rPr lang="de-AT" dirty="0">
                <a:latin typeface="Times New Roman" charset="0"/>
              </a:rPr>
              <a:t> 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while</a:t>
            </a:r>
            <a:r>
              <a:rPr lang="de-AT" dirty="0">
                <a:latin typeface="Times New Roman" charset="0"/>
              </a:rPr>
              <a:t> (n &gt; 0);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 err="1">
                <a:solidFill>
                  <a:schemeClr val="accent1">
                    <a:lumMod val="75000"/>
                  </a:schemeClr>
                </a:solidFill>
                <a:latin typeface="Times New Roman" charset="0"/>
              </a:rPr>
              <a:t>string</a:t>
            </a:r>
            <a:r>
              <a:rPr lang="de-AT" dirty="0">
                <a:solidFill>
                  <a:schemeClr val="accent1">
                    <a:lumMod val="75000"/>
                  </a:schemeClr>
                </a:solidFill>
                <a:latin typeface="Times New Roman" charset="0"/>
              </a:rPr>
              <a:t> </a:t>
            </a:r>
            <a:r>
              <a:rPr lang="de-AT" dirty="0">
                <a:latin typeface="Times New Roman" charset="0"/>
              </a:rPr>
              <a:t>b=“ “;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>
                <a:solidFill>
                  <a:schemeClr val="accent2"/>
                </a:solidFill>
                <a:latin typeface="Times New Roman" charset="0"/>
              </a:rPr>
              <a:t>do</a:t>
            </a:r>
            <a:r>
              <a:rPr lang="de-AT" dirty="0">
                <a:latin typeface="Times New Roman" charset="0"/>
              </a:rPr>
              <a:t> </a:t>
            </a:r>
            <a:r>
              <a:rPr lang="de-AT" dirty="0">
                <a:solidFill>
                  <a:srgbClr val="FF0000"/>
                </a:solidFill>
                <a:latin typeface="Times New Roman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	i--;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	b=</a:t>
            </a:r>
            <a:r>
              <a:rPr lang="de-AT" dirty="0" err="1">
                <a:latin typeface="Times New Roman" charset="0"/>
              </a:rPr>
              <a:t>b+a</a:t>
            </a:r>
            <a:r>
              <a:rPr lang="de-AT" dirty="0">
                <a:latin typeface="Times New Roman" charset="0"/>
              </a:rPr>
              <a:t>[i];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>
                <a:solidFill>
                  <a:srgbClr val="FF0000"/>
                </a:solidFill>
                <a:latin typeface="Times New Roman" charset="0"/>
              </a:rPr>
              <a:t>}</a:t>
            </a:r>
            <a:r>
              <a:rPr lang="de-AT" dirty="0">
                <a:latin typeface="Times New Roman" charset="0"/>
              </a:rPr>
              <a:t> </a:t>
            </a:r>
            <a:r>
              <a:rPr lang="de-AT" dirty="0" err="1">
                <a:solidFill>
                  <a:schemeClr val="accent2"/>
                </a:solidFill>
                <a:latin typeface="Times New Roman" charset="0"/>
              </a:rPr>
              <a:t>while</a:t>
            </a:r>
            <a:r>
              <a:rPr lang="de-AT" dirty="0">
                <a:latin typeface="Times New Roman" charset="0"/>
              </a:rPr>
              <a:t> (i &gt; 0);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dirty="0">
                <a:latin typeface="Times New Roman" charset="0"/>
              </a:rPr>
              <a:t>	</a:t>
            </a:r>
            <a:r>
              <a:rPr lang="de-AT" dirty="0" err="1">
                <a:latin typeface="Times New Roman" charset="0"/>
              </a:rPr>
              <a:t>Console.WriteLine</a:t>
            </a:r>
            <a:r>
              <a:rPr lang="de-AT" dirty="0">
                <a:latin typeface="Times New Roman" charset="0"/>
              </a:rPr>
              <a:t>(“String: “+b);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dirty="0">
              <a:solidFill>
                <a:srgbClr val="FF0000"/>
              </a:solidFill>
              <a:latin typeface="Times New Roman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852988" y="1562100"/>
            <a:ext cx="1700212" cy="887413"/>
            <a:chOff x="3057" y="1218"/>
            <a:chExt cx="1071" cy="559"/>
          </a:xfrm>
        </p:grpSpPr>
        <p:sp>
          <p:nvSpPr>
            <p:cNvPr id="16449" name="Text Box 6"/>
            <p:cNvSpPr txBox="1">
              <a:spLocks noChangeArrowheads="1"/>
            </p:cNvSpPr>
            <p:nvPr/>
          </p:nvSpPr>
          <p:spPr bwMode="auto">
            <a:xfrm>
              <a:off x="3141" y="122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n</a:t>
              </a:r>
            </a:p>
          </p:txBody>
        </p:sp>
        <p:sp>
          <p:nvSpPr>
            <p:cNvPr id="16450" name="Text Box 7"/>
            <p:cNvSpPr txBox="1">
              <a:spLocks noChangeArrowheads="1"/>
            </p:cNvSpPr>
            <p:nvPr/>
          </p:nvSpPr>
          <p:spPr bwMode="auto">
            <a:xfrm>
              <a:off x="3714" y="1218"/>
              <a:ext cx="1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a</a:t>
              </a:r>
            </a:p>
          </p:txBody>
        </p:sp>
        <p:sp>
          <p:nvSpPr>
            <p:cNvPr id="16451" name="Rectangle 8"/>
            <p:cNvSpPr>
              <a:spLocks noChangeArrowheads="1"/>
            </p:cNvSpPr>
            <p:nvPr/>
          </p:nvSpPr>
          <p:spPr bwMode="auto">
            <a:xfrm>
              <a:off x="3465" y="143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52" name="Text Box 9"/>
            <p:cNvSpPr txBox="1">
              <a:spLocks noChangeArrowheads="1"/>
            </p:cNvSpPr>
            <p:nvPr/>
          </p:nvSpPr>
          <p:spPr bwMode="auto">
            <a:xfrm>
              <a:off x="3057" y="1425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de-AT" altLang="de-DE"/>
                <a:t>154</a:t>
              </a:r>
            </a:p>
          </p:txBody>
        </p:sp>
        <p:sp>
          <p:nvSpPr>
            <p:cNvPr id="16453" name="Rectangle 10"/>
            <p:cNvSpPr>
              <a:spLocks noChangeArrowheads="1"/>
            </p:cNvSpPr>
            <p:nvPr/>
          </p:nvSpPr>
          <p:spPr bwMode="auto">
            <a:xfrm>
              <a:off x="3631" y="143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54" name="Rectangle 11"/>
            <p:cNvSpPr>
              <a:spLocks noChangeArrowheads="1"/>
            </p:cNvSpPr>
            <p:nvPr/>
          </p:nvSpPr>
          <p:spPr bwMode="auto">
            <a:xfrm>
              <a:off x="3797" y="143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55" name="Rectangle 12"/>
            <p:cNvSpPr>
              <a:spLocks noChangeArrowheads="1"/>
            </p:cNvSpPr>
            <p:nvPr/>
          </p:nvSpPr>
          <p:spPr bwMode="auto">
            <a:xfrm>
              <a:off x="3963" y="143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56" name="Text Box 13"/>
            <p:cNvSpPr txBox="1">
              <a:spLocks noChangeArrowheads="1"/>
            </p:cNvSpPr>
            <p:nvPr/>
          </p:nvSpPr>
          <p:spPr bwMode="auto">
            <a:xfrm>
              <a:off x="3458" y="1565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954588" y="2374900"/>
            <a:ext cx="1598612" cy="566738"/>
            <a:chOff x="3121" y="1730"/>
            <a:chExt cx="1007" cy="357"/>
          </a:xfrm>
        </p:grpSpPr>
        <p:sp>
          <p:nvSpPr>
            <p:cNvPr id="16442" name="Rectangle 15"/>
            <p:cNvSpPr>
              <a:spLocks noChangeArrowheads="1"/>
            </p:cNvSpPr>
            <p:nvPr/>
          </p:nvSpPr>
          <p:spPr bwMode="auto">
            <a:xfrm>
              <a:off x="3465" y="1751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3" name="Text Box 16"/>
            <p:cNvSpPr txBox="1">
              <a:spLocks noChangeArrowheads="1"/>
            </p:cNvSpPr>
            <p:nvPr/>
          </p:nvSpPr>
          <p:spPr bwMode="auto">
            <a:xfrm>
              <a:off x="3121" y="1738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de-AT" altLang="de-DE"/>
                <a:t>15</a:t>
              </a:r>
            </a:p>
          </p:txBody>
        </p:sp>
        <p:sp>
          <p:nvSpPr>
            <p:cNvPr id="16444" name="Text Box 17"/>
            <p:cNvSpPr txBox="1">
              <a:spLocks noChangeArrowheads="1"/>
            </p:cNvSpPr>
            <p:nvPr/>
          </p:nvSpPr>
          <p:spPr bwMode="auto">
            <a:xfrm>
              <a:off x="3453" y="1730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445" name="Rectangle 18"/>
            <p:cNvSpPr>
              <a:spLocks noChangeArrowheads="1"/>
            </p:cNvSpPr>
            <p:nvPr/>
          </p:nvSpPr>
          <p:spPr bwMode="auto">
            <a:xfrm>
              <a:off x="3631" y="1751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6" name="Rectangle 19"/>
            <p:cNvSpPr>
              <a:spLocks noChangeArrowheads="1"/>
            </p:cNvSpPr>
            <p:nvPr/>
          </p:nvSpPr>
          <p:spPr bwMode="auto">
            <a:xfrm>
              <a:off x="3797" y="1751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7" name="Rectangle 20"/>
            <p:cNvSpPr>
              <a:spLocks noChangeArrowheads="1"/>
            </p:cNvSpPr>
            <p:nvPr/>
          </p:nvSpPr>
          <p:spPr bwMode="auto">
            <a:xfrm>
              <a:off x="3963" y="1751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8" name="Text Box 21"/>
            <p:cNvSpPr txBox="1">
              <a:spLocks noChangeArrowheads="1"/>
            </p:cNvSpPr>
            <p:nvPr/>
          </p:nvSpPr>
          <p:spPr bwMode="auto">
            <a:xfrm>
              <a:off x="3650" y="1875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056188" y="2871788"/>
            <a:ext cx="1497012" cy="577850"/>
            <a:chOff x="3185" y="2043"/>
            <a:chExt cx="943" cy="364"/>
          </a:xfrm>
        </p:grpSpPr>
        <p:sp>
          <p:nvSpPr>
            <p:cNvPr id="16434" name="Rectangle 23"/>
            <p:cNvSpPr>
              <a:spLocks noChangeArrowheads="1"/>
            </p:cNvSpPr>
            <p:nvPr/>
          </p:nvSpPr>
          <p:spPr bwMode="auto">
            <a:xfrm>
              <a:off x="3465" y="2064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35" name="Text Box 24"/>
            <p:cNvSpPr txBox="1">
              <a:spLocks noChangeArrowheads="1"/>
            </p:cNvSpPr>
            <p:nvPr/>
          </p:nvSpPr>
          <p:spPr bwMode="auto">
            <a:xfrm>
              <a:off x="3185" y="205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de-AT" altLang="de-DE"/>
                <a:t>1</a:t>
              </a:r>
            </a:p>
          </p:txBody>
        </p:sp>
        <p:sp>
          <p:nvSpPr>
            <p:cNvPr id="16436" name="Text Box 25"/>
            <p:cNvSpPr txBox="1">
              <a:spLocks noChangeArrowheads="1"/>
            </p:cNvSpPr>
            <p:nvPr/>
          </p:nvSpPr>
          <p:spPr bwMode="auto">
            <a:xfrm>
              <a:off x="3453" y="204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437" name="Rectangle 26"/>
            <p:cNvSpPr>
              <a:spLocks noChangeArrowheads="1"/>
            </p:cNvSpPr>
            <p:nvPr/>
          </p:nvSpPr>
          <p:spPr bwMode="auto">
            <a:xfrm>
              <a:off x="3631" y="2064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38" name="Text Box 27"/>
            <p:cNvSpPr txBox="1">
              <a:spLocks noChangeArrowheads="1"/>
            </p:cNvSpPr>
            <p:nvPr/>
          </p:nvSpPr>
          <p:spPr bwMode="auto">
            <a:xfrm>
              <a:off x="3619" y="204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5</a:t>
              </a:r>
            </a:p>
          </p:txBody>
        </p:sp>
        <p:sp>
          <p:nvSpPr>
            <p:cNvPr id="16439" name="Rectangle 28"/>
            <p:cNvSpPr>
              <a:spLocks noChangeArrowheads="1"/>
            </p:cNvSpPr>
            <p:nvPr/>
          </p:nvSpPr>
          <p:spPr bwMode="auto">
            <a:xfrm>
              <a:off x="3797" y="2064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0" name="Rectangle 29"/>
            <p:cNvSpPr>
              <a:spLocks noChangeArrowheads="1"/>
            </p:cNvSpPr>
            <p:nvPr/>
          </p:nvSpPr>
          <p:spPr bwMode="auto">
            <a:xfrm>
              <a:off x="3963" y="2064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41" name="Text Box 30"/>
            <p:cNvSpPr txBox="1">
              <a:spLocks noChangeArrowheads="1"/>
            </p:cNvSpPr>
            <p:nvPr/>
          </p:nvSpPr>
          <p:spPr bwMode="auto">
            <a:xfrm>
              <a:off x="3797" y="2195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</p:grp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5056188" y="3368675"/>
            <a:ext cx="1497012" cy="588963"/>
            <a:chOff x="3185" y="2356"/>
            <a:chExt cx="943" cy="371"/>
          </a:xfrm>
        </p:grpSpPr>
        <p:sp>
          <p:nvSpPr>
            <p:cNvPr id="16425" name="Rectangle 32"/>
            <p:cNvSpPr>
              <a:spLocks noChangeArrowheads="1"/>
            </p:cNvSpPr>
            <p:nvPr/>
          </p:nvSpPr>
          <p:spPr bwMode="auto">
            <a:xfrm>
              <a:off x="3465" y="2377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26" name="Text Box 33"/>
            <p:cNvSpPr txBox="1">
              <a:spLocks noChangeArrowheads="1"/>
            </p:cNvSpPr>
            <p:nvPr/>
          </p:nvSpPr>
          <p:spPr bwMode="auto">
            <a:xfrm>
              <a:off x="3185" y="2364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de-AT" altLang="de-DE"/>
                <a:t>0</a:t>
              </a:r>
            </a:p>
          </p:txBody>
        </p:sp>
        <p:sp>
          <p:nvSpPr>
            <p:cNvPr id="16427" name="Text Box 34"/>
            <p:cNvSpPr txBox="1">
              <a:spLocks noChangeArrowheads="1"/>
            </p:cNvSpPr>
            <p:nvPr/>
          </p:nvSpPr>
          <p:spPr bwMode="auto">
            <a:xfrm>
              <a:off x="3453" y="235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428" name="Rectangle 35"/>
            <p:cNvSpPr>
              <a:spLocks noChangeArrowheads="1"/>
            </p:cNvSpPr>
            <p:nvPr/>
          </p:nvSpPr>
          <p:spPr bwMode="auto">
            <a:xfrm>
              <a:off x="3631" y="2377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29" name="Text Box 36"/>
            <p:cNvSpPr txBox="1">
              <a:spLocks noChangeArrowheads="1"/>
            </p:cNvSpPr>
            <p:nvPr/>
          </p:nvSpPr>
          <p:spPr bwMode="auto">
            <a:xfrm>
              <a:off x="3619" y="235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5</a:t>
              </a:r>
            </a:p>
          </p:txBody>
        </p:sp>
        <p:sp>
          <p:nvSpPr>
            <p:cNvPr id="16430" name="Rectangle 37"/>
            <p:cNvSpPr>
              <a:spLocks noChangeArrowheads="1"/>
            </p:cNvSpPr>
            <p:nvPr/>
          </p:nvSpPr>
          <p:spPr bwMode="auto">
            <a:xfrm>
              <a:off x="3797" y="2377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31" name="Text Box 38"/>
            <p:cNvSpPr txBox="1">
              <a:spLocks noChangeArrowheads="1"/>
            </p:cNvSpPr>
            <p:nvPr/>
          </p:nvSpPr>
          <p:spPr bwMode="auto">
            <a:xfrm>
              <a:off x="3785" y="235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1</a:t>
              </a:r>
            </a:p>
          </p:txBody>
        </p:sp>
        <p:sp>
          <p:nvSpPr>
            <p:cNvPr id="16432" name="Rectangle 39"/>
            <p:cNvSpPr>
              <a:spLocks noChangeArrowheads="1"/>
            </p:cNvSpPr>
            <p:nvPr/>
          </p:nvSpPr>
          <p:spPr bwMode="auto">
            <a:xfrm>
              <a:off x="3963" y="2377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33" name="Text Box 40"/>
            <p:cNvSpPr txBox="1">
              <a:spLocks noChangeArrowheads="1"/>
            </p:cNvSpPr>
            <p:nvPr/>
          </p:nvSpPr>
          <p:spPr bwMode="auto">
            <a:xfrm>
              <a:off x="3970" y="2515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</p:grp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5481638" y="3881438"/>
            <a:ext cx="2144712" cy="873125"/>
            <a:chOff x="3453" y="2679"/>
            <a:chExt cx="1351" cy="550"/>
          </a:xfrm>
        </p:grpSpPr>
        <p:sp>
          <p:nvSpPr>
            <p:cNvPr id="16414" name="Text Box 42"/>
            <p:cNvSpPr txBox="1">
              <a:spLocks noChangeArrowheads="1"/>
            </p:cNvSpPr>
            <p:nvPr/>
          </p:nvSpPr>
          <p:spPr bwMode="auto">
            <a:xfrm>
              <a:off x="4445" y="267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b</a:t>
              </a:r>
            </a:p>
          </p:txBody>
        </p:sp>
        <p:sp>
          <p:nvSpPr>
            <p:cNvPr id="16415" name="Rectangle 43"/>
            <p:cNvSpPr>
              <a:spLocks noChangeArrowheads="1"/>
            </p:cNvSpPr>
            <p:nvPr/>
          </p:nvSpPr>
          <p:spPr bwMode="auto">
            <a:xfrm>
              <a:off x="3465" y="2879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16" name="Text Box 44"/>
            <p:cNvSpPr txBox="1">
              <a:spLocks noChangeArrowheads="1"/>
            </p:cNvSpPr>
            <p:nvPr/>
          </p:nvSpPr>
          <p:spPr bwMode="auto">
            <a:xfrm>
              <a:off x="3453" y="2858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417" name="Rectangle 45"/>
            <p:cNvSpPr>
              <a:spLocks noChangeArrowheads="1"/>
            </p:cNvSpPr>
            <p:nvPr/>
          </p:nvSpPr>
          <p:spPr bwMode="auto">
            <a:xfrm>
              <a:off x="3631" y="2879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18" name="Text Box 46"/>
            <p:cNvSpPr txBox="1">
              <a:spLocks noChangeArrowheads="1"/>
            </p:cNvSpPr>
            <p:nvPr/>
          </p:nvSpPr>
          <p:spPr bwMode="auto">
            <a:xfrm>
              <a:off x="3619" y="2858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5</a:t>
              </a:r>
            </a:p>
          </p:txBody>
        </p:sp>
        <p:sp>
          <p:nvSpPr>
            <p:cNvPr id="16419" name="Rectangle 47"/>
            <p:cNvSpPr>
              <a:spLocks noChangeArrowheads="1"/>
            </p:cNvSpPr>
            <p:nvPr/>
          </p:nvSpPr>
          <p:spPr bwMode="auto">
            <a:xfrm>
              <a:off x="3797" y="2879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20" name="Text Box 48"/>
            <p:cNvSpPr txBox="1">
              <a:spLocks noChangeArrowheads="1"/>
            </p:cNvSpPr>
            <p:nvPr/>
          </p:nvSpPr>
          <p:spPr bwMode="auto">
            <a:xfrm>
              <a:off x="3785" y="2858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1</a:t>
              </a:r>
            </a:p>
          </p:txBody>
        </p:sp>
        <p:sp>
          <p:nvSpPr>
            <p:cNvPr id="16421" name="Rectangle 49"/>
            <p:cNvSpPr>
              <a:spLocks noChangeArrowheads="1"/>
            </p:cNvSpPr>
            <p:nvPr/>
          </p:nvSpPr>
          <p:spPr bwMode="auto">
            <a:xfrm>
              <a:off x="3963" y="2879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22" name="Text Box 50"/>
            <p:cNvSpPr txBox="1">
              <a:spLocks noChangeArrowheads="1"/>
            </p:cNvSpPr>
            <p:nvPr/>
          </p:nvSpPr>
          <p:spPr bwMode="auto">
            <a:xfrm>
              <a:off x="3799" y="3017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  <p:sp>
          <p:nvSpPr>
            <p:cNvPr id="16423" name="Rectangle 51"/>
            <p:cNvSpPr>
              <a:spLocks noChangeArrowheads="1"/>
            </p:cNvSpPr>
            <p:nvPr/>
          </p:nvSpPr>
          <p:spPr bwMode="auto">
            <a:xfrm>
              <a:off x="4337" y="2879"/>
              <a:ext cx="467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24" name="Text Box 52"/>
            <p:cNvSpPr txBox="1">
              <a:spLocks noChangeArrowheads="1"/>
            </p:cNvSpPr>
            <p:nvPr/>
          </p:nvSpPr>
          <p:spPr bwMode="auto">
            <a:xfrm>
              <a:off x="4318" y="286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1</a:t>
              </a:r>
            </a:p>
          </p:txBody>
        </p:sp>
      </p:grp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5481638" y="4687888"/>
            <a:ext cx="2144712" cy="588962"/>
            <a:chOff x="3453" y="3187"/>
            <a:chExt cx="1351" cy="371"/>
          </a:xfrm>
        </p:grpSpPr>
        <p:sp>
          <p:nvSpPr>
            <p:cNvPr id="16405" name="Rectangle 54"/>
            <p:cNvSpPr>
              <a:spLocks noChangeArrowheads="1"/>
            </p:cNvSpPr>
            <p:nvPr/>
          </p:nvSpPr>
          <p:spPr bwMode="auto">
            <a:xfrm>
              <a:off x="3465" y="320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6" name="Text Box 55"/>
            <p:cNvSpPr txBox="1">
              <a:spLocks noChangeArrowheads="1"/>
            </p:cNvSpPr>
            <p:nvPr/>
          </p:nvSpPr>
          <p:spPr bwMode="auto">
            <a:xfrm>
              <a:off x="3453" y="3187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407" name="Rectangle 56"/>
            <p:cNvSpPr>
              <a:spLocks noChangeArrowheads="1"/>
            </p:cNvSpPr>
            <p:nvPr/>
          </p:nvSpPr>
          <p:spPr bwMode="auto">
            <a:xfrm>
              <a:off x="3631" y="320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8" name="Text Box 57"/>
            <p:cNvSpPr txBox="1">
              <a:spLocks noChangeArrowheads="1"/>
            </p:cNvSpPr>
            <p:nvPr/>
          </p:nvSpPr>
          <p:spPr bwMode="auto">
            <a:xfrm>
              <a:off x="3619" y="3187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5</a:t>
              </a:r>
            </a:p>
          </p:txBody>
        </p:sp>
        <p:sp>
          <p:nvSpPr>
            <p:cNvPr id="16409" name="Rectangle 58"/>
            <p:cNvSpPr>
              <a:spLocks noChangeArrowheads="1"/>
            </p:cNvSpPr>
            <p:nvPr/>
          </p:nvSpPr>
          <p:spPr bwMode="auto">
            <a:xfrm>
              <a:off x="3797" y="320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10" name="Rectangle 59"/>
            <p:cNvSpPr>
              <a:spLocks noChangeArrowheads="1"/>
            </p:cNvSpPr>
            <p:nvPr/>
          </p:nvSpPr>
          <p:spPr bwMode="auto">
            <a:xfrm>
              <a:off x="3963" y="3208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11" name="Text Box 60"/>
            <p:cNvSpPr txBox="1">
              <a:spLocks noChangeArrowheads="1"/>
            </p:cNvSpPr>
            <p:nvPr/>
          </p:nvSpPr>
          <p:spPr bwMode="auto">
            <a:xfrm>
              <a:off x="3637" y="3346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  <p:sp>
          <p:nvSpPr>
            <p:cNvPr id="16412" name="Rectangle 61"/>
            <p:cNvSpPr>
              <a:spLocks noChangeArrowheads="1"/>
            </p:cNvSpPr>
            <p:nvPr/>
          </p:nvSpPr>
          <p:spPr bwMode="auto">
            <a:xfrm>
              <a:off x="4337" y="3208"/>
              <a:ext cx="467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13" name="Text Box 62"/>
            <p:cNvSpPr txBox="1">
              <a:spLocks noChangeArrowheads="1"/>
            </p:cNvSpPr>
            <p:nvPr/>
          </p:nvSpPr>
          <p:spPr bwMode="auto">
            <a:xfrm>
              <a:off x="4318" y="3190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15</a:t>
              </a:r>
            </a:p>
          </p:txBody>
        </p:sp>
      </p:grp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5481638" y="5211763"/>
            <a:ext cx="2144712" cy="588962"/>
            <a:chOff x="3453" y="3525"/>
            <a:chExt cx="1351" cy="371"/>
          </a:xfrm>
        </p:grpSpPr>
        <p:sp>
          <p:nvSpPr>
            <p:cNvPr id="16397" name="Rectangle 64"/>
            <p:cNvSpPr>
              <a:spLocks noChangeArrowheads="1"/>
            </p:cNvSpPr>
            <p:nvPr/>
          </p:nvSpPr>
          <p:spPr bwMode="auto">
            <a:xfrm>
              <a:off x="3465" y="3546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398" name="Text Box 65"/>
            <p:cNvSpPr txBox="1">
              <a:spLocks noChangeArrowheads="1"/>
            </p:cNvSpPr>
            <p:nvPr/>
          </p:nvSpPr>
          <p:spPr bwMode="auto">
            <a:xfrm>
              <a:off x="3453" y="352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4</a:t>
              </a:r>
            </a:p>
          </p:txBody>
        </p:sp>
        <p:sp>
          <p:nvSpPr>
            <p:cNvPr id="16399" name="Rectangle 66"/>
            <p:cNvSpPr>
              <a:spLocks noChangeArrowheads="1"/>
            </p:cNvSpPr>
            <p:nvPr/>
          </p:nvSpPr>
          <p:spPr bwMode="auto">
            <a:xfrm>
              <a:off x="3631" y="3546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0" name="Rectangle 67"/>
            <p:cNvSpPr>
              <a:spLocks noChangeArrowheads="1"/>
            </p:cNvSpPr>
            <p:nvPr/>
          </p:nvSpPr>
          <p:spPr bwMode="auto">
            <a:xfrm>
              <a:off x="3797" y="3546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1" name="Rectangle 68"/>
            <p:cNvSpPr>
              <a:spLocks noChangeArrowheads="1"/>
            </p:cNvSpPr>
            <p:nvPr/>
          </p:nvSpPr>
          <p:spPr bwMode="auto">
            <a:xfrm>
              <a:off x="3963" y="3546"/>
              <a:ext cx="165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2" name="Text Box 69"/>
            <p:cNvSpPr txBox="1">
              <a:spLocks noChangeArrowheads="1"/>
            </p:cNvSpPr>
            <p:nvPr/>
          </p:nvSpPr>
          <p:spPr bwMode="auto">
            <a:xfrm>
              <a:off x="3475" y="3684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i</a:t>
              </a:r>
            </a:p>
          </p:txBody>
        </p:sp>
        <p:sp>
          <p:nvSpPr>
            <p:cNvPr id="16403" name="Rectangle 70"/>
            <p:cNvSpPr>
              <a:spLocks noChangeArrowheads="1"/>
            </p:cNvSpPr>
            <p:nvPr/>
          </p:nvSpPr>
          <p:spPr bwMode="auto">
            <a:xfrm>
              <a:off x="4337" y="3546"/>
              <a:ext cx="467" cy="17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de-AT" altLang="de-DE"/>
            </a:p>
          </p:txBody>
        </p:sp>
        <p:sp>
          <p:nvSpPr>
            <p:cNvPr id="16404" name="Text Box 71"/>
            <p:cNvSpPr txBox="1">
              <a:spLocks noChangeArrowheads="1"/>
            </p:cNvSpPr>
            <p:nvPr/>
          </p:nvSpPr>
          <p:spPr bwMode="auto">
            <a:xfrm>
              <a:off x="4318" y="3528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de-AT" altLang="de-DE"/>
                <a:t>154</a:t>
              </a:r>
            </a:p>
          </p:txBody>
        </p:sp>
      </p:grpSp>
      <p:sp>
        <p:nvSpPr>
          <p:cNvPr id="16396" name="Text Box 3"/>
          <p:cNvSpPr txBox="1">
            <a:spLocks noChangeArrowheads="1"/>
          </p:cNvSpPr>
          <p:nvPr/>
        </p:nvSpPr>
        <p:spPr bwMode="auto">
          <a:xfrm>
            <a:off x="323850" y="5819775"/>
            <a:ext cx="82306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de-AT" altLang="de-DE" sz="2000" dirty="0">
                <a:latin typeface="+mn-lt"/>
              </a:rPr>
              <a:t>Funktioniert auch ohne Zwischenspeicherung im Array </a:t>
            </a:r>
            <a:r>
              <a:rPr lang="de-AT" altLang="de-DE" sz="2000" dirty="0">
                <a:latin typeface="+mn-lt"/>
                <a:sym typeface="Wingdings" panose="05000000000000000000" pitchFamily="2" charset="2"/>
              </a:rPr>
              <a:t> Versuche es!</a:t>
            </a:r>
            <a:endParaRPr lang="de-AT" altLang="de-DE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_Larissa">
  <a:themeElements>
    <a:clrScheme name="Benutzerdefiniert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1263</Words>
  <Application>Microsoft Office PowerPoint</Application>
  <PresentationFormat>Bildschirmpräsentation (4:3)</PresentationFormat>
  <Paragraphs>368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16</vt:i4>
      </vt:variant>
    </vt:vector>
  </HeadingPairs>
  <TitlesOfParts>
    <vt:vector size="26" baseType="lpstr">
      <vt:lpstr>Arial</vt:lpstr>
      <vt:lpstr>Courier New</vt:lpstr>
      <vt:lpstr>Mangal</vt:lpstr>
      <vt:lpstr>ＭＳ Ｐゴシック</vt:lpstr>
      <vt:lpstr>Segoe UI Historic</vt:lpstr>
      <vt:lpstr>Symbol</vt:lpstr>
      <vt:lpstr>Times New Roman</vt:lpstr>
      <vt:lpstr>Wingdings</vt:lpstr>
      <vt:lpstr>3_Larissa</vt:lpstr>
      <vt:lpstr>1_Standarddesign</vt:lpstr>
      <vt:lpstr>Datentyp String</vt:lpstr>
      <vt:lpstr>Stringvergleiche</vt:lpstr>
      <vt:lpstr>Stringoperationen</vt:lpstr>
      <vt:lpstr>Umwandeln Zeichen  Zahl</vt:lpstr>
      <vt:lpstr>Zeichenkodierung: ASCII</vt:lpstr>
      <vt:lpstr>ASCII: Steuerzeichen</vt:lpstr>
      <vt:lpstr>ASCII: Druckbare Zeichen</vt:lpstr>
      <vt:lpstr>ASCII-Tabelle</vt:lpstr>
      <vt:lpstr>Unicode </vt:lpstr>
      <vt:lpstr>Unicode-Tabelle </vt:lpstr>
      <vt:lpstr>Unicode: Beispiele</vt:lpstr>
      <vt:lpstr>Ist ein Zeichen eine Zahl?</vt:lpstr>
      <vt:lpstr>Einige Stringfunktionen</vt:lpstr>
      <vt:lpstr>Weitere Stringfunktionen</vt:lpstr>
      <vt:lpstr>Stringkonversionen</vt:lpstr>
      <vt:lpstr>Beispiel: Zahl in String konvertieren (ohne Convert)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Strings</dc:subject>
  <dc:creator>GeGe</dc:creator>
  <cp:lastModifiedBy>Birgit Schröder</cp:lastModifiedBy>
  <cp:revision>384</cp:revision>
  <cp:lastPrinted>2001-09-21T08:42:52Z</cp:lastPrinted>
  <dcterms:created xsi:type="dcterms:W3CDTF">2000-03-12T09:29:13Z</dcterms:created>
  <dcterms:modified xsi:type="dcterms:W3CDTF">2016-01-13T14:23:30Z</dcterms:modified>
</cp:coreProperties>
</file>