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889" r:id="rId1"/>
    <p:sldMasterId id="2147483675" r:id="rId2"/>
  </p:sldMasterIdLst>
  <p:notesMasterIdLst>
    <p:notesMasterId r:id="rId18"/>
  </p:notesMasterIdLst>
  <p:handoutMasterIdLst>
    <p:handoutMasterId r:id="rId19"/>
  </p:handoutMasterIdLst>
  <p:sldIdLst>
    <p:sldId id="283" r:id="rId3"/>
    <p:sldId id="284" r:id="rId4"/>
    <p:sldId id="285" r:id="rId5"/>
    <p:sldId id="286" r:id="rId6"/>
    <p:sldId id="287" r:id="rId7"/>
    <p:sldId id="288" r:id="rId8"/>
    <p:sldId id="289" r:id="rId9"/>
    <p:sldId id="290" r:id="rId10"/>
    <p:sldId id="291" r:id="rId11"/>
    <p:sldId id="292" r:id="rId12"/>
    <p:sldId id="293" r:id="rId13"/>
    <p:sldId id="294" r:id="rId14"/>
    <p:sldId id="295" r:id="rId15"/>
    <p:sldId id="297" r:id="rId16"/>
    <p:sldId id="298" r:id="rId17"/>
  </p:sldIdLst>
  <p:sldSz cx="9144000" cy="6858000" type="screen4x3"/>
  <p:notesSz cx="7099300" cy="10234613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99FF"/>
    <a:srgbClr val="66CCFF"/>
    <a:srgbClr val="CCECFF"/>
    <a:srgbClr val="99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11" autoAdjust="0"/>
    <p:restoredTop sz="94629" autoAdjust="0"/>
  </p:normalViewPr>
  <p:slideViewPr>
    <p:cSldViewPr>
      <p:cViewPr varScale="1">
        <p:scale>
          <a:sx n="98" d="100"/>
          <a:sy n="98" d="100"/>
        </p:scale>
        <p:origin x="579" y="4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  <p:sld r:id="rId9" collapse="1"/>
      <p:sld r:id="rId10" collapse="1"/>
      <p:sld r:id="rId11" collapse="1"/>
      <p:sld r:id="rId12" collapse="1"/>
      <p:sld r:id="rId13" collapse="1"/>
      <p:sld r:id="rId14" collapse="1"/>
    </p:sldLst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9" d="100"/>
          <a:sy n="79" d="100"/>
        </p:scale>
        <p:origin x="396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8.xml"/><Relationship Id="rId13" Type="http://schemas.openxmlformats.org/officeDocument/2006/relationships/slide" Target="slides/slide14.xml"/><Relationship Id="rId3" Type="http://schemas.openxmlformats.org/officeDocument/2006/relationships/slide" Target="slides/slide3.xml"/><Relationship Id="rId7" Type="http://schemas.openxmlformats.org/officeDocument/2006/relationships/slide" Target="slides/slide7.xml"/><Relationship Id="rId12" Type="http://schemas.openxmlformats.org/officeDocument/2006/relationships/slide" Target="slides/slide13.xml"/><Relationship Id="rId2" Type="http://schemas.openxmlformats.org/officeDocument/2006/relationships/slide" Target="slides/slide2.xml"/><Relationship Id="rId1" Type="http://schemas.openxmlformats.org/officeDocument/2006/relationships/slide" Target="slides/slide1.xml"/><Relationship Id="rId6" Type="http://schemas.openxmlformats.org/officeDocument/2006/relationships/slide" Target="slides/slide6.xml"/><Relationship Id="rId11" Type="http://schemas.openxmlformats.org/officeDocument/2006/relationships/slide" Target="slides/slide11.xml"/><Relationship Id="rId5" Type="http://schemas.openxmlformats.org/officeDocument/2006/relationships/slide" Target="slides/slide5.xml"/><Relationship Id="rId10" Type="http://schemas.openxmlformats.org/officeDocument/2006/relationships/slide" Target="slides/slide10.xml"/><Relationship Id="rId4" Type="http://schemas.openxmlformats.org/officeDocument/2006/relationships/slide" Target="slides/slide4.xml"/><Relationship Id="rId9" Type="http://schemas.openxmlformats.org/officeDocument/2006/relationships/slide" Target="slides/slide9.xml"/><Relationship Id="rId14" Type="http://schemas.openxmlformats.org/officeDocument/2006/relationships/slide" Target="slides/slide1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9CF3B6E9-D642-4ECF-BF3C-B883CAD69D1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24045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3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Click </a:t>
            </a:r>
            <a:r>
              <a:rPr lang="de-DE" noProof="0" dirty="0" err="1"/>
              <a:t>to</a:t>
            </a:r>
            <a:r>
              <a:rPr lang="de-DE" noProof="0" dirty="0"/>
              <a:t> </a:t>
            </a:r>
            <a:r>
              <a:rPr lang="de-DE" noProof="0" dirty="0" err="1"/>
              <a:t>edit</a:t>
            </a:r>
            <a:r>
              <a:rPr lang="de-DE" noProof="0" dirty="0"/>
              <a:t> Master </a:t>
            </a:r>
            <a:r>
              <a:rPr lang="de-DE" noProof="0" dirty="0" err="1"/>
              <a:t>text</a:t>
            </a:r>
            <a:r>
              <a:rPr lang="de-DE" noProof="0" dirty="0"/>
              <a:t> </a:t>
            </a:r>
            <a:r>
              <a:rPr lang="de-DE" noProof="0" dirty="0" err="1"/>
              <a:t>styles</a:t>
            </a:r>
            <a:endParaRPr lang="de-DE" noProof="0" dirty="0"/>
          </a:p>
          <a:p>
            <a:pPr lvl="1"/>
            <a:r>
              <a:rPr lang="de-DE" noProof="0" dirty="0"/>
              <a:t>Second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2"/>
            <a:r>
              <a:rPr lang="de-DE" noProof="0" dirty="0"/>
              <a:t>Third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3"/>
            <a:r>
              <a:rPr lang="de-DE" noProof="0" dirty="0" err="1"/>
              <a:t>Fourth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  <a:p>
            <a:pPr lvl="4"/>
            <a:r>
              <a:rPr lang="de-DE" noProof="0" dirty="0" err="1"/>
              <a:t>Fifth</a:t>
            </a:r>
            <a:r>
              <a:rPr lang="de-DE" noProof="0" dirty="0"/>
              <a:t> </a:t>
            </a:r>
            <a:r>
              <a:rPr lang="de-DE" noProof="0" dirty="0" err="1"/>
              <a:t>level</a:t>
            </a:r>
            <a:endParaRPr lang="de-DE" noProof="0" dirty="0"/>
          </a:p>
        </p:txBody>
      </p:sp>
      <p:sp>
        <p:nvSpPr>
          <p:cNvPr id="143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43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FFE98FE1-0A48-4102-B897-052B018683B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032940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FE98FE1-0A48-4102-B897-052B018683B5}" type="slidenum">
              <a:rPr lang="de-DE" smtClean="0"/>
              <a:pPr>
                <a:defRPr/>
              </a:pPr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14349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Fließ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541337" indent="0">
              <a:buNone/>
              <a:defRPr sz="2400"/>
            </a:lvl2pPr>
            <a:lvl3pPr marL="1073150" indent="0">
              <a:buNone/>
              <a:defRPr sz="2200"/>
            </a:lvl3pPr>
            <a:lvl4pPr marL="1436687" indent="0">
              <a:buNone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642233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lie mit Aufzählung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760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6" name="Inhaltsplatzhalter 5"/>
          <p:cNvSpPr>
            <a:spLocks noGrp="1"/>
          </p:cNvSpPr>
          <p:nvPr>
            <p:ph sz="quarter" idx="11"/>
          </p:nvPr>
        </p:nvSpPr>
        <p:spPr>
          <a:xfrm>
            <a:off x="467544" y="1268761"/>
            <a:ext cx="8208912" cy="4680520"/>
          </a:xfrm>
          <a:prstGeom prst="rect">
            <a:avLst/>
          </a:prstGeom>
        </p:spPr>
        <p:txBody>
          <a:bodyPr/>
          <a:lstStyle>
            <a:lvl1pPr marL="514350" indent="-514350">
              <a:buClr>
                <a:schemeClr val="tx1">
                  <a:lumMod val="50000"/>
                  <a:lumOff val="50000"/>
                </a:schemeClr>
              </a:buClr>
              <a:buSzPct val="100000"/>
              <a:buFont typeface="+mj-lt"/>
              <a:buAutoNum type="arabicPeriod"/>
              <a:defRPr sz="2600" baseline="0"/>
            </a:lvl1pPr>
            <a:lvl2pPr marL="998537" indent="-457200">
              <a:buClr>
                <a:schemeClr val="tx1">
                  <a:lumMod val="65000"/>
                  <a:lumOff val="35000"/>
                </a:schemeClr>
              </a:buClr>
              <a:buFont typeface="+mj-lt"/>
              <a:buAutoNum type="alphaLcPeriod"/>
              <a:defRPr sz="2300"/>
            </a:lvl2pPr>
            <a:lvl3pPr marL="1530350" indent="-457200">
              <a:buSzPct val="100000"/>
              <a:buFont typeface="Wingdings" pitchFamily="2" charset="2"/>
              <a:buChar char="§"/>
              <a:defRPr sz="2000" baseline="0"/>
            </a:lvl3pPr>
            <a:lvl4pPr marL="1893887" indent="-457200">
              <a:buFont typeface="+mj-lt"/>
              <a:buAutoNum type="arabicPeriod"/>
              <a:defRPr/>
            </a:lvl4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  <a:p>
            <a:pPr lvl="4"/>
            <a:r>
              <a:rPr lang="en-US" dirty="0"/>
              <a:t>Fünfte Ebene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0057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uflis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0"/>
          </p:nvPr>
        </p:nvSpPr>
        <p:spPr>
          <a:xfrm>
            <a:off x="468313" y="1268760"/>
            <a:ext cx="8207375" cy="4608165"/>
          </a:xfrm>
          <a:prstGeom prst="rect">
            <a:avLst/>
          </a:prstGeom>
        </p:spPr>
        <p:txBody>
          <a:bodyPr/>
          <a:lstStyle>
            <a:lvl1pPr>
              <a:defRPr sz="2600"/>
            </a:lvl1pPr>
            <a:lvl2pPr>
              <a:defRPr sz="2400"/>
            </a:lvl2pPr>
          </a:lstStyle>
          <a:p>
            <a:pPr lvl="0"/>
            <a:r>
              <a:rPr lang="en-US" dirty="0"/>
              <a:t>Textmasterformate durch Klicken bearbeiten</a:t>
            </a:r>
          </a:p>
          <a:p>
            <a:pPr lvl="1"/>
            <a:r>
              <a:rPr lang="en-US" dirty="0"/>
              <a:t>Zweite Ebene</a:t>
            </a:r>
          </a:p>
          <a:p>
            <a:pPr lvl="2"/>
            <a:r>
              <a:rPr lang="en-US" dirty="0"/>
              <a:t>Dritte Ebene</a:t>
            </a:r>
          </a:p>
          <a:p>
            <a:pPr lvl="3"/>
            <a:r>
              <a:rPr lang="en-US" dirty="0"/>
              <a:t>Vierte Ebene</a:t>
            </a:r>
          </a:p>
        </p:txBody>
      </p:sp>
    </p:spTree>
    <p:extLst>
      <p:ext uri="{BB962C8B-B14F-4D97-AF65-F5344CB8AC3E}">
        <p14:creationId xmlns:p14="http://schemas.microsoft.com/office/powerpoint/2010/main" val="39843351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Titelmasterformat durch Klicken bearbeiten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597637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5247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</p:spPr>
        <p:txBody>
          <a:bodyPr/>
          <a:lstStyle/>
          <a:p>
            <a:r>
              <a:rPr lang="en-US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Textmasterformate durch Klicken bearbeiten</a:t>
            </a:r>
          </a:p>
          <a:p>
            <a:pPr lvl="1"/>
            <a:r>
              <a:rPr lang="en-US"/>
              <a:t>Zweite Ebene</a:t>
            </a:r>
          </a:p>
          <a:p>
            <a:pPr lvl="2"/>
            <a:r>
              <a:rPr lang="en-US"/>
              <a:t>Dritte Ebene</a:t>
            </a:r>
          </a:p>
          <a:p>
            <a:pPr lvl="3"/>
            <a:r>
              <a:rPr lang="en-US"/>
              <a:t>Vierte Ebene</a:t>
            </a:r>
          </a:p>
          <a:p>
            <a:pPr lvl="4"/>
            <a:r>
              <a:rPr lang="en-US"/>
              <a:t>Fünfte Ebene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59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/>
              <a:t>Formatvorlage des Untertitelmasters durch Klicken bearbeiten</a:t>
            </a:r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039746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latin typeface="Calibri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dirty="0"/>
              <a:t>Formatvorlage des Untertitelmasters durch Klicken bearbeiten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F5A622-F1C9-471E-A045-917856562A91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465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C30192-98C0-4F7E-8A6C-3464491936D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54787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latin typeface="Calibri" pitchFamily="34" charset="0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863292-49DA-4525-9402-623268582AAA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02047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858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3810000" cy="5029200"/>
          </a:xfrm>
        </p:spPr>
        <p:txBody>
          <a:bodyPr/>
          <a:lstStyle>
            <a:lvl1pPr>
              <a:defRPr sz="2800">
                <a:latin typeface="Calibri" pitchFamily="34" charset="0"/>
              </a:defRPr>
            </a:lvl1pPr>
            <a:lvl2pPr>
              <a:defRPr sz="2400">
                <a:latin typeface="Calibri" pitchFamily="34" charset="0"/>
              </a:defRPr>
            </a:lvl2pPr>
            <a:lvl3pPr>
              <a:defRPr sz="2000">
                <a:latin typeface="Calibri" pitchFamily="34" charset="0"/>
              </a:defRPr>
            </a:lvl3pPr>
            <a:lvl4pPr>
              <a:defRPr sz="1800">
                <a:latin typeface="Calibri" pitchFamily="34" charset="0"/>
              </a:defRPr>
            </a:lvl4pPr>
            <a:lvl5pPr>
              <a:defRPr sz="1800">
                <a:latin typeface="Calibri" pitchFamily="34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251968-5547-49E2-8B03-0928F3E4D0F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4829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>
                <a:latin typeface="Calibri" pitchFamily="34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>
                <a:latin typeface="Calibri" pitchFamily="34" charset="0"/>
              </a:defRPr>
            </a:lvl1pPr>
            <a:lvl2pPr>
              <a:defRPr sz="2000">
                <a:latin typeface="Calibri" pitchFamily="34" charset="0"/>
              </a:defRPr>
            </a:lvl2pPr>
            <a:lvl3pPr>
              <a:defRPr sz="1800">
                <a:latin typeface="Calibri" pitchFamily="34" charset="0"/>
              </a:defRPr>
            </a:lvl3pPr>
            <a:lvl4pPr>
              <a:defRPr sz="1600">
                <a:latin typeface="Calibri" pitchFamily="34" charset="0"/>
              </a:defRPr>
            </a:lvl4pPr>
            <a:lvl5pPr>
              <a:defRPr sz="1600">
                <a:latin typeface="Calibri" pitchFamily="34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C8015-81C4-4497-B385-CB5052A6A8F9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9356479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F8A2FB3-8338-4369-991F-FEB1EBA3B087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60652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064E4B-FB0E-4C04-9484-AE12EAAF4163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6784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>
                <a:latin typeface="Calibri" pitchFamily="34" charset="0"/>
              </a:defRPr>
            </a:lvl1pPr>
            <a:lvl2pPr>
              <a:defRPr sz="2800">
                <a:latin typeface="Calibri" pitchFamily="34" charset="0"/>
              </a:defRPr>
            </a:lvl2pPr>
            <a:lvl3pPr>
              <a:defRPr sz="2400">
                <a:latin typeface="Calibri" pitchFamily="34" charset="0"/>
              </a:defRPr>
            </a:lvl3pPr>
            <a:lvl4pPr>
              <a:defRPr sz="2000">
                <a:latin typeface="Calibri" pitchFamily="34" charset="0"/>
              </a:defRPr>
            </a:lvl4pPr>
            <a:lvl5pPr>
              <a:defRPr sz="2000">
                <a:latin typeface="Calibri" pitchFamily="34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63C3D-F54B-46CA-859D-EE0B596AC3E5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668756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>
                <a:latin typeface="Calibri" pitchFamily="3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de-AT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>
                <a:latin typeface="Calibri" pitchFamily="34" charset="0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4D00F0-27DA-4B34-B6A6-708776BF7872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92755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171969-BFBC-4D67-8A36-3BF725D43CA6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942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 dirty="0"/>
              <a:t>Titelmasterformat durch Klicken bearbeiten</a:t>
            </a:r>
            <a:endParaRPr lang="de-AT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867400"/>
          </a:xfrm>
        </p:spPr>
        <p:txBody>
          <a:bodyPr vert="eaVert"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E883D5-AA45-499B-8E32-7E294E667CBF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16752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 userDrawn="1"/>
        </p:nvSpPr>
        <p:spPr bwMode="auto">
          <a:xfrm>
            <a:off x="363538" y="104775"/>
            <a:ext cx="85375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pitchFamily="-44" charset="-128"/>
              </a:defRPr>
            </a:lvl9pPr>
          </a:lstStyle>
          <a:p>
            <a:pPr eaLnBrk="1" hangingPunct="1">
              <a:defRPr/>
            </a:pPr>
            <a:endParaRPr lang="de-AT" sz="3200" dirty="0">
              <a:solidFill>
                <a:schemeClr val="tx2"/>
              </a:solidFill>
              <a:latin typeface="Calibri" pitchFamily="34" charset="0"/>
              <a:cs typeface="Calibri" pitchFamily="34" charset="0"/>
            </a:endParaRPr>
          </a:p>
        </p:txBody>
      </p:sp>
      <p:sp>
        <p:nvSpPr>
          <p:cNvPr id="8" name="Inhaltsplatzhalter 2"/>
          <p:cNvSpPr>
            <a:spLocks noGrp="1"/>
          </p:cNvSpPr>
          <p:nvPr>
            <p:ph idx="1"/>
          </p:nvPr>
        </p:nvSpPr>
        <p:spPr>
          <a:xfrm>
            <a:off x="285720" y="1285860"/>
            <a:ext cx="8572560" cy="5038740"/>
          </a:xfrm>
        </p:spPr>
        <p:txBody>
          <a:bodyPr/>
          <a:lstStyle>
            <a:lvl1pPr>
              <a:defRPr>
                <a:latin typeface="Calibri" pitchFamily="34" charset="0"/>
              </a:defRPr>
            </a:lvl1pPr>
            <a:lvl2pPr>
              <a:defRPr>
                <a:latin typeface="Calibri" pitchFamily="34" charset="0"/>
              </a:defRPr>
            </a:lvl2pPr>
            <a:lvl3pPr>
              <a:defRPr>
                <a:latin typeface="Calibri" pitchFamily="34" charset="0"/>
              </a:defRPr>
            </a:lvl3pPr>
            <a:lvl4pPr>
              <a:defRPr>
                <a:latin typeface="Calibri" pitchFamily="34" charset="0"/>
              </a:defRPr>
            </a:lvl4pPr>
            <a:lvl5pPr>
              <a:defRPr>
                <a:latin typeface="Calibri" pitchFamily="34" charset="0"/>
              </a:defRPr>
            </a:lvl5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000612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19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 userDrawn="1"/>
        </p:nvSpPr>
        <p:spPr>
          <a:xfrm>
            <a:off x="-7455" y="-12449"/>
            <a:ext cx="9252520" cy="849161"/>
          </a:xfrm>
          <a:prstGeom prst="rect">
            <a:avLst/>
          </a:prstGeom>
          <a:gradFill flip="none" rotWithShape="1">
            <a:gsLst>
              <a:gs pos="27000">
                <a:srgbClr val="4879B4"/>
              </a:gs>
              <a:gs pos="0">
                <a:schemeClr val="tx2"/>
              </a:gs>
              <a:gs pos="50000">
                <a:schemeClr val="accent1"/>
              </a:gs>
              <a:gs pos="100000">
                <a:schemeClr val="tx2"/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de-AT"/>
          </a:p>
        </p:txBody>
      </p:sp>
      <p:pic>
        <p:nvPicPr>
          <p:cNvPr id="2053" name="Grafik 6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6688" y="6259513"/>
            <a:ext cx="228123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457200" y="125413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de-DE" dirty="0"/>
              <a:t>Masterfolie</a:t>
            </a:r>
            <a:endParaRPr lang="de-AT" dirty="0"/>
          </a:p>
        </p:txBody>
      </p:sp>
      <p:sp>
        <p:nvSpPr>
          <p:cNvPr id="2055" name="Rectangle 10"/>
          <p:cNvSpPr>
            <a:spLocks noChangeArrowheads="1"/>
          </p:cNvSpPr>
          <p:nvPr userDrawn="1"/>
        </p:nvSpPr>
        <p:spPr bwMode="gray">
          <a:xfrm>
            <a:off x="349250" y="6309320"/>
            <a:ext cx="3430662" cy="299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I_POS 2015/16 </a:t>
            </a:r>
            <a:r>
              <a:rPr lang="de-DE" sz="10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  <a:sym typeface="Wingdings" pitchFamily="2" charset="2"/>
              </a:rPr>
              <a:t> Methoden  </a:t>
            </a:r>
            <a:r>
              <a:rPr lang="de-DE" sz="1000" kern="1200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t>Seite </a:t>
            </a:r>
            <a:fld id="{C5A4FFB9-E613-43CD-964A-AE1E9E6225EE}" type="slidenum">
              <a:rPr lang="de-DE" sz="1000" kern="1200" smtClean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MS PGothic" pitchFamily="34" charset="-128"/>
                <a:cs typeface="Arial" charset="0"/>
              </a:rPr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t>‹Nr.›</a:t>
            </a:fld>
            <a:endParaRPr lang="de-DE" sz="1000" kern="1200" dirty="0">
              <a:solidFill>
                <a:schemeClr val="bg1">
                  <a:lumMod val="50000"/>
                </a:schemeClr>
              </a:solidFill>
              <a:latin typeface="Arial" panose="020B0604020202020204" pitchFamily="34" charset="0"/>
              <a:ea typeface="MS PGothic" pitchFamily="34" charset="-128"/>
              <a:cs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8" r:id="rId1"/>
    <p:sldLayoutId id="2147483909" r:id="rId2"/>
    <p:sldLayoutId id="2147483910" r:id="rId3"/>
    <p:sldLayoutId id="2147483911" r:id="rId4"/>
    <p:sldLayoutId id="2147483912" r:id="rId5"/>
    <p:sldLayoutId id="2147483913" r:id="rId6"/>
    <p:sldLayoutId id="2147483914" r:id="rId7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bg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charset="0"/>
          <a:cs typeface="Arial" charset="0"/>
        </a:defRPr>
      </a:lvl9pPr>
    </p:titleStyle>
    <p:bodyStyle>
      <a:lvl1pPr marL="26987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8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1pPr>
      <a:lvl2pPr marL="89535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5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2pPr>
      <a:lvl3pPr marL="1343025" indent="-269875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SzPct val="80000"/>
        <a:buFont typeface="Wingdings" panose="05000000000000000000" pitchFamily="2" charset="2"/>
        <a:buChar char="§"/>
        <a:defRPr sz="22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3pPr>
      <a:lvl4pPr marL="1790700" indent="-354013" algn="l" rtl="0" eaLnBrk="0" fontAlgn="base" hangingPunct="0">
        <a:spcBef>
          <a:spcPct val="20000"/>
        </a:spcBef>
        <a:spcAft>
          <a:spcPct val="0"/>
        </a:spcAft>
        <a:buClr>
          <a:srgbClr val="595959"/>
        </a:buClr>
        <a:buFont typeface="Symbol" panose="05050102010706020507" pitchFamily="18" charset="2"/>
        <a:buChar char="-"/>
        <a:defRPr sz="2000" kern="1200">
          <a:solidFill>
            <a:srgbClr val="404040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4" name="Group 7"/>
          <p:cNvGrpSpPr>
            <a:grpSpLocks/>
          </p:cNvGrpSpPr>
          <p:nvPr userDrawn="1"/>
        </p:nvGrpSpPr>
        <p:grpSpPr bwMode="auto">
          <a:xfrm>
            <a:off x="0" y="0"/>
            <a:ext cx="9144000" cy="1125538"/>
            <a:chOff x="0" y="0"/>
            <a:chExt cx="5760" cy="979"/>
          </a:xfrm>
        </p:grpSpPr>
        <p:grpSp>
          <p:nvGrpSpPr>
            <p:cNvPr id="3080" name="Group 8"/>
            <p:cNvGrpSpPr>
              <a:grpSpLocks/>
            </p:cNvGrpSpPr>
            <p:nvPr userDrawn="1"/>
          </p:nvGrpSpPr>
          <p:grpSpPr bwMode="auto">
            <a:xfrm>
              <a:off x="4" y="746"/>
              <a:ext cx="5756" cy="69"/>
              <a:chOff x="0" y="768"/>
              <a:chExt cx="5760" cy="58"/>
            </a:xfrm>
          </p:grpSpPr>
          <p:sp>
            <p:nvSpPr>
              <p:cNvPr id="1036" name="Rectangle 9"/>
              <p:cNvSpPr>
                <a:spLocks noChangeArrowheads="1"/>
              </p:cNvSpPr>
              <p:nvPr/>
            </p:nvSpPr>
            <p:spPr bwMode="auto">
              <a:xfrm flipV="1">
                <a:off x="0" y="778"/>
                <a:ext cx="5760" cy="4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>
                  <a:defRPr/>
                </a:pPr>
                <a:endParaRPr lang="de-AT">
                  <a:latin typeface="Calibri" panose="020F0502020204030204" pitchFamily="34" charset="0"/>
                </a:endParaRPr>
              </a:p>
            </p:txBody>
          </p:sp>
          <p:sp>
            <p:nvSpPr>
              <p:cNvPr id="14" name="Rectangle 11"/>
              <p:cNvSpPr>
                <a:spLocks noChangeArrowheads="1"/>
              </p:cNvSpPr>
              <p:nvPr/>
            </p:nvSpPr>
            <p:spPr bwMode="auto">
              <a:xfrm>
                <a:off x="0" y="768"/>
                <a:ext cx="5760" cy="12"/>
              </a:xfrm>
              <a:prstGeom prst="rect">
                <a:avLst/>
              </a:prstGeom>
              <a:gradFill rotWithShape="0">
                <a:gsLst>
                  <a:gs pos="0">
                    <a:schemeClr val="tx2"/>
                  </a:gs>
                  <a:gs pos="100000">
                    <a:schemeClr val="tx2">
                      <a:gamma/>
                      <a:tint val="51765"/>
                      <a:invGamma/>
                    </a:schemeClr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de-AT" dirty="0">
                  <a:latin typeface="Calibri" pitchFamily="34" charset="0"/>
                  <a:ea typeface="ＭＳ Ｐゴシック" pitchFamily="-44" charset="-128"/>
                </a:endParaRPr>
              </a:p>
            </p:txBody>
          </p:sp>
        </p:grpSp>
        <p:sp>
          <p:nvSpPr>
            <p:cNvPr id="1033" name="Rectangle 14" descr="Horizontal dünn"/>
            <p:cNvSpPr>
              <a:spLocks noChangeArrowheads="1"/>
            </p:cNvSpPr>
            <p:nvPr/>
          </p:nvSpPr>
          <p:spPr bwMode="auto">
            <a:xfrm>
              <a:off x="0" y="0"/>
              <a:ext cx="5760" cy="768"/>
            </a:xfrm>
            <a:prstGeom prst="rect">
              <a:avLst/>
            </a:prstGeom>
            <a:pattFill prst="narHorz">
              <a:fgClr>
                <a:srgbClr val="F0F0F0"/>
              </a:fgClr>
              <a:bgClr>
                <a:srgbClr val="FFFFFF"/>
              </a:bgClr>
            </a:patt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>
                <a:latin typeface="Calibri" panose="020F0502020204030204" pitchFamily="34" charset="0"/>
              </a:endParaRPr>
            </a:p>
          </p:txBody>
        </p:sp>
        <p:sp>
          <p:nvSpPr>
            <p:cNvPr id="1034" name="Rectangle 15"/>
            <p:cNvSpPr>
              <a:spLocks noChangeArrowheads="1"/>
            </p:cNvSpPr>
            <p:nvPr/>
          </p:nvSpPr>
          <p:spPr bwMode="auto">
            <a:xfrm>
              <a:off x="2" y="882"/>
              <a:ext cx="5758" cy="97"/>
            </a:xfrm>
            <a:prstGeom prst="rect">
              <a:avLst/>
            </a:prstGeom>
            <a:gradFill rotWithShape="1">
              <a:gsLst>
                <a:gs pos="0">
                  <a:srgbClr val="777777"/>
                </a:gs>
                <a:gs pos="100000">
                  <a:srgbClr val="FFFFFF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>
                <a:latin typeface="Calibri" panose="020F0502020204030204" pitchFamily="34" charset="0"/>
              </a:endParaRPr>
            </a:p>
          </p:txBody>
        </p:sp>
        <p:sp>
          <p:nvSpPr>
            <p:cNvPr id="1035" name="Rectangle 16"/>
            <p:cNvSpPr>
              <a:spLocks noChangeArrowheads="1"/>
            </p:cNvSpPr>
            <p:nvPr/>
          </p:nvSpPr>
          <p:spPr bwMode="auto">
            <a:xfrm>
              <a:off x="3" y="746"/>
              <a:ext cx="5757" cy="47"/>
            </a:xfrm>
            <a:prstGeom prst="rect">
              <a:avLst/>
            </a:prstGeom>
            <a:solidFill>
              <a:srgbClr val="777777">
                <a:alpha val="30980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>
                <a:defRPr/>
              </a:pPr>
              <a:endParaRPr lang="de-AT">
                <a:latin typeface="Calibri" panose="020F0502020204030204" pitchFamily="34" charset="0"/>
              </a:endParaRPr>
            </a:p>
          </p:txBody>
        </p:sp>
      </p:grpSp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00088" y="100013"/>
            <a:ext cx="774382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das Titelformat zu bearbeiten</a:t>
            </a:r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295400"/>
            <a:ext cx="777240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/>
              <a:t>Klicken Sie, um die Formate des Vorlagentextes zu bearbeiten</a:t>
            </a:r>
          </a:p>
          <a:p>
            <a:pPr lvl="1"/>
            <a:r>
              <a:rPr lang="de-DE" altLang="de-DE"/>
              <a:t>Zweite Ebene</a:t>
            </a:r>
          </a:p>
          <a:p>
            <a:pPr lvl="2"/>
            <a:r>
              <a:rPr lang="de-DE" altLang="de-DE"/>
              <a:t>Dritte Ebene</a:t>
            </a:r>
          </a:p>
          <a:p>
            <a:pPr lvl="3"/>
            <a:r>
              <a:rPr lang="de-DE" altLang="de-DE"/>
              <a:t>Vierte Ebene</a:t>
            </a:r>
          </a:p>
          <a:p>
            <a:pPr lvl="4"/>
            <a:r>
              <a:rPr lang="de-DE" altLang="de-DE"/>
              <a:t>Fünfte Ebene</a:t>
            </a:r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52413" y="6400800"/>
            <a:ext cx="144303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1888" y="6400800"/>
            <a:ext cx="4333875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200">
                <a:latin typeface="Calibri" pitchFamily="34" charset="0"/>
                <a:ea typeface="ＭＳ Ｐゴシック" pitchFamily="-44" charset="-128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434263" y="6400800"/>
            <a:ext cx="1449387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3A51FF2-54A1-464E-A4F3-7BAB1C2A15B8}" type="slidenum">
              <a:rPr lang="de-DE"/>
              <a:pPr>
                <a:defRPr/>
              </a:pPr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3916" r:id="rId2"/>
    <p:sldLayoutId id="2147483917" r:id="rId3"/>
    <p:sldLayoutId id="2147483918" r:id="rId4"/>
    <p:sldLayoutId id="2147483919" r:id="rId5"/>
    <p:sldLayoutId id="2147483920" r:id="rId6"/>
    <p:sldLayoutId id="2147483921" r:id="rId7"/>
    <p:sldLayoutId id="2147483922" r:id="rId8"/>
    <p:sldLayoutId id="2147483923" r:id="rId9"/>
    <p:sldLayoutId id="2147483924" r:id="rId10"/>
    <p:sldLayoutId id="2147483925" r:id="rId11"/>
    <p:sldLayoutId id="214748392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Calibri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3200" i="1">
          <a:solidFill>
            <a:schemeClr val="accent2"/>
          </a:solidFill>
          <a:latin typeface="Times New Roman" pitchFamily="18" charset="0"/>
        </a:defRPr>
      </a:lvl9pPr>
    </p:titleStyle>
    <p:bodyStyle>
      <a:lvl1pPr marL="288925" indent="-288925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Calibri" pitchFamily="34" charset="0"/>
          <a:ea typeface="+mn-ea"/>
          <a:cs typeface="+mn-cs"/>
        </a:defRPr>
      </a:lvl1pPr>
      <a:lvl2pPr marL="765175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Calibri" pitchFamily="34" charset="0"/>
        </a:defRPr>
      </a:lvl2pPr>
      <a:lvl3pPr marL="1184275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Calibri" pitchFamily="34" charset="0"/>
        </a:defRPr>
      </a:lvl3pPr>
      <a:lvl4pPr marL="1603375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Calibri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Calibri" pitchFamily="34" charset="0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ChangeArrowheads="1"/>
          </p:cNvSpPr>
          <p:nvPr/>
        </p:nvSpPr>
        <p:spPr bwMode="auto">
          <a:xfrm>
            <a:off x="900113" y="1700213"/>
            <a:ext cx="5040312" cy="4249737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</a:endParaRPr>
          </a:p>
        </p:txBody>
      </p:sp>
      <p:sp>
        <p:nvSpPr>
          <p:cNvPr id="614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Parameterlose Methoden</a:t>
            </a:r>
          </a:p>
        </p:txBody>
      </p:sp>
      <p:sp>
        <p:nvSpPr>
          <p:cNvPr id="11269" name="Text Box 5"/>
          <p:cNvSpPr txBox="1">
            <a:spLocks noChangeArrowheads="1"/>
          </p:cNvSpPr>
          <p:nvPr/>
        </p:nvSpPr>
        <p:spPr bwMode="auto">
          <a:xfrm>
            <a:off x="746125" y="1233488"/>
            <a:ext cx="3835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latin typeface="Calibri" panose="020F0502020204030204" pitchFamily="34" charset="0"/>
              </a:rPr>
              <a:t>Beispiel: Ausgabe einer Überschrift</a:t>
            </a:r>
          </a:p>
        </p:txBody>
      </p:sp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903288" y="1808163"/>
            <a:ext cx="5040312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2670175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 dirty="0" err="1">
                <a:solidFill>
                  <a:schemeClr val="accent2"/>
                </a:solidFill>
                <a:latin typeface="Calibri" panose="020F0502020204030204" pitchFamily="34" charset="0"/>
              </a:rPr>
              <a:t>class</a:t>
            </a:r>
            <a:r>
              <a:rPr lang="de-AT" altLang="de-DE" sz="1600" dirty="0">
                <a:latin typeface="Calibri" panose="020F0502020204030204" pitchFamily="34" charset="0"/>
              </a:rPr>
              <a:t> Sample 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{</a:t>
            </a:r>
            <a:endParaRPr lang="de-AT" altLang="de-DE" sz="1600" dirty="0">
              <a:latin typeface="Calibri" panose="020F0502020204030204" pitchFamily="34" charset="0"/>
            </a:endParaRPr>
          </a:p>
          <a:p>
            <a:r>
              <a:rPr lang="de-AT" altLang="de-DE" sz="1600" dirty="0">
                <a:latin typeface="Calibri" panose="020F0502020204030204" pitchFamily="34" charset="0"/>
              </a:rPr>
              <a:t>	</a:t>
            </a:r>
            <a:r>
              <a:rPr lang="de-AT" altLang="de-DE" sz="1600" dirty="0" err="1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 dirty="0">
                <a:solidFill>
                  <a:schemeClr val="accent2"/>
                </a:solidFill>
                <a:latin typeface="Calibri" panose="020F0502020204030204" pitchFamily="34" charset="0"/>
              </a:rPr>
              <a:t> </a:t>
            </a:r>
            <a:r>
              <a:rPr lang="de-AT" altLang="de-DE" sz="1600" dirty="0" err="1">
                <a:solidFill>
                  <a:schemeClr val="accent2"/>
                </a:solidFill>
                <a:latin typeface="Calibri" panose="020F0502020204030204" pitchFamily="34" charset="0"/>
              </a:rPr>
              <a:t>void</a:t>
            </a:r>
            <a:r>
              <a:rPr lang="de-AT" altLang="de-DE" sz="1600" dirty="0">
                <a:solidFill>
                  <a:schemeClr val="accent2"/>
                </a:solidFill>
                <a:latin typeface="Calibri" panose="020F0502020204030204" pitchFamily="34" charset="0"/>
              </a:rPr>
              <a:t> </a:t>
            </a:r>
            <a:r>
              <a:rPr lang="de-AT" altLang="de-DE" sz="1600" b="1" dirty="0" err="1">
                <a:solidFill>
                  <a:schemeClr val="accent2"/>
                </a:solidFill>
                <a:latin typeface="Calibri" panose="020F0502020204030204" pitchFamily="34" charset="0"/>
              </a:rPr>
              <a:t>PrintHeader</a:t>
            </a:r>
            <a:r>
              <a:rPr lang="de-AT" altLang="de-DE" sz="1600" dirty="0">
                <a:solidFill>
                  <a:schemeClr val="accent2"/>
                </a:solidFill>
                <a:latin typeface="Calibri" panose="020F0502020204030204" pitchFamily="34" charset="0"/>
              </a:rPr>
              <a:t>()		          </a:t>
            </a:r>
            <a:r>
              <a:rPr lang="de-AT" altLang="de-DE" sz="1600" dirty="0">
                <a:solidFill>
                  <a:srgbClr val="00B050"/>
                </a:solidFill>
                <a:latin typeface="Calibri" panose="020F0502020204030204" pitchFamily="34" charset="0"/>
              </a:rPr>
              <a:t>// Methodenkopf</a:t>
            </a:r>
            <a:endParaRPr lang="de-AT" altLang="de-DE" sz="1600" dirty="0">
              <a:latin typeface="Calibri" panose="020F0502020204030204" pitchFamily="34" charset="0"/>
            </a:endParaRPr>
          </a:p>
          <a:p>
            <a:r>
              <a:rPr lang="de-AT" altLang="de-DE" sz="1600" dirty="0">
                <a:latin typeface="Calibri" panose="020F0502020204030204" pitchFamily="34" charset="0"/>
              </a:rPr>
              <a:t>	{						    </a:t>
            </a:r>
            <a:r>
              <a:rPr lang="de-AT" altLang="de-DE" sz="1600" dirty="0" err="1">
                <a:latin typeface="Calibri" panose="020F0502020204030204" pitchFamily="34" charset="0"/>
              </a:rPr>
              <a:t>Console.WriteLine</a:t>
            </a:r>
            <a:r>
              <a:rPr lang="de-AT" altLang="de-DE" sz="1600" dirty="0">
                <a:latin typeface="Calibri" panose="020F0502020204030204" pitchFamily="34" charset="0"/>
              </a:rPr>
              <a:t>("Artikelliste");  </a:t>
            </a:r>
            <a:r>
              <a:rPr lang="de-AT" altLang="de-DE" sz="1600" dirty="0">
                <a:solidFill>
                  <a:srgbClr val="00B050"/>
                </a:solidFill>
                <a:latin typeface="Calibri" panose="020F0502020204030204" pitchFamily="34" charset="0"/>
              </a:rPr>
              <a:t>// Methodenrumpf</a:t>
            </a:r>
          </a:p>
          <a:p>
            <a:r>
              <a:rPr lang="de-AT" altLang="de-DE" sz="1600" dirty="0">
                <a:latin typeface="Calibri" panose="020F0502020204030204" pitchFamily="34" charset="0"/>
              </a:rPr>
              <a:t>		</a:t>
            </a:r>
            <a:r>
              <a:rPr lang="de-AT" altLang="de-DE" sz="1600" dirty="0" err="1">
                <a:latin typeface="Calibri" panose="020F0502020204030204" pitchFamily="34" charset="0"/>
              </a:rPr>
              <a:t>Console.WriteLine</a:t>
            </a:r>
            <a:r>
              <a:rPr lang="de-AT" altLang="de-DE" sz="1600" dirty="0">
                <a:latin typeface="Calibri" panose="020F0502020204030204" pitchFamily="34" charset="0"/>
              </a:rPr>
              <a:t>("------------");</a:t>
            </a:r>
          </a:p>
          <a:p>
            <a:r>
              <a:rPr lang="de-AT" altLang="de-DE" sz="1600" dirty="0">
                <a:latin typeface="Calibri" panose="020F0502020204030204" pitchFamily="34" charset="0"/>
              </a:rPr>
              <a:t>	}</a:t>
            </a:r>
          </a:p>
          <a:p>
            <a:endParaRPr lang="de-AT" altLang="de-DE" sz="1600" dirty="0">
              <a:latin typeface="Calibri" panose="020F0502020204030204" pitchFamily="34" charset="0"/>
            </a:endParaRPr>
          </a:p>
          <a:p>
            <a:r>
              <a:rPr lang="de-AT" altLang="de-DE" sz="1600" dirty="0">
                <a:latin typeface="Calibri" panose="020F0502020204030204" pitchFamily="34" charset="0"/>
              </a:rPr>
              <a:t>	</a:t>
            </a:r>
            <a:r>
              <a:rPr lang="de-AT" altLang="de-DE" sz="1600" dirty="0" err="1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 dirty="0">
                <a:latin typeface="Calibri" panose="020F0502020204030204" pitchFamily="34" charset="0"/>
              </a:rPr>
              <a:t> </a:t>
            </a:r>
            <a:r>
              <a:rPr lang="de-AT" altLang="de-DE" sz="1600" dirty="0" err="1">
                <a:solidFill>
                  <a:schemeClr val="accent2"/>
                </a:solidFill>
                <a:latin typeface="Calibri" panose="020F0502020204030204" pitchFamily="34" charset="0"/>
              </a:rPr>
              <a:t>void</a:t>
            </a:r>
            <a:r>
              <a:rPr lang="de-AT" altLang="de-DE" sz="1600" dirty="0">
                <a:latin typeface="Calibri" panose="020F0502020204030204" pitchFamily="34" charset="0"/>
              </a:rPr>
              <a:t> Main (String[] </a:t>
            </a:r>
            <a:r>
              <a:rPr lang="de-AT" altLang="de-DE" sz="1600" dirty="0" err="1">
                <a:latin typeface="Calibri" panose="020F0502020204030204" pitchFamily="34" charset="0"/>
              </a:rPr>
              <a:t>args</a:t>
            </a:r>
            <a:r>
              <a:rPr lang="de-AT" altLang="de-DE" sz="1600" dirty="0">
                <a:latin typeface="Calibri" panose="020F0502020204030204" pitchFamily="34" charset="0"/>
              </a:rPr>
              <a:t>) </a:t>
            </a:r>
          </a:p>
          <a:p>
            <a:r>
              <a:rPr lang="de-AT" altLang="de-DE" sz="1600" dirty="0">
                <a:latin typeface="Calibri" panose="020F0502020204030204" pitchFamily="34" charset="0"/>
              </a:rPr>
              <a:t>	{</a:t>
            </a:r>
          </a:p>
          <a:p>
            <a:r>
              <a:rPr lang="de-AT" altLang="de-DE" sz="1600" dirty="0">
                <a:latin typeface="Calibri" panose="020F0502020204030204" pitchFamily="34" charset="0"/>
              </a:rPr>
              <a:t>		</a:t>
            </a:r>
            <a:r>
              <a:rPr lang="de-AT" altLang="de-DE" sz="1600" dirty="0" err="1">
                <a:solidFill>
                  <a:srgbClr val="FF0000"/>
                </a:solidFill>
                <a:latin typeface="Calibri" panose="020F0502020204030204" pitchFamily="34" charset="0"/>
              </a:rPr>
              <a:t>PrintHeader</a:t>
            </a:r>
            <a:r>
              <a:rPr lang="de-AT" altLang="de-DE" sz="1600" dirty="0">
                <a:solidFill>
                  <a:srgbClr val="FF0000"/>
                </a:solidFill>
                <a:latin typeface="Calibri" panose="020F0502020204030204" pitchFamily="34" charset="0"/>
              </a:rPr>
              <a:t>();</a:t>
            </a:r>
            <a:r>
              <a:rPr lang="de-AT" altLang="de-DE" sz="1600" dirty="0">
                <a:latin typeface="Calibri" panose="020F0502020204030204" pitchFamily="34" charset="0"/>
              </a:rPr>
              <a:t>	          </a:t>
            </a:r>
            <a:r>
              <a:rPr lang="de-AT" altLang="de-DE" sz="1600" dirty="0">
                <a:solidFill>
                  <a:srgbClr val="00B050"/>
                </a:solidFill>
                <a:latin typeface="Calibri" panose="020F0502020204030204" pitchFamily="34" charset="0"/>
              </a:rPr>
              <a:t>// Aufruf</a:t>
            </a:r>
          </a:p>
          <a:p>
            <a:r>
              <a:rPr lang="de-AT" altLang="de-DE" sz="1600" dirty="0">
                <a:latin typeface="Calibri" panose="020F0502020204030204" pitchFamily="34" charset="0"/>
              </a:rPr>
              <a:t>		...</a:t>
            </a:r>
          </a:p>
          <a:p>
            <a:r>
              <a:rPr lang="de-AT" altLang="de-DE" sz="1600" dirty="0">
                <a:latin typeface="Calibri" panose="020F0502020204030204" pitchFamily="34" charset="0"/>
              </a:rPr>
              <a:t>		</a:t>
            </a:r>
            <a:r>
              <a:rPr lang="de-AT" altLang="de-DE" sz="1600" dirty="0" err="1">
                <a:solidFill>
                  <a:srgbClr val="FF0000"/>
                </a:solidFill>
                <a:latin typeface="Calibri" panose="020F0502020204030204" pitchFamily="34" charset="0"/>
              </a:rPr>
              <a:t>PrintHeader</a:t>
            </a:r>
            <a:r>
              <a:rPr lang="de-AT" altLang="de-DE" sz="1600" dirty="0">
                <a:solidFill>
                  <a:srgbClr val="FF0000"/>
                </a:solidFill>
                <a:latin typeface="Calibri" panose="020F0502020204030204" pitchFamily="34" charset="0"/>
              </a:rPr>
              <a:t>();</a:t>
            </a:r>
          </a:p>
          <a:p>
            <a:r>
              <a:rPr lang="de-AT" altLang="de-DE" sz="1600" dirty="0">
                <a:latin typeface="Calibri" panose="020F0502020204030204" pitchFamily="34" charset="0"/>
              </a:rPr>
              <a:t>		...</a:t>
            </a:r>
          </a:p>
          <a:p>
            <a:r>
              <a:rPr lang="de-AT" altLang="de-DE" sz="1600" dirty="0">
                <a:latin typeface="Calibri" panose="020F0502020204030204" pitchFamily="34" charset="0"/>
              </a:rPr>
              <a:t>	}</a:t>
            </a:r>
          </a:p>
          <a:p>
            <a:r>
              <a:rPr lang="de-AT" altLang="de-DE" sz="1600" dirty="0">
                <a:latin typeface="Calibri" panose="020F0502020204030204" pitchFamily="34" charset="0"/>
              </a:rPr>
              <a:t>}</a:t>
            </a:r>
          </a:p>
        </p:txBody>
      </p:sp>
      <p:sp>
        <p:nvSpPr>
          <p:cNvPr id="11271" name="Text Box 7"/>
          <p:cNvSpPr txBox="1">
            <a:spLocks noChangeArrowheads="1"/>
          </p:cNvSpPr>
          <p:nvPr/>
        </p:nvSpPr>
        <p:spPr bwMode="auto">
          <a:xfrm>
            <a:off x="6011863" y="1766888"/>
            <a:ext cx="24828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Zweck von Methoden</a:t>
            </a:r>
          </a:p>
        </p:txBody>
      </p:sp>
      <p:sp>
        <p:nvSpPr>
          <p:cNvPr id="11272" name="Text Box 8"/>
          <p:cNvSpPr txBox="1">
            <a:spLocks noChangeArrowheads="1"/>
          </p:cNvSpPr>
          <p:nvPr/>
        </p:nvSpPr>
        <p:spPr bwMode="auto">
          <a:xfrm>
            <a:off x="5940425" y="2224088"/>
            <a:ext cx="3089275" cy="249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7325" indent="-1873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>
              <a:buFontTx/>
              <a:buChar char="•"/>
            </a:pPr>
            <a:r>
              <a:rPr lang="de-AT" altLang="de-DE" sz="2000">
                <a:latin typeface="Calibri" panose="020F0502020204030204" pitchFamily="34" charset="0"/>
              </a:rPr>
              <a:t>Wiederverwendung häufig </a:t>
            </a:r>
            <a:br>
              <a:rPr lang="de-AT" altLang="de-DE" sz="2000">
                <a:latin typeface="Calibri" panose="020F0502020204030204" pitchFamily="34" charset="0"/>
              </a:rPr>
            </a:br>
            <a:r>
              <a:rPr lang="de-AT" altLang="de-DE" sz="2000">
                <a:latin typeface="Calibri" panose="020F0502020204030204" pitchFamily="34" charset="0"/>
              </a:rPr>
              <a:t>benutzten Codes</a:t>
            </a:r>
          </a:p>
          <a:p>
            <a:pPr>
              <a:spcBef>
                <a:spcPct val="40000"/>
              </a:spcBef>
              <a:buFontTx/>
              <a:buChar char="•"/>
            </a:pPr>
            <a:r>
              <a:rPr lang="de-AT" altLang="de-DE" sz="2000">
                <a:latin typeface="Calibri" panose="020F0502020204030204" pitchFamily="34" charset="0"/>
              </a:rPr>
              <a:t>Definition benutzer-</a:t>
            </a:r>
            <a:br>
              <a:rPr lang="de-AT" altLang="de-DE" sz="2000">
                <a:latin typeface="Calibri" panose="020F0502020204030204" pitchFamily="34" charset="0"/>
              </a:rPr>
            </a:br>
            <a:r>
              <a:rPr lang="de-AT" altLang="de-DE" sz="2000">
                <a:latin typeface="Calibri" panose="020F0502020204030204" pitchFamily="34" charset="0"/>
              </a:rPr>
              <a:t>spezifischer Operationen</a:t>
            </a:r>
          </a:p>
          <a:p>
            <a:pPr>
              <a:spcBef>
                <a:spcPct val="40000"/>
              </a:spcBef>
              <a:buFontTx/>
              <a:buChar char="•"/>
            </a:pPr>
            <a:r>
              <a:rPr lang="de-AT" altLang="de-DE" sz="2000">
                <a:latin typeface="Calibri" panose="020F0502020204030204" pitchFamily="34" charset="0"/>
              </a:rPr>
              <a:t>Strukturierung des Programms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Wie funktioniert ein Methodenaufruf?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974725" y="1509713"/>
            <a:ext cx="1354138" cy="1570037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</a:rPr>
              <a:t>static</a:t>
            </a:r>
            <a:r>
              <a:rPr lang="de-AT" sz="1600" dirty="0">
                <a:latin typeface="Calibri" pitchFamily="34" charset="0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</a:rPr>
              <a:t>void</a:t>
            </a:r>
            <a:r>
              <a:rPr lang="de-AT" sz="1600" dirty="0">
                <a:latin typeface="Calibri" pitchFamily="34" charset="0"/>
              </a:rPr>
              <a:t> </a:t>
            </a:r>
            <a:r>
              <a:rPr lang="de-AT" sz="1600" b="1" dirty="0">
                <a:latin typeface="Calibri" pitchFamily="34" charset="0"/>
              </a:rPr>
              <a:t>P</a:t>
            </a:r>
            <a:r>
              <a:rPr lang="de-AT" sz="1600" dirty="0">
                <a:latin typeface="Calibri" pitchFamily="34" charset="0"/>
              </a:rPr>
              <a:t>() </a:t>
            </a:r>
          </a:p>
          <a:p>
            <a:pPr>
              <a:defRPr/>
            </a:pPr>
            <a:r>
              <a:rPr lang="de-AT" sz="1600" dirty="0">
                <a:latin typeface="Calibri" pitchFamily="34" charset="0"/>
              </a:rPr>
              <a:t>{</a:t>
            </a:r>
          </a:p>
          <a:p>
            <a:pPr>
              <a:defRPr/>
            </a:pPr>
            <a:r>
              <a:rPr lang="de-AT" sz="1600" dirty="0">
                <a:latin typeface="Calibri" pitchFamily="34" charset="0"/>
              </a:rPr>
              <a:t>	...</a:t>
            </a:r>
          </a:p>
          <a:p>
            <a:pPr>
              <a:defRPr/>
            </a:pPr>
            <a:r>
              <a:rPr lang="de-AT" sz="1600" dirty="0">
                <a:latin typeface="Calibri" pitchFamily="34" charset="0"/>
              </a:rPr>
              <a:t>	Q();</a:t>
            </a:r>
          </a:p>
          <a:p>
            <a:pPr>
              <a:defRPr/>
            </a:pPr>
            <a:r>
              <a:rPr lang="de-AT" sz="1600" dirty="0">
                <a:latin typeface="Calibri" pitchFamily="34" charset="0"/>
              </a:rPr>
              <a:t>	...</a:t>
            </a:r>
          </a:p>
          <a:p>
            <a:pPr>
              <a:defRPr/>
            </a:pPr>
            <a:r>
              <a:rPr lang="de-AT" sz="1600" dirty="0">
                <a:latin typeface="Calibri" pitchFamily="34" charset="0"/>
              </a:rPr>
              <a:t>}</a:t>
            </a: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3095625" y="1524000"/>
            <a:ext cx="1385888" cy="1570038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rgbClr val="6699FF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</a:rPr>
              <a:t>static</a:t>
            </a:r>
            <a:r>
              <a:rPr lang="de-AT" sz="1600" dirty="0">
                <a:latin typeface="Calibri" pitchFamily="34" charset="0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</a:rPr>
              <a:t>void</a:t>
            </a:r>
            <a:r>
              <a:rPr lang="de-AT" sz="1600" dirty="0">
                <a:latin typeface="Calibri" pitchFamily="34" charset="0"/>
              </a:rPr>
              <a:t> </a:t>
            </a:r>
            <a:r>
              <a:rPr lang="de-AT" sz="1600" b="1" dirty="0">
                <a:latin typeface="Calibri" pitchFamily="34" charset="0"/>
              </a:rPr>
              <a:t>Q</a:t>
            </a:r>
            <a:r>
              <a:rPr lang="de-AT" sz="1600" dirty="0">
                <a:latin typeface="Calibri" pitchFamily="34" charset="0"/>
              </a:rPr>
              <a:t>() </a:t>
            </a:r>
          </a:p>
          <a:p>
            <a:pPr>
              <a:defRPr/>
            </a:pPr>
            <a:r>
              <a:rPr lang="de-AT" sz="1600" dirty="0">
                <a:latin typeface="Calibri" pitchFamily="34" charset="0"/>
              </a:rPr>
              <a:t>{</a:t>
            </a:r>
          </a:p>
          <a:p>
            <a:pPr>
              <a:defRPr/>
            </a:pPr>
            <a:r>
              <a:rPr lang="de-AT" sz="1600" dirty="0">
                <a:latin typeface="Calibri" pitchFamily="34" charset="0"/>
              </a:rPr>
              <a:t>	...</a:t>
            </a:r>
          </a:p>
          <a:p>
            <a:pPr>
              <a:defRPr/>
            </a:pPr>
            <a:r>
              <a:rPr lang="de-AT" sz="1600" dirty="0">
                <a:latin typeface="Calibri" pitchFamily="34" charset="0"/>
              </a:rPr>
              <a:t>	R();</a:t>
            </a:r>
          </a:p>
          <a:p>
            <a:pPr>
              <a:defRPr/>
            </a:pPr>
            <a:r>
              <a:rPr lang="de-AT" sz="1600" dirty="0">
                <a:latin typeface="Calibri" pitchFamily="34" charset="0"/>
              </a:rPr>
              <a:t>	...</a:t>
            </a:r>
          </a:p>
          <a:p>
            <a:pPr>
              <a:defRPr/>
            </a:pPr>
            <a:r>
              <a:rPr lang="de-AT" sz="1600" dirty="0">
                <a:latin typeface="Calibri" pitchFamily="34" charset="0"/>
              </a:rPr>
              <a:t>}</a:t>
            </a:r>
          </a:p>
        </p:txBody>
      </p:sp>
      <p:sp>
        <p:nvSpPr>
          <p:cNvPr id="5125" name="Text Box 5"/>
          <p:cNvSpPr txBox="1">
            <a:spLocks noChangeArrowheads="1"/>
          </p:cNvSpPr>
          <p:nvPr/>
        </p:nvSpPr>
        <p:spPr bwMode="auto">
          <a:xfrm>
            <a:off x="5195888" y="1524000"/>
            <a:ext cx="1360487" cy="1570038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</a:rPr>
              <a:t>static</a:t>
            </a:r>
            <a:r>
              <a:rPr lang="de-AT" sz="1600" dirty="0">
                <a:latin typeface="Calibri" pitchFamily="34" charset="0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</a:rPr>
              <a:t>void</a:t>
            </a:r>
            <a:r>
              <a:rPr lang="de-AT" sz="1600" dirty="0">
                <a:latin typeface="Calibri" pitchFamily="34" charset="0"/>
              </a:rPr>
              <a:t> </a:t>
            </a:r>
            <a:r>
              <a:rPr lang="de-AT" sz="1600" b="1" dirty="0">
                <a:latin typeface="Calibri" pitchFamily="34" charset="0"/>
              </a:rPr>
              <a:t>R</a:t>
            </a:r>
            <a:r>
              <a:rPr lang="de-AT" sz="1600" dirty="0">
                <a:latin typeface="Calibri" pitchFamily="34" charset="0"/>
              </a:rPr>
              <a:t>() </a:t>
            </a:r>
          </a:p>
          <a:p>
            <a:pPr>
              <a:defRPr/>
            </a:pPr>
            <a:r>
              <a:rPr lang="de-AT" sz="1600" dirty="0">
                <a:latin typeface="Calibri" pitchFamily="34" charset="0"/>
              </a:rPr>
              <a:t>{</a:t>
            </a:r>
          </a:p>
          <a:p>
            <a:pPr>
              <a:defRPr/>
            </a:pPr>
            <a:r>
              <a:rPr lang="de-AT" sz="1600" dirty="0">
                <a:latin typeface="Calibri" pitchFamily="34" charset="0"/>
              </a:rPr>
              <a:t>	...</a:t>
            </a:r>
          </a:p>
          <a:p>
            <a:pPr>
              <a:defRPr/>
            </a:pPr>
            <a:r>
              <a:rPr lang="de-AT" sz="1600" dirty="0">
                <a:latin typeface="Calibri" pitchFamily="34" charset="0"/>
              </a:rPr>
              <a:t>	...</a:t>
            </a:r>
          </a:p>
          <a:p>
            <a:pPr>
              <a:defRPr/>
            </a:pPr>
            <a:r>
              <a:rPr lang="de-AT" sz="1600" dirty="0">
                <a:latin typeface="Calibri" pitchFamily="34" charset="0"/>
              </a:rPr>
              <a:t>	...</a:t>
            </a:r>
          </a:p>
          <a:p>
            <a:pPr>
              <a:defRPr/>
            </a:pPr>
            <a:r>
              <a:rPr lang="de-AT" sz="1600" dirty="0">
                <a:latin typeface="Calibri" pitchFamily="34" charset="0"/>
              </a:rPr>
              <a:t>}</a:t>
            </a:r>
          </a:p>
        </p:txBody>
      </p:sp>
      <p:sp>
        <p:nvSpPr>
          <p:cNvPr id="12295" name="Line 6"/>
          <p:cNvSpPr>
            <a:spLocks noChangeShapeType="1"/>
          </p:cNvSpPr>
          <p:nvPr/>
        </p:nvSpPr>
        <p:spPr bwMode="auto">
          <a:xfrm flipV="1">
            <a:off x="1676400" y="1943100"/>
            <a:ext cx="1419225" cy="3651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2296" name="Line 7"/>
          <p:cNvSpPr>
            <a:spLocks noChangeShapeType="1"/>
          </p:cNvSpPr>
          <p:nvPr/>
        </p:nvSpPr>
        <p:spPr bwMode="auto">
          <a:xfrm flipH="1" flipV="1">
            <a:off x="1547813" y="2571750"/>
            <a:ext cx="1547812" cy="3524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2297" name="Line 8"/>
          <p:cNvSpPr>
            <a:spLocks noChangeShapeType="1"/>
          </p:cNvSpPr>
          <p:nvPr/>
        </p:nvSpPr>
        <p:spPr bwMode="auto">
          <a:xfrm flipV="1">
            <a:off x="3748088" y="1912938"/>
            <a:ext cx="1447800" cy="395287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2298" name="Line 9"/>
          <p:cNvSpPr>
            <a:spLocks noChangeShapeType="1"/>
          </p:cNvSpPr>
          <p:nvPr/>
        </p:nvSpPr>
        <p:spPr bwMode="auto">
          <a:xfrm flipH="1" flipV="1">
            <a:off x="3810000" y="2571750"/>
            <a:ext cx="1385888" cy="352425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2299" name="Text Box 10"/>
          <p:cNvSpPr txBox="1">
            <a:spLocks noChangeArrowheads="1"/>
          </p:cNvSpPr>
          <p:nvPr/>
        </p:nvSpPr>
        <p:spPr bwMode="auto">
          <a:xfrm>
            <a:off x="898525" y="3824288"/>
            <a:ext cx="40735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Namenskonventionen für Methoden</a:t>
            </a:r>
          </a:p>
        </p:txBody>
      </p:sp>
      <p:sp>
        <p:nvSpPr>
          <p:cNvPr id="12300" name="Text Box 11"/>
          <p:cNvSpPr txBox="1">
            <a:spLocks noChangeArrowheads="1"/>
          </p:cNvSpPr>
          <p:nvPr/>
        </p:nvSpPr>
        <p:spPr bwMode="auto">
          <a:xfrm>
            <a:off x="914400" y="4329113"/>
            <a:ext cx="724058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latin typeface="Calibri" panose="020F0502020204030204" pitchFamily="34" charset="0"/>
              </a:rPr>
              <a:t>Namen sollten mit Verb und Großbuchstaben beginnen, wenn die Methode </a:t>
            </a:r>
            <a:r>
              <a:rPr lang="de-AT" altLang="de-DE" sz="1600" i="1">
                <a:solidFill>
                  <a:schemeClr val="accent2"/>
                </a:solidFill>
                <a:latin typeface="Calibri" panose="020F0502020204030204" pitchFamily="34" charset="0"/>
              </a:rPr>
              <a:t>public</a:t>
            </a:r>
            <a:r>
              <a:rPr lang="de-AT" altLang="de-DE" sz="1600">
                <a:latin typeface="Calibri" panose="020F0502020204030204" pitchFamily="34" charset="0"/>
              </a:rPr>
              <a:t> ist.</a:t>
            </a:r>
          </a:p>
          <a:p>
            <a:endParaRPr lang="de-AT" altLang="de-DE" sz="1600">
              <a:latin typeface="Calibri" panose="020F0502020204030204" pitchFamily="34" charset="0"/>
            </a:endParaRPr>
          </a:p>
          <a:p>
            <a:r>
              <a:rPr lang="de-AT" altLang="de-DE" sz="1600" b="1">
                <a:latin typeface="Calibri" panose="020F0502020204030204" pitchFamily="34" charset="0"/>
              </a:rPr>
              <a:t>Beispiele</a:t>
            </a:r>
            <a:r>
              <a:rPr lang="de-AT" altLang="de-DE" sz="1600">
                <a:latin typeface="Calibri" panose="020F0502020204030204" pitchFamily="34" charset="0"/>
              </a:rPr>
              <a:t>: </a:t>
            </a:r>
            <a:r>
              <a:rPr lang="de-AT" altLang="de-DE" sz="1600" i="1">
                <a:latin typeface="Calibri" panose="020F0502020204030204" pitchFamily="34" charset="0"/>
              </a:rPr>
              <a:t>PrintHeader</a:t>
            </a:r>
            <a:r>
              <a:rPr lang="de-AT" altLang="de-DE" sz="1600">
                <a:latin typeface="Calibri" panose="020F0502020204030204" pitchFamily="34" charset="0"/>
              </a:rPr>
              <a:t>, </a:t>
            </a:r>
            <a:r>
              <a:rPr lang="de-AT" altLang="de-DE" sz="1600" i="1">
                <a:latin typeface="Calibri" panose="020F0502020204030204" pitchFamily="34" charset="0"/>
              </a:rPr>
              <a:t>FindMaximum</a:t>
            </a:r>
            <a:r>
              <a:rPr lang="de-AT" altLang="de-DE" sz="1600">
                <a:latin typeface="Calibri" panose="020F0502020204030204" pitchFamily="34" charset="0"/>
              </a:rPr>
              <a:t>, </a:t>
            </a:r>
            <a:r>
              <a:rPr lang="de-AT" altLang="de-DE" sz="1600" i="1">
                <a:latin typeface="Calibri" panose="020F0502020204030204" pitchFamily="34" charset="0"/>
              </a:rPr>
              <a:t>TraverseList</a:t>
            </a:r>
            <a:r>
              <a:rPr lang="de-AT" altLang="de-DE" sz="1600">
                <a:latin typeface="Calibri" panose="020F0502020204030204" pitchFamily="34" charset="0"/>
              </a:rPr>
              <a:t>, 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ChangeArrowheads="1"/>
          </p:cNvSpPr>
          <p:nvPr/>
        </p:nvSpPr>
        <p:spPr bwMode="auto">
          <a:xfrm>
            <a:off x="1066800" y="1738313"/>
            <a:ext cx="3933825" cy="2800350"/>
          </a:xfrm>
          <a:prstGeom prst="rect">
            <a:avLst/>
          </a:prstGeom>
          <a:noFill/>
          <a:ln w="1270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endParaRPr lang="de-AT" altLang="de-DE">
              <a:latin typeface="Calibri" panose="020F0502020204030204" pitchFamily="34" charset="0"/>
            </a:endParaRPr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1524000" y="3733800"/>
            <a:ext cx="1905000" cy="3048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  <a:ea typeface="ＭＳ Ｐゴシック" pitchFamily="-44" charset="-128"/>
            </a:endParaRPr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1295400" y="2000250"/>
            <a:ext cx="3657600" cy="1071563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solidFill>
              <a:schemeClr val="accent3">
                <a:lumMod val="95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  <a:ea typeface="ＭＳ Ｐゴシック" pitchFamily="-44" charset="-128"/>
            </a:endParaRPr>
          </a:p>
        </p:txBody>
      </p:sp>
      <p:sp>
        <p:nvSpPr>
          <p:cNvPr id="8197" name="Rectangle 5"/>
          <p:cNvSpPr>
            <a:spLocks noGrp="1" noChangeArrowheads="1"/>
          </p:cNvSpPr>
          <p:nvPr>
            <p:ph type="title"/>
          </p:nvPr>
        </p:nvSpPr>
        <p:spPr>
          <a:xfrm>
            <a:off x="457200" y="125413"/>
            <a:ext cx="8507413" cy="1143000"/>
          </a:xfrm>
        </p:spPr>
        <p:txBody>
          <a:bodyPr/>
          <a:lstStyle/>
          <a:p>
            <a:pPr>
              <a:defRPr/>
            </a:pPr>
            <a:r>
              <a:rPr lang="de-AT" dirty="0"/>
              <a:t>Parameter (Wertparameter -&gt; </a:t>
            </a:r>
            <a:r>
              <a:rPr lang="de-AT" dirty="0" err="1"/>
              <a:t>call</a:t>
            </a:r>
            <a:r>
              <a:rPr lang="de-AT" dirty="0"/>
              <a:t> </a:t>
            </a:r>
            <a:r>
              <a:rPr lang="de-AT" dirty="0" err="1"/>
              <a:t>by</a:t>
            </a:r>
            <a:r>
              <a:rPr lang="de-AT" dirty="0"/>
              <a:t> </a:t>
            </a:r>
            <a:r>
              <a:rPr lang="de-AT" dirty="0" err="1"/>
              <a:t>value</a:t>
            </a:r>
            <a:r>
              <a:rPr lang="de-AT" dirty="0"/>
              <a:t>)</a:t>
            </a:r>
          </a:p>
        </p:txBody>
      </p:sp>
      <p:sp>
        <p:nvSpPr>
          <p:cNvPr id="13319" name="Text Box 6"/>
          <p:cNvSpPr txBox="1">
            <a:spLocks noChangeArrowheads="1"/>
          </p:cNvSpPr>
          <p:nvPr/>
        </p:nvSpPr>
        <p:spPr bwMode="auto">
          <a:xfrm>
            <a:off x="669925" y="1143000"/>
            <a:ext cx="6950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latin typeface="Calibri" panose="020F0502020204030204" pitchFamily="34" charset="0"/>
              </a:rPr>
              <a:t>Werte, die vom Rufer an die Methode übergeben werden</a:t>
            </a:r>
          </a:p>
        </p:txBody>
      </p:sp>
      <p:sp>
        <p:nvSpPr>
          <p:cNvPr id="6151" name="Text Box 7"/>
          <p:cNvSpPr txBox="1">
            <a:spLocks noChangeArrowheads="1"/>
          </p:cNvSpPr>
          <p:nvPr/>
        </p:nvSpPr>
        <p:spPr bwMode="auto">
          <a:xfrm>
            <a:off x="1066800" y="1738313"/>
            <a:ext cx="3933825" cy="280035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class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Sample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PrintMax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</a:t>
            </a:r>
            <a:r>
              <a:rPr lang="de-AT" sz="1600" b="1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b="1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 x, </a:t>
            </a:r>
            <a:r>
              <a:rPr lang="de-AT" sz="1600" b="1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b="1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 y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)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if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(x &gt; y)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Console.Write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(x); 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>
                <a:latin typeface="Calibri" pitchFamily="34" charset="0"/>
                <a:ea typeface="ＭＳ Ｐゴシック" pitchFamily="-44" charset="-128"/>
              </a:rPr>
              <a:t>       	</a:t>
            </a:r>
            <a:r>
              <a:rPr lang="de-AT" sz="160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else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Console.Write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(y);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endParaRPr lang="de-AT" sz="1600" dirty="0">
              <a:latin typeface="Calibri" pitchFamily="34" charset="0"/>
              <a:ea typeface="ＭＳ Ｐゴシック" pitchFamily="-44" charset="-128"/>
            </a:endParaRP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Main ()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...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PrintMax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</a:t>
            </a:r>
            <a:r>
              <a:rPr lang="de-AT" sz="1600" b="1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100, 2 * i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);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</p:txBody>
      </p:sp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241925" y="1995488"/>
            <a:ext cx="3070225" cy="2278062"/>
            <a:chOff x="3302" y="1257"/>
            <a:chExt cx="1934" cy="1435"/>
          </a:xfrm>
        </p:grpSpPr>
        <p:sp>
          <p:nvSpPr>
            <p:cNvPr id="13323" name="Text Box 9"/>
            <p:cNvSpPr txBox="1">
              <a:spLocks noChangeArrowheads="1"/>
            </p:cNvSpPr>
            <p:nvPr/>
          </p:nvSpPr>
          <p:spPr bwMode="auto">
            <a:xfrm>
              <a:off x="3302" y="1257"/>
              <a:ext cx="1649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</a:rPr>
                <a:t>formale Parameter</a:t>
              </a:r>
            </a:p>
            <a:p>
              <a:r>
                <a:rPr lang="de-AT" altLang="de-DE" sz="1600">
                  <a:latin typeface="Calibri" panose="020F0502020204030204" pitchFamily="34" charset="0"/>
                </a:rPr>
                <a:t>- im Methodenkopf (hier x, y)</a:t>
              </a:r>
            </a:p>
            <a:p>
              <a:r>
                <a:rPr lang="de-AT" altLang="de-DE" sz="1600">
                  <a:latin typeface="Calibri" panose="020F0502020204030204" pitchFamily="34" charset="0"/>
                </a:rPr>
                <a:t>- sind Variablen der Methode</a:t>
              </a:r>
            </a:p>
          </p:txBody>
        </p:sp>
        <p:sp>
          <p:nvSpPr>
            <p:cNvPr id="13324" name="Text Box 10"/>
            <p:cNvSpPr txBox="1">
              <a:spLocks noChangeArrowheads="1"/>
            </p:cNvSpPr>
            <p:nvPr/>
          </p:nvSpPr>
          <p:spPr bwMode="auto">
            <a:xfrm>
              <a:off x="3312" y="2130"/>
              <a:ext cx="1924" cy="5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chemeClr val="accent2"/>
                  </a:solidFill>
                  <a:latin typeface="Calibri" panose="020F0502020204030204" pitchFamily="34" charset="0"/>
                </a:rPr>
                <a:t>aktuelle Parameter</a:t>
              </a:r>
            </a:p>
            <a:p>
              <a:r>
                <a:rPr lang="de-AT" altLang="de-DE" sz="1600">
                  <a:latin typeface="Calibri" panose="020F0502020204030204" pitchFamily="34" charset="0"/>
                </a:rPr>
                <a:t>- an der Aufrufstelle (hier 100, 2*i)</a:t>
              </a:r>
            </a:p>
            <a:p>
              <a:r>
                <a:rPr lang="de-AT" altLang="de-DE" sz="1600">
                  <a:latin typeface="Calibri" panose="020F0502020204030204" pitchFamily="34" charset="0"/>
                </a:rPr>
                <a:t>- können Ausdrücke sein</a:t>
              </a:r>
            </a:p>
          </p:txBody>
        </p:sp>
      </p:grpSp>
      <p:sp>
        <p:nvSpPr>
          <p:cNvPr id="55307" name="Text Box 11"/>
          <p:cNvSpPr txBox="1">
            <a:spLocks noChangeArrowheads="1"/>
          </p:cNvSpPr>
          <p:nvPr/>
        </p:nvSpPr>
        <p:spPr bwMode="auto">
          <a:xfrm>
            <a:off x="685800" y="4800600"/>
            <a:ext cx="7083425" cy="153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7325" indent="-187325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Parameterübergabe</a:t>
            </a:r>
          </a:p>
          <a:p>
            <a:pPr>
              <a:spcBef>
                <a:spcPct val="2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Aktuelle Parameter werden den entsprechenden formalen Parametern zugewiesen</a:t>
            </a:r>
          </a:p>
          <a:p>
            <a:pPr>
              <a:spcBef>
                <a:spcPct val="2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		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x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 </a:t>
            </a:r>
            <a:r>
              <a:rPr lang="de-AT" altLang="de-DE" sz="1600">
                <a:latin typeface="Calibri" panose="020F0502020204030204" pitchFamily="34" charset="0"/>
              </a:rPr>
              <a:t>=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 100;  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y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 </a:t>
            </a:r>
            <a:r>
              <a:rPr lang="de-AT" altLang="de-DE" sz="1600">
                <a:latin typeface="Calibri" panose="020F0502020204030204" pitchFamily="34" charset="0"/>
              </a:rPr>
              <a:t>=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 2 * i;</a:t>
            </a:r>
          </a:p>
          <a:p>
            <a:pPr>
              <a:spcBef>
                <a:spcPct val="20000"/>
              </a:spcBef>
            </a:pPr>
            <a:r>
              <a:rPr lang="de-AT" altLang="de-DE" sz="1600">
                <a:latin typeface="Calibri" panose="020F0502020204030204" pitchFamily="34" charset="0"/>
                <a:sym typeface="Symbol" panose="05050102010706020507" pitchFamily="18" charset="2"/>
              </a:rPr>
              <a:t></a:t>
            </a:r>
            <a:r>
              <a:rPr lang="de-AT" altLang="de-DE" sz="1600">
                <a:latin typeface="Calibri" panose="020F0502020204030204" pitchFamily="34" charset="0"/>
              </a:rPr>
              <a:t> aktuelle Parameter müssen mit formalen zuweisungskompatibel sein</a:t>
            </a:r>
          </a:p>
          <a:p>
            <a:r>
              <a:rPr lang="de-AT" altLang="de-DE" sz="1600">
                <a:latin typeface="Calibri" panose="020F0502020204030204" pitchFamily="34" charset="0"/>
                <a:sym typeface="Symbol" panose="05050102010706020507" pitchFamily="18" charset="2"/>
              </a:rPr>
              <a:t></a:t>
            </a:r>
            <a:r>
              <a:rPr lang="de-AT" altLang="de-DE" sz="1600">
                <a:latin typeface="Calibri" panose="020F0502020204030204" pitchFamily="34" charset="0"/>
              </a:rPr>
              <a:t> formale Parameter enthalten Kopien der aktuellen Parameter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5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07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ChangeArrowheads="1"/>
          </p:cNvSpPr>
          <p:nvPr/>
        </p:nvSpPr>
        <p:spPr bwMode="auto">
          <a:xfrm>
            <a:off x="1071563" y="1814513"/>
            <a:ext cx="3929062" cy="2828925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</a:endParaRPr>
          </a:p>
        </p:txBody>
      </p:sp>
      <p:sp>
        <p:nvSpPr>
          <p:cNvPr id="7171" name="Rectangle 3"/>
          <p:cNvSpPr>
            <a:spLocks noChangeArrowheads="1"/>
          </p:cNvSpPr>
          <p:nvPr/>
        </p:nvSpPr>
        <p:spPr bwMode="auto">
          <a:xfrm>
            <a:off x="1295400" y="2286000"/>
            <a:ext cx="2971800" cy="9144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  <a:ea typeface="ＭＳ Ｐゴシック" pitchFamily="-44" charset="-128"/>
            </a:endParaRPr>
          </a:p>
        </p:txBody>
      </p:sp>
      <p:sp>
        <p:nvSpPr>
          <p:cNvPr id="7172" name="Rectangle 4"/>
          <p:cNvSpPr>
            <a:spLocks noChangeArrowheads="1"/>
          </p:cNvSpPr>
          <p:nvPr/>
        </p:nvSpPr>
        <p:spPr bwMode="auto">
          <a:xfrm>
            <a:off x="1500188" y="3810000"/>
            <a:ext cx="2386012" cy="3048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  <a:ea typeface="ＭＳ Ｐゴシック" pitchFamily="-44" charset="-128"/>
            </a:endParaRPr>
          </a:p>
        </p:txBody>
      </p:sp>
      <p:sp>
        <p:nvSpPr>
          <p:cNvPr id="922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Funktionen</a:t>
            </a:r>
          </a:p>
        </p:txBody>
      </p:sp>
      <p:sp>
        <p:nvSpPr>
          <p:cNvPr id="14343" name="Text Box 6"/>
          <p:cNvSpPr txBox="1">
            <a:spLocks noChangeArrowheads="1"/>
          </p:cNvSpPr>
          <p:nvPr/>
        </p:nvSpPr>
        <p:spPr bwMode="auto">
          <a:xfrm>
            <a:off x="746125" y="1233488"/>
            <a:ext cx="59197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latin typeface="Calibri" panose="020F0502020204030204" pitchFamily="34" charset="0"/>
              </a:rPr>
              <a:t>Methoden, die einen Ergebniswert an den Rufer liefern</a:t>
            </a:r>
          </a:p>
        </p:txBody>
      </p:sp>
      <p:sp>
        <p:nvSpPr>
          <p:cNvPr id="14344" name="Text Box 7"/>
          <p:cNvSpPr txBox="1">
            <a:spLocks noChangeArrowheads="1"/>
          </p:cNvSpPr>
          <p:nvPr/>
        </p:nvSpPr>
        <p:spPr bwMode="auto">
          <a:xfrm>
            <a:off x="1071563" y="1814513"/>
            <a:ext cx="3929062" cy="2828925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class</a:t>
            </a:r>
            <a:r>
              <a:rPr lang="de-AT" altLang="de-DE" sz="1600">
                <a:latin typeface="Calibri" panose="020F0502020204030204" pitchFamily="34" charset="0"/>
              </a:rPr>
              <a:t> Sample 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{</a:t>
            </a:r>
          </a:p>
          <a:p>
            <a:endParaRPr lang="de-AT" altLang="de-DE" sz="1600">
              <a:latin typeface="Calibri" panose="020F0502020204030204" pitchFamily="34" charset="0"/>
            </a:endParaRPr>
          </a:p>
          <a:p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 b="1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Max (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x,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y) 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if</a:t>
            </a:r>
            <a:r>
              <a:rPr lang="de-AT" altLang="de-DE" sz="1600">
                <a:latin typeface="Calibri" panose="020F0502020204030204" pitchFamily="34" charset="0"/>
              </a:rPr>
              <a:t> (x &gt; y)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return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de-AT" altLang="de-DE" sz="1600">
                <a:latin typeface="Calibri" panose="020F0502020204030204" pitchFamily="34" charset="0"/>
              </a:rPr>
              <a:t>x;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else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return</a:t>
            </a:r>
            <a:r>
              <a:rPr lang="de-AT" altLang="de-DE" sz="1600">
                <a:latin typeface="Calibri" panose="020F0502020204030204" pitchFamily="34" charset="0"/>
              </a:rPr>
              <a:t> y;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}</a:t>
            </a:r>
          </a:p>
          <a:p>
            <a:endParaRPr lang="de-AT" altLang="de-DE" sz="1600">
              <a:latin typeface="Calibri" panose="020F0502020204030204" pitchFamily="34" charset="0"/>
            </a:endParaRPr>
          </a:p>
          <a:p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void</a:t>
            </a:r>
            <a:r>
              <a:rPr lang="de-AT" altLang="de-DE" sz="1600">
                <a:latin typeface="Calibri" panose="020F0502020204030204" pitchFamily="34" charset="0"/>
              </a:rPr>
              <a:t> Main (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string</a:t>
            </a:r>
            <a:r>
              <a:rPr lang="de-AT" altLang="de-DE" sz="1600">
                <a:latin typeface="Calibri" panose="020F0502020204030204" pitchFamily="34" charset="0"/>
              </a:rPr>
              <a:t>[] arg) 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{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	...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	Console.WriteLine(Max(100, i + j) + 1);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}</a:t>
            </a:r>
          </a:p>
          <a:p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}</a:t>
            </a:r>
          </a:p>
        </p:txBody>
      </p:sp>
      <p:sp>
        <p:nvSpPr>
          <p:cNvPr id="14345" name="Text Box 8"/>
          <p:cNvSpPr txBox="1">
            <a:spLocks noChangeArrowheads="1"/>
          </p:cNvSpPr>
          <p:nvPr/>
        </p:nvSpPr>
        <p:spPr bwMode="auto">
          <a:xfrm>
            <a:off x="5000625" y="1828800"/>
            <a:ext cx="3910013" cy="280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87325" indent="-187325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>
              <a:buFontTx/>
              <a:buChar char="•"/>
            </a:pPr>
            <a:r>
              <a:rPr lang="de-AT" altLang="de-DE" sz="2000">
                <a:latin typeface="Calibri" panose="020F0502020204030204" pitchFamily="34" charset="0"/>
              </a:rPr>
              <a:t>haben </a:t>
            </a:r>
            <a:r>
              <a:rPr lang="de-AT" altLang="de-DE" sz="2000" u="sng">
                <a:latin typeface="Calibri" panose="020F0502020204030204" pitchFamily="34" charset="0"/>
              </a:rPr>
              <a:t>Funktionstyp</a:t>
            </a:r>
            <a:r>
              <a:rPr lang="de-AT" altLang="de-DE" sz="2000">
                <a:latin typeface="Calibri" panose="020F0502020204030204" pitchFamily="34" charset="0"/>
              </a:rPr>
              <a:t> (z.B. </a:t>
            </a:r>
            <a:r>
              <a:rPr lang="de-AT" altLang="de-DE" sz="2000" i="1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2000">
                <a:latin typeface="Calibri" panose="020F0502020204030204" pitchFamily="34" charset="0"/>
              </a:rPr>
              <a:t>)</a:t>
            </a:r>
            <a:br>
              <a:rPr lang="de-AT" altLang="de-DE" sz="2000">
                <a:latin typeface="Calibri" panose="020F0502020204030204" pitchFamily="34" charset="0"/>
              </a:rPr>
            </a:br>
            <a:r>
              <a:rPr lang="de-AT" altLang="de-DE" sz="2000">
                <a:latin typeface="Calibri" panose="020F0502020204030204" pitchFamily="34" charset="0"/>
              </a:rPr>
              <a:t>statt </a:t>
            </a:r>
            <a:r>
              <a:rPr lang="de-AT" altLang="de-DE" sz="2000">
                <a:solidFill>
                  <a:schemeClr val="accent2"/>
                </a:solidFill>
                <a:latin typeface="Calibri" panose="020F0502020204030204" pitchFamily="34" charset="0"/>
              </a:rPr>
              <a:t>void</a:t>
            </a:r>
            <a:r>
              <a:rPr lang="de-AT" altLang="de-DE" sz="2000">
                <a:latin typeface="Calibri" panose="020F0502020204030204" pitchFamily="34" charset="0"/>
              </a:rPr>
              <a:t> (= kein Typ)</a:t>
            </a:r>
          </a:p>
          <a:p>
            <a:pPr>
              <a:spcBef>
                <a:spcPct val="20000"/>
              </a:spcBef>
              <a:buFontTx/>
              <a:buChar char="•"/>
            </a:pPr>
            <a:r>
              <a:rPr lang="de-AT" altLang="de-DE" sz="2000">
                <a:latin typeface="Calibri" panose="020F0502020204030204" pitchFamily="34" charset="0"/>
              </a:rPr>
              <a:t>liefern Ergebnis mittels </a:t>
            </a:r>
            <a:r>
              <a:rPr lang="de-AT" altLang="de-DE" sz="2000">
                <a:solidFill>
                  <a:schemeClr val="accent2"/>
                </a:solidFill>
                <a:latin typeface="Calibri" panose="020F0502020204030204" pitchFamily="34" charset="0"/>
              </a:rPr>
              <a:t>return-</a:t>
            </a:r>
            <a:br>
              <a:rPr lang="de-AT" altLang="de-DE" sz="2000">
                <a:latin typeface="Calibri" panose="020F0502020204030204" pitchFamily="34" charset="0"/>
              </a:rPr>
            </a:br>
            <a:r>
              <a:rPr lang="de-AT" altLang="de-DE" sz="2000">
                <a:latin typeface="Calibri" panose="020F0502020204030204" pitchFamily="34" charset="0"/>
              </a:rPr>
              <a:t>Anweisung an den Rufer</a:t>
            </a:r>
            <a:br>
              <a:rPr lang="de-AT" altLang="de-DE" sz="2000">
                <a:latin typeface="Calibri" panose="020F0502020204030204" pitchFamily="34" charset="0"/>
              </a:rPr>
            </a:br>
            <a:r>
              <a:rPr lang="de-AT" altLang="de-DE" sz="1600">
                <a:latin typeface="Calibri" panose="020F0502020204030204" pitchFamily="34" charset="0"/>
              </a:rPr>
              <a:t>(</a:t>
            </a:r>
            <a:r>
              <a:rPr lang="de-AT" altLang="de-DE" sz="1600" i="1">
                <a:latin typeface="Calibri" panose="020F0502020204030204" pitchFamily="34" charset="0"/>
              </a:rPr>
              <a:t>x</a:t>
            </a:r>
            <a:r>
              <a:rPr lang="de-AT" altLang="de-DE" sz="1600">
                <a:latin typeface="Calibri" panose="020F0502020204030204" pitchFamily="34" charset="0"/>
              </a:rPr>
              <a:t> muss zuweisungskompatibel mit </a:t>
            </a:r>
            <a:r>
              <a:rPr lang="de-AT" altLang="de-DE" sz="1600" i="1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sein)</a:t>
            </a:r>
          </a:p>
          <a:p>
            <a:pPr>
              <a:buFontTx/>
              <a:buChar char="•"/>
            </a:pPr>
            <a:endParaRPr lang="de-AT" altLang="de-DE" sz="2000">
              <a:latin typeface="Calibri" panose="020F0502020204030204" pitchFamily="34" charset="0"/>
            </a:endParaRPr>
          </a:p>
          <a:p>
            <a:pPr>
              <a:buFontTx/>
              <a:buChar char="•"/>
            </a:pPr>
            <a:r>
              <a:rPr lang="de-AT" altLang="de-DE" sz="2000">
                <a:latin typeface="Calibri" panose="020F0502020204030204" pitchFamily="34" charset="0"/>
              </a:rPr>
              <a:t>Werden wie Operanden in einem</a:t>
            </a:r>
            <a:br>
              <a:rPr lang="de-AT" altLang="de-DE" sz="2000">
                <a:latin typeface="Calibri" panose="020F0502020204030204" pitchFamily="34" charset="0"/>
              </a:rPr>
            </a:br>
            <a:r>
              <a:rPr lang="de-AT" altLang="de-DE" sz="2000">
                <a:latin typeface="Calibri" panose="020F0502020204030204" pitchFamily="34" charset="0"/>
              </a:rPr>
              <a:t>Ausdruck benutzt</a:t>
            </a:r>
          </a:p>
        </p:txBody>
      </p:sp>
      <p:sp>
        <p:nvSpPr>
          <p:cNvPr id="14346" name="Text Box 9"/>
          <p:cNvSpPr txBox="1">
            <a:spLocks noChangeArrowheads="1"/>
          </p:cNvSpPr>
          <p:nvPr/>
        </p:nvSpPr>
        <p:spPr bwMode="auto">
          <a:xfrm>
            <a:off x="746125" y="5272088"/>
            <a:ext cx="49625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5303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Funktionen</a:t>
            </a:r>
            <a:r>
              <a:rPr lang="de-AT" altLang="de-DE" sz="2000">
                <a:latin typeface="Calibri" panose="020F0502020204030204" pitchFamily="34" charset="0"/>
              </a:rPr>
              <a:t>	Methoden </a:t>
            </a:r>
            <a:r>
              <a:rPr lang="de-AT" altLang="de-DE" sz="2000" u="sng">
                <a:latin typeface="Calibri" panose="020F0502020204030204" pitchFamily="34" charset="0"/>
              </a:rPr>
              <a:t>mit</a:t>
            </a:r>
            <a:r>
              <a:rPr lang="de-AT" altLang="de-DE" sz="2000">
                <a:latin typeface="Calibri" panose="020F0502020204030204" pitchFamily="34" charset="0"/>
              </a:rPr>
              <a:t> Rückgabewert</a:t>
            </a:r>
          </a:p>
          <a:p>
            <a:r>
              <a:rPr lang="de-AT" altLang="de-DE" sz="2000" b="1">
                <a:latin typeface="Calibri" panose="020F0502020204030204" pitchFamily="34" charset="0"/>
              </a:rPr>
              <a:t>Prozeduren</a:t>
            </a:r>
            <a:r>
              <a:rPr lang="de-AT" altLang="de-DE" sz="2000">
                <a:latin typeface="Calibri" panose="020F0502020204030204" pitchFamily="34" charset="0"/>
              </a:rPr>
              <a:t>	Methoden </a:t>
            </a:r>
            <a:r>
              <a:rPr lang="de-AT" altLang="de-DE" sz="2000" u="sng">
                <a:latin typeface="Calibri" panose="020F0502020204030204" pitchFamily="34" charset="0"/>
              </a:rPr>
              <a:t>ohne</a:t>
            </a:r>
            <a:r>
              <a:rPr lang="de-AT" altLang="de-DE" sz="2000">
                <a:latin typeface="Calibri" panose="020F0502020204030204" pitchFamily="34" charset="0"/>
              </a:rPr>
              <a:t> Rückgabewert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ChangeArrowheads="1"/>
          </p:cNvSpPr>
          <p:nvPr/>
        </p:nvSpPr>
        <p:spPr bwMode="auto">
          <a:xfrm>
            <a:off x="900113" y="1905000"/>
            <a:ext cx="3824287" cy="382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endParaRPr lang="de-AT" altLang="de-DE">
              <a:latin typeface="Calibri" panose="020F0502020204030204" pitchFamily="34" charset="0"/>
            </a:endParaRPr>
          </a:p>
        </p:txBody>
      </p:sp>
      <p:sp>
        <p:nvSpPr>
          <p:cNvPr id="15363" name="Rectangle 3"/>
          <p:cNvSpPr>
            <a:spLocks noChangeArrowheads="1"/>
          </p:cNvSpPr>
          <p:nvPr/>
        </p:nvSpPr>
        <p:spPr bwMode="auto">
          <a:xfrm>
            <a:off x="1066800" y="2362200"/>
            <a:ext cx="3429000" cy="1643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endParaRPr lang="de-AT" altLang="de-DE">
              <a:latin typeface="Calibri" panose="020F0502020204030204" pitchFamily="34" charset="0"/>
            </a:endParaRP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900113" y="1911350"/>
            <a:ext cx="3814762" cy="3821113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class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Sample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endParaRPr lang="de-AT" sz="1600" dirty="0">
              <a:latin typeface="Calibri" pitchFamily="34" charset="0"/>
              <a:ea typeface="ＭＳ Ｐゴシック" pitchFamily="-44" charset="-128"/>
            </a:endParaRP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b="1" dirty="0">
                <a:latin typeface="Calibri" pitchFamily="34" charset="0"/>
                <a:ea typeface="ＭＳ Ｐゴシック" pitchFamily="-44" charset="-128"/>
              </a:rPr>
              <a:t>Log2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x) 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</a:t>
            </a:r>
            <a:r>
              <a:rPr lang="de-AT" sz="1600" dirty="0" err="1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assert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: x &gt;= 0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expo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= 0;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while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(x &gt; 1)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x = x / 2;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expo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++;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return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expo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endParaRPr lang="de-AT" sz="1600" dirty="0">
              <a:latin typeface="Calibri" pitchFamily="34" charset="0"/>
              <a:ea typeface="ＭＳ Ｐゴシック" pitchFamily="-44" charset="-128"/>
            </a:endParaRP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b="1" dirty="0">
                <a:latin typeface="Calibri" pitchFamily="34" charset="0"/>
                <a:ea typeface="ＭＳ Ｐゴシック" pitchFamily="-44" charset="-128"/>
              </a:rPr>
              <a:t>Main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()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  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x = Log2(17);  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x == 4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...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Weiteres Beispiel</a:t>
            </a:r>
          </a:p>
        </p:txBody>
      </p:sp>
      <p:sp>
        <p:nvSpPr>
          <p:cNvPr id="15367" name="Text Box 6"/>
          <p:cNvSpPr txBox="1">
            <a:spLocks noChangeArrowheads="1"/>
          </p:cNvSpPr>
          <p:nvPr/>
        </p:nvSpPr>
        <p:spPr bwMode="auto">
          <a:xfrm>
            <a:off x="746125" y="1233488"/>
            <a:ext cx="35941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Ganzzahliger Zweierlogarithmus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Return in Prozeduren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746125" y="1371600"/>
            <a:ext cx="5160963" cy="403225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class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ReturnDemo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endParaRPr lang="de-AT" sz="1600" dirty="0">
              <a:latin typeface="Calibri" pitchFamily="34" charset="0"/>
              <a:ea typeface="ＭＳ Ｐゴシック" pitchFamily="-44" charset="-128"/>
            </a:endParaRPr>
          </a:p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b="1" dirty="0">
                <a:latin typeface="Calibri" pitchFamily="34" charset="0"/>
                <a:ea typeface="ＭＳ Ｐゴシック" pitchFamily="-44" charset="-128"/>
              </a:rPr>
              <a:t>PrintLog2 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x)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if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(x &lt; 0)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return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;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kehrt sofort zum Rufer zurück</a:t>
            </a:r>
          </a:p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res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 0;</a:t>
            </a:r>
          </a:p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while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(x &gt; 1) {x = x / 2;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res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++;}</a:t>
            </a:r>
          </a:p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Console.WriteLine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res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);</a:t>
            </a:r>
          </a:p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endParaRPr lang="de-AT" sz="1600" dirty="0">
              <a:latin typeface="Calibri" pitchFamily="34" charset="0"/>
              <a:ea typeface="ＭＳ Ｐゴシック" pitchFamily="-44" charset="-128"/>
            </a:endParaRPr>
          </a:p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b="1" dirty="0">
                <a:latin typeface="Calibri" pitchFamily="34" charset="0"/>
                <a:ea typeface="ＭＳ Ｐゴシック" pitchFamily="-44" charset="-128"/>
              </a:rPr>
              <a:t>Main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()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x = Convert.ToInt32(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Console.ReadLine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());</a:t>
            </a:r>
          </a:p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if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(x &lt; 0)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return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;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beendet das Programm sofort</a:t>
            </a:r>
          </a:p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PrintLog2(x);</a:t>
            </a:r>
          </a:p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...</a:t>
            </a:r>
          </a:p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  <a:p>
            <a:pPr>
              <a:tabLst>
                <a:tab pos="187325" algn="l"/>
                <a:tab pos="374650" algn="l"/>
                <a:tab pos="2279650" algn="l"/>
              </a:tabLst>
              <a:defRPr/>
            </a:pP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669925" y="5653088"/>
            <a:ext cx="533876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142875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742950" indent="-285750">
              <a:tabLst>
                <a:tab pos="142875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 marL="1143000" indent="-228600">
              <a:tabLst>
                <a:tab pos="142875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 marL="1600200" indent="-228600">
              <a:tabLst>
                <a:tab pos="142875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 marL="2057400" indent="-228600">
              <a:tabLst>
                <a:tab pos="142875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428750" algn="l"/>
              </a:tabLs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de-AT" sz="2000" dirty="0">
                <a:latin typeface="Calibri" pitchFamily="34" charset="0"/>
              </a:rPr>
              <a:t>Funktionen	</a:t>
            </a:r>
            <a:r>
              <a:rPr lang="de-AT" sz="2000" u="sng" dirty="0">
                <a:latin typeface="Calibri" pitchFamily="34" charset="0"/>
              </a:rPr>
              <a:t>müssen</a:t>
            </a:r>
            <a:r>
              <a:rPr lang="de-AT" sz="2000" dirty="0">
                <a:latin typeface="Calibri" pitchFamily="34" charset="0"/>
              </a:rPr>
              <a:t> mit </a:t>
            </a:r>
            <a:r>
              <a:rPr lang="de-AT" sz="2000" dirty="0" err="1">
                <a:solidFill>
                  <a:schemeClr val="accent6"/>
                </a:solidFill>
                <a:latin typeface="Calibri" pitchFamily="34" charset="0"/>
              </a:rPr>
              <a:t>return</a:t>
            </a:r>
            <a:r>
              <a:rPr lang="de-AT" sz="2000" dirty="0">
                <a:solidFill>
                  <a:schemeClr val="accent6"/>
                </a:solidFill>
                <a:latin typeface="Calibri" pitchFamily="34" charset="0"/>
              </a:rPr>
              <a:t> </a:t>
            </a:r>
            <a:r>
              <a:rPr lang="de-AT" sz="2000" dirty="0">
                <a:latin typeface="Calibri" pitchFamily="34" charset="0"/>
              </a:rPr>
              <a:t>beendet werden</a:t>
            </a:r>
          </a:p>
          <a:p>
            <a:pPr>
              <a:defRPr/>
            </a:pPr>
            <a:r>
              <a:rPr lang="de-AT" sz="2000" dirty="0">
                <a:latin typeface="Calibri" pitchFamily="34" charset="0"/>
              </a:rPr>
              <a:t>Prozeduren	</a:t>
            </a:r>
            <a:r>
              <a:rPr lang="de-AT" sz="2000" u="sng" dirty="0">
                <a:latin typeface="Calibri" pitchFamily="34" charset="0"/>
              </a:rPr>
              <a:t>können</a:t>
            </a:r>
            <a:r>
              <a:rPr lang="de-AT" sz="2000" dirty="0">
                <a:latin typeface="Calibri" pitchFamily="34" charset="0"/>
              </a:rPr>
              <a:t> mit </a:t>
            </a:r>
            <a:r>
              <a:rPr lang="de-AT" sz="2000" dirty="0" err="1">
                <a:solidFill>
                  <a:schemeClr val="accent6"/>
                </a:solidFill>
                <a:latin typeface="Calibri" pitchFamily="34" charset="0"/>
              </a:rPr>
              <a:t>return</a:t>
            </a:r>
            <a:r>
              <a:rPr lang="de-AT" sz="2000" dirty="0">
                <a:solidFill>
                  <a:schemeClr val="accent6"/>
                </a:solidFill>
                <a:latin typeface="Calibri" pitchFamily="34" charset="0"/>
              </a:rPr>
              <a:t> </a:t>
            </a:r>
            <a:r>
              <a:rPr lang="de-AT" sz="2000" dirty="0">
                <a:latin typeface="Calibri" pitchFamily="34" charset="0"/>
              </a:rPr>
              <a:t>beendet werden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Lokale und statische Variablen</a:t>
            </a:r>
          </a:p>
        </p:txBody>
      </p:sp>
      <p:sp>
        <p:nvSpPr>
          <p:cNvPr id="17412" name="Text Box 3"/>
          <p:cNvSpPr txBox="1">
            <a:spLocks noChangeArrowheads="1"/>
          </p:cNvSpPr>
          <p:nvPr/>
        </p:nvSpPr>
        <p:spPr bwMode="auto">
          <a:xfrm>
            <a:off x="4343400" y="4660900"/>
            <a:ext cx="38608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 b="1">
                <a:solidFill>
                  <a:schemeClr val="accent2"/>
                </a:solidFill>
                <a:latin typeface="Calibri" panose="020F0502020204030204" pitchFamily="34" charset="0"/>
              </a:rPr>
              <a:t>Lokale Variablen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bei jedem Aufruf der Methode neu angelegt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am Ende der Methode wieder freigegeben</a:t>
            </a:r>
          </a:p>
        </p:txBody>
      </p:sp>
      <p:sp>
        <p:nvSpPr>
          <p:cNvPr id="10244" name="Text Box 4"/>
          <p:cNvSpPr txBox="1">
            <a:spLocks noChangeArrowheads="1"/>
          </p:cNvSpPr>
          <p:nvPr/>
        </p:nvSpPr>
        <p:spPr bwMode="auto">
          <a:xfrm>
            <a:off x="914400" y="1447800"/>
            <a:ext cx="1604963" cy="2160588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1">
                <a:lumMod val="50000"/>
              </a:schemeClr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class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C 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 a, b;</a:t>
            </a:r>
          </a:p>
          <a:p>
            <a:pPr>
              <a:spcBef>
                <a:spcPct val="40000"/>
              </a:spcBef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P() 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x, y;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...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}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...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}</a:t>
            </a:r>
          </a:p>
        </p:txBody>
      </p:sp>
      <p:sp>
        <p:nvSpPr>
          <p:cNvPr id="17414" name="Text Box 5"/>
          <p:cNvSpPr txBox="1">
            <a:spLocks noChangeArrowheads="1"/>
          </p:cNvSpPr>
          <p:nvPr/>
        </p:nvSpPr>
        <p:spPr bwMode="auto">
          <a:xfrm>
            <a:off x="838200" y="4648200"/>
            <a:ext cx="3449638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 b="1">
                <a:solidFill>
                  <a:srgbClr val="FF0000"/>
                </a:solidFill>
                <a:latin typeface="Calibri" panose="020F0502020204030204" pitchFamily="34" charset="0"/>
              </a:rPr>
              <a:t>Statische Variablen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am Programmbeginn angelegt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am Programmende wieder freigegeben</a:t>
            </a:r>
          </a:p>
        </p:txBody>
      </p:sp>
      <p:sp>
        <p:nvSpPr>
          <p:cNvPr id="10246" name="AutoShape 6"/>
          <p:cNvSpPr>
            <a:spLocks noChangeArrowheads="1"/>
          </p:cNvSpPr>
          <p:nvPr/>
        </p:nvSpPr>
        <p:spPr bwMode="auto">
          <a:xfrm>
            <a:off x="3276600" y="1371600"/>
            <a:ext cx="3810000" cy="838200"/>
          </a:xfrm>
          <a:prstGeom prst="wedgeRectCallout">
            <a:avLst>
              <a:gd name="adj1" fmla="val -73542"/>
              <a:gd name="adj2" fmla="val 9847"/>
            </a:avLst>
          </a:prstGeom>
          <a:noFill/>
          <a:ln w="63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>
              <a:defRPr/>
            </a:pPr>
            <a:r>
              <a:rPr lang="de-AT" sz="1600" b="1" dirty="0">
                <a:latin typeface="Calibri" pitchFamily="34" charset="0"/>
              </a:rPr>
              <a:t>Statische Variablen</a:t>
            </a:r>
          </a:p>
          <a:p>
            <a:pPr algn="ctr">
              <a:defRPr/>
            </a:pPr>
            <a:r>
              <a:rPr lang="de-AT" sz="1600" dirty="0">
                <a:latin typeface="Calibri" pitchFamily="34" charset="0"/>
              </a:rPr>
              <a:t>auf Klassenebene mit </a:t>
            </a:r>
            <a:r>
              <a:rPr lang="de-AT" sz="1600" i="1" dirty="0" err="1">
                <a:solidFill>
                  <a:schemeClr val="accent6"/>
                </a:solidFill>
                <a:latin typeface="Calibri" pitchFamily="34" charset="0"/>
              </a:rPr>
              <a:t>static</a:t>
            </a:r>
            <a:r>
              <a:rPr lang="de-AT" sz="1600" dirty="0">
                <a:solidFill>
                  <a:schemeClr val="accent6"/>
                </a:solidFill>
                <a:latin typeface="Calibri" pitchFamily="34" charset="0"/>
              </a:rPr>
              <a:t> </a:t>
            </a:r>
            <a:r>
              <a:rPr lang="de-AT" sz="1600" dirty="0">
                <a:latin typeface="Calibri" pitchFamily="34" charset="0"/>
              </a:rPr>
              <a:t>deklariert;</a:t>
            </a:r>
          </a:p>
          <a:p>
            <a:pPr algn="ctr">
              <a:defRPr/>
            </a:pPr>
            <a:r>
              <a:rPr lang="de-AT" sz="1600" dirty="0">
                <a:latin typeface="Calibri" pitchFamily="34" charset="0"/>
              </a:rPr>
              <a:t>auch in Methoden dieser Klasse sichtbar</a:t>
            </a:r>
          </a:p>
        </p:txBody>
      </p:sp>
      <p:sp>
        <p:nvSpPr>
          <p:cNvPr id="17416" name="AutoShape 7"/>
          <p:cNvSpPr>
            <a:spLocks noChangeArrowheads="1"/>
          </p:cNvSpPr>
          <p:nvPr/>
        </p:nvSpPr>
        <p:spPr bwMode="auto">
          <a:xfrm>
            <a:off x="3276600" y="2438400"/>
            <a:ext cx="3810000" cy="914400"/>
          </a:xfrm>
          <a:prstGeom prst="wedgeRectCallout">
            <a:avLst>
              <a:gd name="adj1" fmla="val -79625"/>
              <a:gd name="adj2" fmla="val -46352"/>
            </a:avLst>
          </a:prstGeom>
          <a:noFill/>
          <a:ln w="6350">
            <a:solidFill>
              <a:srgbClr val="00B05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pPr algn="ctr"/>
            <a:r>
              <a:rPr lang="de-AT" altLang="de-DE" sz="1600" b="1">
                <a:latin typeface="Calibri" panose="020F0502020204030204" pitchFamily="34" charset="0"/>
              </a:rPr>
              <a:t>Lokale Variablen</a:t>
            </a:r>
          </a:p>
          <a:p>
            <a:pPr algn="ctr"/>
            <a:r>
              <a:rPr lang="de-AT" altLang="de-DE" sz="1600">
                <a:latin typeface="Calibri" panose="020F0502020204030204" pitchFamily="34" charset="0"/>
              </a:rPr>
              <a:t>in einer Methode deklariert</a:t>
            </a:r>
          </a:p>
          <a:p>
            <a:pPr algn="ctr"/>
            <a:r>
              <a:rPr lang="de-AT" altLang="de-DE" sz="1600">
                <a:latin typeface="Calibri" panose="020F0502020204030204" pitchFamily="34" charset="0"/>
              </a:rPr>
              <a:t>(lokal zu dieser Methode; nur dort sichtbar)</a:t>
            </a:r>
          </a:p>
        </p:txBody>
      </p:sp>
      <p:sp>
        <p:nvSpPr>
          <p:cNvPr id="17417" name="Text Box 8"/>
          <p:cNvSpPr txBox="1">
            <a:spLocks noChangeArrowheads="1"/>
          </p:cNvSpPr>
          <p:nvPr/>
        </p:nvSpPr>
        <p:spPr bwMode="auto">
          <a:xfrm>
            <a:off x="822325" y="4114800"/>
            <a:ext cx="49768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Reservieren und Freigeben von Speicherplatz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Beispiel: Summe einer Zahlenfolge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822325" y="1738313"/>
            <a:ext cx="3478213" cy="2849562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class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Wrong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lnSpc>
                <a:spcPct val="60000"/>
              </a:lnSpc>
              <a:tabLst>
                <a:tab pos="187325" algn="l"/>
                <a:tab pos="374650" algn="l"/>
              </a:tabLst>
              <a:defRPr/>
            </a:pPr>
            <a:endParaRPr lang="de-AT" sz="1600" dirty="0">
              <a:latin typeface="Calibri" pitchFamily="34" charset="0"/>
              <a:ea typeface="ＭＳ Ｐゴシック" pitchFamily="-44" charset="-128"/>
            </a:endParaRP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Add (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x)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sum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 0;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sum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sum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+ x;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  <a:p>
            <a:pPr>
              <a:lnSpc>
                <a:spcPct val="60000"/>
              </a:lnSpc>
              <a:tabLst>
                <a:tab pos="187325" algn="l"/>
                <a:tab pos="374650" algn="l"/>
              </a:tabLst>
              <a:defRPr/>
            </a:pPr>
            <a:endParaRPr lang="de-AT" sz="1600" dirty="0">
              <a:latin typeface="Calibri" pitchFamily="34" charset="0"/>
              <a:ea typeface="ＭＳ Ｐゴシック" pitchFamily="-44" charset="-128"/>
            </a:endParaRP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Main()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Add(1); Add(2); Add(3);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Console.WriteLine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("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sum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 " +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sum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);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  <a:p>
            <a:pPr>
              <a:tabLst>
                <a:tab pos="187325" algn="l"/>
                <a:tab pos="374650" algn="l"/>
              </a:tabLst>
              <a:defRPr/>
            </a:pP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4584700" y="1219200"/>
            <a:ext cx="3505200" cy="3433763"/>
            <a:chOff x="2888" y="768"/>
            <a:chExt cx="2208" cy="2163"/>
          </a:xfrm>
        </p:grpSpPr>
        <p:sp>
          <p:nvSpPr>
            <p:cNvPr id="11273" name="Text Box 5"/>
            <p:cNvSpPr txBox="1">
              <a:spLocks noChangeArrowheads="1"/>
            </p:cNvSpPr>
            <p:nvPr/>
          </p:nvSpPr>
          <p:spPr bwMode="auto">
            <a:xfrm>
              <a:off x="2905" y="1043"/>
              <a:ext cx="2191" cy="1888"/>
            </a:xfrm>
            <a:prstGeom prst="rect">
              <a:avLst/>
            </a:prstGeom>
            <a:solidFill>
              <a:schemeClr val="accent3">
                <a:lumMod val="95000"/>
              </a:schemeClr>
            </a:solidFill>
            <a:ln w="12700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600" dirty="0" err="1">
                  <a:solidFill>
                    <a:schemeClr val="accent2"/>
                  </a:solidFill>
                  <a:latin typeface="Calibri" pitchFamily="34" charset="0"/>
                  <a:ea typeface="ＭＳ Ｐゴシック" pitchFamily="-44" charset="-128"/>
                </a:rPr>
                <a:t>class</a:t>
              </a: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de-AT" sz="1600" dirty="0" err="1">
                  <a:latin typeface="Calibri" pitchFamily="34" charset="0"/>
                  <a:ea typeface="ＭＳ Ｐゴシック" pitchFamily="-44" charset="-128"/>
                </a:rPr>
                <a:t>Correct</a:t>
              </a: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de-AT" sz="1600" dirty="0">
                  <a:solidFill>
                    <a:srgbClr val="FF0000"/>
                  </a:solidFill>
                  <a:latin typeface="Calibri" pitchFamily="34" charset="0"/>
                  <a:ea typeface="ＭＳ Ｐゴシック" pitchFamily="-44" charset="-128"/>
                </a:rPr>
                <a:t>{</a:t>
              </a:r>
            </a:p>
            <a:p>
              <a:pPr>
                <a:lnSpc>
                  <a:spcPct val="60000"/>
                </a:lnSpc>
                <a:tabLst>
                  <a:tab pos="187325" algn="l"/>
                  <a:tab pos="374650" algn="l"/>
                </a:tabLst>
                <a:defRPr/>
              </a:pPr>
              <a:endParaRPr lang="de-AT" sz="1600" dirty="0">
                <a:latin typeface="Calibri" pitchFamily="34" charset="0"/>
                <a:ea typeface="ＭＳ Ｐゴシック" pitchFamily="-44" charset="-128"/>
              </a:endParaRP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	</a:t>
              </a:r>
              <a:r>
                <a:rPr lang="de-AT" sz="1600" dirty="0" err="1">
                  <a:solidFill>
                    <a:srgbClr val="FF0000"/>
                  </a:solidFill>
                  <a:latin typeface="Calibri" pitchFamily="34" charset="0"/>
                  <a:ea typeface="ＭＳ Ｐゴシック" pitchFamily="-44" charset="-128"/>
                </a:rPr>
                <a:t>static</a:t>
              </a:r>
              <a:r>
                <a:rPr lang="de-AT" sz="1600" dirty="0">
                  <a:solidFill>
                    <a:srgbClr val="FF0000"/>
                  </a:solidFill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de-AT" sz="1600" dirty="0" err="1">
                  <a:solidFill>
                    <a:srgbClr val="FF0000"/>
                  </a:solidFill>
                  <a:latin typeface="Calibri" pitchFamily="34" charset="0"/>
                  <a:ea typeface="ＭＳ Ｐゴシック" pitchFamily="-44" charset="-128"/>
                </a:rPr>
                <a:t>int</a:t>
              </a:r>
              <a:r>
                <a:rPr lang="de-AT" sz="1600" dirty="0">
                  <a:solidFill>
                    <a:srgbClr val="FF0000"/>
                  </a:solidFill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de-AT" sz="1600" dirty="0" err="1">
                  <a:solidFill>
                    <a:srgbClr val="FF0000"/>
                  </a:solidFill>
                  <a:latin typeface="Calibri" pitchFamily="34" charset="0"/>
                  <a:ea typeface="ＭＳ Ｐゴシック" pitchFamily="-44" charset="-128"/>
                </a:rPr>
                <a:t>sum</a:t>
              </a:r>
              <a:r>
                <a:rPr lang="de-AT" sz="1600" dirty="0">
                  <a:solidFill>
                    <a:srgbClr val="FF0000"/>
                  </a:solidFill>
                  <a:latin typeface="Calibri" pitchFamily="34" charset="0"/>
                  <a:ea typeface="ＭＳ Ｐゴシック" pitchFamily="-44" charset="-128"/>
                </a:rPr>
                <a:t> = 0;</a:t>
              </a:r>
            </a:p>
            <a:p>
              <a:pPr>
                <a:lnSpc>
                  <a:spcPct val="60000"/>
                </a:lnSpc>
                <a:tabLst>
                  <a:tab pos="187325" algn="l"/>
                  <a:tab pos="374650" algn="l"/>
                </a:tabLst>
                <a:defRPr/>
              </a:pPr>
              <a:endPara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endParaRP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	</a:t>
              </a:r>
              <a:r>
                <a:rPr lang="de-AT" sz="1600" dirty="0" err="1">
                  <a:solidFill>
                    <a:schemeClr val="accent2"/>
                  </a:solidFill>
                  <a:latin typeface="Calibri" pitchFamily="34" charset="0"/>
                  <a:ea typeface="ＭＳ Ｐゴシック" pitchFamily="-44" charset="-128"/>
                </a:rPr>
                <a:t>static</a:t>
              </a: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de-AT" sz="1600" dirty="0" err="1">
                  <a:solidFill>
                    <a:schemeClr val="accent2"/>
                  </a:solidFill>
                  <a:latin typeface="Calibri" pitchFamily="34" charset="0"/>
                  <a:ea typeface="ＭＳ Ｐゴシック" pitchFamily="-44" charset="-128"/>
                </a:rPr>
                <a:t>void</a:t>
              </a: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 Add (</a:t>
              </a:r>
              <a:r>
                <a:rPr lang="de-AT" sz="1600" dirty="0" err="1">
                  <a:solidFill>
                    <a:schemeClr val="accent2"/>
                  </a:solidFill>
                  <a:latin typeface="Calibri" pitchFamily="34" charset="0"/>
                  <a:ea typeface="ＭＳ Ｐゴシック" pitchFamily="-44" charset="-128"/>
                </a:rPr>
                <a:t>int</a:t>
              </a: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 x) </a:t>
              </a:r>
              <a:r>
                <a:rPr lang="de-AT" sz="1600" dirty="0">
                  <a:solidFill>
                    <a:srgbClr val="FF0000"/>
                  </a:solidFill>
                  <a:latin typeface="Calibri" pitchFamily="34" charset="0"/>
                  <a:ea typeface="ＭＳ Ｐゴシック" pitchFamily="-44" charset="-128"/>
                </a:rPr>
                <a:t>{</a:t>
              </a: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		</a:t>
              </a:r>
              <a:r>
                <a:rPr lang="de-AT" sz="1600" dirty="0" err="1">
                  <a:latin typeface="Calibri" pitchFamily="34" charset="0"/>
                  <a:ea typeface="ＭＳ Ｐゴシック" pitchFamily="-44" charset="-128"/>
                </a:rPr>
                <a:t>sum</a:t>
              </a: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 = </a:t>
              </a:r>
              <a:r>
                <a:rPr lang="de-AT" sz="1600" dirty="0" err="1">
                  <a:latin typeface="Calibri" pitchFamily="34" charset="0"/>
                  <a:ea typeface="ＭＳ Ｐゴシック" pitchFamily="-44" charset="-128"/>
                </a:rPr>
                <a:t>sum</a:t>
              </a: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 + x;</a:t>
              </a: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	</a:t>
              </a:r>
              <a:r>
                <a:rPr lang="de-AT" sz="1600" dirty="0">
                  <a:solidFill>
                    <a:srgbClr val="FF0000"/>
                  </a:solidFill>
                  <a:latin typeface="Calibri" pitchFamily="34" charset="0"/>
                  <a:ea typeface="ＭＳ Ｐゴシック" pitchFamily="-44" charset="-128"/>
                </a:rPr>
                <a:t>}</a:t>
              </a:r>
            </a:p>
            <a:p>
              <a:pPr>
                <a:lnSpc>
                  <a:spcPct val="60000"/>
                </a:lnSpc>
                <a:tabLst>
                  <a:tab pos="187325" algn="l"/>
                  <a:tab pos="374650" algn="l"/>
                </a:tabLst>
                <a:defRPr/>
              </a:pPr>
              <a:endParaRPr lang="de-AT" sz="1600" dirty="0">
                <a:latin typeface="Calibri" pitchFamily="34" charset="0"/>
                <a:ea typeface="ＭＳ Ｐゴシック" pitchFamily="-44" charset="-128"/>
              </a:endParaRP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	</a:t>
              </a:r>
              <a:r>
                <a:rPr lang="de-AT" sz="1600" dirty="0" err="1">
                  <a:solidFill>
                    <a:schemeClr val="accent2"/>
                  </a:solidFill>
                  <a:latin typeface="Calibri" pitchFamily="34" charset="0"/>
                  <a:ea typeface="ＭＳ Ｐゴシック" pitchFamily="-44" charset="-128"/>
                </a:rPr>
                <a:t>static</a:t>
              </a: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 </a:t>
              </a:r>
              <a:r>
                <a:rPr lang="de-AT" sz="1600" dirty="0" err="1">
                  <a:solidFill>
                    <a:schemeClr val="accent2"/>
                  </a:solidFill>
                  <a:latin typeface="Calibri" pitchFamily="34" charset="0"/>
                  <a:ea typeface="ＭＳ Ｐゴシック" pitchFamily="-44" charset="-128"/>
                </a:rPr>
                <a:t>void</a:t>
              </a: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 Main() </a:t>
              </a:r>
              <a:r>
                <a:rPr lang="de-AT" sz="1600" dirty="0">
                  <a:solidFill>
                    <a:srgbClr val="FF0000"/>
                  </a:solidFill>
                  <a:latin typeface="Calibri" pitchFamily="34" charset="0"/>
                  <a:ea typeface="ＭＳ Ｐゴシック" pitchFamily="-44" charset="-128"/>
                </a:rPr>
                <a:t>{</a:t>
              </a: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		Add(1); Add(2); Add(3);</a:t>
              </a: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		</a:t>
              </a:r>
              <a:r>
                <a:rPr lang="de-AT" sz="1600" dirty="0" err="1">
                  <a:latin typeface="Calibri" pitchFamily="34" charset="0"/>
                  <a:ea typeface="ＭＳ Ｐゴシック" pitchFamily="-44" charset="-128"/>
                </a:rPr>
                <a:t>Console.WriteLine</a:t>
              </a: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("</a:t>
              </a:r>
              <a:r>
                <a:rPr lang="de-AT" sz="1600" dirty="0" err="1">
                  <a:latin typeface="Calibri" pitchFamily="34" charset="0"/>
                  <a:ea typeface="ＭＳ Ｐゴシック" pitchFamily="-44" charset="-128"/>
                </a:rPr>
                <a:t>sum</a:t>
              </a: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 = " + </a:t>
              </a:r>
              <a:r>
                <a:rPr lang="de-AT" sz="1600" dirty="0" err="1">
                  <a:latin typeface="Calibri" pitchFamily="34" charset="0"/>
                  <a:ea typeface="ＭＳ Ｐゴシック" pitchFamily="-44" charset="-128"/>
                </a:rPr>
                <a:t>sum</a:t>
              </a: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);</a:t>
              </a: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600" dirty="0">
                  <a:latin typeface="Calibri" pitchFamily="34" charset="0"/>
                  <a:ea typeface="ＭＳ Ｐゴシック" pitchFamily="-44" charset="-128"/>
                </a:rPr>
                <a:t>	</a:t>
              </a:r>
              <a:r>
                <a:rPr lang="de-AT" sz="1600" dirty="0">
                  <a:solidFill>
                    <a:srgbClr val="FF0000"/>
                  </a:solidFill>
                  <a:latin typeface="Calibri" pitchFamily="34" charset="0"/>
                  <a:ea typeface="ＭＳ Ｐゴシック" pitchFamily="-44" charset="-128"/>
                </a:rPr>
                <a:t>}</a:t>
              </a:r>
            </a:p>
            <a:p>
              <a:pPr>
                <a:tabLst>
                  <a:tab pos="187325" algn="l"/>
                  <a:tab pos="374650" algn="l"/>
                </a:tabLst>
                <a:defRPr/>
              </a:pPr>
              <a:r>
                <a:rPr lang="de-AT" sz="1600" dirty="0">
                  <a:solidFill>
                    <a:srgbClr val="FF0000"/>
                  </a:solidFill>
                  <a:latin typeface="Calibri" pitchFamily="34" charset="0"/>
                  <a:ea typeface="ＭＳ Ｐゴシック" pitchFamily="-44" charset="-128"/>
                </a:rPr>
                <a:t>}</a:t>
              </a:r>
            </a:p>
          </p:txBody>
        </p:sp>
        <p:sp>
          <p:nvSpPr>
            <p:cNvPr id="18442" name="Text Box 6"/>
            <p:cNvSpPr txBox="1">
              <a:spLocks noChangeArrowheads="1"/>
            </p:cNvSpPr>
            <p:nvPr/>
          </p:nvSpPr>
          <p:spPr bwMode="auto">
            <a:xfrm>
              <a:off x="2888" y="768"/>
              <a:ext cx="1396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 b="1">
                  <a:latin typeface="Calibri" panose="020F0502020204030204" pitchFamily="34" charset="0"/>
                </a:rPr>
                <a:t>Semantisch richtig!</a:t>
              </a:r>
            </a:p>
          </p:txBody>
        </p:sp>
      </p:grpSp>
      <p:grpSp>
        <p:nvGrpSpPr>
          <p:cNvPr id="3" name="Group 7"/>
          <p:cNvGrpSpPr>
            <a:grpSpLocks/>
          </p:cNvGrpSpPr>
          <p:nvPr/>
        </p:nvGrpSpPr>
        <p:grpSpPr bwMode="auto">
          <a:xfrm>
            <a:off x="762000" y="1233488"/>
            <a:ext cx="3657600" cy="4770437"/>
            <a:chOff x="480" y="777"/>
            <a:chExt cx="2304" cy="3005"/>
          </a:xfrm>
        </p:grpSpPr>
        <p:sp>
          <p:nvSpPr>
            <p:cNvPr id="18439" name="Text Box 8"/>
            <p:cNvSpPr txBox="1">
              <a:spLocks noChangeArrowheads="1"/>
            </p:cNvSpPr>
            <p:nvPr/>
          </p:nvSpPr>
          <p:spPr bwMode="auto">
            <a:xfrm>
              <a:off x="480" y="777"/>
              <a:ext cx="1361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 b="1">
                  <a:latin typeface="Calibri" panose="020F0502020204030204" pitchFamily="34" charset="0"/>
                </a:rPr>
                <a:t>Semantisch falsch!</a:t>
              </a:r>
            </a:p>
          </p:txBody>
        </p:sp>
        <p:sp>
          <p:nvSpPr>
            <p:cNvPr id="18440" name="Text Box 9"/>
            <p:cNvSpPr txBox="1">
              <a:spLocks noChangeArrowheads="1"/>
            </p:cNvSpPr>
            <p:nvPr/>
          </p:nvSpPr>
          <p:spPr bwMode="auto">
            <a:xfrm>
              <a:off x="518" y="3072"/>
              <a:ext cx="2266" cy="7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187325" indent="-187325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pPr>
                <a:buFontTx/>
                <a:buChar char="•"/>
              </a:pPr>
              <a:r>
                <a:rPr lang="de-AT" altLang="de-DE" sz="1600" i="1">
                  <a:latin typeface="Calibri" panose="020F0502020204030204" pitchFamily="34" charset="0"/>
                </a:rPr>
                <a:t>sum</a:t>
              </a:r>
              <a:r>
                <a:rPr lang="de-AT" altLang="de-DE" sz="1600">
                  <a:latin typeface="Calibri" panose="020F0502020204030204" pitchFamily="34" charset="0"/>
                </a:rPr>
                <a:t> ist in </a:t>
              </a:r>
              <a:r>
                <a:rPr lang="de-AT" altLang="de-DE" sz="1600" i="1">
                  <a:latin typeface="Calibri" panose="020F0502020204030204" pitchFamily="34" charset="0"/>
                </a:rPr>
                <a:t>Main</a:t>
              </a:r>
              <a:r>
                <a:rPr lang="de-AT" altLang="de-DE" sz="1600">
                  <a:latin typeface="Calibri" panose="020F0502020204030204" pitchFamily="34" charset="0"/>
                </a:rPr>
                <a:t> nicht sichtbar</a:t>
              </a:r>
            </a:p>
            <a:p>
              <a:pPr>
                <a:spcBef>
                  <a:spcPct val="20000"/>
                </a:spcBef>
                <a:buFontTx/>
                <a:buChar char="•"/>
              </a:pPr>
              <a:r>
                <a:rPr lang="de-AT" altLang="de-DE" sz="1600" i="1">
                  <a:latin typeface="Calibri" panose="020F0502020204030204" pitchFamily="34" charset="0"/>
                </a:rPr>
                <a:t>sum</a:t>
              </a:r>
              <a:r>
                <a:rPr lang="de-AT" altLang="de-DE" sz="1600">
                  <a:latin typeface="Calibri" panose="020F0502020204030204" pitchFamily="34" charset="0"/>
                </a:rPr>
                <a:t> wird bei jedem Aufruf von </a:t>
              </a:r>
              <a:r>
                <a:rPr lang="de-AT" altLang="de-DE" sz="1600" i="1">
                  <a:latin typeface="Calibri" panose="020F0502020204030204" pitchFamily="34" charset="0"/>
                </a:rPr>
                <a:t>Add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neu angelegt (alter Wert geht verloren)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ChangeArrowheads="1"/>
          </p:cNvSpPr>
          <p:nvPr/>
        </p:nvSpPr>
        <p:spPr bwMode="auto">
          <a:xfrm>
            <a:off x="914400" y="2286000"/>
            <a:ext cx="2209800" cy="32004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tx2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</a:endParaRPr>
          </a:p>
        </p:txBody>
      </p:sp>
      <p:sp>
        <p:nvSpPr>
          <p:cNvPr id="12291" name="Rectangle 3"/>
          <p:cNvSpPr>
            <a:spLocks noChangeArrowheads="1"/>
          </p:cNvSpPr>
          <p:nvPr/>
        </p:nvSpPr>
        <p:spPr bwMode="auto">
          <a:xfrm>
            <a:off x="1219200" y="2743200"/>
            <a:ext cx="1709738" cy="762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  <a:ea typeface="ＭＳ Ｐゴシック" pitchFamily="-44" charset="-128"/>
            </a:endParaRPr>
          </a:p>
        </p:txBody>
      </p:sp>
      <p:sp>
        <p:nvSpPr>
          <p:cNvPr id="12292" name="Rectangle 4"/>
          <p:cNvSpPr>
            <a:spLocks noChangeArrowheads="1"/>
          </p:cNvSpPr>
          <p:nvPr/>
        </p:nvSpPr>
        <p:spPr bwMode="auto">
          <a:xfrm>
            <a:off x="1219200" y="4038600"/>
            <a:ext cx="1752600" cy="10668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6350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de-AT" dirty="0">
              <a:latin typeface="Calibri" pitchFamily="34" charset="0"/>
              <a:ea typeface="ＭＳ Ｐゴシック" pitchFamily="-44" charset="-128"/>
            </a:endParaRPr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Sichtbarkeitsbereich von Namen</a:t>
            </a:r>
          </a:p>
        </p:txBody>
      </p:sp>
      <p:sp>
        <p:nvSpPr>
          <p:cNvPr id="19463" name="Text Box 6"/>
          <p:cNvSpPr txBox="1">
            <a:spLocks noChangeArrowheads="1"/>
          </p:cNvSpPr>
          <p:nvPr/>
        </p:nvSpPr>
        <p:spPr bwMode="auto">
          <a:xfrm>
            <a:off x="752475" y="1233488"/>
            <a:ext cx="7248525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latin typeface="Calibri" panose="020F0502020204030204" pitchFamily="34" charset="0"/>
              </a:rPr>
              <a:t>Programmstück, in dem auf diesen Namen zugegriffen werden kann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(auch </a:t>
            </a:r>
            <a:r>
              <a:rPr lang="de-AT" altLang="de-DE" sz="1600" i="1">
                <a:latin typeface="Calibri" panose="020F0502020204030204" pitchFamily="34" charset="0"/>
              </a:rPr>
              <a:t>Gültigkeitsbereich</a:t>
            </a:r>
            <a:r>
              <a:rPr lang="de-AT" altLang="de-DE" sz="1600">
                <a:latin typeface="Calibri" panose="020F0502020204030204" pitchFamily="34" charset="0"/>
              </a:rPr>
              <a:t> oder </a:t>
            </a:r>
            <a:r>
              <a:rPr lang="de-AT" altLang="de-DE" sz="1600" i="1">
                <a:latin typeface="Calibri" panose="020F0502020204030204" pitchFamily="34" charset="0"/>
              </a:rPr>
              <a:t>Scope</a:t>
            </a:r>
            <a:r>
              <a:rPr lang="de-AT" altLang="de-DE" sz="1600">
                <a:latin typeface="Calibri" panose="020F0502020204030204" pitchFamily="34" charset="0"/>
              </a:rPr>
              <a:t> des Namens genannt)</a:t>
            </a:r>
          </a:p>
        </p:txBody>
      </p:sp>
      <p:sp>
        <p:nvSpPr>
          <p:cNvPr id="19464" name="Text Box 7"/>
          <p:cNvSpPr txBox="1">
            <a:spLocks noChangeArrowheads="1"/>
          </p:cNvSpPr>
          <p:nvPr/>
        </p:nvSpPr>
        <p:spPr bwMode="auto">
          <a:xfrm>
            <a:off x="974725" y="2347913"/>
            <a:ext cx="2097088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87325" algn="l"/>
                <a:tab pos="374650" algn="l"/>
                <a:tab pos="57785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class</a:t>
            </a:r>
            <a:r>
              <a:rPr lang="de-AT" altLang="de-DE" sz="1600">
                <a:latin typeface="Calibri" panose="020F0502020204030204" pitchFamily="34" charset="0"/>
              </a:rPr>
              <a:t> Sample {</a:t>
            </a:r>
          </a:p>
          <a:p>
            <a:pPr>
              <a:spcBef>
                <a:spcPct val="3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void</a:t>
            </a:r>
            <a:r>
              <a:rPr lang="de-AT" altLang="de-DE" sz="1600">
                <a:latin typeface="Calibri" panose="020F0502020204030204" pitchFamily="34" charset="0"/>
              </a:rPr>
              <a:t> P() {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	...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}</a:t>
            </a:r>
          </a:p>
          <a:p>
            <a:pPr>
              <a:spcBef>
                <a:spcPct val="3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x</a:t>
            </a:r>
            <a:r>
              <a:rPr lang="de-AT" altLang="de-DE" sz="1600">
                <a:latin typeface="Calibri" panose="020F0502020204030204" pitchFamily="34" charset="0"/>
              </a:rPr>
              <a:t>;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y</a:t>
            </a:r>
            <a:r>
              <a:rPr lang="de-AT" altLang="de-DE" sz="1600">
                <a:latin typeface="Calibri" panose="020F0502020204030204" pitchFamily="34" charset="0"/>
              </a:rPr>
              <a:t>;</a:t>
            </a:r>
          </a:p>
          <a:p>
            <a:pPr>
              <a:spcBef>
                <a:spcPct val="3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void</a:t>
            </a:r>
            <a:r>
              <a:rPr lang="de-AT" altLang="de-DE" sz="1600">
                <a:latin typeface="Calibri" panose="020F0502020204030204" pitchFamily="34" charset="0"/>
              </a:rPr>
              <a:t> Q(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z) {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	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x;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	...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	}</a:t>
            </a:r>
          </a:p>
          <a:p>
            <a:pPr>
              <a:spcBef>
                <a:spcPct val="30000"/>
              </a:spcBef>
            </a:pPr>
            <a:r>
              <a:rPr lang="de-AT" altLang="de-DE" sz="1600">
                <a:latin typeface="Calibri" panose="020F0502020204030204" pitchFamily="34" charset="0"/>
              </a:rPr>
              <a:t>}</a:t>
            </a:r>
          </a:p>
        </p:txBody>
      </p:sp>
      <p:sp>
        <p:nvSpPr>
          <p:cNvPr id="19465" name="Line 8"/>
          <p:cNvSpPr>
            <a:spLocks noChangeShapeType="1"/>
          </p:cNvSpPr>
          <p:nvPr/>
        </p:nvSpPr>
        <p:spPr bwMode="auto">
          <a:xfrm>
            <a:off x="3352800" y="3657600"/>
            <a:ext cx="0" cy="16764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66" name="Line 9"/>
          <p:cNvSpPr>
            <a:spLocks noChangeShapeType="1"/>
          </p:cNvSpPr>
          <p:nvPr/>
        </p:nvSpPr>
        <p:spPr bwMode="auto">
          <a:xfrm>
            <a:off x="3276600" y="53340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67" name="Line 10"/>
          <p:cNvSpPr>
            <a:spLocks noChangeShapeType="1"/>
          </p:cNvSpPr>
          <p:nvPr/>
        </p:nvSpPr>
        <p:spPr bwMode="auto">
          <a:xfrm>
            <a:off x="3657600" y="3962400"/>
            <a:ext cx="0" cy="13716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68" name="Line 11"/>
          <p:cNvSpPr>
            <a:spLocks noChangeShapeType="1"/>
          </p:cNvSpPr>
          <p:nvPr/>
        </p:nvSpPr>
        <p:spPr bwMode="auto">
          <a:xfrm>
            <a:off x="3581400" y="53340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69" name="Line 12"/>
          <p:cNvSpPr>
            <a:spLocks noChangeShapeType="1"/>
          </p:cNvSpPr>
          <p:nvPr/>
        </p:nvSpPr>
        <p:spPr bwMode="auto">
          <a:xfrm>
            <a:off x="3276600" y="28194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70" name="Line 13"/>
          <p:cNvSpPr>
            <a:spLocks noChangeShapeType="1"/>
          </p:cNvSpPr>
          <p:nvPr/>
        </p:nvSpPr>
        <p:spPr bwMode="auto">
          <a:xfrm>
            <a:off x="3581400" y="28194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71" name="Text Box 14"/>
          <p:cNvSpPr txBox="1">
            <a:spLocks noChangeArrowheads="1"/>
          </p:cNvSpPr>
          <p:nvPr/>
        </p:nvSpPr>
        <p:spPr bwMode="auto">
          <a:xfrm>
            <a:off x="3225800" y="2514600"/>
            <a:ext cx="273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x</a:t>
            </a: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5241925" y="2147888"/>
            <a:ext cx="3819525" cy="3451225"/>
            <a:chOff x="3302" y="1353"/>
            <a:chExt cx="2406" cy="2174"/>
          </a:xfrm>
        </p:grpSpPr>
        <p:sp>
          <p:nvSpPr>
            <p:cNvPr id="19490" name="Text Box 16"/>
            <p:cNvSpPr txBox="1">
              <a:spLocks noChangeArrowheads="1"/>
            </p:cNvSpPr>
            <p:nvPr/>
          </p:nvSpPr>
          <p:spPr bwMode="auto">
            <a:xfrm>
              <a:off x="3302" y="1353"/>
              <a:ext cx="570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 b="1">
                  <a:latin typeface="Calibri" panose="020F0502020204030204" pitchFamily="34" charset="0"/>
                </a:rPr>
                <a:t>Regeln</a:t>
              </a:r>
            </a:p>
          </p:txBody>
        </p:sp>
        <p:sp>
          <p:nvSpPr>
            <p:cNvPr id="19491" name="Text Box 17"/>
            <p:cNvSpPr txBox="1">
              <a:spLocks noChangeArrowheads="1"/>
            </p:cNvSpPr>
            <p:nvPr/>
          </p:nvSpPr>
          <p:spPr bwMode="auto">
            <a:xfrm>
              <a:off x="3302" y="1623"/>
              <a:ext cx="2406" cy="19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292100" indent="-2921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pPr>
                <a:buFontTx/>
                <a:buAutoNum type="arabicPeriod"/>
              </a:pPr>
              <a:r>
                <a:rPr lang="de-AT" altLang="de-DE" sz="1600">
                  <a:latin typeface="Calibri" panose="020F0502020204030204" pitchFamily="34" charset="0"/>
                </a:rPr>
                <a:t>Ein Name darf in einem Block nicht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mehrmals deklariert werden (auch nicht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in geschachtelten Anweisungsblöcken).</a:t>
              </a:r>
            </a:p>
            <a:p>
              <a:pPr>
                <a:spcBef>
                  <a:spcPct val="30000"/>
                </a:spcBef>
                <a:buFontTx/>
                <a:buAutoNum type="arabicPeriod"/>
              </a:pPr>
              <a:r>
                <a:rPr lang="de-AT" altLang="de-DE" sz="1600">
                  <a:latin typeface="Calibri" panose="020F0502020204030204" pitchFamily="34" charset="0"/>
                </a:rPr>
                <a:t>Lokale Namen verdecken Namen,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die auf Klassenebene deklariert sind.</a:t>
              </a:r>
            </a:p>
            <a:p>
              <a:pPr>
                <a:spcBef>
                  <a:spcPct val="30000"/>
                </a:spcBef>
                <a:buFontTx/>
                <a:buAutoNum type="arabicPeriod"/>
              </a:pPr>
              <a:r>
                <a:rPr lang="de-AT" altLang="de-DE" sz="1600">
                  <a:latin typeface="Calibri" panose="020F0502020204030204" pitchFamily="34" charset="0"/>
                </a:rPr>
                <a:t>Der Sichtbarkeitsbereich eines lokalen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Namens beginnt bei seiner Deklaration 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und geht bis zum Ende der Methode.</a:t>
              </a:r>
            </a:p>
            <a:p>
              <a:pPr>
                <a:spcBef>
                  <a:spcPct val="30000"/>
                </a:spcBef>
                <a:buFontTx/>
                <a:buAutoNum type="arabicPeriod"/>
              </a:pPr>
              <a:r>
                <a:rPr lang="de-AT" altLang="de-DE" sz="1600">
                  <a:latin typeface="Calibri" panose="020F0502020204030204" pitchFamily="34" charset="0"/>
                </a:rPr>
                <a:t>Auf Klassenebene deklarierte Namen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sind in allen Methoden der Klasse</a:t>
              </a:r>
              <a:br>
                <a:rPr lang="de-AT" altLang="de-DE" sz="1600">
                  <a:latin typeface="Calibri" panose="020F0502020204030204" pitchFamily="34" charset="0"/>
                </a:rPr>
              </a:br>
              <a:r>
                <a:rPr lang="de-AT" altLang="de-DE" sz="1600">
                  <a:latin typeface="Calibri" panose="020F0502020204030204" pitchFamily="34" charset="0"/>
                </a:rPr>
                <a:t>sichtbar.</a:t>
              </a:r>
            </a:p>
          </p:txBody>
        </p:sp>
      </p:grpSp>
      <p:grpSp>
        <p:nvGrpSpPr>
          <p:cNvPr id="3" name="Group 18"/>
          <p:cNvGrpSpPr>
            <a:grpSpLocks/>
          </p:cNvGrpSpPr>
          <p:nvPr/>
        </p:nvGrpSpPr>
        <p:grpSpPr bwMode="auto">
          <a:xfrm>
            <a:off x="3352800" y="3886200"/>
            <a:ext cx="1035050" cy="1143000"/>
            <a:chOff x="2112" y="2448"/>
            <a:chExt cx="652" cy="720"/>
          </a:xfrm>
        </p:grpSpPr>
        <p:sp>
          <p:nvSpPr>
            <p:cNvPr id="19481" name="Line 19"/>
            <p:cNvSpPr>
              <a:spLocks noChangeShapeType="1"/>
            </p:cNvSpPr>
            <p:nvPr/>
          </p:nvSpPr>
          <p:spPr bwMode="auto">
            <a:xfrm>
              <a:off x="2496" y="2640"/>
              <a:ext cx="0" cy="528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9482" name="Line 20"/>
            <p:cNvSpPr>
              <a:spLocks noChangeShapeType="1"/>
            </p:cNvSpPr>
            <p:nvPr/>
          </p:nvSpPr>
          <p:spPr bwMode="auto">
            <a:xfrm>
              <a:off x="2448" y="3168"/>
              <a:ext cx="9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9483" name="Line 21"/>
            <p:cNvSpPr>
              <a:spLocks noChangeShapeType="1"/>
            </p:cNvSpPr>
            <p:nvPr/>
          </p:nvSpPr>
          <p:spPr bwMode="auto">
            <a:xfrm>
              <a:off x="2448" y="2640"/>
              <a:ext cx="9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9484" name="Line 22"/>
            <p:cNvSpPr>
              <a:spLocks noChangeShapeType="1"/>
            </p:cNvSpPr>
            <p:nvPr/>
          </p:nvSpPr>
          <p:spPr bwMode="auto">
            <a:xfrm>
              <a:off x="2688" y="2784"/>
              <a:ext cx="0" cy="384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9485" name="Line 23"/>
            <p:cNvSpPr>
              <a:spLocks noChangeShapeType="1"/>
            </p:cNvSpPr>
            <p:nvPr/>
          </p:nvSpPr>
          <p:spPr bwMode="auto">
            <a:xfrm>
              <a:off x="2640" y="3168"/>
              <a:ext cx="9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9486" name="Line 24"/>
            <p:cNvSpPr>
              <a:spLocks noChangeShapeType="1"/>
            </p:cNvSpPr>
            <p:nvPr/>
          </p:nvSpPr>
          <p:spPr bwMode="auto">
            <a:xfrm>
              <a:off x="2640" y="2784"/>
              <a:ext cx="96" cy="0"/>
            </a:xfrm>
            <a:prstGeom prst="line">
              <a:avLst/>
            </a:prstGeom>
            <a:noFill/>
            <a:ln w="63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  <p:sp>
          <p:nvSpPr>
            <p:cNvPr id="19487" name="Text Box 25"/>
            <p:cNvSpPr txBox="1">
              <a:spLocks noChangeArrowheads="1"/>
            </p:cNvSpPr>
            <p:nvPr/>
          </p:nvSpPr>
          <p:spPr bwMode="auto">
            <a:xfrm>
              <a:off x="2592" y="2592"/>
              <a:ext cx="17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x</a:t>
              </a:r>
            </a:p>
          </p:txBody>
        </p:sp>
        <p:sp>
          <p:nvSpPr>
            <p:cNvPr id="19488" name="Text Box 26"/>
            <p:cNvSpPr txBox="1">
              <a:spLocks noChangeArrowheads="1"/>
            </p:cNvSpPr>
            <p:nvPr/>
          </p:nvSpPr>
          <p:spPr bwMode="auto">
            <a:xfrm>
              <a:off x="2400" y="2448"/>
              <a:ext cx="16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z</a:t>
              </a:r>
            </a:p>
          </p:txBody>
        </p:sp>
        <p:sp>
          <p:nvSpPr>
            <p:cNvPr id="19489" name="Line 27"/>
            <p:cNvSpPr>
              <a:spLocks noChangeShapeType="1"/>
            </p:cNvSpPr>
            <p:nvPr/>
          </p:nvSpPr>
          <p:spPr bwMode="auto">
            <a:xfrm>
              <a:off x="2112" y="2784"/>
              <a:ext cx="0" cy="384"/>
            </a:xfrm>
            <a:prstGeom prst="line">
              <a:avLst/>
            </a:prstGeom>
            <a:noFill/>
            <a:ln w="635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de-AT"/>
            </a:p>
          </p:txBody>
        </p:sp>
      </p:grpSp>
      <p:sp>
        <p:nvSpPr>
          <p:cNvPr id="19474" name="Line 28"/>
          <p:cNvSpPr>
            <a:spLocks noChangeShapeType="1"/>
          </p:cNvSpPr>
          <p:nvPr/>
        </p:nvSpPr>
        <p:spPr bwMode="auto">
          <a:xfrm>
            <a:off x="3276600" y="36576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75" name="Line 29"/>
          <p:cNvSpPr>
            <a:spLocks noChangeShapeType="1"/>
          </p:cNvSpPr>
          <p:nvPr/>
        </p:nvSpPr>
        <p:spPr bwMode="auto">
          <a:xfrm>
            <a:off x="3276600" y="33528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76" name="Line 30"/>
          <p:cNvSpPr>
            <a:spLocks noChangeShapeType="1"/>
          </p:cNvSpPr>
          <p:nvPr/>
        </p:nvSpPr>
        <p:spPr bwMode="auto">
          <a:xfrm>
            <a:off x="3352800" y="2819400"/>
            <a:ext cx="0" cy="5334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77" name="Line 31"/>
          <p:cNvSpPr>
            <a:spLocks noChangeShapeType="1"/>
          </p:cNvSpPr>
          <p:nvPr/>
        </p:nvSpPr>
        <p:spPr bwMode="auto">
          <a:xfrm>
            <a:off x="3581400" y="33528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78" name="Line 32"/>
          <p:cNvSpPr>
            <a:spLocks noChangeShapeType="1"/>
          </p:cNvSpPr>
          <p:nvPr/>
        </p:nvSpPr>
        <p:spPr bwMode="auto">
          <a:xfrm>
            <a:off x="3581400" y="3962400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79" name="Line 33"/>
          <p:cNvSpPr>
            <a:spLocks noChangeShapeType="1"/>
          </p:cNvSpPr>
          <p:nvPr/>
        </p:nvSpPr>
        <p:spPr bwMode="auto">
          <a:xfrm>
            <a:off x="3657600" y="2819400"/>
            <a:ext cx="0" cy="5334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19480" name="Text Box 34"/>
          <p:cNvSpPr txBox="1">
            <a:spLocks noChangeArrowheads="1"/>
          </p:cNvSpPr>
          <p:nvPr/>
        </p:nvSpPr>
        <p:spPr bwMode="auto">
          <a:xfrm>
            <a:off x="3530600" y="2514600"/>
            <a:ext cx="277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Beispiel zu Sichtbarkeitsregeln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1524000" y="908720"/>
            <a:ext cx="6042025" cy="5360987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class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Sample {</a:t>
            </a:r>
          </a:p>
          <a:p>
            <a:pPr>
              <a:spcBef>
                <a:spcPct val="40000"/>
              </a:spcBef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P() {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Console.WriteLine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x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);	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gibt 0 aus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}</a:t>
            </a:r>
          </a:p>
          <a:p>
            <a:pPr>
              <a:spcBef>
                <a:spcPct val="40000"/>
              </a:spcBef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x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 0;</a:t>
            </a:r>
          </a:p>
          <a:p>
            <a:pPr>
              <a:spcBef>
                <a:spcPct val="40000"/>
              </a:spcBef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Main() {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Console.WriteLine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x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);	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gibt 0 aus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x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 1;	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verdeckt statisches x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Console.WriteLine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x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);	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gibt 1 aus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P();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if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x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&gt; 0) {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x;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Fehler: x ist in </a:t>
            </a:r>
            <a:r>
              <a:rPr lang="de-AT" sz="1600" dirty="0" err="1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main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 bereits deklariert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>
                <a:solidFill>
                  <a:srgbClr val="009900"/>
                </a:solidFill>
                <a:latin typeface="Calibri" pitchFamily="34" charset="0"/>
                <a:ea typeface="ＭＳ Ｐゴシック" pitchFamily="-44" charset="-128"/>
              </a:rPr>
              <a:t>y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	...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}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else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{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>
                <a:solidFill>
                  <a:srgbClr val="009900"/>
                </a:solidFill>
                <a:latin typeface="Calibri" pitchFamily="34" charset="0"/>
                <a:ea typeface="ＭＳ Ｐゴシック" pitchFamily="-44" charset="-128"/>
              </a:rPr>
              <a:t>y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ok, kein Konflikt mit y im </a:t>
            </a:r>
            <a:r>
              <a:rPr lang="de-AT" sz="1600" dirty="0" err="1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then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-Zweig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	...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}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for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i = 0; ...) {...}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for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i = 1; ...) {...}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ok, kein Konflikt mit i aus letzter Schleife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}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  <a:tab pos="22796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}</a:t>
            </a:r>
          </a:p>
        </p:txBody>
      </p:sp>
      <p:sp>
        <p:nvSpPr>
          <p:cNvPr id="20485" name="Line 4"/>
          <p:cNvSpPr>
            <a:spLocks noChangeShapeType="1"/>
          </p:cNvSpPr>
          <p:nvPr/>
        </p:nvSpPr>
        <p:spPr bwMode="auto">
          <a:xfrm>
            <a:off x="819150" y="2218407"/>
            <a:ext cx="0" cy="7620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86" name="Line 5"/>
          <p:cNvSpPr>
            <a:spLocks noChangeShapeType="1"/>
          </p:cNvSpPr>
          <p:nvPr/>
        </p:nvSpPr>
        <p:spPr bwMode="auto">
          <a:xfrm>
            <a:off x="742950" y="1913607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87" name="Line 6"/>
          <p:cNvSpPr>
            <a:spLocks noChangeShapeType="1"/>
          </p:cNvSpPr>
          <p:nvPr/>
        </p:nvSpPr>
        <p:spPr bwMode="auto">
          <a:xfrm>
            <a:off x="742950" y="2980407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88" name="Line 7"/>
          <p:cNvSpPr>
            <a:spLocks noChangeShapeType="1"/>
          </p:cNvSpPr>
          <p:nvPr/>
        </p:nvSpPr>
        <p:spPr bwMode="auto">
          <a:xfrm>
            <a:off x="819150" y="1456407"/>
            <a:ext cx="0" cy="45720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89" name="Line 8"/>
          <p:cNvSpPr>
            <a:spLocks noChangeShapeType="1"/>
          </p:cNvSpPr>
          <p:nvPr/>
        </p:nvSpPr>
        <p:spPr bwMode="auto">
          <a:xfrm>
            <a:off x="742950" y="1456407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0" name="Line 9"/>
          <p:cNvSpPr>
            <a:spLocks noChangeShapeType="1"/>
          </p:cNvSpPr>
          <p:nvPr/>
        </p:nvSpPr>
        <p:spPr bwMode="auto">
          <a:xfrm>
            <a:off x="742950" y="2218407"/>
            <a:ext cx="152400" cy="0"/>
          </a:xfrm>
          <a:prstGeom prst="line">
            <a:avLst/>
          </a:prstGeom>
          <a:noFill/>
          <a:ln w="635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1" name="Text Box 10"/>
          <p:cNvSpPr txBox="1">
            <a:spLocks noChangeArrowheads="1"/>
          </p:cNvSpPr>
          <p:nvPr/>
        </p:nvSpPr>
        <p:spPr bwMode="auto">
          <a:xfrm>
            <a:off x="685800" y="1913607"/>
            <a:ext cx="273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x</a:t>
            </a:r>
          </a:p>
        </p:txBody>
      </p:sp>
      <p:sp>
        <p:nvSpPr>
          <p:cNvPr id="20492" name="Line 11"/>
          <p:cNvSpPr>
            <a:spLocks noChangeShapeType="1"/>
          </p:cNvSpPr>
          <p:nvPr/>
        </p:nvSpPr>
        <p:spPr bwMode="auto">
          <a:xfrm>
            <a:off x="1066800" y="2980407"/>
            <a:ext cx="0" cy="289560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3" name="Line 12"/>
          <p:cNvSpPr>
            <a:spLocks noChangeShapeType="1"/>
          </p:cNvSpPr>
          <p:nvPr/>
        </p:nvSpPr>
        <p:spPr bwMode="auto">
          <a:xfrm>
            <a:off x="990600" y="5876007"/>
            <a:ext cx="1524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4" name="Line 13"/>
          <p:cNvSpPr>
            <a:spLocks noChangeShapeType="1"/>
          </p:cNvSpPr>
          <p:nvPr/>
        </p:nvSpPr>
        <p:spPr bwMode="auto">
          <a:xfrm>
            <a:off x="990600" y="2980407"/>
            <a:ext cx="152400" cy="0"/>
          </a:xfrm>
          <a:prstGeom prst="line">
            <a:avLst/>
          </a:prstGeom>
          <a:noFill/>
          <a:ln w="63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5" name="Text Box 14"/>
          <p:cNvSpPr txBox="1">
            <a:spLocks noChangeArrowheads="1"/>
          </p:cNvSpPr>
          <p:nvPr/>
        </p:nvSpPr>
        <p:spPr bwMode="auto">
          <a:xfrm>
            <a:off x="933450" y="2675607"/>
            <a:ext cx="2730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x</a:t>
            </a:r>
          </a:p>
        </p:txBody>
      </p:sp>
      <p:sp>
        <p:nvSpPr>
          <p:cNvPr id="20496" name="Line 15"/>
          <p:cNvSpPr>
            <a:spLocks noChangeShapeType="1"/>
          </p:cNvSpPr>
          <p:nvPr/>
        </p:nvSpPr>
        <p:spPr bwMode="auto">
          <a:xfrm>
            <a:off x="1295400" y="4123407"/>
            <a:ext cx="0" cy="457200"/>
          </a:xfrm>
          <a:prstGeom prst="line">
            <a:avLst/>
          </a:prstGeom>
          <a:noFill/>
          <a:ln w="63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7" name="Line 16"/>
          <p:cNvSpPr>
            <a:spLocks noChangeShapeType="1"/>
          </p:cNvSpPr>
          <p:nvPr/>
        </p:nvSpPr>
        <p:spPr bwMode="auto">
          <a:xfrm>
            <a:off x="1219200" y="4580607"/>
            <a:ext cx="152400" cy="0"/>
          </a:xfrm>
          <a:prstGeom prst="line">
            <a:avLst/>
          </a:prstGeom>
          <a:noFill/>
          <a:ln w="63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8" name="Line 17"/>
          <p:cNvSpPr>
            <a:spLocks noChangeShapeType="1"/>
          </p:cNvSpPr>
          <p:nvPr/>
        </p:nvSpPr>
        <p:spPr bwMode="auto">
          <a:xfrm>
            <a:off x="1219200" y="4123407"/>
            <a:ext cx="152400" cy="0"/>
          </a:xfrm>
          <a:prstGeom prst="line">
            <a:avLst/>
          </a:prstGeom>
          <a:noFill/>
          <a:ln w="63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499" name="Text Box 18"/>
          <p:cNvSpPr txBox="1">
            <a:spLocks noChangeArrowheads="1"/>
          </p:cNvSpPr>
          <p:nvPr/>
        </p:nvSpPr>
        <p:spPr bwMode="auto">
          <a:xfrm>
            <a:off x="1162050" y="3818607"/>
            <a:ext cx="2778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rgbClr val="009900"/>
                </a:solidFill>
                <a:latin typeface="Calibri" panose="020F0502020204030204" pitchFamily="34" charset="0"/>
              </a:rPr>
              <a:t>y</a:t>
            </a:r>
          </a:p>
        </p:txBody>
      </p:sp>
      <p:sp>
        <p:nvSpPr>
          <p:cNvPr id="20500" name="Line 19"/>
          <p:cNvSpPr>
            <a:spLocks noChangeShapeType="1"/>
          </p:cNvSpPr>
          <p:nvPr/>
        </p:nvSpPr>
        <p:spPr bwMode="auto">
          <a:xfrm>
            <a:off x="1295400" y="4809207"/>
            <a:ext cx="0" cy="457200"/>
          </a:xfrm>
          <a:prstGeom prst="line">
            <a:avLst/>
          </a:prstGeom>
          <a:noFill/>
          <a:ln w="63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501" name="Line 20"/>
          <p:cNvSpPr>
            <a:spLocks noChangeShapeType="1"/>
          </p:cNvSpPr>
          <p:nvPr/>
        </p:nvSpPr>
        <p:spPr bwMode="auto">
          <a:xfrm>
            <a:off x="1219200" y="5266407"/>
            <a:ext cx="152400" cy="0"/>
          </a:xfrm>
          <a:prstGeom prst="line">
            <a:avLst/>
          </a:prstGeom>
          <a:noFill/>
          <a:ln w="63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502" name="Line 21"/>
          <p:cNvSpPr>
            <a:spLocks noChangeShapeType="1"/>
          </p:cNvSpPr>
          <p:nvPr/>
        </p:nvSpPr>
        <p:spPr bwMode="auto">
          <a:xfrm>
            <a:off x="1219200" y="4809207"/>
            <a:ext cx="152400" cy="0"/>
          </a:xfrm>
          <a:prstGeom prst="line">
            <a:avLst/>
          </a:prstGeom>
          <a:noFill/>
          <a:ln w="635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sp>
        <p:nvSpPr>
          <p:cNvPr id="20503" name="Text Box 22"/>
          <p:cNvSpPr txBox="1">
            <a:spLocks noChangeArrowheads="1"/>
          </p:cNvSpPr>
          <p:nvPr/>
        </p:nvSpPr>
        <p:spPr bwMode="auto">
          <a:xfrm>
            <a:off x="1162050" y="4504407"/>
            <a:ext cx="3222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rgbClr val="009900"/>
                </a:solidFill>
                <a:latin typeface="Calibri" panose="020F0502020204030204" pitchFamily="34" charset="0"/>
              </a:rPr>
              <a:t>y'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Lebensdauer von Variablen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2252663" y="879053"/>
            <a:ext cx="3995737" cy="381000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class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LifenessDemo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{</a:t>
            </a:r>
          </a:p>
          <a:p>
            <a:pPr>
              <a:lnSpc>
                <a:spcPct val="90000"/>
              </a:lnSpc>
              <a:spcBef>
                <a:spcPct val="40000"/>
              </a:spcBef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g;</a:t>
            </a:r>
          </a:p>
          <a:p>
            <a:pPr>
              <a:lnSpc>
                <a:spcPct val="90000"/>
              </a:lnSpc>
              <a:spcBef>
                <a:spcPct val="40000"/>
              </a:spcBef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b="1" dirty="0">
                <a:latin typeface="Calibri" pitchFamily="34" charset="0"/>
                <a:ea typeface="ＭＳ Ｐゴシック" pitchFamily="-44" charset="-128"/>
              </a:rPr>
              <a:t>A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() {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a;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...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}</a:t>
            </a:r>
          </a:p>
          <a:p>
            <a:pPr>
              <a:lnSpc>
                <a:spcPct val="90000"/>
              </a:lnSpc>
              <a:spcBef>
                <a:spcPct val="40000"/>
              </a:spcBef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b="1" dirty="0">
                <a:latin typeface="Calibri" pitchFamily="34" charset="0"/>
                <a:ea typeface="ＭＳ Ｐゴシック" pitchFamily="-44" charset="-128"/>
              </a:rPr>
              <a:t>B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() {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b;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... A(); ... A(); ...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}</a:t>
            </a:r>
          </a:p>
          <a:p>
            <a:pPr>
              <a:lnSpc>
                <a:spcPct val="90000"/>
              </a:lnSpc>
              <a:spcBef>
                <a:spcPct val="40000"/>
              </a:spcBef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void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b="1" dirty="0">
                <a:latin typeface="Calibri" pitchFamily="34" charset="0"/>
                <a:ea typeface="ＭＳ Ｐゴシック" pitchFamily="-44" charset="-128"/>
              </a:rPr>
              <a:t>Main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() {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m;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... B(); ...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}</a:t>
            </a:r>
          </a:p>
          <a:p>
            <a:pPr>
              <a:lnSpc>
                <a:spcPct val="90000"/>
              </a:lnSpc>
              <a:tabLst>
                <a:tab pos="187325" algn="l"/>
                <a:tab pos="374650" algn="l"/>
                <a:tab pos="57785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}</a:t>
            </a:r>
          </a:p>
        </p:txBody>
      </p:sp>
      <p:sp>
        <p:nvSpPr>
          <p:cNvPr id="21509" name="Text Box 4"/>
          <p:cNvSpPr txBox="1">
            <a:spLocks noChangeArrowheads="1"/>
          </p:cNvSpPr>
          <p:nvPr/>
        </p:nvSpPr>
        <p:spPr bwMode="auto">
          <a:xfrm>
            <a:off x="212725" y="4993853"/>
            <a:ext cx="16446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latin typeface="Calibri" panose="020F0502020204030204" pitchFamily="34" charset="0"/>
              </a:rPr>
              <a:t>lokale Variablen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(Methodenkeller)</a:t>
            </a:r>
          </a:p>
        </p:txBody>
      </p:sp>
      <p:sp>
        <p:nvSpPr>
          <p:cNvPr id="21510" name="Text Box 5"/>
          <p:cNvSpPr txBox="1">
            <a:spLocks noChangeArrowheads="1"/>
          </p:cNvSpPr>
          <p:nvPr/>
        </p:nvSpPr>
        <p:spPr bwMode="auto">
          <a:xfrm>
            <a:off x="212725" y="5741566"/>
            <a:ext cx="12731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latin typeface="Calibri" panose="020F0502020204030204" pitchFamily="34" charset="0"/>
              </a:rPr>
              <a:t>statische Var.</a:t>
            </a:r>
          </a:p>
        </p:txBody>
      </p:sp>
      <p:sp>
        <p:nvSpPr>
          <p:cNvPr id="21511" name="Rectangle 6"/>
          <p:cNvSpPr>
            <a:spLocks noChangeArrowheads="1"/>
          </p:cNvSpPr>
          <p:nvPr/>
        </p:nvSpPr>
        <p:spPr bwMode="auto">
          <a:xfrm>
            <a:off x="1828800" y="5755853"/>
            <a:ext cx="457200" cy="228600"/>
          </a:xfrm>
          <a:prstGeom prst="rect">
            <a:avLst/>
          </a:prstGeom>
          <a:noFill/>
          <a:ln w="63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endParaRPr lang="de-AT" altLang="de-DE">
              <a:latin typeface="Calibri" panose="020F0502020204030204" pitchFamily="34" charset="0"/>
            </a:endParaRPr>
          </a:p>
        </p:txBody>
      </p:sp>
      <p:sp>
        <p:nvSpPr>
          <p:cNvPr id="21512" name="Text Box 7"/>
          <p:cNvSpPr txBox="1">
            <a:spLocks noChangeArrowheads="1"/>
          </p:cNvSpPr>
          <p:nvPr/>
        </p:nvSpPr>
        <p:spPr bwMode="auto">
          <a:xfrm>
            <a:off x="1905000" y="5679653"/>
            <a:ext cx="2809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latin typeface="Calibri" panose="020F0502020204030204" pitchFamily="34" charset="0"/>
              </a:rPr>
              <a:t>g</a:t>
            </a:r>
          </a:p>
        </p:txBody>
      </p:sp>
      <p:sp>
        <p:nvSpPr>
          <p:cNvPr id="21513" name="Line 8"/>
          <p:cNvSpPr>
            <a:spLocks noChangeShapeType="1"/>
          </p:cNvSpPr>
          <p:nvPr/>
        </p:nvSpPr>
        <p:spPr bwMode="auto">
          <a:xfrm>
            <a:off x="304800" y="5679653"/>
            <a:ext cx="60198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de-AT"/>
          </a:p>
        </p:txBody>
      </p:sp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2438400" y="5266903"/>
            <a:ext cx="457200" cy="1098550"/>
            <a:chOff x="1536" y="3532"/>
            <a:chExt cx="288" cy="692"/>
          </a:xfrm>
        </p:grpSpPr>
        <p:sp>
          <p:nvSpPr>
            <p:cNvPr id="21571" name="Text Box 10"/>
            <p:cNvSpPr txBox="1">
              <a:spLocks noChangeArrowheads="1"/>
            </p:cNvSpPr>
            <p:nvPr/>
          </p:nvSpPr>
          <p:spPr bwMode="auto">
            <a:xfrm>
              <a:off x="1536" y="3974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</a:t>
              </a:r>
            </a:p>
          </p:txBody>
        </p:sp>
        <p:sp>
          <p:nvSpPr>
            <p:cNvPr id="21572" name="Rectangle 12"/>
            <p:cNvSpPr>
              <a:spLocks noChangeArrowheads="1"/>
            </p:cNvSpPr>
            <p:nvPr/>
          </p:nvSpPr>
          <p:spPr bwMode="auto">
            <a:xfrm>
              <a:off x="1536" y="3840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73" name="Text Box 13"/>
            <p:cNvSpPr txBox="1">
              <a:spLocks noChangeArrowheads="1"/>
            </p:cNvSpPr>
            <p:nvPr/>
          </p:nvSpPr>
          <p:spPr bwMode="auto">
            <a:xfrm>
              <a:off x="1584" y="3792"/>
              <a:ext cx="1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g</a:t>
              </a:r>
            </a:p>
          </p:txBody>
        </p:sp>
        <p:sp>
          <p:nvSpPr>
            <p:cNvPr id="21574" name="Rectangle 14"/>
            <p:cNvSpPr>
              <a:spLocks noChangeArrowheads="1"/>
            </p:cNvSpPr>
            <p:nvPr/>
          </p:nvSpPr>
          <p:spPr bwMode="auto">
            <a:xfrm>
              <a:off x="1536" y="3580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75" name="Text Box 15"/>
            <p:cNvSpPr txBox="1">
              <a:spLocks noChangeArrowheads="1"/>
            </p:cNvSpPr>
            <p:nvPr/>
          </p:nvSpPr>
          <p:spPr bwMode="auto">
            <a:xfrm>
              <a:off x="1584" y="3532"/>
              <a:ext cx="2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m</a:t>
              </a:r>
            </a:p>
          </p:txBody>
        </p:sp>
      </p:grpSp>
      <p:grpSp>
        <p:nvGrpSpPr>
          <p:cNvPr id="3" name="Group 16"/>
          <p:cNvGrpSpPr>
            <a:grpSpLocks/>
          </p:cNvGrpSpPr>
          <p:nvPr/>
        </p:nvGrpSpPr>
        <p:grpSpPr bwMode="auto">
          <a:xfrm>
            <a:off x="2941638" y="5038303"/>
            <a:ext cx="487362" cy="1336675"/>
            <a:chOff x="1853" y="3388"/>
            <a:chExt cx="307" cy="842"/>
          </a:xfrm>
        </p:grpSpPr>
        <p:sp>
          <p:nvSpPr>
            <p:cNvPr id="21564" name="Rectangle 18"/>
            <p:cNvSpPr>
              <a:spLocks noChangeArrowheads="1"/>
            </p:cNvSpPr>
            <p:nvPr/>
          </p:nvSpPr>
          <p:spPr bwMode="auto">
            <a:xfrm>
              <a:off x="1872" y="3841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65" name="Text Box 19"/>
            <p:cNvSpPr txBox="1">
              <a:spLocks noChangeArrowheads="1"/>
            </p:cNvSpPr>
            <p:nvPr/>
          </p:nvSpPr>
          <p:spPr bwMode="auto">
            <a:xfrm>
              <a:off x="1920" y="3793"/>
              <a:ext cx="1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g</a:t>
              </a:r>
            </a:p>
          </p:txBody>
        </p:sp>
        <p:sp>
          <p:nvSpPr>
            <p:cNvPr id="21566" name="Rectangle 20"/>
            <p:cNvSpPr>
              <a:spLocks noChangeArrowheads="1"/>
            </p:cNvSpPr>
            <p:nvPr/>
          </p:nvSpPr>
          <p:spPr bwMode="auto">
            <a:xfrm>
              <a:off x="1872" y="3581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67" name="Text Box 21"/>
            <p:cNvSpPr txBox="1">
              <a:spLocks noChangeArrowheads="1"/>
            </p:cNvSpPr>
            <p:nvPr/>
          </p:nvSpPr>
          <p:spPr bwMode="auto">
            <a:xfrm>
              <a:off x="1920" y="3533"/>
              <a:ext cx="2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solidFill>
                    <a:schemeClr val="bg2"/>
                  </a:solidFill>
                  <a:latin typeface="Calibri" panose="020F0502020204030204" pitchFamily="34" charset="0"/>
                </a:rPr>
                <a:t>m</a:t>
              </a:r>
            </a:p>
          </p:txBody>
        </p:sp>
        <p:sp>
          <p:nvSpPr>
            <p:cNvPr id="21568" name="Text Box 22"/>
            <p:cNvSpPr txBox="1">
              <a:spLocks noChangeArrowheads="1"/>
            </p:cNvSpPr>
            <p:nvPr/>
          </p:nvSpPr>
          <p:spPr bwMode="auto">
            <a:xfrm>
              <a:off x="1853" y="3980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</a:t>
              </a:r>
            </a:p>
          </p:txBody>
        </p:sp>
        <p:sp>
          <p:nvSpPr>
            <p:cNvPr id="21569" name="Rectangle 23"/>
            <p:cNvSpPr>
              <a:spLocks noChangeArrowheads="1"/>
            </p:cNvSpPr>
            <p:nvPr/>
          </p:nvSpPr>
          <p:spPr bwMode="auto">
            <a:xfrm>
              <a:off x="1872" y="3436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70" name="Text Box 24"/>
            <p:cNvSpPr txBox="1">
              <a:spLocks noChangeArrowheads="1"/>
            </p:cNvSpPr>
            <p:nvPr/>
          </p:nvSpPr>
          <p:spPr bwMode="auto">
            <a:xfrm>
              <a:off x="1920" y="3388"/>
              <a:ext cx="18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b</a:t>
              </a:r>
            </a:p>
          </p:txBody>
        </p:sp>
      </p:grpSp>
      <p:grpSp>
        <p:nvGrpSpPr>
          <p:cNvPr id="4" name="Group 25"/>
          <p:cNvGrpSpPr>
            <a:grpSpLocks/>
          </p:cNvGrpSpPr>
          <p:nvPr/>
        </p:nvGrpSpPr>
        <p:grpSpPr bwMode="auto">
          <a:xfrm>
            <a:off x="3505200" y="4816053"/>
            <a:ext cx="487363" cy="1565275"/>
            <a:chOff x="2208" y="3248"/>
            <a:chExt cx="307" cy="986"/>
          </a:xfrm>
        </p:grpSpPr>
        <p:sp>
          <p:nvSpPr>
            <p:cNvPr id="21555" name="Rectangle 27"/>
            <p:cNvSpPr>
              <a:spLocks noChangeArrowheads="1"/>
            </p:cNvSpPr>
            <p:nvPr/>
          </p:nvSpPr>
          <p:spPr bwMode="auto">
            <a:xfrm>
              <a:off x="2227" y="3845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56" name="Text Box 28"/>
            <p:cNvSpPr txBox="1">
              <a:spLocks noChangeArrowheads="1"/>
            </p:cNvSpPr>
            <p:nvPr/>
          </p:nvSpPr>
          <p:spPr bwMode="auto">
            <a:xfrm>
              <a:off x="2275" y="3797"/>
              <a:ext cx="1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g</a:t>
              </a:r>
            </a:p>
          </p:txBody>
        </p:sp>
        <p:sp>
          <p:nvSpPr>
            <p:cNvPr id="21557" name="Rectangle 29"/>
            <p:cNvSpPr>
              <a:spLocks noChangeArrowheads="1"/>
            </p:cNvSpPr>
            <p:nvPr/>
          </p:nvSpPr>
          <p:spPr bwMode="auto">
            <a:xfrm>
              <a:off x="2227" y="3585"/>
              <a:ext cx="285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58" name="Text Box 30"/>
            <p:cNvSpPr txBox="1">
              <a:spLocks noChangeArrowheads="1"/>
            </p:cNvSpPr>
            <p:nvPr/>
          </p:nvSpPr>
          <p:spPr bwMode="auto">
            <a:xfrm>
              <a:off x="2275" y="3537"/>
              <a:ext cx="2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solidFill>
                    <a:schemeClr val="bg2"/>
                  </a:solidFill>
                  <a:latin typeface="Calibri" panose="020F0502020204030204" pitchFamily="34" charset="0"/>
                </a:rPr>
                <a:t>m</a:t>
              </a:r>
            </a:p>
          </p:txBody>
        </p:sp>
        <p:sp>
          <p:nvSpPr>
            <p:cNvPr id="21559" name="Text Box 31"/>
            <p:cNvSpPr txBox="1">
              <a:spLocks noChangeArrowheads="1"/>
            </p:cNvSpPr>
            <p:nvPr/>
          </p:nvSpPr>
          <p:spPr bwMode="auto">
            <a:xfrm>
              <a:off x="2208" y="3984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</a:t>
              </a:r>
            </a:p>
          </p:txBody>
        </p:sp>
        <p:sp>
          <p:nvSpPr>
            <p:cNvPr id="21560" name="Rectangle 32"/>
            <p:cNvSpPr>
              <a:spLocks noChangeArrowheads="1"/>
            </p:cNvSpPr>
            <p:nvPr/>
          </p:nvSpPr>
          <p:spPr bwMode="auto">
            <a:xfrm>
              <a:off x="2227" y="3440"/>
              <a:ext cx="285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61" name="Text Box 33"/>
            <p:cNvSpPr txBox="1">
              <a:spLocks noChangeArrowheads="1"/>
            </p:cNvSpPr>
            <p:nvPr/>
          </p:nvSpPr>
          <p:spPr bwMode="auto">
            <a:xfrm>
              <a:off x="2275" y="3392"/>
              <a:ext cx="18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solidFill>
                    <a:schemeClr val="bg2"/>
                  </a:solidFill>
                  <a:latin typeface="Calibri" panose="020F0502020204030204" pitchFamily="34" charset="0"/>
                </a:rPr>
                <a:t>b</a:t>
              </a:r>
            </a:p>
          </p:txBody>
        </p:sp>
        <p:sp>
          <p:nvSpPr>
            <p:cNvPr id="21562" name="Rectangle 34"/>
            <p:cNvSpPr>
              <a:spLocks noChangeArrowheads="1"/>
            </p:cNvSpPr>
            <p:nvPr/>
          </p:nvSpPr>
          <p:spPr bwMode="auto">
            <a:xfrm>
              <a:off x="2224" y="3296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63" name="Text Box 35"/>
            <p:cNvSpPr txBox="1">
              <a:spLocks noChangeArrowheads="1"/>
            </p:cNvSpPr>
            <p:nvPr/>
          </p:nvSpPr>
          <p:spPr bwMode="auto">
            <a:xfrm>
              <a:off x="2272" y="3248"/>
              <a:ext cx="178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a</a:t>
              </a:r>
            </a:p>
          </p:txBody>
        </p:sp>
      </p:grpSp>
      <p:grpSp>
        <p:nvGrpSpPr>
          <p:cNvPr id="5" name="Group 36"/>
          <p:cNvGrpSpPr>
            <a:grpSpLocks/>
          </p:cNvGrpSpPr>
          <p:nvPr/>
        </p:nvGrpSpPr>
        <p:grpSpPr bwMode="auto">
          <a:xfrm>
            <a:off x="4084638" y="5044653"/>
            <a:ext cx="487362" cy="1336675"/>
            <a:chOff x="2573" y="3392"/>
            <a:chExt cx="307" cy="842"/>
          </a:xfrm>
        </p:grpSpPr>
        <p:sp>
          <p:nvSpPr>
            <p:cNvPr id="21548" name="Rectangle 38"/>
            <p:cNvSpPr>
              <a:spLocks noChangeArrowheads="1"/>
            </p:cNvSpPr>
            <p:nvPr/>
          </p:nvSpPr>
          <p:spPr bwMode="auto">
            <a:xfrm>
              <a:off x="2592" y="3845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49" name="Text Box 39"/>
            <p:cNvSpPr txBox="1">
              <a:spLocks noChangeArrowheads="1"/>
            </p:cNvSpPr>
            <p:nvPr/>
          </p:nvSpPr>
          <p:spPr bwMode="auto">
            <a:xfrm>
              <a:off x="2640" y="3797"/>
              <a:ext cx="1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g</a:t>
              </a:r>
            </a:p>
          </p:txBody>
        </p:sp>
        <p:sp>
          <p:nvSpPr>
            <p:cNvPr id="21550" name="Rectangle 40"/>
            <p:cNvSpPr>
              <a:spLocks noChangeArrowheads="1"/>
            </p:cNvSpPr>
            <p:nvPr/>
          </p:nvSpPr>
          <p:spPr bwMode="auto">
            <a:xfrm>
              <a:off x="2592" y="3585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51" name="Text Box 41"/>
            <p:cNvSpPr txBox="1">
              <a:spLocks noChangeArrowheads="1"/>
            </p:cNvSpPr>
            <p:nvPr/>
          </p:nvSpPr>
          <p:spPr bwMode="auto">
            <a:xfrm>
              <a:off x="2640" y="3537"/>
              <a:ext cx="2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solidFill>
                    <a:schemeClr val="bg2"/>
                  </a:solidFill>
                  <a:latin typeface="Calibri" panose="020F0502020204030204" pitchFamily="34" charset="0"/>
                </a:rPr>
                <a:t>m</a:t>
              </a:r>
            </a:p>
          </p:txBody>
        </p:sp>
        <p:sp>
          <p:nvSpPr>
            <p:cNvPr id="21552" name="Text Box 42"/>
            <p:cNvSpPr txBox="1">
              <a:spLocks noChangeArrowheads="1"/>
            </p:cNvSpPr>
            <p:nvPr/>
          </p:nvSpPr>
          <p:spPr bwMode="auto">
            <a:xfrm>
              <a:off x="2573" y="3984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</a:t>
              </a:r>
            </a:p>
          </p:txBody>
        </p:sp>
        <p:sp>
          <p:nvSpPr>
            <p:cNvPr id="21553" name="Rectangle 43"/>
            <p:cNvSpPr>
              <a:spLocks noChangeArrowheads="1"/>
            </p:cNvSpPr>
            <p:nvPr/>
          </p:nvSpPr>
          <p:spPr bwMode="auto">
            <a:xfrm>
              <a:off x="2592" y="3440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54" name="Text Box 44"/>
            <p:cNvSpPr txBox="1">
              <a:spLocks noChangeArrowheads="1"/>
            </p:cNvSpPr>
            <p:nvPr/>
          </p:nvSpPr>
          <p:spPr bwMode="auto">
            <a:xfrm>
              <a:off x="2640" y="3392"/>
              <a:ext cx="18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b</a:t>
              </a:r>
            </a:p>
          </p:txBody>
        </p:sp>
      </p:grpSp>
      <p:grpSp>
        <p:nvGrpSpPr>
          <p:cNvPr id="6" name="Group 45"/>
          <p:cNvGrpSpPr>
            <a:grpSpLocks/>
          </p:cNvGrpSpPr>
          <p:nvPr/>
        </p:nvGrpSpPr>
        <p:grpSpPr bwMode="auto">
          <a:xfrm>
            <a:off x="4643438" y="4816053"/>
            <a:ext cx="492125" cy="1565275"/>
            <a:chOff x="2925" y="3248"/>
            <a:chExt cx="310" cy="986"/>
          </a:xfrm>
        </p:grpSpPr>
        <p:sp>
          <p:nvSpPr>
            <p:cNvPr id="21539" name="Rectangle 46"/>
            <p:cNvSpPr>
              <a:spLocks noChangeArrowheads="1"/>
            </p:cNvSpPr>
            <p:nvPr/>
          </p:nvSpPr>
          <p:spPr bwMode="auto">
            <a:xfrm>
              <a:off x="2947" y="3845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40" name="Text Box 47"/>
            <p:cNvSpPr txBox="1">
              <a:spLocks noChangeArrowheads="1"/>
            </p:cNvSpPr>
            <p:nvPr/>
          </p:nvSpPr>
          <p:spPr bwMode="auto">
            <a:xfrm>
              <a:off x="2995" y="3797"/>
              <a:ext cx="1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g</a:t>
              </a:r>
            </a:p>
          </p:txBody>
        </p:sp>
        <p:sp>
          <p:nvSpPr>
            <p:cNvPr id="21541" name="Rectangle 48"/>
            <p:cNvSpPr>
              <a:spLocks noChangeArrowheads="1"/>
            </p:cNvSpPr>
            <p:nvPr/>
          </p:nvSpPr>
          <p:spPr bwMode="auto">
            <a:xfrm>
              <a:off x="2947" y="3585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42" name="Text Box 49"/>
            <p:cNvSpPr txBox="1">
              <a:spLocks noChangeArrowheads="1"/>
            </p:cNvSpPr>
            <p:nvPr/>
          </p:nvSpPr>
          <p:spPr bwMode="auto">
            <a:xfrm>
              <a:off x="2995" y="3537"/>
              <a:ext cx="2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solidFill>
                    <a:schemeClr val="bg2"/>
                  </a:solidFill>
                  <a:latin typeface="Calibri" panose="020F0502020204030204" pitchFamily="34" charset="0"/>
                </a:rPr>
                <a:t>m</a:t>
              </a:r>
            </a:p>
          </p:txBody>
        </p:sp>
        <p:sp>
          <p:nvSpPr>
            <p:cNvPr id="21543" name="Text Box 50"/>
            <p:cNvSpPr txBox="1">
              <a:spLocks noChangeArrowheads="1"/>
            </p:cNvSpPr>
            <p:nvPr/>
          </p:nvSpPr>
          <p:spPr bwMode="auto">
            <a:xfrm>
              <a:off x="2925" y="3984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</a:t>
              </a:r>
            </a:p>
          </p:txBody>
        </p:sp>
        <p:sp>
          <p:nvSpPr>
            <p:cNvPr id="21544" name="Rectangle 51"/>
            <p:cNvSpPr>
              <a:spLocks noChangeArrowheads="1"/>
            </p:cNvSpPr>
            <p:nvPr/>
          </p:nvSpPr>
          <p:spPr bwMode="auto">
            <a:xfrm>
              <a:off x="2947" y="3440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45" name="Text Box 52"/>
            <p:cNvSpPr txBox="1">
              <a:spLocks noChangeArrowheads="1"/>
            </p:cNvSpPr>
            <p:nvPr/>
          </p:nvSpPr>
          <p:spPr bwMode="auto">
            <a:xfrm>
              <a:off x="2995" y="3392"/>
              <a:ext cx="18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solidFill>
                    <a:schemeClr val="bg2"/>
                  </a:solidFill>
                  <a:latin typeface="Calibri" panose="020F0502020204030204" pitchFamily="34" charset="0"/>
                </a:rPr>
                <a:t>b</a:t>
              </a:r>
            </a:p>
          </p:txBody>
        </p:sp>
        <p:sp>
          <p:nvSpPr>
            <p:cNvPr id="21546" name="Rectangle 53"/>
            <p:cNvSpPr>
              <a:spLocks noChangeArrowheads="1"/>
            </p:cNvSpPr>
            <p:nvPr/>
          </p:nvSpPr>
          <p:spPr bwMode="auto">
            <a:xfrm>
              <a:off x="2947" y="3296"/>
              <a:ext cx="285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47" name="Text Box 54"/>
            <p:cNvSpPr txBox="1">
              <a:spLocks noChangeArrowheads="1"/>
            </p:cNvSpPr>
            <p:nvPr/>
          </p:nvSpPr>
          <p:spPr bwMode="auto">
            <a:xfrm>
              <a:off x="2992" y="3248"/>
              <a:ext cx="206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a'</a:t>
              </a:r>
            </a:p>
          </p:txBody>
        </p:sp>
      </p:grpSp>
      <p:grpSp>
        <p:nvGrpSpPr>
          <p:cNvPr id="7" name="Group 55"/>
          <p:cNvGrpSpPr>
            <a:grpSpLocks/>
          </p:cNvGrpSpPr>
          <p:nvPr/>
        </p:nvGrpSpPr>
        <p:grpSpPr bwMode="auto">
          <a:xfrm>
            <a:off x="5202238" y="5044653"/>
            <a:ext cx="487362" cy="1336675"/>
            <a:chOff x="3277" y="3392"/>
            <a:chExt cx="307" cy="842"/>
          </a:xfrm>
        </p:grpSpPr>
        <p:sp>
          <p:nvSpPr>
            <p:cNvPr id="21532" name="Rectangle 57"/>
            <p:cNvSpPr>
              <a:spLocks noChangeArrowheads="1"/>
            </p:cNvSpPr>
            <p:nvPr/>
          </p:nvSpPr>
          <p:spPr bwMode="auto">
            <a:xfrm>
              <a:off x="3296" y="3845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33" name="Text Box 58"/>
            <p:cNvSpPr txBox="1">
              <a:spLocks noChangeArrowheads="1"/>
            </p:cNvSpPr>
            <p:nvPr/>
          </p:nvSpPr>
          <p:spPr bwMode="auto">
            <a:xfrm>
              <a:off x="3344" y="3797"/>
              <a:ext cx="1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g</a:t>
              </a:r>
            </a:p>
          </p:txBody>
        </p:sp>
        <p:sp>
          <p:nvSpPr>
            <p:cNvPr id="21534" name="Rectangle 59"/>
            <p:cNvSpPr>
              <a:spLocks noChangeArrowheads="1"/>
            </p:cNvSpPr>
            <p:nvPr/>
          </p:nvSpPr>
          <p:spPr bwMode="auto">
            <a:xfrm>
              <a:off x="3296" y="3585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35" name="Text Box 60"/>
            <p:cNvSpPr txBox="1">
              <a:spLocks noChangeArrowheads="1"/>
            </p:cNvSpPr>
            <p:nvPr/>
          </p:nvSpPr>
          <p:spPr bwMode="auto">
            <a:xfrm>
              <a:off x="3344" y="3537"/>
              <a:ext cx="2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solidFill>
                    <a:schemeClr val="bg2"/>
                  </a:solidFill>
                  <a:latin typeface="Calibri" panose="020F0502020204030204" pitchFamily="34" charset="0"/>
                </a:rPr>
                <a:t>m</a:t>
              </a:r>
            </a:p>
          </p:txBody>
        </p:sp>
        <p:sp>
          <p:nvSpPr>
            <p:cNvPr id="21536" name="Text Box 61"/>
            <p:cNvSpPr txBox="1">
              <a:spLocks noChangeArrowheads="1"/>
            </p:cNvSpPr>
            <p:nvPr/>
          </p:nvSpPr>
          <p:spPr bwMode="auto">
            <a:xfrm>
              <a:off x="3277" y="3984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</a:t>
              </a:r>
            </a:p>
          </p:txBody>
        </p:sp>
        <p:sp>
          <p:nvSpPr>
            <p:cNvPr id="21537" name="Rectangle 62"/>
            <p:cNvSpPr>
              <a:spLocks noChangeArrowheads="1"/>
            </p:cNvSpPr>
            <p:nvPr/>
          </p:nvSpPr>
          <p:spPr bwMode="auto">
            <a:xfrm>
              <a:off x="3296" y="3440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38" name="Text Box 63"/>
            <p:cNvSpPr txBox="1">
              <a:spLocks noChangeArrowheads="1"/>
            </p:cNvSpPr>
            <p:nvPr/>
          </p:nvSpPr>
          <p:spPr bwMode="auto">
            <a:xfrm>
              <a:off x="3344" y="3392"/>
              <a:ext cx="18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b</a:t>
              </a:r>
            </a:p>
          </p:txBody>
        </p:sp>
      </p:grpSp>
      <p:grpSp>
        <p:nvGrpSpPr>
          <p:cNvPr id="8" name="Group 64"/>
          <p:cNvGrpSpPr>
            <a:grpSpLocks/>
          </p:cNvGrpSpPr>
          <p:nvPr/>
        </p:nvGrpSpPr>
        <p:grpSpPr bwMode="auto">
          <a:xfrm>
            <a:off x="5791200" y="5273253"/>
            <a:ext cx="457200" cy="1098550"/>
            <a:chOff x="3648" y="3536"/>
            <a:chExt cx="288" cy="692"/>
          </a:xfrm>
        </p:grpSpPr>
        <p:sp>
          <p:nvSpPr>
            <p:cNvPr id="21527" name="Text Box 66"/>
            <p:cNvSpPr txBox="1">
              <a:spLocks noChangeArrowheads="1"/>
            </p:cNvSpPr>
            <p:nvPr/>
          </p:nvSpPr>
          <p:spPr bwMode="auto">
            <a:xfrm>
              <a:off x="3648" y="3978"/>
              <a:ext cx="259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2000">
                  <a:solidFill>
                    <a:srgbClr val="FF0000"/>
                  </a:solidFill>
                  <a:latin typeface="Calibri" panose="020F0502020204030204" pitchFamily="34" charset="0"/>
                  <a:sym typeface="Wingdings" panose="05000000000000000000" pitchFamily="2" charset="2"/>
                </a:rPr>
                <a:t></a:t>
              </a:r>
            </a:p>
          </p:txBody>
        </p:sp>
        <p:sp>
          <p:nvSpPr>
            <p:cNvPr id="21528" name="Rectangle 67"/>
            <p:cNvSpPr>
              <a:spLocks noChangeArrowheads="1"/>
            </p:cNvSpPr>
            <p:nvPr/>
          </p:nvSpPr>
          <p:spPr bwMode="auto">
            <a:xfrm>
              <a:off x="3648" y="3844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29" name="Text Box 68"/>
            <p:cNvSpPr txBox="1">
              <a:spLocks noChangeArrowheads="1"/>
            </p:cNvSpPr>
            <p:nvPr/>
          </p:nvSpPr>
          <p:spPr bwMode="auto">
            <a:xfrm>
              <a:off x="3696" y="3796"/>
              <a:ext cx="177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g</a:t>
              </a:r>
            </a:p>
          </p:txBody>
        </p:sp>
        <p:sp>
          <p:nvSpPr>
            <p:cNvPr id="21530" name="Rectangle 69"/>
            <p:cNvSpPr>
              <a:spLocks noChangeArrowheads="1"/>
            </p:cNvSpPr>
            <p:nvPr/>
          </p:nvSpPr>
          <p:spPr bwMode="auto">
            <a:xfrm>
              <a:off x="3648" y="3584"/>
              <a:ext cx="288" cy="144"/>
            </a:xfrm>
            <a:prstGeom prst="rect">
              <a:avLst/>
            </a:prstGeom>
            <a:noFill/>
            <a:ln w="635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endParaRPr lang="de-AT" altLang="de-DE">
                <a:latin typeface="Calibri" panose="020F0502020204030204" pitchFamily="34" charset="0"/>
              </a:endParaRPr>
            </a:p>
          </p:txBody>
        </p:sp>
        <p:sp>
          <p:nvSpPr>
            <p:cNvPr id="21531" name="Text Box 70"/>
            <p:cNvSpPr txBox="1">
              <a:spLocks noChangeArrowheads="1"/>
            </p:cNvSpPr>
            <p:nvPr/>
          </p:nvSpPr>
          <p:spPr bwMode="auto">
            <a:xfrm>
              <a:off x="3696" y="3536"/>
              <a:ext cx="219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63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itchFamily="34" charset="-128"/>
                </a:defRPr>
              </a:lvl9pPr>
            </a:lstStyle>
            <a:p>
              <a:r>
                <a:rPr lang="de-AT" altLang="de-DE" sz="1600">
                  <a:latin typeface="Calibri" panose="020F0502020204030204" pitchFamily="34" charset="0"/>
                </a:rPr>
                <a:t>m</a:t>
              </a:r>
            </a:p>
          </p:txBody>
        </p:sp>
      </p:grpSp>
      <p:sp>
        <p:nvSpPr>
          <p:cNvPr id="21521" name="Text Box 65"/>
          <p:cNvSpPr txBox="1">
            <a:spLocks noChangeArrowheads="1"/>
          </p:cNvSpPr>
          <p:nvPr/>
        </p:nvSpPr>
        <p:spPr bwMode="auto">
          <a:xfrm>
            <a:off x="3316288" y="3844503"/>
            <a:ext cx="411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</a:t>
            </a:r>
          </a:p>
        </p:txBody>
      </p:sp>
      <p:sp>
        <p:nvSpPr>
          <p:cNvPr id="21522" name="Text Box 11"/>
          <p:cNvSpPr txBox="1">
            <a:spLocks noChangeArrowheads="1"/>
          </p:cNvSpPr>
          <p:nvPr/>
        </p:nvSpPr>
        <p:spPr bwMode="auto">
          <a:xfrm>
            <a:off x="2397125" y="3844503"/>
            <a:ext cx="4111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</a:t>
            </a:r>
          </a:p>
        </p:txBody>
      </p:sp>
      <p:sp>
        <p:nvSpPr>
          <p:cNvPr id="21523" name="Text Box 17"/>
          <p:cNvSpPr txBox="1">
            <a:spLocks noChangeArrowheads="1"/>
          </p:cNvSpPr>
          <p:nvPr/>
        </p:nvSpPr>
        <p:spPr bwMode="auto">
          <a:xfrm>
            <a:off x="2417763" y="2836441"/>
            <a:ext cx="411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</a:t>
            </a:r>
          </a:p>
        </p:txBody>
      </p:sp>
      <p:sp>
        <p:nvSpPr>
          <p:cNvPr id="21524" name="Text Box 37"/>
          <p:cNvSpPr txBox="1">
            <a:spLocks noChangeArrowheads="1"/>
          </p:cNvSpPr>
          <p:nvPr/>
        </p:nvSpPr>
        <p:spPr bwMode="auto">
          <a:xfrm>
            <a:off x="3135313" y="2828503"/>
            <a:ext cx="411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</a:t>
            </a:r>
          </a:p>
        </p:txBody>
      </p:sp>
      <p:sp>
        <p:nvSpPr>
          <p:cNvPr id="21525" name="Text Box 56"/>
          <p:cNvSpPr txBox="1">
            <a:spLocks noChangeArrowheads="1"/>
          </p:cNvSpPr>
          <p:nvPr/>
        </p:nvSpPr>
        <p:spPr bwMode="auto">
          <a:xfrm>
            <a:off x="3836988" y="2836441"/>
            <a:ext cx="411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</a:t>
            </a:r>
          </a:p>
        </p:txBody>
      </p:sp>
      <p:sp>
        <p:nvSpPr>
          <p:cNvPr id="21526" name="Text Box 26"/>
          <p:cNvSpPr txBox="1">
            <a:spLocks noChangeArrowheads="1"/>
          </p:cNvSpPr>
          <p:nvPr/>
        </p:nvSpPr>
        <p:spPr bwMode="auto">
          <a:xfrm>
            <a:off x="2417763" y="1869653"/>
            <a:ext cx="411162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solidFill>
                  <a:srgbClr val="FF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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Lokalitätsprinzip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4294967295"/>
          </p:nvPr>
        </p:nvSpPr>
        <p:spPr bwMode="auto">
          <a:xfrm>
            <a:off x="539750" y="1196975"/>
            <a:ext cx="7772400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buFont typeface="Times" panose="02020603050405020304" pitchFamily="18" charset="0"/>
              <a:buNone/>
            </a:pPr>
            <a:r>
              <a:rPr lang="de-AT" altLang="de-DE" sz="2000" b="1">
                <a:solidFill>
                  <a:schemeClr val="accent2"/>
                </a:solidFill>
              </a:rPr>
              <a:t>Variablen möglichst lokal deklarieren, nicht als statische Variablen!</a:t>
            </a:r>
          </a:p>
          <a:p>
            <a:pPr>
              <a:buFont typeface="Times" panose="02020603050405020304" pitchFamily="18" charset="0"/>
              <a:buNone/>
            </a:pPr>
            <a:endParaRPr lang="de-AT" altLang="de-DE" sz="2000"/>
          </a:p>
          <a:p>
            <a:pPr>
              <a:buFont typeface="Times" panose="02020603050405020304" pitchFamily="18" charset="0"/>
              <a:buNone/>
            </a:pPr>
            <a:r>
              <a:rPr lang="de-AT" altLang="de-DE" sz="2000" b="1"/>
              <a:t>Vorteile</a:t>
            </a:r>
          </a:p>
          <a:p>
            <a:pPr>
              <a:spcBef>
                <a:spcPct val="60000"/>
              </a:spcBef>
            </a:pPr>
            <a:r>
              <a:rPr lang="de-AT" altLang="de-DE" sz="2000">
                <a:solidFill>
                  <a:schemeClr val="accent2"/>
                </a:solidFill>
              </a:rPr>
              <a:t>Übersichtlichkeit</a:t>
            </a:r>
            <a:br>
              <a:rPr lang="de-AT" altLang="de-DE" sz="2000"/>
            </a:br>
            <a:r>
              <a:rPr lang="de-AT" altLang="de-DE" sz="2000"/>
              <a:t>Deklaration und Benutzung nahe beisammen</a:t>
            </a:r>
          </a:p>
          <a:p>
            <a:pPr>
              <a:spcBef>
                <a:spcPct val="60000"/>
              </a:spcBef>
            </a:pPr>
            <a:r>
              <a:rPr lang="de-AT" altLang="de-DE" sz="2000">
                <a:solidFill>
                  <a:schemeClr val="accent2"/>
                </a:solidFill>
              </a:rPr>
              <a:t>Sicherheit</a:t>
            </a:r>
            <a:br>
              <a:rPr lang="de-AT" altLang="de-DE" sz="2000"/>
            </a:br>
            <a:r>
              <a:rPr lang="de-AT" altLang="de-DE" sz="2000"/>
              <a:t>Lokale Variablen können nicht durch andere Methoden zerstört werden</a:t>
            </a:r>
          </a:p>
          <a:p>
            <a:pPr>
              <a:spcBef>
                <a:spcPct val="60000"/>
              </a:spcBef>
            </a:pPr>
            <a:r>
              <a:rPr lang="de-AT" altLang="de-DE" sz="2000">
                <a:solidFill>
                  <a:schemeClr val="accent2"/>
                </a:solidFill>
              </a:rPr>
              <a:t>Effizienz</a:t>
            </a:r>
            <a:br>
              <a:rPr lang="de-AT" altLang="de-DE" sz="2000"/>
            </a:br>
            <a:r>
              <a:rPr lang="de-AT" altLang="de-DE" sz="2000"/>
              <a:t>Zugriff auf lokale Variable ist oft schneller als auf statische Variable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Überladen von Methoden</a:t>
            </a:r>
          </a:p>
        </p:txBody>
      </p:sp>
      <p:sp>
        <p:nvSpPr>
          <p:cNvPr id="23556" name="Text Box 3"/>
          <p:cNvSpPr txBox="1">
            <a:spLocks noChangeArrowheads="1"/>
          </p:cNvSpPr>
          <p:nvPr/>
        </p:nvSpPr>
        <p:spPr bwMode="auto">
          <a:xfrm>
            <a:off x="746125" y="1246188"/>
            <a:ext cx="733425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latin typeface="Calibri" panose="020F0502020204030204" pitchFamily="34" charset="0"/>
              </a:rPr>
              <a:t>Methoden mit gleichem Namen aber verschiedenen Parameterlisten</a:t>
            </a:r>
          </a:p>
          <a:p>
            <a:r>
              <a:rPr lang="de-AT" altLang="de-DE" sz="2000">
                <a:latin typeface="Calibri" panose="020F0502020204030204" pitchFamily="34" charset="0"/>
              </a:rPr>
              <a:t>können in derselben Klasse deklariert werden</a:t>
            </a:r>
          </a:p>
        </p:txBody>
      </p:sp>
      <p:sp>
        <p:nvSpPr>
          <p:cNvPr id="23557" name="Text Box 4"/>
          <p:cNvSpPr txBox="1">
            <a:spLocks noChangeArrowheads="1"/>
          </p:cNvSpPr>
          <p:nvPr/>
        </p:nvSpPr>
        <p:spPr bwMode="auto">
          <a:xfrm>
            <a:off x="1025525" y="2117725"/>
            <a:ext cx="3205163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void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 b="1">
                <a:solidFill>
                  <a:schemeClr val="tx2"/>
                </a:solidFill>
                <a:latin typeface="Calibri" panose="020F0502020204030204" pitchFamily="34" charset="0"/>
              </a:rPr>
              <a:t>Write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(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tx2"/>
                </a:solidFill>
                <a:latin typeface="Calibri" panose="020F0502020204030204" pitchFamily="34" charset="0"/>
              </a:rPr>
              <a:t>i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)</a:t>
            </a:r>
            <a:r>
              <a:rPr lang="de-AT" altLang="de-DE" sz="1600">
                <a:latin typeface="Calibri" panose="020F0502020204030204" pitchFamily="34" charset="0"/>
              </a:rPr>
              <a:t> {...}</a:t>
            </a:r>
          </a:p>
          <a:p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void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 b="1">
                <a:solidFill>
                  <a:schemeClr val="tx2"/>
                </a:solidFill>
                <a:latin typeface="Calibri" panose="020F0502020204030204" pitchFamily="34" charset="0"/>
              </a:rPr>
              <a:t>Write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(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float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tx2"/>
                </a:solidFill>
                <a:latin typeface="Calibri" panose="020F0502020204030204" pitchFamily="34" charset="0"/>
              </a:rPr>
              <a:t>f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)</a:t>
            </a:r>
            <a:r>
              <a:rPr lang="de-AT" altLang="de-DE" sz="1600">
                <a:latin typeface="Calibri" panose="020F0502020204030204" pitchFamily="34" charset="0"/>
              </a:rPr>
              <a:t> {...}</a:t>
            </a:r>
          </a:p>
          <a:p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static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void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 b="1">
                <a:solidFill>
                  <a:schemeClr val="tx2"/>
                </a:solidFill>
                <a:latin typeface="Calibri" panose="020F0502020204030204" pitchFamily="34" charset="0"/>
              </a:rPr>
              <a:t>Write</a:t>
            </a:r>
            <a:r>
              <a:rPr lang="de-AT" altLang="de-DE" sz="1600"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(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tx2"/>
                </a:solidFill>
                <a:latin typeface="Calibri" panose="020F0502020204030204" pitchFamily="34" charset="0"/>
              </a:rPr>
              <a:t>i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,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 </a:t>
            </a:r>
            <a:r>
              <a:rPr lang="de-AT" altLang="de-DE" sz="1600">
                <a:solidFill>
                  <a:schemeClr val="tx2"/>
                </a:solidFill>
                <a:latin typeface="Calibri" panose="020F0502020204030204" pitchFamily="34" charset="0"/>
              </a:rPr>
              <a:t>width</a:t>
            </a:r>
            <a:r>
              <a:rPr lang="de-AT" altLang="de-DE" sz="1600">
                <a:solidFill>
                  <a:srgbClr val="FF0000"/>
                </a:solidFill>
                <a:latin typeface="Calibri" panose="020F0502020204030204" pitchFamily="34" charset="0"/>
              </a:rPr>
              <a:t>)</a:t>
            </a:r>
            <a:r>
              <a:rPr lang="de-AT" altLang="de-DE" sz="1600">
                <a:latin typeface="Calibri" panose="020F0502020204030204" pitchFamily="34" charset="0"/>
              </a:rPr>
              <a:t> {...}</a:t>
            </a:r>
          </a:p>
        </p:txBody>
      </p:sp>
      <p:sp>
        <p:nvSpPr>
          <p:cNvPr id="23558" name="Text Box 5"/>
          <p:cNvSpPr txBox="1">
            <a:spLocks noChangeArrowheads="1"/>
          </p:cNvSpPr>
          <p:nvPr/>
        </p:nvSpPr>
        <p:spPr bwMode="auto">
          <a:xfrm>
            <a:off x="762000" y="3144838"/>
            <a:ext cx="722312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>
                <a:latin typeface="Calibri" panose="020F0502020204030204" pitchFamily="34" charset="0"/>
              </a:rPr>
              <a:t>Beim Aufruf wird diejenige Methode gewählt, die am besten zu den</a:t>
            </a:r>
          </a:p>
          <a:p>
            <a:r>
              <a:rPr lang="de-AT" altLang="de-DE" sz="2000">
                <a:latin typeface="Calibri" panose="020F0502020204030204" pitchFamily="34" charset="0"/>
              </a:rPr>
              <a:t>aktuellen Parametern passt</a:t>
            </a:r>
          </a:p>
        </p:txBody>
      </p:sp>
      <p:sp>
        <p:nvSpPr>
          <p:cNvPr id="23559" name="Text Box 6"/>
          <p:cNvSpPr txBox="1">
            <a:spLocks noChangeArrowheads="1"/>
          </p:cNvSpPr>
          <p:nvPr/>
        </p:nvSpPr>
        <p:spPr bwMode="auto">
          <a:xfrm>
            <a:off x="1028700" y="3943350"/>
            <a:ext cx="3700463" cy="132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1333500" algn="l"/>
                <a:tab pos="1714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tabLst>
                <a:tab pos="1333500" algn="l"/>
                <a:tab pos="1714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tabLst>
                <a:tab pos="1333500" algn="l"/>
                <a:tab pos="1714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tabLst>
                <a:tab pos="1333500" algn="l"/>
                <a:tab pos="1714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tabLst>
                <a:tab pos="1333500" algn="l"/>
                <a:tab pos="1714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33500" algn="l"/>
                <a:tab pos="1714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33500" algn="l"/>
                <a:tab pos="1714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33500" algn="l"/>
                <a:tab pos="1714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1333500" algn="l"/>
                <a:tab pos="1714500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1600">
                <a:latin typeface="Calibri" panose="020F0502020204030204" pitchFamily="34" charset="0"/>
              </a:rPr>
              <a:t>Write(100); 	</a:t>
            </a:r>
            <a:r>
              <a:rPr lang="de-AT" altLang="de-DE" sz="1600">
                <a:latin typeface="Calibri" panose="020F0502020204030204" pitchFamily="34" charset="0"/>
                <a:sym typeface="Symbol" panose="05050102010706020507" pitchFamily="18" charset="2"/>
              </a:rPr>
              <a:t></a:t>
            </a:r>
            <a:r>
              <a:rPr lang="de-AT" altLang="de-DE" sz="1600">
                <a:latin typeface="Calibri" panose="020F0502020204030204" pitchFamily="34" charset="0"/>
              </a:rPr>
              <a:t>	Write (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i)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Write(3.14f);	</a:t>
            </a:r>
            <a:r>
              <a:rPr lang="de-AT" altLang="de-DE" sz="1600">
                <a:latin typeface="Calibri" panose="020F0502020204030204" pitchFamily="34" charset="0"/>
                <a:sym typeface="Symbol" panose="05050102010706020507" pitchFamily="18" charset="2"/>
              </a:rPr>
              <a:t></a:t>
            </a:r>
            <a:r>
              <a:rPr lang="de-AT" altLang="de-DE" sz="1600">
                <a:latin typeface="Calibri" panose="020F0502020204030204" pitchFamily="34" charset="0"/>
              </a:rPr>
              <a:t> 	Write (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float</a:t>
            </a:r>
            <a:r>
              <a:rPr lang="de-AT" altLang="de-DE" sz="1600">
                <a:latin typeface="Calibri" panose="020F0502020204030204" pitchFamily="34" charset="0"/>
              </a:rPr>
              <a:t> f)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Write(100, 5);	</a:t>
            </a:r>
            <a:r>
              <a:rPr lang="de-AT" altLang="de-DE" sz="1600">
                <a:latin typeface="Calibri" panose="020F0502020204030204" pitchFamily="34" charset="0"/>
                <a:sym typeface="Symbol" panose="05050102010706020507" pitchFamily="18" charset="2"/>
              </a:rPr>
              <a:t></a:t>
            </a:r>
            <a:r>
              <a:rPr lang="de-AT" altLang="de-DE" sz="1600">
                <a:latin typeface="Calibri" panose="020F0502020204030204" pitchFamily="34" charset="0"/>
              </a:rPr>
              <a:t> 	Write (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i, 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width)</a:t>
            </a:r>
          </a:p>
          <a:p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short</a:t>
            </a:r>
            <a:r>
              <a:rPr lang="de-AT" altLang="de-DE" sz="1600">
                <a:latin typeface="Calibri" panose="020F0502020204030204" pitchFamily="34" charset="0"/>
              </a:rPr>
              <a:t> s = 17;</a:t>
            </a:r>
          </a:p>
          <a:p>
            <a:r>
              <a:rPr lang="de-AT" altLang="de-DE" sz="1600">
                <a:latin typeface="Calibri" panose="020F0502020204030204" pitchFamily="34" charset="0"/>
              </a:rPr>
              <a:t>Write(s);	</a:t>
            </a:r>
            <a:r>
              <a:rPr lang="de-AT" altLang="de-DE" sz="1600">
                <a:latin typeface="Calibri" panose="020F0502020204030204" pitchFamily="34" charset="0"/>
                <a:sym typeface="Symbol" panose="05050102010706020507" pitchFamily="18" charset="2"/>
              </a:rPr>
              <a:t></a:t>
            </a:r>
            <a:r>
              <a:rPr lang="de-AT" altLang="de-DE" sz="1600">
                <a:latin typeface="Calibri" panose="020F0502020204030204" pitchFamily="34" charset="0"/>
              </a:rPr>
              <a:t> 	Write (</a:t>
            </a:r>
            <a:r>
              <a:rPr lang="de-AT" altLang="de-DE" sz="1600">
                <a:solidFill>
                  <a:schemeClr val="accent2"/>
                </a:solidFill>
                <a:latin typeface="Calibri" panose="020F0502020204030204" pitchFamily="34" charset="0"/>
              </a:rPr>
              <a:t>int</a:t>
            </a:r>
            <a:r>
              <a:rPr lang="de-AT" altLang="de-DE" sz="1600">
                <a:latin typeface="Calibri" panose="020F0502020204030204" pitchFamily="34" charset="0"/>
              </a:rPr>
              <a:t> i);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Beispiele</a:t>
            </a:r>
          </a:p>
        </p:txBody>
      </p:sp>
      <p:sp>
        <p:nvSpPr>
          <p:cNvPr id="24580" name="Text Box 3"/>
          <p:cNvSpPr txBox="1">
            <a:spLocks noChangeArrowheads="1"/>
          </p:cNvSpPr>
          <p:nvPr/>
        </p:nvSpPr>
        <p:spPr bwMode="auto">
          <a:xfrm>
            <a:off x="669925" y="1204913"/>
            <a:ext cx="3141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Prüfe, ob x eine Primzahl ist</a:t>
            </a:r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731838" y="1709738"/>
            <a:ext cx="3495675" cy="4278312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bool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b="1" dirty="0" err="1">
                <a:latin typeface="Calibri" pitchFamily="34" charset="0"/>
                <a:ea typeface="ＭＳ Ｐゴシック" pitchFamily="-44" charset="-128"/>
              </a:rPr>
              <a:t>IsPrime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x)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if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(x == 2)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return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true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if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(x &lt;  2 || x % 2 == 0)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return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false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endParaRPr lang="de-AT" sz="1600" dirty="0">
              <a:latin typeface="Calibri" pitchFamily="34" charset="0"/>
              <a:ea typeface="ＭＳ Ｐゴシック" pitchFamily="-44" charset="-128"/>
            </a:endParaRP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i = 3;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  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bool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isprime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true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endParaRPr lang="de-AT" sz="1600" dirty="0">
              <a:latin typeface="Calibri" pitchFamily="34" charset="0"/>
              <a:ea typeface="ＭＳ Ｐゴシック" pitchFamily="-44" charset="-128"/>
            </a:endParaRP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while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(i * i &lt;= x &amp;&amp;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isprime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==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true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)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if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(x % i == 0) 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solidFill>
                  <a:schemeClr val="tx2"/>
                </a:solidFill>
                <a:latin typeface="Calibri" pitchFamily="34" charset="0"/>
                <a:ea typeface="ＭＳ Ｐゴシック" pitchFamily="-44" charset="-128"/>
              </a:rPr>
              <a:t>           </a:t>
            </a:r>
            <a:r>
              <a:rPr lang="de-AT" sz="1600" dirty="0" err="1">
                <a:solidFill>
                  <a:schemeClr val="tx2"/>
                </a:solidFill>
                <a:latin typeface="Calibri" pitchFamily="34" charset="0"/>
                <a:ea typeface="ＭＳ Ｐゴシック" pitchFamily="-44" charset="-128"/>
              </a:rPr>
              <a:t>isprime</a:t>
            </a:r>
            <a:r>
              <a:rPr lang="de-AT" sz="1600" dirty="0">
                <a:solidFill>
                  <a:schemeClr val="tx2"/>
                </a:solidFill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=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false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       i = i + 2;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i &gt; 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  <a:sym typeface="Symbol" pitchFamily="18" charset="2"/>
              </a:rPr>
              <a:t>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x  und x ist durch keine Zahl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kleiner als i und größer als 1 teilbar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return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tx2"/>
                </a:solidFill>
                <a:latin typeface="Calibri" pitchFamily="34" charset="0"/>
                <a:ea typeface="ＭＳ Ｐゴシック" pitchFamily="-44" charset="-128"/>
              </a:rPr>
              <a:t>isprime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de-AT"/>
              <a:t>Beispiele</a:t>
            </a:r>
          </a:p>
        </p:txBody>
      </p:sp>
      <p:sp>
        <p:nvSpPr>
          <p:cNvPr id="25604" name="Text Box 3"/>
          <p:cNvSpPr txBox="1">
            <a:spLocks noChangeArrowheads="1"/>
          </p:cNvSpPr>
          <p:nvPr/>
        </p:nvSpPr>
        <p:spPr bwMode="auto">
          <a:xfrm>
            <a:off x="669925" y="980728"/>
            <a:ext cx="18081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Berechne val</a:t>
            </a:r>
            <a:r>
              <a:rPr lang="de-AT" altLang="de-DE" sz="2000" b="1" baseline="30000">
                <a:latin typeface="Calibri" panose="020F0502020204030204" pitchFamily="34" charset="0"/>
              </a:rPr>
              <a:t>exp</a:t>
            </a:r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974725" y="1485553"/>
            <a:ext cx="4460875" cy="132715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long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b="1" dirty="0">
                <a:latin typeface="Calibri" pitchFamily="34" charset="0"/>
                <a:ea typeface="ＭＳ Ｐゴシック" pitchFamily="-44" charset="-128"/>
              </a:rPr>
              <a:t>Power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val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,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exp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)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long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res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 1;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for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i = 1; i &lt;=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exp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 i++)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res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res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*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val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return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res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</a:t>
            </a:r>
          </a:p>
          <a:p>
            <a:pPr>
              <a:tabLst>
                <a:tab pos="190500" algn="l"/>
                <a:tab pos="381000" algn="l"/>
                <a:tab pos="571500" algn="l"/>
              </a:tabLst>
              <a:defRPr/>
            </a:pP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</p:txBody>
      </p:sp>
      <p:sp>
        <p:nvSpPr>
          <p:cNvPr id="25606" name="Text Box 5"/>
          <p:cNvSpPr txBox="1">
            <a:spLocks noChangeArrowheads="1"/>
          </p:cNvSpPr>
          <p:nvPr/>
        </p:nvSpPr>
        <p:spPr bwMode="auto">
          <a:xfrm>
            <a:off x="685800" y="2900015"/>
            <a:ext cx="22875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itchFamily="34" charset="-128"/>
              </a:defRPr>
            </a:lvl9pPr>
          </a:lstStyle>
          <a:p>
            <a:r>
              <a:rPr lang="de-AT" altLang="de-DE" sz="2000" b="1">
                <a:latin typeface="Calibri" panose="020F0502020204030204" pitchFamily="34" charset="0"/>
              </a:rPr>
              <a:t>Dasselbe effizienter</a:t>
            </a:r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990600" y="3404840"/>
            <a:ext cx="4392613" cy="2800350"/>
          </a:xfrm>
          <a:prstGeom prst="rect">
            <a:avLst/>
          </a:prstGeom>
          <a:solidFill>
            <a:schemeClr val="accent3">
              <a:lumMod val="95000"/>
            </a:schemeClr>
          </a:solidFill>
          <a:ln w="12700">
            <a:solidFill>
              <a:schemeClr val="accent2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tabLst>
                <a:tab pos="190500" algn="l"/>
                <a:tab pos="381000" algn="l"/>
                <a:tab pos="571500" algn="l"/>
                <a:tab pos="3048000" algn="l"/>
              </a:tabLst>
              <a:defRPr/>
            </a:pP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static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long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b="1" dirty="0">
                <a:latin typeface="Calibri" pitchFamily="34" charset="0"/>
                <a:ea typeface="ＭＳ Ｐゴシック" pitchFamily="-44" charset="-128"/>
              </a:rPr>
              <a:t>Power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val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,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int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exp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)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90500" algn="l"/>
                <a:tab pos="381000" algn="l"/>
                <a:tab pos="571500" algn="l"/>
                <a:tab pos="30480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long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res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 1;</a:t>
            </a:r>
          </a:p>
          <a:p>
            <a:pPr>
              <a:tabLst>
                <a:tab pos="190500" algn="l"/>
                <a:tab pos="381000" algn="l"/>
                <a:tab pos="571500" algn="l"/>
                <a:tab pos="30480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while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exp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&gt; 0)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90500" algn="l"/>
                <a:tab pos="381000" algn="l"/>
                <a:tab pos="571500" algn="l"/>
                <a:tab pos="30480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if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(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exp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% 2 == 0)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90500" algn="l"/>
                <a:tab pos="381000" algn="l"/>
                <a:tab pos="571500" algn="l"/>
                <a:tab pos="30480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	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val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val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*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val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exp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exp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/ 2;	 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x</a:t>
            </a:r>
            <a:r>
              <a:rPr lang="de-AT" sz="1600" baseline="300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2n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 = (x*x)</a:t>
            </a:r>
            <a:r>
              <a:rPr lang="de-AT" sz="1600" baseline="300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n</a:t>
            </a:r>
            <a:endParaRPr lang="de-AT" sz="1600" dirty="0">
              <a:solidFill>
                <a:srgbClr val="00B050"/>
              </a:solidFill>
              <a:latin typeface="Calibri" pitchFamily="34" charset="0"/>
              <a:ea typeface="ＭＳ Ｐゴシック" pitchFamily="-44" charset="-128"/>
            </a:endParaRPr>
          </a:p>
          <a:p>
            <a:pPr>
              <a:tabLst>
                <a:tab pos="190500" algn="l"/>
                <a:tab pos="381000" algn="l"/>
                <a:tab pos="571500" algn="l"/>
                <a:tab pos="30480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else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{</a:t>
            </a:r>
          </a:p>
          <a:p>
            <a:pPr>
              <a:tabLst>
                <a:tab pos="190500" algn="l"/>
                <a:tab pos="381000" algn="l"/>
                <a:tab pos="571500" algn="l"/>
                <a:tab pos="30480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	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res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=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res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*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val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exp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--;	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// x</a:t>
            </a:r>
            <a:r>
              <a:rPr lang="de-AT" sz="1600" baseline="300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n+1</a:t>
            </a:r>
            <a:r>
              <a:rPr lang="de-AT" sz="1600" dirty="0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 = x*</a:t>
            </a:r>
            <a:r>
              <a:rPr lang="de-AT" sz="1600" dirty="0" err="1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x</a:t>
            </a:r>
            <a:r>
              <a:rPr lang="de-AT" sz="1600" baseline="30000" dirty="0" err="1">
                <a:solidFill>
                  <a:srgbClr val="00B050"/>
                </a:solidFill>
                <a:latin typeface="Calibri" pitchFamily="34" charset="0"/>
                <a:ea typeface="ＭＳ Ｐゴシック" pitchFamily="-44" charset="-128"/>
              </a:rPr>
              <a:t>n</a:t>
            </a:r>
            <a:endParaRPr lang="de-AT" sz="1600" baseline="30000" dirty="0">
              <a:solidFill>
                <a:srgbClr val="00B050"/>
              </a:solidFill>
              <a:latin typeface="Calibri" pitchFamily="34" charset="0"/>
              <a:ea typeface="ＭＳ Ｐゴシック" pitchFamily="-44" charset="-128"/>
            </a:endParaRPr>
          </a:p>
          <a:p>
            <a:pPr>
              <a:tabLst>
                <a:tab pos="190500" algn="l"/>
                <a:tab pos="381000" algn="l"/>
                <a:tab pos="571500" algn="l"/>
                <a:tab pos="30480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	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  <a:p>
            <a:pPr>
              <a:tabLst>
                <a:tab pos="190500" algn="l"/>
                <a:tab pos="381000" algn="l"/>
                <a:tab pos="571500" algn="l"/>
                <a:tab pos="30480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  <a:p>
            <a:pPr>
              <a:tabLst>
                <a:tab pos="190500" algn="l"/>
                <a:tab pos="381000" algn="l"/>
                <a:tab pos="571500" algn="l"/>
                <a:tab pos="3048000" algn="l"/>
              </a:tabLst>
              <a:defRPr/>
            </a:pP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	</a:t>
            </a:r>
            <a:r>
              <a:rPr lang="de-AT" sz="1600" dirty="0" err="1">
                <a:solidFill>
                  <a:schemeClr val="accent2"/>
                </a:solidFill>
                <a:latin typeface="Calibri" pitchFamily="34" charset="0"/>
                <a:ea typeface="ＭＳ Ｐゴシック" pitchFamily="-44" charset="-128"/>
              </a:rPr>
              <a:t>return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 </a:t>
            </a:r>
            <a:r>
              <a:rPr lang="de-AT" sz="1600" dirty="0" err="1">
                <a:latin typeface="Calibri" pitchFamily="34" charset="0"/>
                <a:ea typeface="ＭＳ Ｐゴシック" pitchFamily="-44" charset="-128"/>
              </a:rPr>
              <a:t>res</a:t>
            </a:r>
            <a:r>
              <a:rPr lang="de-AT" sz="1600" dirty="0">
                <a:latin typeface="Calibri" pitchFamily="34" charset="0"/>
                <a:ea typeface="ＭＳ Ｐゴシック" pitchFamily="-44" charset="-128"/>
              </a:rPr>
              <a:t>;</a:t>
            </a:r>
          </a:p>
          <a:p>
            <a:pPr>
              <a:tabLst>
                <a:tab pos="190500" algn="l"/>
                <a:tab pos="381000" algn="l"/>
                <a:tab pos="571500" algn="l"/>
                <a:tab pos="3048000" algn="l"/>
              </a:tabLst>
              <a:defRPr/>
            </a:pPr>
            <a:r>
              <a:rPr lang="de-AT" sz="1600" dirty="0">
                <a:solidFill>
                  <a:srgbClr val="FF0000"/>
                </a:solidFill>
                <a:latin typeface="Calibri" pitchFamily="34" charset="0"/>
                <a:ea typeface="ＭＳ Ｐゴシック" pitchFamily="-44" charset="-128"/>
              </a:rPr>
              <a:t>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Larissa">
  <a:themeElements>
    <a:clrScheme name="Benutzerdefiniert 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1F497D"/>
      </a:accent2>
      <a:accent3>
        <a:srgbClr val="C6D9F0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 Klassisch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tandarddesign">
  <a:themeElements>
    <a:clrScheme name="Standard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andard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635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Standard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andard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andard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1763</Words>
  <Application>Microsoft Office PowerPoint</Application>
  <PresentationFormat>Bildschirmpräsentation (4:3)</PresentationFormat>
  <Paragraphs>338</Paragraphs>
  <Slides>15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2</vt:i4>
      </vt:variant>
      <vt:variant>
        <vt:lpstr>Folientitel</vt:lpstr>
      </vt:variant>
      <vt:variant>
        <vt:i4>15</vt:i4>
      </vt:variant>
    </vt:vector>
  </HeadingPairs>
  <TitlesOfParts>
    <vt:vector size="23" baseType="lpstr">
      <vt:lpstr>Arial</vt:lpstr>
      <vt:lpstr>Calibri</vt:lpstr>
      <vt:lpstr>Symbol</vt:lpstr>
      <vt:lpstr>Times</vt:lpstr>
      <vt:lpstr>Times New Roman</vt:lpstr>
      <vt:lpstr>Wingdings</vt:lpstr>
      <vt:lpstr>2_Larissa</vt:lpstr>
      <vt:lpstr>1_Standarddesign</vt:lpstr>
      <vt:lpstr>Parameterlose Methoden</vt:lpstr>
      <vt:lpstr>Wie funktioniert ein Methodenaufruf?</vt:lpstr>
      <vt:lpstr>Parameter (Wertparameter -&gt; call by value)</vt:lpstr>
      <vt:lpstr>Funktionen</vt:lpstr>
      <vt:lpstr>Weiteres Beispiel</vt:lpstr>
      <vt:lpstr>Return in Prozeduren</vt:lpstr>
      <vt:lpstr>Lokale und statische Variablen</vt:lpstr>
      <vt:lpstr>Beispiel: Summe einer Zahlenfolge</vt:lpstr>
      <vt:lpstr>Sichtbarkeitsbereich von Namen</vt:lpstr>
      <vt:lpstr>Beispiel zu Sichtbarkeitsregeln</vt:lpstr>
      <vt:lpstr>Lebensdauer von Variablen</vt:lpstr>
      <vt:lpstr>Lokalitätsprinzip</vt:lpstr>
      <vt:lpstr>Überladen von Methoden</vt:lpstr>
      <vt:lpstr>Beispiele</vt:lpstr>
      <vt:lpstr>Beispiele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Einführung in die Programmierung</dc:title>
  <dc:subject>Methoden</dc:subject>
  <dc:creator>GeGe</dc:creator>
  <cp:lastModifiedBy>Aitenbichler Herbert</cp:lastModifiedBy>
  <cp:revision>145</cp:revision>
  <dcterms:created xsi:type="dcterms:W3CDTF">2006-01-13T20:54:04Z</dcterms:created>
  <dcterms:modified xsi:type="dcterms:W3CDTF">2022-01-12T10:35:13Z</dcterms:modified>
</cp:coreProperties>
</file>