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9"/>
  </p:notesMasterIdLst>
  <p:handoutMasterIdLst>
    <p:handoutMasterId r:id="rId10"/>
  </p:handoutMasterIdLst>
  <p:sldIdLst>
    <p:sldId id="299" r:id="rId3"/>
    <p:sldId id="300" r:id="rId4"/>
    <p:sldId id="301" r:id="rId5"/>
    <p:sldId id="302" r:id="rId6"/>
    <p:sldId id="303" r:id="rId7"/>
    <p:sldId id="304" r:id="rId8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29" autoAdjust="0"/>
  </p:normalViewPr>
  <p:slideViewPr>
    <p:cSldViewPr>
      <p:cViewPr varScale="1">
        <p:scale>
          <a:sx n="68" d="100"/>
          <a:sy n="68" d="100"/>
        </p:scale>
        <p:origin x="129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E98FE1-0A48-4102-B897-052B018683B5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1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Methodenparameter 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066800" y="1676400"/>
            <a:ext cx="3962400" cy="28956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24000" y="3733800"/>
            <a:ext cx="1905000" cy="304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295400" y="2000250"/>
            <a:ext cx="3657600" cy="107156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3">
                <a:lumMod val="9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de-AT" smtClean="0"/>
              <a:t>Parameter</a:t>
            </a:r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669925" y="1143000"/>
            <a:ext cx="695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Werte, die vom Rufer an die Methode übergeben werden</a:t>
            </a:r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1071563" y="1738313"/>
            <a:ext cx="3929062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class</a:t>
            </a:r>
            <a:r>
              <a:rPr lang="de-AT" altLang="de-DE" sz="1600">
                <a:latin typeface="Calibri" panose="020F0502020204030204" pitchFamily="34" charset="0"/>
              </a:rPr>
              <a:t> Sample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PrintMax (</a:t>
            </a:r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 b="1">
                <a:solidFill>
                  <a:srgbClr val="FF0000"/>
                </a:solidFill>
                <a:latin typeface="Calibri" panose="020F0502020204030204" pitchFamily="34" charset="0"/>
              </a:rPr>
              <a:t> x, </a:t>
            </a:r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 b="1">
                <a:solidFill>
                  <a:srgbClr val="FF0000"/>
                </a:solidFill>
                <a:latin typeface="Calibri" panose="020F0502020204030204" pitchFamily="34" charset="0"/>
              </a:rPr>
              <a:t> y</a:t>
            </a:r>
            <a:r>
              <a:rPr lang="de-AT" altLang="de-DE" sz="1600">
                <a:latin typeface="Calibri" panose="020F0502020204030204" pitchFamily="34" charset="0"/>
              </a:rPr>
              <a:t>)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if</a:t>
            </a:r>
            <a:r>
              <a:rPr lang="de-AT" altLang="de-DE" sz="1600">
                <a:latin typeface="Calibri" panose="020F0502020204030204" pitchFamily="34" charset="0"/>
              </a:rPr>
              <a:t> (x &gt; y) Console.Write(x); 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      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de-AT" altLang="de-DE" sz="1600">
                <a:latin typeface="Calibri" panose="020F0502020204030204" pitchFamily="34" charset="0"/>
              </a:rPr>
              <a:t> Console.Write(y);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  <a:p>
            <a:endParaRPr lang="de-AT" altLang="de-DE" sz="1600">
              <a:latin typeface="Calibri" panose="020F0502020204030204" pitchFamily="34" charset="0"/>
            </a:endParaRP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Main ()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PrintMax(</a:t>
            </a:r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100, 2 * i</a:t>
            </a:r>
            <a:r>
              <a:rPr lang="de-AT" altLang="de-DE" sz="1600">
                <a:latin typeface="Calibri" panose="020F0502020204030204" pitchFamily="34" charset="0"/>
              </a:rPr>
              <a:t>);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241925" y="1995488"/>
            <a:ext cx="3081338" cy="2271712"/>
            <a:chOff x="3302" y="1257"/>
            <a:chExt cx="1941" cy="1431"/>
          </a:xfrm>
        </p:grpSpPr>
        <p:sp>
          <p:nvSpPr>
            <p:cNvPr id="11275" name="Text Box 9"/>
            <p:cNvSpPr txBox="1">
              <a:spLocks noChangeArrowheads="1"/>
            </p:cNvSpPr>
            <p:nvPr/>
          </p:nvSpPr>
          <p:spPr bwMode="auto">
            <a:xfrm>
              <a:off x="3302" y="1257"/>
              <a:ext cx="1656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</a:rPr>
                <a:t>formale Parameter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im Methodenkopf (hier x, y)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sind Variablen der Methode</a:t>
              </a:r>
            </a:p>
          </p:txBody>
        </p:sp>
        <p:sp>
          <p:nvSpPr>
            <p:cNvPr id="11276" name="Text Box 10"/>
            <p:cNvSpPr txBox="1">
              <a:spLocks noChangeArrowheads="1"/>
            </p:cNvSpPr>
            <p:nvPr/>
          </p:nvSpPr>
          <p:spPr bwMode="auto">
            <a:xfrm>
              <a:off x="3312" y="2130"/>
              <a:ext cx="1931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chemeClr val="accent2"/>
                  </a:solidFill>
                  <a:latin typeface="Calibri" panose="020F0502020204030204" pitchFamily="34" charset="0"/>
                </a:rPr>
                <a:t>aktuelle Parameter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an der Aufrufstelle (hier 100, 2*i)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können Ausdrücke sein</a:t>
              </a:r>
            </a:p>
          </p:txBody>
        </p:sp>
      </p:grp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685800" y="4800600"/>
            <a:ext cx="708342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Aktuelle Parameter werden den entsprechenden formalen Parametern zugewiesen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latin typeface="Calibri" panose="020F0502020204030204" pitchFamily="34" charset="0"/>
              </a:rPr>
              <a:t>=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100; 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latin typeface="Calibri" panose="020F0502020204030204" pitchFamily="34" charset="0"/>
              </a:rPr>
              <a:t>=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2 * i;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aktuelle Parameter müssen mit formalen zuweisungskompatibel sein</a:t>
            </a:r>
          </a:p>
          <a:p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formale Parameter enthalten Kopien der aktuellen Parameter</a:t>
            </a:r>
          </a:p>
        </p:txBody>
      </p:sp>
    </p:spTree>
    <p:extLst>
      <p:ext uri="{BB962C8B-B14F-4D97-AF65-F5344CB8AC3E}">
        <p14:creationId xmlns:p14="http://schemas.microsoft.com/office/powerpoint/2010/main" val="89796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Arten von Parametern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88640" y="980728"/>
            <a:ext cx="4343400" cy="14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</a:pPr>
            <a:r>
              <a:rPr lang="en-US" altLang="de-DE" sz="1800" b="1" dirty="0" smtClean="0"/>
              <a:t>Value-Parameter</a:t>
            </a:r>
            <a:r>
              <a:rPr lang="en-US" altLang="de-DE" sz="1800" dirty="0" smtClean="0"/>
              <a:t> (</a:t>
            </a:r>
            <a:r>
              <a:rPr lang="en-US" altLang="de-DE" sz="1800" dirty="0" err="1" smtClean="0"/>
              <a:t>Eingangsparameter</a:t>
            </a:r>
            <a:r>
              <a:rPr lang="en-US" altLang="de-DE" sz="1800" dirty="0" smtClean="0"/>
              <a:t>)</a:t>
            </a:r>
          </a:p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</a:pPr>
            <a:r>
              <a:rPr lang="en-US" altLang="de-DE" sz="1400" dirty="0" smtClean="0"/>
              <a:t>	</a:t>
            </a:r>
            <a:r>
              <a:rPr lang="en-US" altLang="de-DE" sz="1400" dirty="0" smtClean="0">
                <a:solidFill>
                  <a:schemeClr val="accent2"/>
                </a:solidFill>
              </a:rPr>
              <a:t>void</a:t>
            </a:r>
            <a:r>
              <a:rPr lang="en-US" altLang="de-DE" sz="1400" dirty="0" smtClean="0"/>
              <a:t> </a:t>
            </a:r>
            <a:r>
              <a:rPr lang="en-US" altLang="de-DE" sz="1400" dirty="0" err="1" smtClean="0"/>
              <a:t>Inc</a:t>
            </a:r>
            <a:r>
              <a:rPr lang="en-US" altLang="de-DE" sz="1400" dirty="0" smtClean="0"/>
              <a:t>(</a:t>
            </a:r>
            <a:r>
              <a:rPr lang="en-US" altLang="de-DE" sz="1400" dirty="0" err="1" smtClean="0">
                <a:solidFill>
                  <a:srgbClr val="FF0000"/>
                </a:solidFill>
              </a:rPr>
              <a:t>int</a:t>
            </a:r>
            <a:r>
              <a:rPr lang="en-US" altLang="de-DE" sz="1400" dirty="0" smtClean="0">
                <a:solidFill>
                  <a:srgbClr val="FF0000"/>
                </a:solidFill>
              </a:rPr>
              <a:t> x</a:t>
            </a:r>
            <a:r>
              <a:rPr lang="en-US" altLang="de-DE" sz="1400" dirty="0" smtClean="0"/>
              <a:t>) {x = x + 1;}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</a:pPr>
            <a:r>
              <a:rPr lang="en-US" altLang="de-DE" sz="1400" dirty="0" smtClean="0"/>
              <a:t>	</a:t>
            </a:r>
            <a:r>
              <a:rPr lang="en-US" altLang="de-DE" sz="1400" dirty="0" smtClean="0">
                <a:solidFill>
                  <a:schemeClr val="accent2"/>
                </a:solidFill>
              </a:rPr>
              <a:t>void</a:t>
            </a:r>
            <a:r>
              <a:rPr lang="en-US" altLang="de-DE" sz="1400" dirty="0" smtClean="0"/>
              <a:t> F() {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</a:pPr>
            <a:r>
              <a:rPr lang="en-US" altLang="de-DE" sz="1400" dirty="0" smtClean="0"/>
              <a:t>		</a:t>
            </a:r>
            <a:r>
              <a:rPr lang="en-US" altLang="de-DE" sz="1400" dirty="0" err="1" smtClean="0">
                <a:solidFill>
                  <a:schemeClr val="accent2"/>
                </a:solidFill>
              </a:rPr>
              <a:t>int</a:t>
            </a:r>
            <a:r>
              <a:rPr lang="en-US" altLang="de-DE" sz="1400" dirty="0" smtClean="0">
                <a:solidFill>
                  <a:schemeClr val="accent2"/>
                </a:solidFill>
              </a:rPr>
              <a:t> </a:t>
            </a:r>
            <a:r>
              <a:rPr lang="en-US" altLang="de-DE" sz="1400" dirty="0" err="1" smtClean="0"/>
              <a:t>val</a:t>
            </a:r>
            <a:r>
              <a:rPr lang="en-US" altLang="de-DE" sz="1400" dirty="0" smtClean="0"/>
              <a:t> = 3;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</a:pPr>
            <a:r>
              <a:rPr lang="en-US" altLang="de-DE" sz="1400" dirty="0" smtClean="0"/>
              <a:t>		</a:t>
            </a:r>
            <a:r>
              <a:rPr lang="en-US" altLang="de-DE" sz="1400" dirty="0" err="1" smtClean="0"/>
              <a:t>Inc</a:t>
            </a:r>
            <a:r>
              <a:rPr lang="en-US" altLang="de-DE" sz="1400" dirty="0" smtClean="0"/>
              <a:t>(</a:t>
            </a:r>
            <a:r>
              <a:rPr lang="en-US" altLang="de-DE" sz="1400" dirty="0" err="1" smtClean="0">
                <a:solidFill>
                  <a:srgbClr val="FF0000"/>
                </a:solidFill>
              </a:rPr>
              <a:t>val</a:t>
            </a:r>
            <a:r>
              <a:rPr lang="en-US" altLang="de-DE" sz="1400" dirty="0" smtClean="0"/>
              <a:t>); </a:t>
            </a:r>
            <a:r>
              <a:rPr lang="en-US" altLang="de-DE" sz="1400" dirty="0" smtClean="0">
                <a:solidFill>
                  <a:srgbClr val="00B050"/>
                </a:solidFill>
              </a:rPr>
              <a:t>// </a:t>
            </a:r>
            <a:r>
              <a:rPr lang="en-US" altLang="de-DE" sz="1400" dirty="0" err="1" smtClean="0">
                <a:solidFill>
                  <a:srgbClr val="00B050"/>
                </a:solidFill>
              </a:rPr>
              <a:t>val</a:t>
            </a:r>
            <a:r>
              <a:rPr lang="en-US" altLang="de-DE" sz="1400" dirty="0" smtClean="0">
                <a:solidFill>
                  <a:srgbClr val="00B050"/>
                </a:solidFill>
              </a:rPr>
              <a:t> == 3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</a:pPr>
            <a:r>
              <a:rPr lang="en-US" altLang="de-DE" sz="1400" dirty="0" smtClean="0"/>
              <a:t>	}</a:t>
            </a:r>
            <a:endParaRPr lang="en-US" altLang="de-DE" sz="1400" b="1" dirty="0" smtClean="0"/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5029200" y="1098203"/>
            <a:ext cx="3673475" cy="1069975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2"/>
            </a:solidFill>
          </a:ln>
          <a:effectLst/>
        </p:spPr>
        <p:txBody>
          <a:bodyPr>
            <a:spAutoFit/>
          </a:bodyPr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-	</a:t>
            </a:r>
            <a:r>
              <a:rPr lang="en-US" sz="1600" dirty="0" smtClean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"call by value"</a:t>
            </a:r>
          </a:p>
          <a:p>
            <a:pPr>
              <a:defRPr/>
            </a:pP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-	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Formaler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Parameter 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ist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Kopie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des</a:t>
            </a:r>
          </a:p>
          <a:p>
            <a:pPr>
              <a:defRPr/>
            </a:pP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aktuellen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Parameters</a:t>
            </a:r>
          </a:p>
          <a:p>
            <a:pPr>
              <a:defRPr/>
            </a:pP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-	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akt.Parameter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beliebiger</a:t>
            </a:r>
            <a:r>
              <a:rPr lang="en-US" sz="1600" dirty="0" smtClean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en-US" sz="1600" dirty="0" err="1" smtClean="0">
                <a:latin typeface="Calibri" pitchFamily="34" charset="0"/>
                <a:ea typeface="ＭＳ Ｐゴシック" pitchFamily="-44" charset="-128"/>
              </a:rPr>
              <a:t>Ausdruck</a:t>
            </a:r>
            <a:endParaRPr lang="en-US" dirty="0" smtClean="0">
              <a:latin typeface="Calibri" pitchFamily="34" charset="0"/>
              <a:ea typeface="ＭＳ Ｐゴシック" pitchFamily="-44" charset="-128"/>
            </a:endParaRPr>
          </a:p>
        </p:txBody>
      </p:sp>
      <p:grpSp>
        <p:nvGrpSpPr>
          <p:cNvPr id="88074" name="Group 10"/>
          <p:cNvGrpSpPr>
            <a:grpSpLocks/>
          </p:cNvGrpSpPr>
          <p:nvPr/>
        </p:nvGrpSpPr>
        <p:grpSpPr bwMode="auto">
          <a:xfrm>
            <a:off x="685800" y="4371628"/>
            <a:ext cx="8077200" cy="1911350"/>
            <a:chOff x="432" y="2952"/>
            <a:chExt cx="5088" cy="1248"/>
          </a:xfrm>
        </p:grpSpPr>
        <p:sp>
          <p:nvSpPr>
            <p:cNvPr id="88070" name="Text Box 6"/>
            <p:cNvSpPr txBox="1">
              <a:spLocks noChangeArrowheads="1"/>
            </p:cNvSpPr>
            <p:nvPr/>
          </p:nvSpPr>
          <p:spPr bwMode="auto">
            <a:xfrm>
              <a:off x="3168" y="3022"/>
              <a:ext cx="2352" cy="831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63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Wie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smtClean="0">
                  <a:solidFill>
                    <a:schemeClr val="accent6"/>
                  </a:solidFill>
                  <a:latin typeface="Calibri" pitchFamily="34" charset="0"/>
                  <a:ea typeface="ＭＳ Ｐゴシック" pitchFamily="-44" charset="-128"/>
                </a:rPr>
                <a:t>ref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-Parameter,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aber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wird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zur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Rück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gabe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von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Werten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verwendet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.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Darf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in der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Methode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nicht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verwendet</a:t>
              </a:r>
              <a:endParaRPr lang="en-US" sz="1600" dirty="0" smtClean="0">
                <a:latin typeface="Calibri" pitchFamily="34" charset="0"/>
                <a:ea typeface="ＭＳ Ｐゴシック" pitchFamily="-44" charset="-128"/>
              </a:endParaRP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werden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,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bevor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ihm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ein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Wert 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zugewiesen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wurde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.</a:t>
              </a:r>
              <a:endParaRPr lang="en-US" dirty="0" smtClean="0">
                <a:latin typeface="Calibri" pitchFamily="34" charset="0"/>
                <a:ea typeface="ＭＳ Ｐゴシック" pitchFamily="-44" charset="-128"/>
              </a:endParaRPr>
            </a:p>
          </p:txBody>
        </p:sp>
        <p:sp>
          <p:nvSpPr>
            <p:cNvPr id="12299" name="Rectangle 7"/>
            <p:cNvSpPr>
              <a:spLocks noChangeArrowheads="1"/>
            </p:cNvSpPr>
            <p:nvPr/>
          </p:nvSpPr>
          <p:spPr bwMode="auto">
            <a:xfrm>
              <a:off x="432" y="2952"/>
              <a:ext cx="2736" cy="1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2286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en-US" altLang="de-DE" sz="1800" b="1">
                  <a:latin typeface="Calibri" panose="020F0502020204030204" pitchFamily="34" charset="0"/>
                </a:rPr>
                <a:t>out-Parameter</a:t>
              </a:r>
              <a:r>
                <a:rPr lang="en-US" altLang="de-DE" sz="1800">
                  <a:latin typeface="Calibri" panose="020F0502020204030204" pitchFamily="34" charset="0"/>
                </a:rPr>
                <a:t> (Ausgangsparameter)</a:t>
              </a:r>
            </a:p>
            <a:p>
              <a:pPr>
                <a:spcBef>
                  <a:spcPct val="30000"/>
                </a:spcBef>
              </a:pPr>
              <a:r>
                <a:rPr lang="en-US" altLang="de-DE" sz="1400">
                  <a:latin typeface="Calibri" panose="020F0502020204030204" pitchFamily="34" charset="0"/>
                </a:rPr>
                <a:t>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void</a:t>
              </a:r>
              <a:r>
                <a:rPr lang="en-US" altLang="de-DE" sz="1400">
                  <a:latin typeface="Calibri" panose="020F0502020204030204" pitchFamily="34" charset="0"/>
                </a:rPr>
                <a:t> Read (</a:t>
              </a:r>
              <a:r>
                <a:rPr lang="en-US" altLang="de-DE" sz="1400">
                  <a:solidFill>
                    <a:srgbClr val="FF0000"/>
                  </a:solidFill>
                  <a:latin typeface="Calibri" panose="020F0502020204030204" pitchFamily="34" charset="0"/>
                </a:rPr>
                <a:t>out int a, out int b</a:t>
              </a:r>
              <a:r>
                <a:rPr lang="en-US" altLang="de-DE" sz="1400">
                  <a:latin typeface="Calibri" panose="020F0502020204030204" pitchFamily="34" charset="0"/>
                </a:rPr>
                <a:t>) {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	a = Console.Read(); b = Console.Read();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}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void</a:t>
              </a:r>
              <a:r>
                <a:rPr lang="en-US" altLang="de-DE" sz="1400">
                  <a:latin typeface="Calibri" panose="020F0502020204030204" pitchFamily="34" charset="0"/>
                </a:rPr>
                <a:t> F() {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int </a:t>
              </a:r>
              <a:r>
                <a:rPr lang="en-US" altLang="de-DE" sz="1400">
                  <a:latin typeface="Calibri" panose="020F0502020204030204" pitchFamily="34" charset="0"/>
                </a:rPr>
                <a:t>a, b;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	Read(</a:t>
              </a:r>
              <a:r>
                <a:rPr lang="en-US" altLang="de-DE" sz="1400">
                  <a:solidFill>
                    <a:srgbClr val="FF0000"/>
                  </a:solidFill>
                  <a:latin typeface="Calibri" panose="020F0502020204030204" pitchFamily="34" charset="0"/>
                </a:rPr>
                <a:t>out a, out b</a:t>
              </a:r>
              <a:r>
                <a:rPr lang="en-US" altLang="de-DE" sz="1400">
                  <a:latin typeface="Calibri" panose="020F0502020204030204" pitchFamily="34" charset="0"/>
                </a:rPr>
                <a:t>);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}</a:t>
              </a:r>
            </a:p>
          </p:txBody>
        </p:sp>
      </p:grpSp>
      <p:grpSp>
        <p:nvGrpSpPr>
          <p:cNvPr id="88073" name="Group 9"/>
          <p:cNvGrpSpPr>
            <a:grpSpLocks/>
          </p:cNvGrpSpPr>
          <p:nvPr/>
        </p:nvGrpSpPr>
        <p:grpSpPr bwMode="auto">
          <a:xfrm>
            <a:off x="685800" y="2644428"/>
            <a:ext cx="8116888" cy="1549400"/>
            <a:chOff x="432" y="1864"/>
            <a:chExt cx="5113" cy="976"/>
          </a:xfrm>
        </p:grpSpPr>
        <p:sp>
          <p:nvSpPr>
            <p:cNvPr id="88069" name="Text Box 5"/>
            <p:cNvSpPr txBox="1">
              <a:spLocks noChangeArrowheads="1"/>
            </p:cNvSpPr>
            <p:nvPr/>
          </p:nvSpPr>
          <p:spPr bwMode="auto">
            <a:xfrm>
              <a:off x="3168" y="1948"/>
              <a:ext cx="2377" cy="83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63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	</a:t>
              </a:r>
              <a:r>
                <a:rPr lang="en-US" sz="1600" dirty="0" smtClean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"call by reference"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Formaler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Parameter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ist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anderer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Name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für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den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aktuellen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Parameter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	(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Adresse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d.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akt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. Parameters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wird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überg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.)</a:t>
              </a:r>
            </a:p>
            <a:p>
              <a:pPr>
                <a:defRPr/>
              </a:pP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-	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Aktueller</a:t>
              </a:r>
              <a:r>
                <a:rPr lang="en-US" sz="1600" dirty="0" smtClean="0">
                  <a:latin typeface="Calibri" pitchFamily="34" charset="0"/>
                  <a:ea typeface="ＭＳ Ｐゴシック" pitchFamily="-44" charset="-128"/>
                </a:rPr>
                <a:t> Parameter muss Variable </a:t>
              </a:r>
              <a:r>
                <a:rPr lang="en-US" sz="1600" dirty="0" err="1" smtClean="0">
                  <a:latin typeface="Calibri" pitchFamily="34" charset="0"/>
                  <a:ea typeface="ＭＳ Ｐゴシック" pitchFamily="-44" charset="-128"/>
                </a:rPr>
                <a:t>sein</a:t>
              </a:r>
              <a:endParaRPr lang="en-US" dirty="0" smtClean="0">
                <a:latin typeface="Calibri" pitchFamily="34" charset="0"/>
                <a:ea typeface="ＭＳ Ｐゴシック" pitchFamily="-44" charset="-128"/>
              </a:endParaRPr>
            </a:p>
          </p:txBody>
        </p:sp>
        <p:sp>
          <p:nvSpPr>
            <p:cNvPr id="12297" name="Rectangle 8"/>
            <p:cNvSpPr>
              <a:spLocks noChangeArrowheads="1"/>
            </p:cNvSpPr>
            <p:nvPr/>
          </p:nvSpPr>
          <p:spPr bwMode="auto">
            <a:xfrm>
              <a:off x="432" y="1864"/>
              <a:ext cx="2736" cy="9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2286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en-US" altLang="de-DE" sz="1800" b="1">
                  <a:latin typeface="Calibri" panose="020F0502020204030204" pitchFamily="34" charset="0"/>
                </a:rPr>
                <a:t>ref-Parameter</a:t>
              </a:r>
              <a:r>
                <a:rPr lang="en-US" altLang="de-DE" sz="1800">
                  <a:latin typeface="Calibri" panose="020F0502020204030204" pitchFamily="34" charset="0"/>
                </a:rPr>
                <a:t> (Übergangsparameter)</a:t>
              </a:r>
            </a:p>
            <a:p>
              <a:pPr>
                <a:spcBef>
                  <a:spcPct val="30000"/>
                </a:spcBef>
              </a:pPr>
              <a:r>
                <a:rPr lang="en-US" altLang="de-DE" sz="1400">
                  <a:latin typeface="Calibri" panose="020F0502020204030204" pitchFamily="34" charset="0"/>
                </a:rPr>
                <a:t>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void</a:t>
              </a:r>
              <a:r>
                <a:rPr lang="en-US" altLang="de-DE" sz="1400">
                  <a:latin typeface="Calibri" panose="020F0502020204030204" pitchFamily="34" charset="0"/>
                </a:rPr>
                <a:t> Inc(</a:t>
              </a:r>
              <a:r>
                <a:rPr lang="en-US" altLang="de-DE" sz="1400">
                  <a:solidFill>
                    <a:srgbClr val="FF0000"/>
                  </a:solidFill>
                  <a:latin typeface="Calibri" panose="020F0502020204030204" pitchFamily="34" charset="0"/>
                </a:rPr>
                <a:t>ref int x</a:t>
              </a:r>
              <a:r>
                <a:rPr lang="en-US" altLang="de-DE" sz="1400">
                  <a:latin typeface="Calibri" panose="020F0502020204030204" pitchFamily="34" charset="0"/>
                </a:rPr>
                <a:t>) { x = x + 1; }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void</a:t>
              </a:r>
              <a:r>
                <a:rPr lang="en-US" altLang="de-DE" sz="1400">
                  <a:latin typeface="Calibri" panose="020F0502020204030204" pitchFamily="34" charset="0"/>
                </a:rPr>
                <a:t> F() {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	</a:t>
              </a:r>
              <a:r>
                <a:rPr lang="en-US" altLang="de-DE" sz="1400">
                  <a:solidFill>
                    <a:schemeClr val="accent2"/>
                  </a:solidFill>
                  <a:latin typeface="Calibri" panose="020F0502020204030204" pitchFamily="34" charset="0"/>
                </a:rPr>
                <a:t>int </a:t>
              </a:r>
              <a:r>
                <a:rPr lang="en-US" altLang="de-DE" sz="1400">
                  <a:latin typeface="Calibri" panose="020F0502020204030204" pitchFamily="34" charset="0"/>
                </a:rPr>
                <a:t>val = 3;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	Inc(</a:t>
              </a:r>
              <a:r>
                <a:rPr lang="en-US" altLang="de-DE" sz="1400">
                  <a:solidFill>
                    <a:srgbClr val="FF0000"/>
                  </a:solidFill>
                  <a:latin typeface="Calibri" panose="020F0502020204030204" pitchFamily="34" charset="0"/>
                </a:rPr>
                <a:t>ref val</a:t>
              </a:r>
              <a:r>
                <a:rPr lang="en-US" altLang="de-DE" sz="1400">
                  <a:latin typeface="Calibri" panose="020F0502020204030204" pitchFamily="34" charset="0"/>
                </a:rPr>
                <a:t>); </a:t>
              </a:r>
              <a:r>
                <a:rPr lang="en-US" altLang="de-DE" sz="1400">
                  <a:solidFill>
                    <a:srgbClr val="00B050"/>
                  </a:solidFill>
                  <a:latin typeface="Calibri" panose="020F0502020204030204" pitchFamily="34" charset="0"/>
                </a:rPr>
                <a:t>// val == 4</a:t>
              </a:r>
            </a:p>
            <a:p>
              <a:r>
                <a:rPr lang="en-US" altLang="de-DE" sz="1400">
                  <a:latin typeface="Calibri" panose="020F0502020204030204" pitchFamily="34" charset="0"/>
                </a:rPr>
                <a:t>	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266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Call by Value - Valuetypes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3758" y="2205038"/>
            <a:ext cx="2879725" cy="2087562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2"/>
            </a:solidFill>
          </a:ln>
        </p:spPr>
        <p:txBody>
          <a:bodyPr/>
          <a:lstStyle/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</a:t>
            </a:r>
            <a:r>
              <a:rPr lang="en-US" sz="1400" dirty="0" err="1" smtClean="0"/>
              <a:t>Inc</a:t>
            </a:r>
            <a:r>
              <a:rPr lang="en-US" sz="1400" dirty="0" smtClean="0"/>
              <a:t>(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rgbClr val="FF0000"/>
                </a:solidFill>
              </a:rPr>
              <a:t> x</a:t>
            </a:r>
            <a:r>
              <a:rPr lang="en-US" sz="1400" dirty="0" smtClean="0"/>
              <a:t>) {  x = x + 1;  }</a:t>
            </a:r>
          </a:p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endParaRPr lang="en-US" sz="1400" dirty="0" smtClean="0"/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F() {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/>
              <a:t>val</a:t>
            </a:r>
            <a:r>
              <a:rPr lang="en-US" sz="1400" dirty="0" smtClean="0"/>
              <a:t>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endParaRPr lang="en-US" sz="1400" dirty="0"/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  <a:r>
              <a:rPr lang="en-US" sz="1400" dirty="0" err="1" smtClean="0"/>
              <a:t>val</a:t>
            </a:r>
            <a:r>
              <a:rPr lang="en-US" sz="1400" dirty="0" smtClean="0"/>
              <a:t> = 3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err="1" smtClean="0"/>
              <a:t>Inc</a:t>
            </a:r>
            <a:r>
              <a:rPr lang="en-US" sz="1400" dirty="0" smtClean="0"/>
              <a:t>(</a:t>
            </a:r>
            <a:r>
              <a:rPr lang="en-US" sz="1400" dirty="0" err="1" smtClean="0">
                <a:solidFill>
                  <a:srgbClr val="FF0000"/>
                </a:solidFill>
              </a:rPr>
              <a:t>val</a:t>
            </a:r>
            <a:r>
              <a:rPr lang="en-US" sz="1400" dirty="0" smtClean="0"/>
              <a:t>); </a:t>
            </a:r>
            <a:endParaRPr lang="en-US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  <a:r>
              <a:rPr lang="en-US" sz="1400" dirty="0" err="1" smtClean="0"/>
              <a:t>val</a:t>
            </a:r>
            <a:r>
              <a:rPr lang="en-US" sz="1400" dirty="0" smtClean="0"/>
              <a:t> += 7;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}</a:t>
            </a:r>
            <a:endParaRPr lang="en-US" sz="1400" b="1" dirty="0" smtClean="0"/>
          </a:p>
        </p:txBody>
      </p:sp>
      <p:sp>
        <p:nvSpPr>
          <p:cNvPr id="13316" name="Foliennummernplatzhalt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94613" y="6400800"/>
            <a:ext cx="14493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fld id="{A3A4375B-054F-4FB1-B5D1-FB08A6599E17}" type="slidenum">
              <a:rPr lang="de-DE" altLang="de-DE" sz="1200">
                <a:latin typeface="Calibri" panose="020F0502020204030204" pitchFamily="34" charset="0"/>
              </a:rPr>
              <a:pPr/>
              <a:t>3</a:t>
            </a:fld>
            <a:endParaRPr lang="de-DE" altLang="de-DE" sz="1200">
              <a:latin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939854" y="1463993"/>
            <a:ext cx="1944216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Speicher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:	</a:t>
            </a:r>
            <a:r>
              <a:rPr lang="de-AT" sz="1400" strike="sngStrike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400" strike="sngStrike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3</a:t>
            </a:r>
            <a:r>
              <a:rPr lang="de-AT" sz="1400" strike="sngStrike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4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10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x:	</a:t>
            </a:r>
            <a:r>
              <a:rPr lang="de-AT" sz="1400" strike="sngStrike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3 </a:t>
            </a:r>
            <a:r>
              <a:rPr lang="de-AT" sz="14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4</a:t>
            </a:r>
          </a:p>
        </p:txBody>
      </p:sp>
      <p:grpSp>
        <p:nvGrpSpPr>
          <p:cNvPr id="13318" name="Gruppieren 7"/>
          <p:cNvGrpSpPr>
            <a:grpSpLocks/>
          </p:cNvGrpSpPr>
          <p:nvPr/>
        </p:nvGrpSpPr>
        <p:grpSpPr bwMode="auto">
          <a:xfrm>
            <a:off x="6588646" y="1773238"/>
            <a:ext cx="1655762" cy="3232150"/>
            <a:chOff x="6084168" y="1772816"/>
            <a:chExt cx="1656184" cy="3232803"/>
          </a:xfrm>
        </p:grpSpPr>
        <p:sp>
          <p:nvSpPr>
            <p:cNvPr id="13332" name="Rechteck 1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3232803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3" name="Rechteck 2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4" name="Rechteck 14"/>
            <p:cNvSpPr>
              <a:spLocks noChangeArrowheads="1"/>
            </p:cNvSpPr>
            <p:nvPr/>
          </p:nvSpPr>
          <p:spPr bwMode="auto">
            <a:xfrm>
              <a:off x="6084168" y="195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5" name="Rechteck 15"/>
            <p:cNvSpPr>
              <a:spLocks noChangeArrowheads="1"/>
            </p:cNvSpPr>
            <p:nvPr/>
          </p:nvSpPr>
          <p:spPr bwMode="auto">
            <a:xfrm>
              <a:off x="6084168" y="213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6" name="Rechteck 16"/>
            <p:cNvSpPr>
              <a:spLocks noChangeArrowheads="1"/>
            </p:cNvSpPr>
            <p:nvPr/>
          </p:nvSpPr>
          <p:spPr bwMode="auto">
            <a:xfrm>
              <a:off x="6084168" y="231289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7" name="Rechteck 17"/>
            <p:cNvSpPr>
              <a:spLocks noChangeArrowheads="1"/>
            </p:cNvSpPr>
            <p:nvPr/>
          </p:nvSpPr>
          <p:spPr bwMode="auto">
            <a:xfrm>
              <a:off x="6084352" y="430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8" name="Rechteck 18"/>
            <p:cNvSpPr>
              <a:spLocks noChangeArrowheads="1"/>
            </p:cNvSpPr>
            <p:nvPr/>
          </p:nvSpPr>
          <p:spPr bwMode="auto">
            <a:xfrm>
              <a:off x="6084168" y="412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39" name="Rechteck 19"/>
            <p:cNvSpPr>
              <a:spLocks noChangeArrowheads="1"/>
            </p:cNvSpPr>
            <p:nvPr/>
          </p:nvSpPr>
          <p:spPr bwMode="auto">
            <a:xfrm>
              <a:off x="6084168" y="4478892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40" name="Rechteck 20"/>
            <p:cNvSpPr>
              <a:spLocks noChangeArrowheads="1"/>
            </p:cNvSpPr>
            <p:nvPr/>
          </p:nvSpPr>
          <p:spPr bwMode="auto">
            <a:xfrm>
              <a:off x="6084168" y="4651375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3341" name="Rechteck 21"/>
            <p:cNvSpPr>
              <a:spLocks noChangeArrowheads="1"/>
            </p:cNvSpPr>
            <p:nvPr/>
          </p:nvSpPr>
          <p:spPr bwMode="auto">
            <a:xfrm>
              <a:off x="6084168" y="4825619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cxnSp>
          <p:nvCxnSpPr>
            <p:cNvPr id="13342" name="Gerade Verbindung 6"/>
            <p:cNvCxnSpPr>
              <a:cxnSpLocks noChangeShapeType="1"/>
            </p:cNvCxnSpPr>
            <p:nvPr/>
          </p:nvCxnSpPr>
          <p:spPr bwMode="auto">
            <a:xfrm>
              <a:off x="6516216" y="2602689"/>
              <a:ext cx="0" cy="144016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3319" name="Gerade Verbindung mit Pfeil 9"/>
          <p:cNvCxnSpPr>
            <a:cxnSpLocks noChangeShapeType="1"/>
          </p:cNvCxnSpPr>
          <p:nvPr/>
        </p:nvCxnSpPr>
        <p:spPr bwMode="auto">
          <a:xfrm flipV="1">
            <a:off x="2123008" y="2043113"/>
            <a:ext cx="3816350" cy="1025525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Gerade Verbindung mit Pfeil 12"/>
          <p:cNvCxnSpPr>
            <a:cxnSpLocks noChangeShapeType="1"/>
          </p:cNvCxnSpPr>
          <p:nvPr/>
        </p:nvCxnSpPr>
        <p:spPr bwMode="auto">
          <a:xfrm flipV="1">
            <a:off x="2123008" y="2043113"/>
            <a:ext cx="3816350" cy="1457325"/>
          </a:xfrm>
          <a:prstGeom prst="straightConnector1">
            <a:avLst/>
          </a:prstGeom>
          <a:noFill/>
          <a:ln w="6350" algn="ctr">
            <a:solidFill>
              <a:schemeClr val="accent2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321" name="Gruppieren 88076"/>
          <p:cNvGrpSpPr>
            <a:grpSpLocks/>
          </p:cNvGrpSpPr>
          <p:nvPr/>
        </p:nvGrpSpPr>
        <p:grpSpPr bwMode="auto">
          <a:xfrm>
            <a:off x="6444183" y="2043113"/>
            <a:ext cx="468313" cy="2347912"/>
            <a:chOff x="5940152" y="2042856"/>
            <a:chExt cx="468052" cy="2347797"/>
          </a:xfrm>
        </p:grpSpPr>
        <p:cxnSp>
          <p:nvCxnSpPr>
            <p:cNvPr id="13329" name="Gerade Verbindung 88065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0" cy="2347797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0" name="Gerade Verbindung 88070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468052" cy="0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31" name="Gerade Verbindung mit Pfeil 88074"/>
            <p:cNvCxnSpPr>
              <a:cxnSpLocks noChangeShapeType="1"/>
            </p:cNvCxnSpPr>
            <p:nvPr/>
          </p:nvCxnSpPr>
          <p:spPr bwMode="auto">
            <a:xfrm>
              <a:off x="5940152" y="4390653"/>
              <a:ext cx="468052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3322" name="Gerade Verbindung mit Pfeil 88078"/>
          <p:cNvCxnSpPr>
            <a:cxnSpLocks noChangeShapeType="1"/>
          </p:cNvCxnSpPr>
          <p:nvPr/>
        </p:nvCxnSpPr>
        <p:spPr bwMode="auto">
          <a:xfrm>
            <a:off x="2267471" y="3716338"/>
            <a:ext cx="4176712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3" name="Textfeld 88080"/>
          <p:cNvSpPr txBox="1">
            <a:spLocks noChangeArrowheads="1"/>
          </p:cNvSpPr>
          <p:nvPr/>
        </p:nvSpPr>
        <p:spPr bwMode="auto">
          <a:xfrm>
            <a:off x="3275533" y="3463925"/>
            <a:ext cx="2811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latin typeface="Calibri" panose="020F0502020204030204" pitchFamily="34" charset="0"/>
              </a:rPr>
              <a:t>val wird in den formal Parameter x kopiert</a:t>
            </a:r>
          </a:p>
        </p:txBody>
      </p:sp>
      <p:cxnSp>
        <p:nvCxnSpPr>
          <p:cNvPr id="13324" name="Gerade Verbindung mit Pfeil 88082"/>
          <p:cNvCxnSpPr>
            <a:cxnSpLocks noChangeShapeType="1"/>
          </p:cNvCxnSpPr>
          <p:nvPr/>
        </p:nvCxnSpPr>
        <p:spPr bwMode="auto">
          <a:xfrm>
            <a:off x="2267471" y="3716338"/>
            <a:ext cx="3744912" cy="674687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5" name="Gerade Verbindung mit Pfeil 88085"/>
          <p:cNvCxnSpPr>
            <a:cxnSpLocks noChangeShapeType="1"/>
          </p:cNvCxnSpPr>
          <p:nvPr/>
        </p:nvCxnSpPr>
        <p:spPr bwMode="auto">
          <a:xfrm flipV="1">
            <a:off x="2267471" y="2043113"/>
            <a:ext cx="3671887" cy="1890712"/>
          </a:xfrm>
          <a:prstGeom prst="straightConnector1">
            <a:avLst/>
          </a:prstGeom>
          <a:noFill/>
          <a:ln w="6350" algn="ctr">
            <a:solidFill>
              <a:schemeClr val="accent2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685800" y="5246688"/>
            <a:ext cx="65420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Formale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) arbeiten mit den Kopie der aktuellen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600">
                <a:latin typeface="Calibri" panose="020F0502020204030204" pitchFamily="34" charset="0"/>
              </a:rPr>
              <a:t>). 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Änderungen innerhalb der Methoden werden nach </a:t>
            </a:r>
            <a:r>
              <a:rPr lang="de-AT" altLang="de-DE" sz="1600" u="sng">
                <a:solidFill>
                  <a:srgbClr val="FF0000"/>
                </a:solidFill>
                <a:latin typeface="Calibri" panose="020F0502020204030204" pitchFamily="34" charset="0"/>
              </a:rPr>
              <a:t>außen nicht sichtbar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13327" name="Textfeld 69"/>
          <p:cNvSpPr txBox="1">
            <a:spLocks noChangeArrowheads="1"/>
          </p:cNvSpPr>
          <p:nvPr/>
        </p:nvSpPr>
        <p:spPr bwMode="auto">
          <a:xfrm>
            <a:off x="1583258" y="1325563"/>
            <a:ext cx="3492500" cy="276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200">
                <a:latin typeface="Calibri" panose="020F0502020204030204" pitchFamily="34" charset="0"/>
              </a:rPr>
              <a:t> muss vor Verwendung initialisiert werden</a:t>
            </a:r>
            <a:endParaRPr lang="de-AT" altLang="de-DE" sz="12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3328" name="Gerade Verbindung 31"/>
          <p:cNvCxnSpPr>
            <a:cxnSpLocks noChangeShapeType="1"/>
            <a:stCxn id="13327" idx="2"/>
          </p:cNvCxnSpPr>
          <p:nvPr/>
        </p:nvCxnSpPr>
        <p:spPr bwMode="auto">
          <a:xfrm flipH="1">
            <a:off x="2123008" y="1601788"/>
            <a:ext cx="1206500" cy="1898650"/>
          </a:xfrm>
          <a:prstGeom prst="line">
            <a:avLst/>
          </a:prstGeom>
          <a:noFill/>
          <a:ln w="6350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4091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Call by Reference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916" y="2205038"/>
            <a:ext cx="2879725" cy="2087562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2"/>
            </a:solidFill>
          </a:ln>
        </p:spPr>
        <p:txBody>
          <a:bodyPr/>
          <a:lstStyle/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</a:t>
            </a:r>
            <a:r>
              <a:rPr lang="en-US" sz="1400" dirty="0" err="1" smtClean="0"/>
              <a:t>Inc</a:t>
            </a:r>
            <a:r>
              <a:rPr lang="en-US" sz="1400" dirty="0" smtClean="0"/>
              <a:t>(</a:t>
            </a:r>
            <a:r>
              <a:rPr lang="en-US" sz="1400" dirty="0" smtClean="0">
                <a:solidFill>
                  <a:srgbClr val="FF0000"/>
                </a:solidFill>
              </a:rPr>
              <a:t>ref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rgbClr val="FF0000"/>
                </a:solidFill>
              </a:rPr>
              <a:t> x</a:t>
            </a:r>
            <a:r>
              <a:rPr lang="en-US" sz="1400" dirty="0" smtClean="0"/>
              <a:t>) {  x = x + 1;  }</a:t>
            </a:r>
          </a:p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endParaRPr lang="en-US" sz="1400" dirty="0" smtClean="0"/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F() {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/>
              <a:t>val</a:t>
            </a:r>
            <a:r>
              <a:rPr lang="en-US" sz="1400" dirty="0" smtClean="0"/>
              <a:t>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endParaRPr lang="en-US" sz="1400" dirty="0"/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  <a:r>
              <a:rPr lang="en-US" sz="1400" dirty="0" err="1" smtClean="0"/>
              <a:t>val</a:t>
            </a:r>
            <a:r>
              <a:rPr lang="en-US" sz="1400" dirty="0" smtClean="0"/>
              <a:t> = 3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err="1" smtClean="0"/>
              <a:t>Inc</a:t>
            </a:r>
            <a:r>
              <a:rPr lang="en-US" sz="1400" dirty="0" smtClean="0"/>
              <a:t>(</a:t>
            </a:r>
            <a:r>
              <a:rPr lang="en-US" sz="1400" dirty="0" smtClean="0">
                <a:solidFill>
                  <a:srgbClr val="FF0000"/>
                </a:solidFill>
              </a:rPr>
              <a:t>ref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val</a:t>
            </a:r>
            <a:r>
              <a:rPr lang="en-US" sz="1400" dirty="0" smtClean="0"/>
              <a:t>); </a:t>
            </a:r>
            <a:endParaRPr lang="en-US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  <a:r>
              <a:rPr lang="en-US" sz="1400" dirty="0" err="1" smtClean="0"/>
              <a:t>val</a:t>
            </a:r>
            <a:r>
              <a:rPr lang="en-US" sz="1400" dirty="0" smtClean="0"/>
              <a:t> += 7;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}</a:t>
            </a:r>
            <a:endParaRPr lang="en-US" sz="1400" b="1" dirty="0" smtClean="0"/>
          </a:p>
        </p:txBody>
      </p:sp>
      <p:sp>
        <p:nvSpPr>
          <p:cNvPr id="14340" name="Foliennummernplatzhalt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94613" y="6400800"/>
            <a:ext cx="14493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fld id="{19EF1F56-511F-4988-874F-8429541014E4}" type="slidenum">
              <a:rPr lang="de-DE" altLang="de-DE" sz="1200">
                <a:latin typeface="Calibri" panose="020F0502020204030204" pitchFamily="34" charset="0"/>
              </a:rPr>
              <a:pPr/>
              <a:t>4</a:t>
            </a:fld>
            <a:endParaRPr lang="de-DE" altLang="de-DE" sz="1200">
              <a:latin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653012" y="1463993"/>
            <a:ext cx="1944216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Speicher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   </a:t>
            </a:r>
            <a:r>
              <a:rPr lang="de-AT" sz="14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:	</a:t>
            </a:r>
            <a:r>
              <a:rPr lang="de-AT" sz="1400" strike="sngStrike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3 4 </a:t>
            </a:r>
            <a:r>
              <a:rPr lang="de-AT" sz="14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11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     x:	</a:t>
            </a:r>
            <a:r>
              <a:rPr lang="de-AT" sz="1400" dirty="0" err="1">
                <a:latin typeface="Calibri" pitchFamily="34" charset="0"/>
                <a:ea typeface="ＭＳ Ｐゴシック" pitchFamily="-44" charset="-128"/>
              </a:rPr>
              <a:t>val</a:t>
            </a:r>
            <a:endParaRPr lang="de-AT" sz="1400" dirty="0">
              <a:solidFill>
                <a:srgbClr val="FF0000"/>
              </a:solidFill>
              <a:latin typeface="Calibri" pitchFamily="34" charset="0"/>
              <a:ea typeface="ＭＳ Ｐゴシック" pitchFamily="-44" charset="-128"/>
            </a:endParaRPr>
          </a:p>
        </p:txBody>
      </p:sp>
      <p:grpSp>
        <p:nvGrpSpPr>
          <p:cNvPr id="14342" name="Gruppieren 7"/>
          <p:cNvGrpSpPr>
            <a:grpSpLocks/>
          </p:cNvGrpSpPr>
          <p:nvPr/>
        </p:nvGrpSpPr>
        <p:grpSpPr bwMode="auto">
          <a:xfrm>
            <a:off x="6301804" y="1773238"/>
            <a:ext cx="1655762" cy="3232150"/>
            <a:chOff x="6084168" y="1772816"/>
            <a:chExt cx="1656184" cy="3232803"/>
          </a:xfrm>
        </p:grpSpPr>
        <p:sp>
          <p:nvSpPr>
            <p:cNvPr id="14359" name="Rechteck 1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3232803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0" name="Rechteck 2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1" name="Rechteck 14"/>
            <p:cNvSpPr>
              <a:spLocks noChangeArrowheads="1"/>
            </p:cNvSpPr>
            <p:nvPr/>
          </p:nvSpPr>
          <p:spPr bwMode="auto">
            <a:xfrm>
              <a:off x="6084168" y="195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2" name="Rechteck 15"/>
            <p:cNvSpPr>
              <a:spLocks noChangeArrowheads="1"/>
            </p:cNvSpPr>
            <p:nvPr/>
          </p:nvSpPr>
          <p:spPr bwMode="auto">
            <a:xfrm>
              <a:off x="6084168" y="213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3" name="Rechteck 16"/>
            <p:cNvSpPr>
              <a:spLocks noChangeArrowheads="1"/>
            </p:cNvSpPr>
            <p:nvPr/>
          </p:nvSpPr>
          <p:spPr bwMode="auto">
            <a:xfrm>
              <a:off x="6084168" y="231289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4" name="Rechteck 17"/>
            <p:cNvSpPr>
              <a:spLocks noChangeArrowheads="1"/>
            </p:cNvSpPr>
            <p:nvPr/>
          </p:nvSpPr>
          <p:spPr bwMode="auto">
            <a:xfrm>
              <a:off x="6084352" y="430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5" name="Rechteck 18"/>
            <p:cNvSpPr>
              <a:spLocks noChangeArrowheads="1"/>
            </p:cNvSpPr>
            <p:nvPr/>
          </p:nvSpPr>
          <p:spPr bwMode="auto">
            <a:xfrm>
              <a:off x="6084168" y="412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6" name="Rechteck 19"/>
            <p:cNvSpPr>
              <a:spLocks noChangeArrowheads="1"/>
            </p:cNvSpPr>
            <p:nvPr/>
          </p:nvSpPr>
          <p:spPr bwMode="auto">
            <a:xfrm>
              <a:off x="6084168" y="4478892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7" name="Rechteck 20"/>
            <p:cNvSpPr>
              <a:spLocks noChangeArrowheads="1"/>
            </p:cNvSpPr>
            <p:nvPr/>
          </p:nvSpPr>
          <p:spPr bwMode="auto">
            <a:xfrm>
              <a:off x="6084168" y="4651375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4368" name="Rechteck 21"/>
            <p:cNvSpPr>
              <a:spLocks noChangeArrowheads="1"/>
            </p:cNvSpPr>
            <p:nvPr/>
          </p:nvSpPr>
          <p:spPr bwMode="auto">
            <a:xfrm>
              <a:off x="6084168" y="4825619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cxnSp>
          <p:nvCxnSpPr>
            <p:cNvPr id="14369" name="Gerade Verbindung 6"/>
            <p:cNvCxnSpPr>
              <a:cxnSpLocks noChangeShapeType="1"/>
            </p:cNvCxnSpPr>
            <p:nvPr/>
          </p:nvCxnSpPr>
          <p:spPr bwMode="auto">
            <a:xfrm>
              <a:off x="6516216" y="2602689"/>
              <a:ext cx="0" cy="144016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4343" name="Gerade Verbindung mit Pfeil 9"/>
          <p:cNvCxnSpPr>
            <a:cxnSpLocks noChangeShapeType="1"/>
          </p:cNvCxnSpPr>
          <p:nvPr/>
        </p:nvCxnSpPr>
        <p:spPr bwMode="auto">
          <a:xfrm flipV="1">
            <a:off x="1836166" y="2043113"/>
            <a:ext cx="4005263" cy="1025525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Gerade Verbindung mit Pfeil 12"/>
          <p:cNvCxnSpPr>
            <a:cxnSpLocks noChangeShapeType="1"/>
          </p:cNvCxnSpPr>
          <p:nvPr/>
        </p:nvCxnSpPr>
        <p:spPr bwMode="auto">
          <a:xfrm flipV="1">
            <a:off x="1836166" y="2043113"/>
            <a:ext cx="4005263" cy="1457325"/>
          </a:xfrm>
          <a:prstGeom prst="straightConnector1">
            <a:avLst/>
          </a:prstGeom>
          <a:noFill/>
          <a:ln w="6350" algn="ctr">
            <a:solidFill>
              <a:schemeClr val="accent2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4345" name="Gruppieren 88076"/>
          <p:cNvGrpSpPr>
            <a:grpSpLocks/>
          </p:cNvGrpSpPr>
          <p:nvPr/>
        </p:nvGrpSpPr>
        <p:grpSpPr bwMode="auto">
          <a:xfrm rot="10800000">
            <a:off x="7955979" y="2043113"/>
            <a:ext cx="433387" cy="2347912"/>
            <a:chOff x="5940152" y="2042856"/>
            <a:chExt cx="468052" cy="2347797"/>
          </a:xfrm>
        </p:grpSpPr>
        <p:cxnSp>
          <p:nvCxnSpPr>
            <p:cNvPr id="14356" name="Gerade Verbindung 88065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0" cy="2347797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7" name="Gerade Verbindung 88070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468052" cy="0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8" name="Gerade Verbindung mit Pfeil 88074"/>
            <p:cNvCxnSpPr>
              <a:cxnSpLocks noChangeShapeType="1"/>
            </p:cNvCxnSpPr>
            <p:nvPr/>
          </p:nvCxnSpPr>
          <p:spPr bwMode="auto">
            <a:xfrm>
              <a:off x="5940152" y="4390653"/>
              <a:ext cx="468052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4346" name="Gerade Verbindung mit Pfeil 88078"/>
          <p:cNvCxnSpPr>
            <a:cxnSpLocks noChangeShapeType="1"/>
          </p:cNvCxnSpPr>
          <p:nvPr/>
        </p:nvCxnSpPr>
        <p:spPr bwMode="auto">
          <a:xfrm>
            <a:off x="2196529" y="3716338"/>
            <a:ext cx="3816350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7" name="Textfeld 88080"/>
          <p:cNvSpPr txBox="1">
            <a:spLocks noChangeArrowheads="1"/>
          </p:cNvSpPr>
          <p:nvPr/>
        </p:nvSpPr>
        <p:spPr bwMode="auto">
          <a:xfrm>
            <a:off x="2556891" y="3500438"/>
            <a:ext cx="30495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000">
                <a:latin typeface="Calibri" panose="020F0502020204030204" pitchFamily="34" charset="0"/>
              </a:rPr>
              <a:t>Adresse von val wird in den formal Parameter x kopiert</a:t>
            </a:r>
          </a:p>
        </p:txBody>
      </p:sp>
      <p:cxnSp>
        <p:nvCxnSpPr>
          <p:cNvPr id="14348" name="Gerade Verbindung mit Pfeil 88082"/>
          <p:cNvCxnSpPr>
            <a:cxnSpLocks noChangeShapeType="1"/>
          </p:cNvCxnSpPr>
          <p:nvPr/>
        </p:nvCxnSpPr>
        <p:spPr bwMode="auto">
          <a:xfrm>
            <a:off x="2196529" y="3716338"/>
            <a:ext cx="3783012" cy="674687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Gerade Verbindung mit Pfeil 88085"/>
          <p:cNvCxnSpPr>
            <a:cxnSpLocks noChangeShapeType="1"/>
          </p:cNvCxnSpPr>
          <p:nvPr/>
        </p:nvCxnSpPr>
        <p:spPr bwMode="auto">
          <a:xfrm flipV="1">
            <a:off x="1980629" y="2043113"/>
            <a:ext cx="3860800" cy="1890712"/>
          </a:xfrm>
          <a:prstGeom prst="straightConnector1">
            <a:avLst/>
          </a:prstGeom>
          <a:noFill/>
          <a:ln w="6350" algn="ctr">
            <a:solidFill>
              <a:schemeClr val="accent2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685800" y="5246688"/>
            <a:ext cx="62785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Formale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) erhält die Adresse vom aktuellen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600">
                <a:latin typeface="Calibri" panose="020F0502020204030204" pitchFamily="34" charset="0"/>
              </a:rPr>
              <a:t>). 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Änderungen innerhalb der Methoden werden </a:t>
            </a:r>
            <a:r>
              <a:rPr lang="de-AT" altLang="de-DE" sz="1600" u="sng">
                <a:solidFill>
                  <a:srgbClr val="FF0000"/>
                </a:solidFill>
                <a:latin typeface="Calibri" panose="020F0502020204030204" pitchFamily="34" charset="0"/>
              </a:rPr>
              <a:t>außen sichtbar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!</a:t>
            </a:r>
          </a:p>
        </p:txBody>
      </p:sp>
      <p:cxnSp>
        <p:nvCxnSpPr>
          <p:cNvPr id="14351" name="Gerade Verbindung mit Pfeil 8"/>
          <p:cNvCxnSpPr>
            <a:cxnSpLocks noChangeShapeType="1"/>
          </p:cNvCxnSpPr>
          <p:nvPr/>
        </p:nvCxnSpPr>
        <p:spPr bwMode="auto">
          <a:xfrm>
            <a:off x="6012879" y="2133600"/>
            <a:ext cx="0" cy="2166938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2" name="Textfeld 24"/>
          <p:cNvSpPr txBox="1">
            <a:spLocks noChangeArrowheads="1"/>
          </p:cNvSpPr>
          <p:nvPr/>
        </p:nvSpPr>
        <p:spPr bwMode="auto">
          <a:xfrm>
            <a:off x="7741666" y="5106988"/>
            <a:ext cx="1366838" cy="2778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200">
                <a:latin typeface="Calibri" panose="020F0502020204030204" pitchFamily="34" charset="0"/>
              </a:rPr>
              <a:t> referenziert </a:t>
            </a:r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</a:p>
        </p:txBody>
      </p:sp>
      <p:cxnSp>
        <p:nvCxnSpPr>
          <p:cNvPr id="14353" name="Gerade Verbindung 26"/>
          <p:cNvCxnSpPr>
            <a:cxnSpLocks noChangeShapeType="1"/>
            <a:endCxn id="14352" idx="0"/>
          </p:cNvCxnSpPr>
          <p:nvPr/>
        </p:nvCxnSpPr>
        <p:spPr bwMode="auto">
          <a:xfrm>
            <a:off x="8389366" y="4391025"/>
            <a:ext cx="34925" cy="715963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4" name="Textfeld 42"/>
          <p:cNvSpPr txBox="1">
            <a:spLocks noChangeArrowheads="1"/>
          </p:cNvSpPr>
          <p:nvPr/>
        </p:nvSpPr>
        <p:spPr bwMode="auto">
          <a:xfrm>
            <a:off x="1296416" y="1325563"/>
            <a:ext cx="3492500" cy="276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200">
                <a:latin typeface="Calibri" panose="020F0502020204030204" pitchFamily="34" charset="0"/>
              </a:rPr>
              <a:t> muss vor Verwendung initialisiert werden</a:t>
            </a:r>
            <a:endParaRPr lang="de-AT" altLang="de-DE" sz="12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4355" name="Gerade Verbindung 43"/>
          <p:cNvCxnSpPr>
            <a:cxnSpLocks noChangeShapeType="1"/>
            <a:stCxn id="14354" idx="2"/>
          </p:cNvCxnSpPr>
          <p:nvPr/>
        </p:nvCxnSpPr>
        <p:spPr bwMode="auto">
          <a:xfrm flipH="1">
            <a:off x="1836166" y="1601788"/>
            <a:ext cx="1206500" cy="1898650"/>
          </a:xfrm>
          <a:prstGeom prst="line">
            <a:avLst/>
          </a:prstGeom>
          <a:noFill/>
          <a:ln w="6350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765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Call by Reference - spezial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916" y="2205038"/>
            <a:ext cx="4103688" cy="2087562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2"/>
            </a:solidFill>
          </a:ln>
        </p:spPr>
        <p:txBody>
          <a:bodyPr/>
          <a:lstStyle/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Read(</a:t>
            </a:r>
            <a:r>
              <a:rPr lang="en-US" sz="1400" dirty="0" smtClean="0">
                <a:solidFill>
                  <a:srgbClr val="FF0000"/>
                </a:solidFill>
              </a:rPr>
              <a:t>out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rgbClr val="FF0000"/>
                </a:solidFill>
              </a:rPr>
              <a:t> x</a:t>
            </a:r>
            <a:r>
              <a:rPr lang="en-US" sz="1400" dirty="0" smtClean="0"/>
              <a:t>) {  x = </a:t>
            </a:r>
            <a:r>
              <a:rPr lang="en-US" sz="1400" dirty="0" err="1" smtClean="0"/>
              <a:t>Console.ReadKey</a:t>
            </a:r>
            <a:r>
              <a:rPr lang="en-US" sz="1400" dirty="0" smtClean="0"/>
              <a:t>();  }</a:t>
            </a:r>
          </a:p>
          <a:p>
            <a:pPr marL="228600" indent="-228600">
              <a:spcBef>
                <a:spcPct val="30000"/>
              </a:spcBef>
              <a:buFontTx/>
              <a:buNone/>
              <a:tabLst>
                <a:tab pos="457200" algn="l"/>
              </a:tabLst>
              <a:defRPr/>
            </a:pPr>
            <a:endParaRPr lang="en-US" sz="1400" dirty="0" smtClean="0"/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>
                <a:solidFill>
                  <a:schemeClr val="accent2"/>
                </a:solidFill>
              </a:rPr>
              <a:t>void</a:t>
            </a:r>
            <a:r>
              <a:rPr lang="en-US" sz="1400" dirty="0" smtClean="0"/>
              <a:t> F() {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/>
              <a:t>val</a:t>
            </a:r>
            <a:r>
              <a:rPr lang="en-US" sz="1400" dirty="0" smtClean="0"/>
              <a:t>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/>
              <a:t>	</a:t>
            </a:r>
            <a:r>
              <a:rPr lang="en-US" sz="1400" dirty="0" smtClean="0"/>
              <a:t>Read(</a:t>
            </a:r>
            <a:r>
              <a:rPr lang="en-US" sz="1400" dirty="0" smtClean="0">
                <a:solidFill>
                  <a:srgbClr val="FF0000"/>
                </a:solidFill>
              </a:rPr>
              <a:t>out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val</a:t>
            </a:r>
            <a:r>
              <a:rPr lang="en-US" sz="1400" dirty="0" smtClean="0"/>
              <a:t>); </a:t>
            </a:r>
            <a:endParaRPr lang="en-US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	</a:t>
            </a:r>
            <a:r>
              <a:rPr lang="en-US" sz="1400" dirty="0" err="1" smtClean="0"/>
              <a:t>val</a:t>
            </a:r>
            <a:r>
              <a:rPr lang="en-US" sz="1400" dirty="0" smtClean="0"/>
              <a:t> += 7;</a:t>
            </a:r>
          </a:p>
          <a:p>
            <a:pPr marL="228600" indent="-228600">
              <a:spcBef>
                <a:spcPct val="0"/>
              </a:spcBef>
              <a:buFontTx/>
              <a:buNone/>
              <a:tabLst>
                <a:tab pos="457200" algn="l"/>
              </a:tabLst>
              <a:defRPr/>
            </a:pPr>
            <a:r>
              <a:rPr lang="en-US" sz="1400" dirty="0" smtClean="0"/>
              <a:t>}</a:t>
            </a:r>
            <a:endParaRPr lang="en-US" sz="1400" b="1" dirty="0" smtClean="0"/>
          </a:p>
        </p:txBody>
      </p:sp>
      <p:sp>
        <p:nvSpPr>
          <p:cNvPr id="15364" name="Foliennummernplatzhalt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694613" y="6400800"/>
            <a:ext cx="14493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fld id="{B0415728-1D18-4363-BA56-2891CB7103D1}" type="slidenum">
              <a:rPr lang="de-DE" altLang="de-DE" sz="1200">
                <a:latin typeface="Calibri" panose="020F0502020204030204" pitchFamily="34" charset="0"/>
              </a:rPr>
              <a:pPr/>
              <a:t>5</a:t>
            </a:fld>
            <a:endParaRPr lang="de-DE" altLang="de-DE" sz="1200">
              <a:latin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653012" y="1463993"/>
            <a:ext cx="1944216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Speicher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   </a:t>
            </a:r>
            <a:r>
              <a:rPr lang="de-AT" sz="14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:	</a:t>
            </a:r>
            <a:r>
              <a:rPr lang="de-AT" sz="1400" strike="sngStrike" dirty="0">
                <a:latin typeface="Calibri" pitchFamily="34" charset="0"/>
                <a:ea typeface="ＭＳ Ｐゴシック" pitchFamily="-44" charset="-128"/>
              </a:rPr>
              <a:t> 4 </a:t>
            </a:r>
            <a:r>
              <a:rPr lang="de-AT" sz="14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11</a:t>
            </a: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endParaRPr lang="de-AT" sz="1400" dirty="0">
              <a:latin typeface="Calibri" pitchFamily="34" charset="0"/>
              <a:ea typeface="ＭＳ Ｐゴシック" pitchFamily="-44" charset="-128"/>
            </a:endParaRPr>
          </a:p>
          <a:p>
            <a:pPr>
              <a:defRPr/>
            </a:pPr>
            <a:r>
              <a:rPr lang="de-AT" sz="1400" dirty="0">
                <a:latin typeface="Calibri" pitchFamily="34" charset="0"/>
                <a:ea typeface="ＭＳ Ｐゴシック" pitchFamily="-44" charset="-128"/>
              </a:rPr>
              <a:t>     x:	</a:t>
            </a:r>
            <a:r>
              <a:rPr lang="de-AT" sz="1400" dirty="0" err="1">
                <a:latin typeface="Calibri" pitchFamily="34" charset="0"/>
                <a:ea typeface="ＭＳ Ｐゴシック" pitchFamily="-44" charset="-128"/>
              </a:rPr>
              <a:t>val</a:t>
            </a:r>
            <a:endParaRPr lang="de-AT" sz="1400" dirty="0">
              <a:solidFill>
                <a:srgbClr val="FF0000"/>
              </a:solidFill>
              <a:latin typeface="Calibri" pitchFamily="34" charset="0"/>
              <a:ea typeface="ＭＳ Ｐゴシック" pitchFamily="-44" charset="-128"/>
            </a:endParaRPr>
          </a:p>
        </p:txBody>
      </p:sp>
      <p:grpSp>
        <p:nvGrpSpPr>
          <p:cNvPr id="15366" name="Gruppieren 7"/>
          <p:cNvGrpSpPr>
            <a:grpSpLocks/>
          </p:cNvGrpSpPr>
          <p:nvPr/>
        </p:nvGrpSpPr>
        <p:grpSpPr bwMode="auto">
          <a:xfrm>
            <a:off x="6301804" y="1773238"/>
            <a:ext cx="1655762" cy="3232150"/>
            <a:chOff x="6084168" y="1772816"/>
            <a:chExt cx="1656184" cy="3232803"/>
          </a:xfrm>
        </p:grpSpPr>
        <p:sp>
          <p:nvSpPr>
            <p:cNvPr id="15382" name="Rechteck 1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3232803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3" name="Rechteck 2"/>
            <p:cNvSpPr>
              <a:spLocks noChangeArrowheads="1"/>
            </p:cNvSpPr>
            <p:nvPr/>
          </p:nvSpPr>
          <p:spPr bwMode="auto">
            <a:xfrm>
              <a:off x="6084168" y="177281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4" name="Rechteck 14"/>
            <p:cNvSpPr>
              <a:spLocks noChangeArrowheads="1"/>
            </p:cNvSpPr>
            <p:nvPr/>
          </p:nvSpPr>
          <p:spPr bwMode="auto">
            <a:xfrm>
              <a:off x="6084168" y="195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5" name="Rechteck 15"/>
            <p:cNvSpPr>
              <a:spLocks noChangeArrowheads="1"/>
            </p:cNvSpPr>
            <p:nvPr/>
          </p:nvSpPr>
          <p:spPr bwMode="auto">
            <a:xfrm>
              <a:off x="6084168" y="213285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6" name="Rechteck 16"/>
            <p:cNvSpPr>
              <a:spLocks noChangeArrowheads="1"/>
            </p:cNvSpPr>
            <p:nvPr/>
          </p:nvSpPr>
          <p:spPr bwMode="auto">
            <a:xfrm>
              <a:off x="6084168" y="2312896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7" name="Rechteck 17"/>
            <p:cNvSpPr>
              <a:spLocks noChangeArrowheads="1"/>
            </p:cNvSpPr>
            <p:nvPr/>
          </p:nvSpPr>
          <p:spPr bwMode="auto">
            <a:xfrm>
              <a:off x="6084352" y="430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8" name="Rechteck 18"/>
            <p:cNvSpPr>
              <a:spLocks noChangeArrowheads="1"/>
            </p:cNvSpPr>
            <p:nvPr/>
          </p:nvSpPr>
          <p:spPr bwMode="auto">
            <a:xfrm>
              <a:off x="6084168" y="4120653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89" name="Rechteck 19"/>
            <p:cNvSpPr>
              <a:spLocks noChangeArrowheads="1"/>
            </p:cNvSpPr>
            <p:nvPr/>
          </p:nvSpPr>
          <p:spPr bwMode="auto">
            <a:xfrm>
              <a:off x="6084168" y="4478892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90" name="Rechteck 20"/>
            <p:cNvSpPr>
              <a:spLocks noChangeArrowheads="1"/>
            </p:cNvSpPr>
            <p:nvPr/>
          </p:nvSpPr>
          <p:spPr bwMode="auto">
            <a:xfrm>
              <a:off x="6084168" y="4651375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sp>
          <p:nvSpPr>
            <p:cNvPr id="15391" name="Rechteck 21"/>
            <p:cNvSpPr>
              <a:spLocks noChangeArrowheads="1"/>
            </p:cNvSpPr>
            <p:nvPr/>
          </p:nvSpPr>
          <p:spPr bwMode="auto">
            <a:xfrm>
              <a:off x="6084168" y="4825619"/>
              <a:ext cx="1656000" cy="180000"/>
            </a:xfrm>
            <a:prstGeom prst="rect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 sz="1600">
                <a:latin typeface="Calibri" panose="020F0502020204030204" pitchFamily="34" charset="0"/>
              </a:endParaRPr>
            </a:p>
          </p:txBody>
        </p:sp>
        <p:cxnSp>
          <p:nvCxnSpPr>
            <p:cNvPr id="15392" name="Gerade Verbindung 6"/>
            <p:cNvCxnSpPr>
              <a:cxnSpLocks noChangeShapeType="1"/>
            </p:cNvCxnSpPr>
            <p:nvPr/>
          </p:nvCxnSpPr>
          <p:spPr bwMode="auto">
            <a:xfrm>
              <a:off x="6516216" y="2602689"/>
              <a:ext cx="0" cy="144016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367" name="Gerade Verbindung mit Pfeil 9"/>
          <p:cNvCxnSpPr>
            <a:cxnSpLocks noChangeShapeType="1"/>
          </p:cNvCxnSpPr>
          <p:nvPr/>
        </p:nvCxnSpPr>
        <p:spPr bwMode="auto">
          <a:xfrm flipV="1">
            <a:off x="1836166" y="2043113"/>
            <a:ext cx="4005263" cy="1025525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368" name="Gruppieren 88076"/>
          <p:cNvGrpSpPr>
            <a:grpSpLocks/>
          </p:cNvGrpSpPr>
          <p:nvPr/>
        </p:nvGrpSpPr>
        <p:grpSpPr bwMode="auto">
          <a:xfrm rot="10800000">
            <a:off x="7955979" y="2043113"/>
            <a:ext cx="433387" cy="2347912"/>
            <a:chOff x="5940152" y="2042856"/>
            <a:chExt cx="468052" cy="2347797"/>
          </a:xfrm>
        </p:grpSpPr>
        <p:cxnSp>
          <p:nvCxnSpPr>
            <p:cNvPr id="15379" name="Gerade Verbindung 88065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0" cy="2347797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0" name="Gerade Verbindung 88070"/>
            <p:cNvCxnSpPr>
              <a:cxnSpLocks noChangeShapeType="1"/>
            </p:cNvCxnSpPr>
            <p:nvPr/>
          </p:nvCxnSpPr>
          <p:spPr bwMode="auto">
            <a:xfrm>
              <a:off x="5940152" y="2042856"/>
              <a:ext cx="468052" cy="0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1" name="Gerade Verbindung mit Pfeil 88074"/>
            <p:cNvCxnSpPr>
              <a:cxnSpLocks noChangeShapeType="1"/>
            </p:cNvCxnSpPr>
            <p:nvPr/>
          </p:nvCxnSpPr>
          <p:spPr bwMode="auto">
            <a:xfrm>
              <a:off x="5940152" y="4390653"/>
              <a:ext cx="468052" cy="0"/>
            </a:xfrm>
            <a:prstGeom prst="straightConnector1">
              <a:avLst/>
            </a:prstGeom>
            <a:noFill/>
            <a:ln w="6350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369" name="Gerade Verbindung mit Pfeil 88078"/>
          <p:cNvCxnSpPr>
            <a:cxnSpLocks noChangeShapeType="1"/>
          </p:cNvCxnSpPr>
          <p:nvPr/>
        </p:nvCxnSpPr>
        <p:spPr bwMode="auto">
          <a:xfrm>
            <a:off x="2412429" y="3500438"/>
            <a:ext cx="3600450" cy="0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0" name="Textfeld 88080"/>
          <p:cNvSpPr txBox="1">
            <a:spLocks noChangeArrowheads="1"/>
          </p:cNvSpPr>
          <p:nvPr/>
        </p:nvSpPr>
        <p:spPr bwMode="auto">
          <a:xfrm>
            <a:off x="2556891" y="3284538"/>
            <a:ext cx="30495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000">
                <a:latin typeface="Calibri" panose="020F0502020204030204" pitchFamily="34" charset="0"/>
              </a:rPr>
              <a:t>Adresse von val wird in den formal Parameter x kopiert</a:t>
            </a:r>
          </a:p>
        </p:txBody>
      </p:sp>
      <p:cxnSp>
        <p:nvCxnSpPr>
          <p:cNvPr id="15371" name="Gerade Verbindung mit Pfeil 88082"/>
          <p:cNvCxnSpPr>
            <a:cxnSpLocks noChangeShapeType="1"/>
          </p:cNvCxnSpPr>
          <p:nvPr/>
        </p:nvCxnSpPr>
        <p:spPr bwMode="auto">
          <a:xfrm>
            <a:off x="2412429" y="3500438"/>
            <a:ext cx="3567112" cy="890587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2" name="Gerade Verbindung mit Pfeil 88085"/>
          <p:cNvCxnSpPr>
            <a:cxnSpLocks noChangeShapeType="1"/>
          </p:cNvCxnSpPr>
          <p:nvPr/>
        </p:nvCxnSpPr>
        <p:spPr bwMode="auto">
          <a:xfrm flipV="1">
            <a:off x="2267966" y="2043113"/>
            <a:ext cx="3573463" cy="1673225"/>
          </a:xfrm>
          <a:prstGeom prst="straightConnector1">
            <a:avLst/>
          </a:prstGeom>
          <a:noFill/>
          <a:ln w="6350" algn="ctr">
            <a:solidFill>
              <a:schemeClr val="accent2"/>
            </a:solidFill>
            <a:round/>
            <a:headEnd type="oval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11"/>
          <p:cNvSpPr txBox="1">
            <a:spLocks noChangeArrowheads="1"/>
          </p:cNvSpPr>
          <p:nvPr/>
        </p:nvSpPr>
        <p:spPr bwMode="auto">
          <a:xfrm>
            <a:off x="604838" y="5124450"/>
            <a:ext cx="62293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Formale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) erhält die Adresse vom aktuellen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600">
                <a:latin typeface="Calibri" panose="020F0502020204030204" pitchFamily="34" charset="0"/>
              </a:rPr>
              <a:t>). 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Der Parameter (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) muss in der Methode Read </a:t>
            </a:r>
            <a:r>
              <a:rPr lang="de-AT" altLang="de-DE" sz="1600" u="sng">
                <a:latin typeface="Calibri" panose="020F0502020204030204" pitchFamily="34" charset="0"/>
              </a:rPr>
              <a:t>initialisiert</a:t>
            </a:r>
            <a:r>
              <a:rPr lang="de-AT" altLang="de-DE" sz="1600">
                <a:latin typeface="Calibri" panose="020F0502020204030204" pitchFamily="34" charset="0"/>
              </a:rPr>
              <a:t> werden!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Änderungen innerhalb der Methoden werden </a:t>
            </a:r>
            <a:r>
              <a:rPr lang="de-AT" altLang="de-DE" sz="1600" u="sng">
                <a:solidFill>
                  <a:srgbClr val="FF0000"/>
                </a:solidFill>
                <a:latin typeface="Calibri" panose="020F0502020204030204" pitchFamily="34" charset="0"/>
              </a:rPr>
              <a:t>außen sichtbar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!</a:t>
            </a:r>
          </a:p>
        </p:txBody>
      </p:sp>
      <p:cxnSp>
        <p:nvCxnSpPr>
          <p:cNvPr id="15374" name="Gerade Verbindung mit Pfeil 8"/>
          <p:cNvCxnSpPr>
            <a:cxnSpLocks noChangeShapeType="1"/>
          </p:cNvCxnSpPr>
          <p:nvPr/>
        </p:nvCxnSpPr>
        <p:spPr bwMode="auto">
          <a:xfrm>
            <a:off x="6012879" y="2133600"/>
            <a:ext cx="0" cy="2166938"/>
          </a:xfrm>
          <a:prstGeom prst="straightConnector1">
            <a:avLst/>
          </a:prstGeom>
          <a:noFill/>
          <a:ln w="63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5" name="Textfeld 24"/>
          <p:cNvSpPr txBox="1">
            <a:spLocks noChangeArrowheads="1"/>
          </p:cNvSpPr>
          <p:nvPr/>
        </p:nvSpPr>
        <p:spPr bwMode="auto">
          <a:xfrm>
            <a:off x="7741666" y="5106988"/>
            <a:ext cx="1366838" cy="2778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200">
                <a:latin typeface="Calibri" panose="020F0502020204030204" pitchFamily="34" charset="0"/>
              </a:rPr>
              <a:t> referenziert </a:t>
            </a:r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</a:p>
        </p:txBody>
      </p:sp>
      <p:cxnSp>
        <p:nvCxnSpPr>
          <p:cNvPr id="15376" name="Gerade Verbindung 26"/>
          <p:cNvCxnSpPr>
            <a:cxnSpLocks noChangeShapeType="1"/>
            <a:endCxn id="15375" idx="0"/>
          </p:cNvCxnSpPr>
          <p:nvPr/>
        </p:nvCxnSpPr>
        <p:spPr bwMode="auto">
          <a:xfrm>
            <a:off x="8389366" y="4391025"/>
            <a:ext cx="34925" cy="715963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7" name="Textfeld 37"/>
          <p:cNvSpPr txBox="1">
            <a:spLocks noChangeArrowheads="1"/>
          </p:cNvSpPr>
          <p:nvPr/>
        </p:nvSpPr>
        <p:spPr bwMode="auto">
          <a:xfrm>
            <a:off x="1296416" y="1325563"/>
            <a:ext cx="3636963" cy="276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200">
                <a:solidFill>
                  <a:srgbClr val="FF0000"/>
                </a:solidFill>
                <a:latin typeface="Calibri" panose="020F0502020204030204" pitchFamily="34" charset="0"/>
              </a:rPr>
              <a:t>val</a:t>
            </a:r>
            <a:r>
              <a:rPr lang="de-AT" altLang="de-DE" sz="1200">
                <a:latin typeface="Calibri" panose="020F0502020204030204" pitchFamily="34" charset="0"/>
              </a:rPr>
              <a:t> muss nicht vor Verwendung initialisiert werden!</a:t>
            </a:r>
            <a:endParaRPr lang="de-AT" altLang="de-DE" sz="12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5378" name="Gerade Verbindung 38"/>
          <p:cNvCxnSpPr>
            <a:cxnSpLocks noChangeShapeType="1"/>
            <a:stCxn id="15377" idx="2"/>
          </p:cNvCxnSpPr>
          <p:nvPr/>
        </p:nvCxnSpPr>
        <p:spPr bwMode="auto">
          <a:xfrm flipH="1">
            <a:off x="2125091" y="1601788"/>
            <a:ext cx="990600" cy="1806575"/>
          </a:xfrm>
          <a:prstGeom prst="line">
            <a:avLst/>
          </a:prstGeom>
          <a:noFill/>
          <a:ln w="6350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3153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625152" y="2742283"/>
            <a:ext cx="3810000" cy="1401762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0013"/>
            <a:ext cx="7743825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Variable Anzahl von Parametern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6552" y="908720"/>
            <a:ext cx="7788275" cy="4354513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800" dirty="0" err="1" smtClean="0"/>
              <a:t>Letzte</a:t>
            </a:r>
            <a:r>
              <a:rPr lang="en-US" sz="1800" dirty="0" smtClean="0"/>
              <a:t> </a:t>
            </a:r>
            <a:r>
              <a:rPr lang="en-US" sz="1800" i="1" dirty="0" smtClean="0"/>
              <a:t>n</a:t>
            </a:r>
            <a:r>
              <a:rPr lang="en-US" sz="1800" dirty="0" smtClean="0"/>
              <a:t> Parameter </a:t>
            </a:r>
            <a:r>
              <a:rPr lang="en-US" sz="1800" dirty="0" err="1" smtClean="0"/>
              <a:t>dürfen</a:t>
            </a:r>
            <a:r>
              <a:rPr lang="en-US" sz="1800" dirty="0" smtClean="0"/>
              <a:t> </a:t>
            </a:r>
            <a:r>
              <a:rPr lang="en-US" sz="1800" dirty="0" err="1" smtClean="0"/>
              <a:t>beliebig</a:t>
            </a:r>
            <a:r>
              <a:rPr lang="en-US" sz="1800" dirty="0" smtClean="0"/>
              <a:t> </a:t>
            </a:r>
            <a:r>
              <a:rPr lang="en-US" sz="1800" dirty="0" err="1" smtClean="0"/>
              <a:t>viele</a:t>
            </a:r>
            <a:r>
              <a:rPr lang="en-US" sz="1800" dirty="0" smtClean="0"/>
              <a:t> </a:t>
            </a:r>
            <a:r>
              <a:rPr lang="en-US" sz="1800" dirty="0" err="1" smtClean="0"/>
              <a:t>Werte</a:t>
            </a:r>
            <a:r>
              <a:rPr lang="en-US" sz="1800" dirty="0" smtClean="0"/>
              <a:t> </a:t>
            </a:r>
            <a:r>
              <a:rPr lang="en-US" sz="1800" dirty="0" err="1" smtClean="0"/>
              <a:t>eines</a:t>
            </a:r>
            <a:r>
              <a:rPr lang="en-US" sz="1800" dirty="0" smtClean="0"/>
              <a:t> </a:t>
            </a:r>
            <a:r>
              <a:rPr lang="en-US" sz="1800" dirty="0" err="1" smtClean="0"/>
              <a:t>bestimmten</a:t>
            </a:r>
            <a:r>
              <a:rPr lang="en-US" sz="1800" dirty="0" smtClean="0"/>
              <a:t> </a:t>
            </a:r>
            <a:r>
              <a:rPr lang="en-US" sz="1800" dirty="0" err="1" smtClean="0"/>
              <a:t>Typs</a:t>
            </a:r>
            <a:r>
              <a:rPr lang="en-US" sz="1800" dirty="0" smtClean="0"/>
              <a:t> </a:t>
            </a:r>
            <a:r>
              <a:rPr lang="en-US" sz="1800" dirty="0" err="1" smtClean="0"/>
              <a:t>sein</a:t>
            </a:r>
            <a:r>
              <a:rPr lang="en-US" sz="1800" dirty="0" smtClean="0"/>
              <a:t>.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8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8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8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4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void Add (</a:t>
            </a:r>
            <a:r>
              <a:rPr lang="en-US" sz="1400" dirty="0" smtClean="0">
                <a:solidFill>
                  <a:schemeClr val="accent2"/>
                </a:solidFill>
              </a:rPr>
              <a:t>out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smtClean="0"/>
              <a:t>sum, </a:t>
            </a:r>
            <a:r>
              <a:rPr lang="en-US" sz="1400" dirty="0" err="1" smtClean="0">
                <a:solidFill>
                  <a:srgbClr val="FF0000"/>
                </a:solidFill>
              </a:rPr>
              <a:t>params</a:t>
            </a:r>
            <a:r>
              <a:rPr lang="en-US" sz="1400" dirty="0" smtClean="0"/>
              <a:t> 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rgbClr val="008000"/>
                </a:solidFill>
              </a:rPr>
              <a:t>[]</a:t>
            </a:r>
            <a:r>
              <a:rPr lang="en-US" sz="1400" dirty="0" smtClean="0"/>
              <a:t> </a:t>
            </a:r>
            <a:r>
              <a:rPr lang="en-US" sz="1400" dirty="0" err="1" smtClean="0"/>
              <a:t>val</a:t>
            </a:r>
            <a:r>
              <a:rPr lang="en-US" sz="1400" dirty="0" smtClean="0"/>
              <a:t>) {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	sum = 0;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	</a:t>
            </a:r>
            <a:r>
              <a:rPr lang="en-US" sz="1400" dirty="0" smtClean="0">
                <a:solidFill>
                  <a:schemeClr val="accent2"/>
                </a:solidFill>
              </a:rPr>
              <a:t>for</a:t>
            </a:r>
            <a:r>
              <a:rPr lang="en-US" sz="1400" dirty="0" smtClean="0"/>
              <a:t> (</a:t>
            </a:r>
            <a:r>
              <a:rPr lang="en-US" sz="1400" dirty="0" err="1" smtClean="0">
                <a:solidFill>
                  <a:schemeClr val="accent2"/>
                </a:solidFill>
              </a:rPr>
              <a:t>int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r>
              <a:rPr lang="en-US" sz="1400" dirty="0" err="1" smtClean="0"/>
              <a:t>i</a:t>
            </a:r>
            <a:r>
              <a:rPr lang="en-US" sz="1400" dirty="0" smtClean="0"/>
              <a:t> = 0; </a:t>
            </a:r>
            <a:r>
              <a:rPr lang="en-US" sz="1400" dirty="0" err="1" smtClean="0"/>
              <a:t>i</a:t>
            </a:r>
            <a:r>
              <a:rPr lang="en-US" sz="1400" dirty="0" smtClean="0"/>
              <a:t> &lt; </a:t>
            </a:r>
            <a:r>
              <a:rPr lang="en-US" sz="1400" dirty="0" err="1" smtClean="0"/>
              <a:t>val.Lenght</a:t>
            </a:r>
            <a:r>
              <a:rPr lang="en-US" sz="1400" dirty="0" smtClean="0"/>
              <a:t>; </a:t>
            </a:r>
            <a:r>
              <a:rPr lang="en-US" sz="1400" dirty="0" err="1" smtClean="0"/>
              <a:t>i</a:t>
            </a:r>
            <a:r>
              <a:rPr lang="en-US" sz="1400" dirty="0" smtClean="0"/>
              <a:t>++) 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		sum = sum + </a:t>
            </a:r>
            <a:r>
              <a:rPr lang="en-US" sz="1400" dirty="0" err="1" smtClean="0"/>
              <a:t>val</a:t>
            </a:r>
            <a:r>
              <a:rPr lang="en-US" sz="1400" dirty="0" smtClean="0"/>
              <a:t>[</a:t>
            </a:r>
            <a:r>
              <a:rPr lang="en-US" sz="1400" dirty="0" err="1" smtClean="0"/>
              <a:t>i</a:t>
            </a:r>
            <a:r>
              <a:rPr lang="en-US" sz="1400" dirty="0" smtClean="0"/>
              <a:t>];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}</a:t>
            </a:r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4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</a:t>
            </a:r>
            <a:r>
              <a:rPr lang="en-US" sz="1600" i="1" dirty="0" err="1" smtClean="0"/>
              <a:t>params</a:t>
            </a:r>
            <a:r>
              <a:rPr lang="en-US" sz="1600" dirty="0" smtClean="0"/>
              <a:t> </a:t>
            </a:r>
            <a:r>
              <a:rPr lang="en-US" sz="1600" dirty="0" err="1" smtClean="0"/>
              <a:t>geht</a:t>
            </a:r>
            <a:r>
              <a:rPr lang="en-US" sz="1600" dirty="0" smtClean="0"/>
              <a:t> </a:t>
            </a:r>
            <a:r>
              <a:rPr lang="en-US" sz="1600" dirty="0" err="1" smtClean="0"/>
              <a:t>nicht</a:t>
            </a:r>
            <a:r>
              <a:rPr lang="en-US" sz="1600" dirty="0" smtClean="0"/>
              <a:t> </a:t>
            </a:r>
            <a:r>
              <a:rPr lang="en-US" sz="1600" dirty="0" err="1" smtClean="0"/>
              <a:t>für</a:t>
            </a:r>
            <a:r>
              <a:rPr lang="en-US" sz="1600" dirty="0" smtClean="0"/>
              <a:t> </a:t>
            </a:r>
            <a:r>
              <a:rPr lang="en-US" sz="1600" i="1" dirty="0" smtClean="0">
                <a:solidFill>
                  <a:schemeClr val="accent6"/>
                </a:solidFill>
              </a:rPr>
              <a:t>ref</a:t>
            </a:r>
            <a:r>
              <a:rPr lang="en-US" sz="1600" dirty="0" smtClean="0">
                <a:solidFill>
                  <a:schemeClr val="accent6"/>
                </a:solidFill>
              </a:rPr>
              <a:t> </a:t>
            </a:r>
            <a:r>
              <a:rPr lang="en-US" sz="1600" dirty="0" smtClean="0"/>
              <a:t>und </a:t>
            </a:r>
            <a:r>
              <a:rPr lang="en-US" sz="1600" i="1" dirty="0" smtClean="0">
                <a:solidFill>
                  <a:schemeClr val="accent6"/>
                </a:solidFill>
              </a:rPr>
              <a:t>out</a:t>
            </a:r>
            <a:endParaRPr lang="en-US" sz="1400" dirty="0" smtClean="0">
              <a:solidFill>
                <a:schemeClr val="accent6"/>
              </a:solidFill>
            </a:endParaRPr>
          </a:p>
          <a:p>
            <a:pPr>
              <a:buFontTx/>
              <a:buNone/>
              <a:tabLst>
                <a:tab pos="685800" algn="l"/>
              </a:tabLst>
              <a:defRPr/>
            </a:pPr>
            <a:endParaRPr lang="en-US" sz="14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800" dirty="0" err="1" smtClean="0"/>
              <a:t>Aufruf</a:t>
            </a:r>
            <a:endParaRPr lang="en-US" sz="1400" dirty="0" smtClean="0"/>
          </a:p>
          <a:p>
            <a:pPr>
              <a:buFontTx/>
              <a:buNone/>
              <a:tabLst>
                <a:tab pos="685800" algn="l"/>
              </a:tabLst>
              <a:defRPr/>
            </a:pPr>
            <a:r>
              <a:rPr lang="en-US" sz="1400" dirty="0" smtClean="0"/>
              <a:t>	Add(</a:t>
            </a:r>
            <a:r>
              <a:rPr lang="en-US" sz="1400" dirty="0" smtClean="0">
                <a:solidFill>
                  <a:schemeClr val="accent6"/>
                </a:solidFill>
              </a:rPr>
              <a:t>out</a:t>
            </a:r>
            <a:r>
              <a:rPr lang="en-US" sz="1400" dirty="0" smtClean="0"/>
              <a:t> sum, </a:t>
            </a:r>
            <a:r>
              <a:rPr lang="en-US" sz="1400" dirty="0" smtClean="0">
                <a:solidFill>
                  <a:srgbClr val="FF0000"/>
                </a:solidFill>
              </a:rPr>
              <a:t>3, 5, 2, 9</a:t>
            </a:r>
            <a:r>
              <a:rPr lang="en-US" sz="1400" dirty="0" smtClean="0"/>
              <a:t>);  </a:t>
            </a:r>
            <a:r>
              <a:rPr lang="en-US" sz="1400" dirty="0" smtClean="0">
                <a:solidFill>
                  <a:srgbClr val="00B050"/>
                </a:solidFill>
              </a:rPr>
              <a:t>// sum == 19</a:t>
            </a:r>
          </a:p>
        </p:txBody>
      </p:sp>
      <p:sp>
        <p:nvSpPr>
          <p:cNvPr id="16390" name="AutoShape 4"/>
          <p:cNvSpPr>
            <a:spLocks noChangeArrowheads="1"/>
          </p:cNvSpPr>
          <p:nvPr/>
        </p:nvSpPr>
        <p:spPr bwMode="auto">
          <a:xfrm>
            <a:off x="1844352" y="1599283"/>
            <a:ext cx="1371600" cy="609600"/>
          </a:xfrm>
          <a:prstGeom prst="wedgeRectCallout">
            <a:avLst>
              <a:gd name="adj1" fmla="val 54111"/>
              <a:gd name="adj2" fmla="val 104560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de-DE" sz="1600">
                <a:latin typeface="Calibri" panose="020F0502020204030204" pitchFamily="34" charset="0"/>
              </a:rPr>
              <a:t>Schlüsselwort</a:t>
            </a:r>
          </a:p>
          <a:p>
            <a:pPr algn="ctr"/>
            <a:r>
              <a:rPr lang="en-US" altLang="de-DE" sz="1600" i="1">
                <a:latin typeface="Calibri" panose="020F0502020204030204" pitchFamily="34" charset="0"/>
              </a:rPr>
              <a:t>params</a:t>
            </a:r>
          </a:p>
        </p:txBody>
      </p:sp>
      <p:sp>
        <p:nvSpPr>
          <p:cNvPr id="16391" name="AutoShape 6"/>
          <p:cNvSpPr>
            <a:spLocks noChangeArrowheads="1"/>
          </p:cNvSpPr>
          <p:nvPr/>
        </p:nvSpPr>
        <p:spPr bwMode="auto">
          <a:xfrm>
            <a:off x="3749352" y="1599283"/>
            <a:ext cx="1447800" cy="609600"/>
          </a:xfrm>
          <a:prstGeom prst="wedgeRectCallout">
            <a:avLst>
              <a:gd name="adj1" fmla="val -33847"/>
              <a:gd name="adj2" fmla="val 105111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de-DE" sz="1600">
                <a:latin typeface="Calibri" panose="020F0502020204030204" pitchFamily="34" charset="0"/>
              </a:rPr>
              <a:t>Arraytyp</a:t>
            </a:r>
            <a:endParaRPr lang="en-US" altLang="de-DE">
              <a:latin typeface="Calibri" panose="020F0502020204030204" pitchFamily="34" charset="0"/>
            </a:endParaRPr>
          </a:p>
        </p:txBody>
      </p:sp>
      <p:sp>
        <p:nvSpPr>
          <p:cNvPr id="89096" name="Text Box 8"/>
          <p:cNvSpPr txBox="1">
            <a:spLocks noChangeArrowheads="1"/>
          </p:cNvSpPr>
          <p:nvPr/>
        </p:nvSpPr>
        <p:spPr bwMode="auto">
          <a:xfrm>
            <a:off x="467544" y="5596608"/>
            <a:ext cx="6366321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92100" indent="-2921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1800" dirty="0" err="1" smtClean="0">
                <a:latin typeface="Calibri" pitchFamily="34" charset="0"/>
              </a:rPr>
              <a:t>Anderes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</a:rPr>
              <a:t>Beispiel</a:t>
            </a:r>
            <a:endParaRPr lang="en-US" sz="1400" dirty="0" smtClean="0">
              <a:latin typeface="Calibri" pitchFamily="34" charset="0"/>
            </a:endParaRPr>
          </a:p>
          <a:p>
            <a:pPr>
              <a:spcBef>
                <a:spcPct val="60000"/>
              </a:spcBef>
              <a:defRPr/>
            </a:pPr>
            <a:r>
              <a:rPr lang="en-US" sz="1400" dirty="0" smtClean="0">
                <a:latin typeface="Calibri" pitchFamily="34" charset="0"/>
              </a:rPr>
              <a:t>	</a:t>
            </a:r>
            <a:r>
              <a:rPr lang="en-US" sz="1400" dirty="0" smtClean="0">
                <a:solidFill>
                  <a:schemeClr val="accent6"/>
                </a:solidFill>
                <a:latin typeface="Calibri" pitchFamily="34" charset="0"/>
              </a:rPr>
              <a:t>void</a:t>
            </a:r>
            <a:r>
              <a:rPr lang="en-US" sz="1400" dirty="0" smtClean="0">
                <a:latin typeface="Calibri" pitchFamily="34" charset="0"/>
              </a:rPr>
              <a:t> </a:t>
            </a:r>
            <a:r>
              <a:rPr lang="en-US" sz="1400" dirty="0" err="1" smtClean="0">
                <a:latin typeface="Calibri" pitchFamily="34" charset="0"/>
              </a:rPr>
              <a:t>Console.WriteLine</a:t>
            </a:r>
            <a:r>
              <a:rPr lang="en-US" sz="1400" dirty="0" smtClean="0">
                <a:latin typeface="Calibri" pitchFamily="34" charset="0"/>
              </a:rPr>
              <a:t> (</a:t>
            </a:r>
            <a:r>
              <a:rPr lang="en-US" sz="1400" dirty="0" smtClean="0">
                <a:solidFill>
                  <a:schemeClr val="accent2"/>
                </a:solidFill>
                <a:latin typeface="Calibri" pitchFamily="34" charset="0"/>
              </a:rPr>
              <a:t>string</a:t>
            </a:r>
            <a:r>
              <a:rPr lang="en-US" sz="1400" dirty="0" smtClean="0">
                <a:latin typeface="Calibri" pitchFamily="34" charset="0"/>
              </a:rPr>
              <a:t> format, </a:t>
            </a:r>
            <a:r>
              <a:rPr lang="en-US" sz="1400" dirty="0" err="1" smtClean="0">
                <a:solidFill>
                  <a:srgbClr val="FF0000"/>
                </a:solidFill>
                <a:latin typeface="Calibri" pitchFamily="34" charset="0"/>
              </a:rPr>
              <a:t>params</a:t>
            </a:r>
            <a:r>
              <a:rPr lang="en-US" sz="1400" dirty="0" smtClean="0">
                <a:latin typeface="Calibri" pitchFamily="34" charset="0"/>
              </a:rPr>
              <a:t> </a:t>
            </a:r>
            <a:r>
              <a:rPr lang="en-US" sz="1400" dirty="0" smtClean="0">
                <a:solidFill>
                  <a:schemeClr val="accent2"/>
                </a:solidFill>
                <a:latin typeface="Calibri" pitchFamily="34" charset="0"/>
              </a:rPr>
              <a:t>object</a:t>
            </a:r>
            <a:r>
              <a:rPr lang="en-US" sz="1400" dirty="0" smtClean="0">
                <a:solidFill>
                  <a:srgbClr val="008000"/>
                </a:solidFill>
                <a:latin typeface="Calibri" pitchFamily="34" charset="0"/>
              </a:rPr>
              <a:t>[]</a:t>
            </a:r>
            <a:r>
              <a:rPr lang="en-US" sz="1400" dirty="0" smtClean="0">
                <a:latin typeface="Calibri" pitchFamily="34" charset="0"/>
              </a:rPr>
              <a:t> </a:t>
            </a:r>
            <a:r>
              <a:rPr lang="en-US" sz="1400" dirty="0" err="1" smtClean="0">
                <a:latin typeface="Calibri" pitchFamily="34" charset="0"/>
              </a:rPr>
              <a:t>arg</a:t>
            </a:r>
            <a:r>
              <a:rPr lang="en-US" sz="1400" dirty="0" smtClean="0">
                <a:latin typeface="Calibri" pitchFamily="34" charset="0"/>
              </a:rPr>
              <a:t>) {...}</a:t>
            </a:r>
            <a:endParaRPr lang="de-AT" sz="1400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6" grpId="0" autoUpdateAnimBg="0"/>
    </p:bldLst>
  </p:timing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309</Words>
  <Application>Microsoft Office PowerPoint</Application>
  <PresentationFormat>Bildschirmpräsentation (4:3)</PresentationFormat>
  <Paragraphs>172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MS PGothic</vt:lpstr>
      <vt:lpstr>MS PGothic</vt:lpstr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Parameter</vt:lpstr>
      <vt:lpstr>Arten von Parametern</vt:lpstr>
      <vt:lpstr>Call by Value - Valuetypes</vt:lpstr>
      <vt:lpstr>Call by Reference</vt:lpstr>
      <vt:lpstr>Call by Reference - spezial</vt:lpstr>
      <vt:lpstr>Variable Anzahl von Parametern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Birgit Schröder</cp:lastModifiedBy>
  <cp:revision>149</cp:revision>
  <dcterms:created xsi:type="dcterms:W3CDTF">2006-01-13T20:54:04Z</dcterms:created>
  <dcterms:modified xsi:type="dcterms:W3CDTF">2016-01-07T18:08:02Z</dcterms:modified>
</cp:coreProperties>
</file>