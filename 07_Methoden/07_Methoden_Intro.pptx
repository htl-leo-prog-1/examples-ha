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5"/>
  </p:notesMasterIdLst>
  <p:handoutMasterIdLst>
    <p:handoutMasterId r:id="rId16"/>
  </p:handoutMasterIdLst>
  <p:sldIdLst>
    <p:sldId id="299" r:id="rId3"/>
    <p:sldId id="283" r:id="rId4"/>
    <p:sldId id="300" r:id="rId5"/>
    <p:sldId id="285" r:id="rId6"/>
    <p:sldId id="286" r:id="rId7"/>
    <p:sldId id="287" r:id="rId8"/>
    <p:sldId id="289" r:id="rId9"/>
    <p:sldId id="290" r:id="rId10"/>
    <p:sldId id="291" r:id="rId11"/>
    <p:sldId id="292" r:id="rId12"/>
    <p:sldId id="293" r:id="rId13"/>
    <p:sldId id="294" r:id="rId14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29" autoAdjust="0"/>
  </p:normalViewPr>
  <p:slideViewPr>
    <p:cSldViewPr>
      <p:cViewPr varScale="1">
        <p:scale>
          <a:sx n="98" d="100"/>
          <a:sy n="98" d="100"/>
        </p:scale>
        <p:origin x="57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3" Type="http://schemas.openxmlformats.org/officeDocument/2006/relationships/slide" Target="slides/slide5.xml"/><Relationship Id="rId7" Type="http://schemas.openxmlformats.org/officeDocument/2006/relationships/slide" Target="slides/slide9.xml"/><Relationship Id="rId2" Type="http://schemas.openxmlformats.org/officeDocument/2006/relationships/slide" Target="slides/slide4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5" Type="http://schemas.openxmlformats.org/officeDocument/2006/relationships/slide" Target="slides/slide7.xml"/><Relationship Id="rId4" Type="http://schemas.openxmlformats.org/officeDocument/2006/relationships/slide" Target="slides/slide6.xml"/><Relationship Id="rId9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</a:t>
            </a:r>
            <a:r>
              <a:rPr lang="de-DE" noProof="0" dirty="0" err="1"/>
              <a:t>text</a:t>
            </a:r>
            <a:r>
              <a:rPr lang="de-DE" noProof="0" dirty="0"/>
              <a:t> </a:t>
            </a:r>
            <a:r>
              <a:rPr lang="de-DE" noProof="0" dirty="0" err="1"/>
              <a:t>styles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E98FE1-0A48-4102-B897-052B018683B5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34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</a:t>
            </a:r>
            <a:r>
              <a:rPr lang="de-DE" sz="10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_POS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Methoden 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Wozu Methoden?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de-AT" dirty="0"/>
              <a:t>Strukturierung</a:t>
            </a:r>
          </a:p>
          <a:p>
            <a:pPr lvl="1"/>
            <a:r>
              <a:rPr lang="de-AT" dirty="0"/>
              <a:t>Langen Programmcode übersichtlich machen</a:t>
            </a:r>
          </a:p>
          <a:p>
            <a:pPr lvl="1"/>
            <a:r>
              <a:rPr lang="de-AT" dirty="0"/>
              <a:t>Aufteilung in kleine, gut verständliche Funktionseinheiten</a:t>
            </a:r>
          </a:p>
          <a:p>
            <a:r>
              <a:rPr lang="de-AT" dirty="0"/>
              <a:t>Vermeidung von Codeverdopplung</a:t>
            </a:r>
          </a:p>
          <a:p>
            <a:pPr lvl="1"/>
            <a:r>
              <a:rPr lang="de-AT" dirty="0"/>
              <a:t>Gleicher Programmcode wird einmal als Methode implementiert </a:t>
            </a:r>
          </a:p>
          <a:p>
            <a:pPr lvl="1"/>
            <a:r>
              <a:rPr lang="de-AT" dirty="0"/>
              <a:t>Kann öfters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430514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405508" y="1700213"/>
            <a:ext cx="5040312" cy="424973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Parameterlose Methoden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51520" y="1233488"/>
            <a:ext cx="383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Beispiel: Ausgabe einer Überschrift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08683" y="1808163"/>
            <a:ext cx="5040312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Sample {</a:t>
            </a:r>
          </a:p>
          <a:p>
            <a:endParaRPr lang="de-AT" alt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de-AT" altLang="de-DE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de-AT" altLang="de-DE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PrintHeader</a:t>
            </a:r>
            <a:r>
              <a:rPr lang="de-AT" altLang="de-DE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de-AT" altLang="de-DE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Methodenkopf</a:t>
            </a:r>
            <a:endParaRPr lang="de-AT" alt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{	</a:t>
            </a:r>
          </a:p>
          <a:p>
            <a:r>
              <a:rPr lang="de-AT" altLang="de-DE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Methodenrumpf 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  </a:t>
            </a:r>
            <a:r>
              <a:rPr lang="de-AT" alt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("Artikelliste");  </a:t>
            </a:r>
            <a:endParaRPr lang="de-AT" altLang="de-DE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("------------");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de-AT" alt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 (String[] </a:t>
            </a:r>
            <a:r>
              <a:rPr lang="de-AT" alt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PrintHeader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de-AT" altLang="de-DE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Aufruf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PrintHeader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011863" y="1766888"/>
            <a:ext cx="10945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 dirty="0">
                <a:latin typeface="Calibri" panose="020F0502020204030204" pitchFamily="34" charset="0"/>
              </a:rPr>
              <a:t>Vorteile: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5580113" y="2224088"/>
            <a:ext cx="3449588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7325" indent="-1873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>
              <a:buFontTx/>
              <a:buChar char="•"/>
            </a:pPr>
            <a:r>
              <a:rPr lang="de-AT" altLang="de-DE" sz="2000" dirty="0">
                <a:latin typeface="Calibri" panose="020F0502020204030204" pitchFamily="34" charset="0"/>
              </a:rPr>
              <a:t>Methode </a:t>
            </a:r>
            <a:r>
              <a:rPr lang="de-AT" altLang="de-DE" sz="2000" dirty="0" err="1">
                <a:latin typeface="Calibri" panose="020F0502020204030204" pitchFamily="34" charset="0"/>
              </a:rPr>
              <a:t>PrintHeader</a:t>
            </a:r>
            <a:r>
              <a:rPr lang="de-AT" altLang="de-DE" sz="2000" dirty="0">
                <a:latin typeface="Calibri" panose="020F0502020204030204" pitchFamily="34" charset="0"/>
              </a:rPr>
              <a:t> wird öfter verwendet</a:t>
            </a:r>
          </a:p>
          <a:p>
            <a:pPr>
              <a:spcBef>
                <a:spcPct val="40000"/>
              </a:spcBef>
              <a:buFontTx/>
              <a:buChar char="•"/>
            </a:pPr>
            <a:r>
              <a:rPr lang="de-AT" altLang="de-DE" sz="2000" dirty="0">
                <a:latin typeface="Calibri" panose="020F0502020204030204" pitchFamily="34" charset="0"/>
              </a:rPr>
              <a:t>Ausgabe des Headers funktioniert immer gleich</a:t>
            </a:r>
          </a:p>
          <a:p>
            <a:pPr lvl="1">
              <a:spcBef>
                <a:spcPct val="40000"/>
              </a:spcBef>
              <a:buFontTx/>
              <a:buChar char="•"/>
            </a:pPr>
            <a:r>
              <a:rPr lang="de-AT" altLang="de-DE" sz="2000" dirty="0">
                <a:latin typeface="Calibri" panose="020F0502020204030204" pitchFamily="34" charset="0"/>
              </a:rPr>
              <a:t>Will man etwas ändern, muss es nur einmal geändert werden – in der Methode!</a:t>
            </a:r>
          </a:p>
          <a:p>
            <a:pPr>
              <a:spcBef>
                <a:spcPct val="40000"/>
              </a:spcBef>
              <a:buFontTx/>
              <a:buChar char="•"/>
            </a:pPr>
            <a:r>
              <a:rPr lang="de-AT" altLang="de-DE" sz="2000" dirty="0">
                <a:latin typeface="Calibri" panose="020F0502020204030204" pitchFamily="34" charset="0"/>
              </a:rPr>
              <a:t>Strukturierung des Programms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Namenskonvention Methoden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CamelCase</a:t>
            </a:r>
            <a:r>
              <a:rPr lang="de-AT" dirty="0"/>
              <a:t> mit großem Anfangsbuchstaben</a:t>
            </a:r>
          </a:p>
          <a:p>
            <a:r>
              <a:rPr lang="de-AT" dirty="0"/>
              <a:t>Beispiele:</a:t>
            </a:r>
          </a:p>
          <a:p>
            <a:pPr lvl="1"/>
            <a:r>
              <a:rPr lang="de-AT" dirty="0" err="1"/>
              <a:t>Math.</a:t>
            </a:r>
            <a:r>
              <a:rPr lang="de-AT" b="1" dirty="0" err="1"/>
              <a:t>Sqrt</a:t>
            </a:r>
            <a:endParaRPr lang="de-AT" b="1" dirty="0"/>
          </a:p>
          <a:p>
            <a:pPr lvl="1"/>
            <a:r>
              <a:rPr lang="de-AT" dirty="0" err="1"/>
              <a:t>Console.</a:t>
            </a:r>
            <a:r>
              <a:rPr lang="de-AT" b="1" dirty="0" err="1"/>
              <a:t>WriteLine</a:t>
            </a:r>
            <a:endParaRPr lang="de-AT" b="1" dirty="0"/>
          </a:p>
          <a:p>
            <a:pPr lvl="1"/>
            <a:r>
              <a:rPr lang="de-AT" dirty="0" err="1"/>
              <a:t>Console.</a:t>
            </a:r>
            <a:r>
              <a:rPr lang="de-AT" b="1" dirty="0" err="1"/>
              <a:t>ReadLine</a:t>
            </a:r>
            <a:endParaRPr lang="de-AT" b="1" dirty="0"/>
          </a:p>
          <a:p>
            <a:pPr lvl="1"/>
            <a:r>
              <a:rPr lang="de-AT" dirty="0"/>
              <a:t>Convert.</a:t>
            </a:r>
            <a:r>
              <a:rPr lang="de-AT" b="1" dirty="0"/>
              <a:t>ToInt32</a:t>
            </a:r>
          </a:p>
          <a:p>
            <a:pPr lvl="1"/>
            <a:r>
              <a:rPr lang="de-AT" b="1" dirty="0" err="1"/>
              <a:t>PrintHeader</a:t>
            </a:r>
            <a:endParaRPr lang="de-AT" b="1" dirty="0"/>
          </a:p>
          <a:p>
            <a:pPr lvl="1"/>
            <a:r>
              <a:rPr lang="de-AT" b="1" dirty="0" err="1"/>
              <a:t>FindMaximum</a:t>
            </a:r>
            <a:endParaRPr lang="de-AT" b="1" dirty="0"/>
          </a:p>
          <a:p>
            <a:pPr lvl="1"/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53997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066800" y="1738313"/>
            <a:ext cx="3933825" cy="280035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24000" y="3733800"/>
            <a:ext cx="1905000" cy="304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295400" y="2000250"/>
            <a:ext cx="3657600" cy="107156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3">
                <a:lumMod val="9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507413" cy="1143000"/>
          </a:xfrm>
        </p:spPr>
        <p:txBody>
          <a:bodyPr/>
          <a:lstStyle/>
          <a:p>
            <a:pPr>
              <a:defRPr/>
            </a:pPr>
            <a:r>
              <a:rPr lang="de-AT" dirty="0"/>
              <a:t>Parameter (Wertparameter -&gt; </a:t>
            </a:r>
            <a:r>
              <a:rPr lang="de-AT" dirty="0" err="1"/>
              <a:t>call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value</a:t>
            </a:r>
            <a:r>
              <a:rPr lang="de-AT" dirty="0"/>
              <a:t>)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669925" y="1143000"/>
            <a:ext cx="695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Werte, die vom Rufer an die Methode übergeben werden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066800" y="1738313"/>
            <a:ext cx="4191000" cy="28931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class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Sample 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PrintMax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( </a:t>
            </a:r>
            <a:r>
              <a:rPr lang="de-AT" sz="1400" b="1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b="1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x, </a:t>
            </a:r>
            <a:r>
              <a:rPr lang="de-AT" sz="1400" b="1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b="1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y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)      	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if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(x &gt; y)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Console.Write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(x);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      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else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Console.Write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(y);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400" dirty="0"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Main ()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PrintMax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(</a:t>
            </a:r>
            <a:r>
              <a:rPr lang="de-AT" sz="1400" b="1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100, 2 * i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  <a:endParaRPr lang="de-AT" sz="1600" dirty="0">
              <a:solidFill>
                <a:srgbClr val="FF0000"/>
              </a:solidFill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241925" y="1995488"/>
            <a:ext cx="3070225" cy="2278062"/>
            <a:chOff x="3302" y="1257"/>
            <a:chExt cx="1934" cy="1435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3302" y="1257"/>
              <a:ext cx="1649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dirty="0">
                  <a:solidFill>
                    <a:srgbClr val="FF0000"/>
                  </a:solidFill>
                  <a:latin typeface="Calibri" panose="020F0502020204030204" pitchFamily="34" charset="0"/>
                </a:rPr>
                <a:t>formale Parameter</a:t>
              </a:r>
            </a:p>
            <a:p>
              <a:r>
                <a:rPr lang="de-AT" altLang="de-DE" sz="1600" dirty="0">
                  <a:latin typeface="Calibri" panose="020F0502020204030204" pitchFamily="34" charset="0"/>
                </a:rPr>
                <a:t>- im Methodenkopf (hier x, y)</a:t>
              </a:r>
            </a:p>
            <a:p>
              <a:r>
                <a:rPr lang="de-AT" altLang="de-DE" sz="1600" dirty="0">
                  <a:latin typeface="Calibri" panose="020F0502020204030204" pitchFamily="34" charset="0"/>
                </a:rPr>
                <a:t>- sind Variablen der Methode</a:t>
              </a:r>
            </a:p>
          </p:txBody>
        </p:sp>
        <p:sp>
          <p:nvSpPr>
            <p:cNvPr id="13324" name="Text Box 10"/>
            <p:cNvSpPr txBox="1">
              <a:spLocks noChangeArrowheads="1"/>
            </p:cNvSpPr>
            <p:nvPr/>
          </p:nvSpPr>
          <p:spPr bwMode="auto">
            <a:xfrm>
              <a:off x="3312" y="2130"/>
              <a:ext cx="1924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chemeClr val="accent2"/>
                  </a:solidFill>
                  <a:latin typeface="Calibri" panose="020F0502020204030204" pitchFamily="34" charset="0"/>
                </a:rPr>
                <a:t>aktuelle Parameter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an der Aufrufstelle (hier 100, 2*i)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können Ausdrücke sein</a:t>
              </a:r>
            </a:p>
          </p:txBody>
        </p:sp>
      </p:grp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685800" y="4800600"/>
            <a:ext cx="708342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 dirty="0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 dirty="0">
                <a:latin typeface="Calibri" panose="020F0502020204030204" pitchFamily="34" charset="0"/>
              </a:rPr>
              <a:t>Aktuelle Parameter werden den entsprechenden formalen Parametern zugewiesen</a:t>
            </a:r>
          </a:p>
          <a:p>
            <a:pPr>
              <a:spcBef>
                <a:spcPct val="20000"/>
              </a:spcBef>
            </a:pPr>
            <a:r>
              <a:rPr lang="de-AT" altLang="de-DE" sz="1600" dirty="0">
                <a:latin typeface="Calibri" panose="020F0502020204030204" pitchFamily="34" charset="0"/>
              </a:rPr>
              <a:t>		</a:t>
            </a:r>
            <a:r>
              <a:rPr lang="de-AT" altLang="de-DE" sz="1600" dirty="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 dirty="0">
                <a:latin typeface="Calibri" panose="020F0502020204030204" pitchFamily="34" charset="0"/>
              </a:rPr>
              <a:t>=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100;  </a:t>
            </a:r>
            <a:r>
              <a:rPr lang="de-AT" altLang="de-DE" sz="1600" dirty="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 dirty="0">
                <a:latin typeface="Calibri" panose="020F0502020204030204" pitchFamily="34" charset="0"/>
              </a:rPr>
              <a:t>=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2 * i;</a:t>
            </a:r>
          </a:p>
          <a:p>
            <a:pPr>
              <a:spcBef>
                <a:spcPct val="20000"/>
              </a:spcBef>
            </a:pPr>
            <a:r>
              <a:rPr lang="de-AT" altLang="de-DE" sz="1600" dirty="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 dirty="0">
                <a:latin typeface="Calibri" panose="020F0502020204030204" pitchFamily="34" charset="0"/>
              </a:rPr>
              <a:t> aktuelle Parameter müssen mit formalen zuweisungskompatibel sein</a:t>
            </a:r>
          </a:p>
          <a:p>
            <a:r>
              <a:rPr lang="de-AT" altLang="de-DE" sz="1600" dirty="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 dirty="0">
                <a:latin typeface="Calibri" panose="020F0502020204030204" pitchFamily="34" charset="0"/>
              </a:rPr>
              <a:t> formale Parameter enthalten Kopien der aktuellen Parameter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E3202599-867B-47E4-A3B5-80C8BDF7B258}"/>
              </a:ext>
            </a:extLst>
          </p:cNvPr>
          <p:cNvSpPr/>
          <p:nvPr/>
        </p:nvSpPr>
        <p:spPr>
          <a:xfrm>
            <a:off x="2411760" y="3861048"/>
            <a:ext cx="423441" cy="304800"/>
          </a:xfrm>
          <a:prstGeom prst="roundRect">
            <a:avLst/>
          </a:prstGeom>
          <a:solidFill>
            <a:srgbClr val="4F81BD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BC3A7E28-A1C7-454E-B3CE-4998625103B2}"/>
              </a:ext>
            </a:extLst>
          </p:cNvPr>
          <p:cNvSpPr/>
          <p:nvPr/>
        </p:nvSpPr>
        <p:spPr>
          <a:xfrm>
            <a:off x="2915816" y="3861048"/>
            <a:ext cx="648072" cy="304800"/>
          </a:xfrm>
          <a:prstGeom prst="roundRect">
            <a:avLst/>
          </a:prstGeom>
          <a:solidFill>
            <a:srgbClr val="4F81BD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7C1FF26-EC3A-4B97-B719-5E3F09C8E09C}"/>
              </a:ext>
            </a:extLst>
          </p:cNvPr>
          <p:cNvSpPr/>
          <p:nvPr/>
        </p:nvSpPr>
        <p:spPr>
          <a:xfrm>
            <a:off x="3635896" y="1972072"/>
            <a:ext cx="648072" cy="313928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31AEEBE-63F3-429C-8F02-5A274ABD53D3}"/>
              </a:ext>
            </a:extLst>
          </p:cNvPr>
          <p:cNvSpPr/>
          <p:nvPr/>
        </p:nvSpPr>
        <p:spPr>
          <a:xfrm>
            <a:off x="4355976" y="1962944"/>
            <a:ext cx="597024" cy="313928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5" name="Verbinder: gekrümmt 4">
            <a:extLst>
              <a:ext uri="{FF2B5EF4-FFF2-40B4-BE49-F238E27FC236}">
                <a16:creationId xmlns:a16="http://schemas.microsoft.com/office/drawing/2014/main" id="{12B8C2D3-78C2-439B-A580-E70A826A688F}"/>
              </a:ext>
            </a:extLst>
          </p:cNvPr>
          <p:cNvCxnSpPr>
            <a:cxnSpLocks/>
            <a:endCxn id="14" idx="2"/>
          </p:cNvCxnSpPr>
          <p:nvPr/>
        </p:nvCxnSpPr>
        <p:spPr>
          <a:xfrm rot="5400000" flipH="1" flipV="1">
            <a:off x="2504180" y="2405302"/>
            <a:ext cx="1575053" cy="13364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krümmt 17">
            <a:extLst>
              <a:ext uri="{FF2B5EF4-FFF2-40B4-BE49-F238E27FC236}">
                <a16:creationId xmlns:a16="http://schemas.microsoft.com/office/drawing/2014/main" id="{3DBBDF86-7E72-4B11-AF96-4DC889552CCD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rot="5400000" flipH="1" flipV="1">
            <a:off x="3155082" y="2361642"/>
            <a:ext cx="1584176" cy="14146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746125" y="1814513"/>
            <a:ext cx="4254500" cy="289205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746125" y="1814513"/>
            <a:ext cx="4233379" cy="28931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Sample 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endParaRPr lang="de-AT" alt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Max (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y) 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(x &gt; y)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x; </a:t>
            </a:r>
          </a:p>
          <a:p>
            <a:r>
              <a:rPr lang="de-AT" altLang="de-DE" sz="14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altLang="de-DE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 (</a:t>
            </a:r>
            <a:r>
              <a:rPr lang="de-AT" altLang="de-DE" sz="14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arg) 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de-AT" altLang="de-DE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Max(100, i + j) + 1);</a:t>
            </a:r>
          </a:p>
          <a:p>
            <a:r>
              <a:rPr lang="de-AT" altLang="de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altLang="de-DE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AT" altLang="de-DE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Funktionen</a:t>
            </a:r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746125" y="1233488"/>
            <a:ext cx="5919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Methoden, die einen Ergebniswert an den Rufer liefern</a:t>
            </a:r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5000625" y="1828800"/>
            <a:ext cx="391001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7325" indent="-1873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haben </a:t>
            </a:r>
            <a:r>
              <a:rPr lang="de-AT" altLang="de-DE" sz="2000" u="sng">
                <a:latin typeface="Calibri" panose="020F0502020204030204" pitchFamily="34" charset="0"/>
              </a:rPr>
              <a:t>Funktionstyp</a:t>
            </a:r>
            <a:r>
              <a:rPr lang="de-AT" altLang="de-DE" sz="2000">
                <a:latin typeface="Calibri" panose="020F0502020204030204" pitchFamily="34" charset="0"/>
              </a:rPr>
              <a:t> (z.B. </a:t>
            </a:r>
            <a:r>
              <a:rPr lang="de-AT" altLang="de-DE" sz="2000" i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2000">
                <a:latin typeface="Calibri" panose="020F0502020204030204" pitchFamily="34" charset="0"/>
              </a:rPr>
              <a:t>)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statt </a:t>
            </a:r>
            <a:r>
              <a:rPr lang="de-AT" altLang="de-DE" sz="20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2000">
                <a:latin typeface="Calibri" panose="020F0502020204030204" pitchFamily="34" charset="0"/>
              </a:rPr>
              <a:t> (= kein Typ)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liefern Ergebnis mittels </a:t>
            </a:r>
            <a:r>
              <a:rPr lang="de-AT" altLang="de-DE" sz="2000">
                <a:solidFill>
                  <a:schemeClr val="accent2"/>
                </a:solidFill>
                <a:latin typeface="Calibri" panose="020F0502020204030204" pitchFamily="34" charset="0"/>
              </a:rPr>
              <a:t>return-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Anweisung an den Rufer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1600">
                <a:latin typeface="Calibri" panose="020F0502020204030204" pitchFamily="34" charset="0"/>
              </a:rPr>
              <a:t>(</a:t>
            </a:r>
            <a:r>
              <a:rPr lang="de-AT" altLang="de-DE" sz="1600" i="1"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 muss zuweisungskompatibel mit </a:t>
            </a:r>
            <a:r>
              <a:rPr lang="de-AT" altLang="de-DE" sz="1600" i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sein)</a:t>
            </a:r>
          </a:p>
          <a:p>
            <a:pPr>
              <a:buFontTx/>
              <a:buChar char="•"/>
            </a:pPr>
            <a:endParaRPr lang="de-AT" altLang="de-DE" sz="2000">
              <a:latin typeface="Calibri" panose="020F0502020204030204" pitchFamily="34" charset="0"/>
            </a:endParaRPr>
          </a:p>
          <a:p>
            <a:pPr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Werden wie Operanden in einem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Ausdruck benutzt</a:t>
            </a:r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746125" y="5272088"/>
            <a:ext cx="496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Funktionen</a:t>
            </a:r>
            <a:r>
              <a:rPr lang="de-AT" altLang="de-DE" sz="2000">
                <a:latin typeface="Calibri" panose="020F0502020204030204" pitchFamily="34" charset="0"/>
              </a:rPr>
              <a:t>	Methoden </a:t>
            </a:r>
            <a:r>
              <a:rPr lang="de-AT" altLang="de-DE" sz="2000" u="sng">
                <a:latin typeface="Calibri" panose="020F0502020204030204" pitchFamily="34" charset="0"/>
              </a:rPr>
              <a:t>mit</a:t>
            </a:r>
            <a:r>
              <a:rPr lang="de-AT" altLang="de-DE" sz="2000">
                <a:latin typeface="Calibri" panose="020F0502020204030204" pitchFamily="34" charset="0"/>
              </a:rPr>
              <a:t> Rückgabewert</a:t>
            </a:r>
          </a:p>
          <a:p>
            <a:r>
              <a:rPr lang="de-AT" altLang="de-DE" sz="2000" b="1">
                <a:latin typeface="Calibri" panose="020F0502020204030204" pitchFamily="34" charset="0"/>
              </a:rPr>
              <a:t>Prozeduren</a:t>
            </a:r>
            <a:r>
              <a:rPr lang="de-AT" altLang="de-DE" sz="2000">
                <a:latin typeface="Calibri" panose="020F0502020204030204" pitchFamily="34" charset="0"/>
              </a:rPr>
              <a:t>	Methoden </a:t>
            </a:r>
            <a:r>
              <a:rPr lang="de-AT" altLang="de-DE" sz="2000" u="sng">
                <a:latin typeface="Calibri" panose="020F0502020204030204" pitchFamily="34" charset="0"/>
              </a:rPr>
              <a:t>ohne</a:t>
            </a:r>
            <a:r>
              <a:rPr lang="de-AT" altLang="de-DE" sz="2000">
                <a:latin typeface="Calibri" panose="020F0502020204030204" pitchFamily="34" charset="0"/>
              </a:rPr>
              <a:t> Rückgabewert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5697881E-CF96-49FA-81BC-48E83E169360}"/>
              </a:ext>
            </a:extLst>
          </p:cNvPr>
          <p:cNvSpPr/>
          <p:nvPr/>
        </p:nvSpPr>
        <p:spPr>
          <a:xfrm>
            <a:off x="1691680" y="2250976"/>
            <a:ext cx="432048" cy="241920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0B6E685-B07C-44F7-AE09-61DD4236C18B}"/>
              </a:ext>
            </a:extLst>
          </p:cNvPr>
          <p:cNvSpPr/>
          <p:nvPr/>
        </p:nvSpPr>
        <p:spPr>
          <a:xfrm>
            <a:off x="1691680" y="2708920"/>
            <a:ext cx="1080120" cy="241920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5F878644-EE60-462D-A650-D61FDBD5AA2C}"/>
              </a:ext>
            </a:extLst>
          </p:cNvPr>
          <p:cNvSpPr/>
          <p:nvPr/>
        </p:nvSpPr>
        <p:spPr>
          <a:xfrm>
            <a:off x="2339752" y="2466999"/>
            <a:ext cx="936104" cy="274613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8A272B90-62FE-4816-BDD8-D5BBBE3AEA82}"/>
              </a:ext>
            </a:extLst>
          </p:cNvPr>
          <p:cNvSpPr/>
          <p:nvPr/>
        </p:nvSpPr>
        <p:spPr>
          <a:xfrm>
            <a:off x="1691680" y="3946475"/>
            <a:ext cx="1656184" cy="274613"/>
          </a:xfrm>
          <a:prstGeom prst="roundRect">
            <a:avLst/>
          </a:prstGeom>
          <a:solidFill>
            <a:srgbClr val="4F81BD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Sprechblase: rechteckig mit abgerundeten Ecken 1">
            <a:extLst>
              <a:ext uri="{FF2B5EF4-FFF2-40B4-BE49-F238E27FC236}">
                <a16:creationId xmlns:a16="http://schemas.microsoft.com/office/drawing/2014/main" id="{BD94D652-F161-4916-A5B2-ED665B87DC4B}"/>
              </a:ext>
            </a:extLst>
          </p:cNvPr>
          <p:cNvSpPr/>
          <p:nvPr/>
        </p:nvSpPr>
        <p:spPr>
          <a:xfrm>
            <a:off x="2621210" y="1520687"/>
            <a:ext cx="1806774" cy="468153"/>
          </a:xfrm>
          <a:prstGeom prst="wedgeRoundRectCallout">
            <a:avLst>
              <a:gd name="adj1" fmla="val -77510"/>
              <a:gd name="adj2" fmla="val 1169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800" dirty="0"/>
              <a:t>Rückgabewert</a:t>
            </a:r>
          </a:p>
        </p:txBody>
      </p:sp>
      <p:sp>
        <p:nvSpPr>
          <p:cNvPr id="16" name="Sprechblase: rechteckig mit abgerundeten Ecken 15">
            <a:extLst>
              <a:ext uri="{FF2B5EF4-FFF2-40B4-BE49-F238E27FC236}">
                <a16:creationId xmlns:a16="http://schemas.microsoft.com/office/drawing/2014/main" id="{C0AE4887-E868-404D-B165-C2640828CEAF}"/>
              </a:ext>
            </a:extLst>
          </p:cNvPr>
          <p:cNvSpPr/>
          <p:nvPr/>
        </p:nvSpPr>
        <p:spPr>
          <a:xfrm>
            <a:off x="1547664" y="4532243"/>
            <a:ext cx="1446734" cy="480933"/>
          </a:xfrm>
          <a:prstGeom prst="wedgeRoundRectCallout">
            <a:avLst>
              <a:gd name="adj1" fmla="val -4346"/>
              <a:gd name="adj2" fmla="val -1165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800" dirty="0"/>
              <a:t>Liefert </a:t>
            </a:r>
            <a:r>
              <a:rPr lang="de-A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de-AT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900113" y="1905000"/>
            <a:ext cx="3824287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066800" y="2362200"/>
            <a:ext cx="34290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00112" y="1911350"/>
            <a:ext cx="5112048" cy="378565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class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Sample 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b="1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Log2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x)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dirty="0">
                <a:solidFill>
                  <a:srgbClr val="00B05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// </a:t>
            </a:r>
            <a:r>
              <a:rPr lang="de-AT" sz="1600" dirty="0" err="1">
                <a:solidFill>
                  <a:srgbClr val="00B05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assert</a:t>
            </a:r>
            <a:r>
              <a:rPr lang="de-AT" sz="1600" dirty="0">
                <a:solidFill>
                  <a:srgbClr val="00B05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: x &gt;= 0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expo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= 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while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(x &gt; 1) 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x = x / 2; </a:t>
            </a:r>
            <a:r>
              <a:rPr lang="de-AT" sz="16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expo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++; 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return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expo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600" b="1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Main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()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 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x = Log2(17);  </a:t>
            </a:r>
            <a:r>
              <a:rPr lang="de-AT" sz="1600" dirty="0">
                <a:solidFill>
                  <a:srgbClr val="00B05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// x == 4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Weiteres Beispiel</a:t>
            </a: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746125" y="1233488"/>
            <a:ext cx="3594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Ganzzahliger Zweierlogarithmus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Lokale und statische Variablen</a:t>
            </a:r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4343400" y="4660900"/>
            <a:ext cx="386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Lokale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bei jedem Aufruf der Methode neu angelegt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Ende der Methode wieder freigegeben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914400" y="1447800"/>
            <a:ext cx="2199641" cy="1902059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class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C 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a, b;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P() 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>
                <a:solidFill>
                  <a:srgbClr val="00B05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x, y;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838200" y="4648200"/>
            <a:ext cx="34496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 b="1">
                <a:solidFill>
                  <a:srgbClr val="FF0000"/>
                </a:solidFill>
                <a:latin typeface="Calibri" panose="020F0502020204030204" pitchFamily="34" charset="0"/>
              </a:rPr>
              <a:t>Statische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Programmbeginn angelegt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Programmende wieder freigegeben</a:t>
            </a:r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3276600" y="1371600"/>
            <a:ext cx="3810000" cy="838200"/>
          </a:xfrm>
          <a:prstGeom prst="wedgeRectCallout">
            <a:avLst>
              <a:gd name="adj1" fmla="val -58933"/>
              <a:gd name="adj2" fmla="val 361"/>
            </a:avLst>
          </a:prstGeom>
          <a:noFill/>
          <a:ln w="63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>
              <a:defRPr/>
            </a:pPr>
            <a:r>
              <a:rPr lang="de-AT" sz="1600" b="1" dirty="0">
                <a:latin typeface="Calibri" pitchFamily="34" charset="0"/>
              </a:rPr>
              <a:t>Statische Variablen</a:t>
            </a:r>
          </a:p>
          <a:p>
            <a:pPr algn="ctr">
              <a:defRPr/>
            </a:pPr>
            <a:r>
              <a:rPr lang="de-AT" sz="1600" dirty="0">
                <a:latin typeface="Calibri" pitchFamily="34" charset="0"/>
              </a:rPr>
              <a:t>auf Klassenebene mit </a:t>
            </a:r>
            <a:r>
              <a:rPr lang="de-AT" sz="1600" i="1" dirty="0" err="1">
                <a:solidFill>
                  <a:schemeClr val="accent6"/>
                </a:solidFill>
                <a:latin typeface="Calibri" pitchFamily="34" charset="0"/>
              </a:rPr>
              <a:t>static</a:t>
            </a:r>
            <a:r>
              <a:rPr lang="de-AT" sz="1600" dirty="0">
                <a:solidFill>
                  <a:schemeClr val="accent6"/>
                </a:solidFill>
                <a:latin typeface="Calibri" pitchFamily="34" charset="0"/>
              </a:rPr>
              <a:t> </a:t>
            </a:r>
            <a:r>
              <a:rPr lang="de-AT" sz="1600" dirty="0">
                <a:latin typeface="Calibri" pitchFamily="34" charset="0"/>
              </a:rPr>
              <a:t>deklariert;</a:t>
            </a:r>
          </a:p>
          <a:p>
            <a:pPr algn="ctr">
              <a:defRPr/>
            </a:pPr>
            <a:r>
              <a:rPr lang="de-AT" sz="1600" dirty="0">
                <a:latin typeface="Calibri" pitchFamily="34" charset="0"/>
              </a:rPr>
              <a:t>auch in Methoden dieser Klasse sichtbar</a:t>
            </a:r>
          </a:p>
        </p:txBody>
      </p:sp>
      <p:sp>
        <p:nvSpPr>
          <p:cNvPr id="17416" name="AutoShape 7"/>
          <p:cNvSpPr>
            <a:spLocks noChangeArrowheads="1"/>
          </p:cNvSpPr>
          <p:nvPr/>
        </p:nvSpPr>
        <p:spPr bwMode="auto">
          <a:xfrm>
            <a:off x="3276600" y="2438400"/>
            <a:ext cx="3810000" cy="914400"/>
          </a:xfrm>
          <a:prstGeom prst="wedgeRectCallout">
            <a:avLst>
              <a:gd name="adj1" fmla="val -73886"/>
              <a:gd name="adj2" fmla="val -60483"/>
            </a:avLst>
          </a:prstGeom>
          <a:noFill/>
          <a:ln w="63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algn="ctr"/>
            <a:r>
              <a:rPr lang="de-AT" altLang="de-DE" sz="1600" b="1" dirty="0">
                <a:latin typeface="Calibri" panose="020F0502020204030204" pitchFamily="34" charset="0"/>
              </a:rPr>
              <a:t>Lokale Variablen</a:t>
            </a:r>
          </a:p>
          <a:p>
            <a:pPr algn="ctr"/>
            <a:r>
              <a:rPr lang="de-AT" altLang="de-DE" sz="1600" dirty="0">
                <a:latin typeface="Calibri" panose="020F0502020204030204" pitchFamily="34" charset="0"/>
              </a:rPr>
              <a:t>in einer Methode deklariert</a:t>
            </a:r>
          </a:p>
          <a:p>
            <a:pPr algn="ctr"/>
            <a:r>
              <a:rPr lang="de-AT" altLang="de-DE" sz="1600" dirty="0">
                <a:latin typeface="Calibri" panose="020F0502020204030204" pitchFamily="34" charset="0"/>
              </a:rPr>
              <a:t>(lokal zu dieser Methode; nur dort sichtbar)</a:t>
            </a:r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822325" y="4114800"/>
            <a:ext cx="497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Reservieren und Freigeben von Speicherplatz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Beispiel: Summe einer Zahlenfolge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51520" y="1738313"/>
            <a:ext cx="4214615" cy="2505301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class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Wrong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60000"/>
              </a:lnSpc>
              <a:tabLst>
                <a:tab pos="187325" algn="l"/>
                <a:tab pos="374650" algn="l"/>
              </a:tabLst>
              <a:defRPr/>
            </a:pPr>
            <a:endParaRPr lang="de-AT" sz="1400" dirty="0"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Add (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x) 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int</a:t>
            </a:r>
            <a:r>
              <a:rPr lang="de-AT" sz="1400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sum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= 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sum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=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sum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+ x;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60000"/>
              </a:lnSpc>
              <a:tabLst>
                <a:tab pos="187325" algn="l"/>
                <a:tab pos="374650" algn="l"/>
              </a:tabLst>
              <a:defRPr/>
            </a:pPr>
            <a:endParaRPr lang="de-AT" sz="1400" dirty="0">
              <a:latin typeface="Courier New" panose="02070309020205020404" pitchFamily="49" charset="0"/>
              <a:ea typeface="ＭＳ Ｐゴシック" pitchFamily="-44" charset="-128"/>
              <a:cs typeface="Courier New" panose="02070309020205020404" pitchFamily="49" charset="0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static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</a:t>
            </a:r>
            <a:r>
              <a:rPr lang="de-AT" sz="1400" dirty="0" err="1">
                <a:solidFill>
                  <a:schemeClr val="accent2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void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Main() 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Add(1); Add(2); Add(3);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	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Console.WriteLine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("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sum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 = " + </a:t>
            </a:r>
            <a:r>
              <a:rPr lang="de-AT" sz="1400" dirty="0" err="1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sum</a:t>
            </a: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	</a:t>
            </a: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84700" y="1219200"/>
            <a:ext cx="4241800" cy="3071813"/>
            <a:chOff x="2888" y="768"/>
            <a:chExt cx="2672" cy="1935"/>
          </a:xfrm>
        </p:grpSpPr>
        <p:sp>
          <p:nvSpPr>
            <p:cNvPr id="11273" name="Text Box 5"/>
            <p:cNvSpPr txBox="1">
              <a:spLocks noChangeArrowheads="1"/>
            </p:cNvSpPr>
            <p:nvPr/>
          </p:nvSpPr>
          <p:spPr bwMode="auto">
            <a:xfrm>
              <a:off x="2905" y="1043"/>
              <a:ext cx="2655" cy="166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class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Correct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{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</a:t>
              </a:r>
              <a:r>
                <a:rPr lang="de-AT" sz="1400" dirty="0" err="1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static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 err="1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int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 err="1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sum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= 0;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4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</a:t>
              </a: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static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void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Add (</a:t>
              </a: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int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x) 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{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	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sum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= 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sum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+ x;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}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400" dirty="0"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</a:t>
              </a: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static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</a:t>
              </a:r>
              <a:r>
                <a:rPr lang="de-AT" sz="1400" dirty="0" err="1">
                  <a:solidFill>
                    <a:schemeClr val="accent2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void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Main() 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{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	Add(1); Add(2); Add(3);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	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Console.WriteLine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("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sum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 = " + </a:t>
              </a:r>
              <a:r>
                <a:rPr lang="de-AT" sz="1400" dirty="0" err="1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sum</a:t>
              </a: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);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	</a:t>
              </a: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}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400" dirty="0">
                  <a:solidFill>
                    <a:srgbClr val="FF0000"/>
                  </a:solidFill>
                  <a:latin typeface="Courier New" panose="02070309020205020404" pitchFamily="49" charset="0"/>
                  <a:ea typeface="ＭＳ Ｐゴシック" pitchFamily="-44" charset="-128"/>
                  <a:cs typeface="Courier New" panose="02070309020205020404" pitchFamily="49" charset="0"/>
                </a:rPr>
                <a:t>}</a:t>
              </a:r>
              <a:endParaRPr lang="de-AT" sz="1600" dirty="0">
                <a:solidFill>
                  <a:srgbClr val="FF0000"/>
                </a:solidFill>
                <a:latin typeface="Courier New" panose="02070309020205020404" pitchFamily="49" charset="0"/>
                <a:ea typeface="ＭＳ Ｐゴシック" pitchFamily="-44" charset="-128"/>
                <a:cs typeface="Courier New" panose="02070309020205020404" pitchFamily="49" charset="0"/>
              </a:endParaRPr>
            </a:p>
          </p:txBody>
        </p:sp>
        <p:sp>
          <p:nvSpPr>
            <p:cNvPr id="18442" name="Text Box 6"/>
            <p:cNvSpPr txBox="1">
              <a:spLocks noChangeArrowheads="1"/>
            </p:cNvSpPr>
            <p:nvPr/>
          </p:nvSpPr>
          <p:spPr bwMode="auto">
            <a:xfrm>
              <a:off x="2888" y="768"/>
              <a:ext cx="13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>
                  <a:latin typeface="Calibri" panose="020F0502020204030204" pitchFamily="34" charset="0"/>
                </a:rPr>
                <a:t>Semantisch richtig!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62000" y="1233488"/>
            <a:ext cx="3657600" cy="4770437"/>
            <a:chOff x="480" y="777"/>
            <a:chExt cx="2304" cy="3005"/>
          </a:xfrm>
        </p:grpSpPr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480" y="777"/>
              <a:ext cx="13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 dirty="0">
                  <a:latin typeface="Calibri" panose="020F0502020204030204" pitchFamily="34" charset="0"/>
                </a:rPr>
                <a:t>Semantisch falsch!</a:t>
              </a:r>
            </a:p>
          </p:txBody>
        </p:sp>
        <p:sp>
          <p:nvSpPr>
            <p:cNvPr id="18440" name="Text Box 9"/>
            <p:cNvSpPr txBox="1">
              <a:spLocks noChangeArrowheads="1"/>
            </p:cNvSpPr>
            <p:nvPr/>
          </p:nvSpPr>
          <p:spPr bwMode="auto">
            <a:xfrm>
              <a:off x="518" y="3072"/>
              <a:ext cx="226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pPr>
                <a:buFontTx/>
                <a:buChar char="•"/>
              </a:pPr>
              <a:r>
                <a:rPr lang="de-AT" altLang="de-DE" sz="1600" i="1">
                  <a:latin typeface="Calibri" panose="020F0502020204030204" pitchFamily="34" charset="0"/>
                </a:rPr>
                <a:t>sum</a:t>
              </a:r>
              <a:r>
                <a:rPr lang="de-AT" altLang="de-DE" sz="1600">
                  <a:latin typeface="Calibri" panose="020F0502020204030204" pitchFamily="34" charset="0"/>
                </a:rPr>
                <a:t> ist in </a:t>
              </a:r>
              <a:r>
                <a:rPr lang="de-AT" altLang="de-DE" sz="1600" i="1">
                  <a:latin typeface="Calibri" panose="020F0502020204030204" pitchFamily="34" charset="0"/>
                </a:rPr>
                <a:t>Main</a:t>
              </a:r>
              <a:r>
                <a:rPr lang="de-AT" altLang="de-DE" sz="1600">
                  <a:latin typeface="Calibri" panose="020F0502020204030204" pitchFamily="34" charset="0"/>
                </a:rPr>
                <a:t> nicht sichtbar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de-AT" altLang="de-DE" sz="1600" i="1">
                  <a:latin typeface="Calibri" panose="020F0502020204030204" pitchFamily="34" charset="0"/>
                </a:rPr>
                <a:t>sum</a:t>
              </a:r>
              <a:r>
                <a:rPr lang="de-AT" altLang="de-DE" sz="1600">
                  <a:latin typeface="Calibri" panose="020F0502020204030204" pitchFamily="34" charset="0"/>
                </a:rPr>
                <a:t> wird bei jedem Aufruf von </a:t>
              </a:r>
              <a:r>
                <a:rPr lang="de-AT" altLang="de-DE" sz="1600" i="1">
                  <a:latin typeface="Calibri" panose="020F0502020204030204" pitchFamily="34" charset="0"/>
                </a:rPr>
                <a:t>Add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neu angelegt (alter Wert geht verloren)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914400" y="2286000"/>
            <a:ext cx="2209800" cy="32004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219200" y="2743200"/>
            <a:ext cx="1709738" cy="762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219200" y="4038600"/>
            <a:ext cx="1752600" cy="1066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Sichtbarkeitsbereich von Namen</a:t>
            </a: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752475" y="1233488"/>
            <a:ext cx="7248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Programmstück, in dem auf diesen Namen zugegriffen werden kann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(auch </a:t>
            </a:r>
            <a:r>
              <a:rPr lang="de-AT" altLang="de-DE" sz="1600" i="1">
                <a:latin typeface="Calibri" panose="020F0502020204030204" pitchFamily="34" charset="0"/>
              </a:rPr>
              <a:t>Gültigkeitsbereich</a:t>
            </a:r>
            <a:r>
              <a:rPr lang="de-AT" altLang="de-DE" sz="1600">
                <a:latin typeface="Calibri" panose="020F0502020204030204" pitchFamily="34" charset="0"/>
              </a:rPr>
              <a:t> oder </a:t>
            </a:r>
            <a:r>
              <a:rPr lang="de-AT" altLang="de-DE" sz="1600" i="1">
                <a:latin typeface="Calibri" panose="020F0502020204030204" pitchFamily="34" charset="0"/>
              </a:rPr>
              <a:t>Scope</a:t>
            </a:r>
            <a:r>
              <a:rPr lang="de-AT" altLang="de-DE" sz="1600">
                <a:latin typeface="Calibri" panose="020F0502020204030204" pitchFamily="34" charset="0"/>
              </a:rPr>
              <a:t> des Namens genannt)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974725" y="2347913"/>
            <a:ext cx="209708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class</a:t>
            </a:r>
            <a:r>
              <a:rPr lang="de-AT" altLang="de-DE" sz="1600">
                <a:latin typeface="Calibri" panose="020F0502020204030204" pitchFamily="34" charset="0"/>
              </a:rPr>
              <a:t> Sample {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P() 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}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  <a:r>
              <a:rPr lang="de-AT" altLang="de-DE" sz="1600">
                <a:latin typeface="Calibri" panose="020F0502020204030204" pitchFamily="34" charset="0"/>
              </a:rPr>
              <a:t>;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Q(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z) 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x;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}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>
            <a:off x="3352800" y="3657600"/>
            <a:ext cx="0" cy="1676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>
            <a:off x="3276600" y="53340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>
            <a:off x="3657600" y="3962400"/>
            <a:ext cx="0" cy="13716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>
            <a:off x="3581400" y="53340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9" name="Line 12"/>
          <p:cNvSpPr>
            <a:spLocks noChangeShapeType="1"/>
          </p:cNvSpPr>
          <p:nvPr/>
        </p:nvSpPr>
        <p:spPr bwMode="auto">
          <a:xfrm>
            <a:off x="3276600" y="2819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>
            <a:off x="3581400" y="2819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1" name="Text Box 14"/>
          <p:cNvSpPr txBox="1">
            <a:spLocks noChangeArrowheads="1"/>
          </p:cNvSpPr>
          <p:nvPr/>
        </p:nvSpPr>
        <p:spPr bwMode="auto">
          <a:xfrm>
            <a:off x="3225800" y="2514600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241925" y="2147888"/>
            <a:ext cx="3819525" cy="3451225"/>
            <a:chOff x="3302" y="1353"/>
            <a:chExt cx="2406" cy="2174"/>
          </a:xfrm>
        </p:grpSpPr>
        <p:sp>
          <p:nvSpPr>
            <p:cNvPr id="19490" name="Text Box 16"/>
            <p:cNvSpPr txBox="1">
              <a:spLocks noChangeArrowheads="1"/>
            </p:cNvSpPr>
            <p:nvPr/>
          </p:nvSpPr>
          <p:spPr bwMode="auto">
            <a:xfrm>
              <a:off x="3302" y="1353"/>
              <a:ext cx="5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>
                  <a:latin typeface="Calibri" panose="020F0502020204030204" pitchFamily="34" charset="0"/>
                </a:rPr>
                <a:t>Regeln</a:t>
              </a:r>
            </a:p>
          </p:txBody>
        </p:sp>
        <p:sp>
          <p:nvSpPr>
            <p:cNvPr id="19491" name="Text Box 17"/>
            <p:cNvSpPr txBox="1">
              <a:spLocks noChangeArrowheads="1"/>
            </p:cNvSpPr>
            <p:nvPr/>
          </p:nvSpPr>
          <p:spPr bwMode="auto">
            <a:xfrm>
              <a:off x="3302" y="1623"/>
              <a:ext cx="2406" cy="1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92100" indent="-2921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pPr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Ein Name darf in einem Block nicht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mehrmals deklariert werden (auch nicht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in geschachtelten Anweisungsblöcken).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Lokale Namen verdecken Namen,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die auf Klassenebene deklariert sind.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Der Sichtbarkeitsbereich eines lokalen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Namens beginnt bei seiner Deklaration 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und geht bis zum Ende der Methode.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Auf Klassenebene deklarierte Namen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sind in allen Methoden der Klasse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sichtbar.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352800" y="3886200"/>
            <a:ext cx="1035050" cy="1143000"/>
            <a:chOff x="2112" y="2448"/>
            <a:chExt cx="652" cy="720"/>
          </a:xfrm>
        </p:grpSpPr>
        <p:sp>
          <p:nvSpPr>
            <p:cNvPr id="19481" name="Line 19"/>
            <p:cNvSpPr>
              <a:spLocks noChangeShapeType="1"/>
            </p:cNvSpPr>
            <p:nvPr/>
          </p:nvSpPr>
          <p:spPr bwMode="auto">
            <a:xfrm>
              <a:off x="2496" y="2640"/>
              <a:ext cx="0" cy="52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2" name="Line 20"/>
            <p:cNvSpPr>
              <a:spLocks noChangeShapeType="1"/>
            </p:cNvSpPr>
            <p:nvPr/>
          </p:nvSpPr>
          <p:spPr bwMode="auto">
            <a:xfrm>
              <a:off x="2448" y="3168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3" name="Line 21"/>
            <p:cNvSpPr>
              <a:spLocks noChangeShapeType="1"/>
            </p:cNvSpPr>
            <p:nvPr/>
          </p:nvSpPr>
          <p:spPr bwMode="auto">
            <a:xfrm>
              <a:off x="2448" y="2640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4" name="Line 22"/>
            <p:cNvSpPr>
              <a:spLocks noChangeShapeType="1"/>
            </p:cNvSpPr>
            <p:nvPr/>
          </p:nvSpPr>
          <p:spPr bwMode="auto">
            <a:xfrm>
              <a:off x="2688" y="2784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5" name="Line 23"/>
            <p:cNvSpPr>
              <a:spLocks noChangeShapeType="1"/>
            </p:cNvSpPr>
            <p:nvPr/>
          </p:nvSpPr>
          <p:spPr bwMode="auto">
            <a:xfrm>
              <a:off x="2640" y="3168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6" name="Line 24"/>
            <p:cNvSpPr>
              <a:spLocks noChangeShapeType="1"/>
            </p:cNvSpPr>
            <p:nvPr/>
          </p:nvSpPr>
          <p:spPr bwMode="auto">
            <a:xfrm>
              <a:off x="2640" y="2784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7" name="Text Box 25"/>
            <p:cNvSpPr txBox="1">
              <a:spLocks noChangeArrowheads="1"/>
            </p:cNvSpPr>
            <p:nvPr/>
          </p:nvSpPr>
          <p:spPr bwMode="auto">
            <a:xfrm>
              <a:off x="2592" y="2592"/>
              <a:ext cx="1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x</a:t>
              </a:r>
            </a:p>
          </p:txBody>
        </p:sp>
        <p:sp>
          <p:nvSpPr>
            <p:cNvPr id="19488" name="Text Box 26"/>
            <p:cNvSpPr txBox="1">
              <a:spLocks noChangeArrowheads="1"/>
            </p:cNvSpPr>
            <p:nvPr/>
          </p:nvSpPr>
          <p:spPr bwMode="auto">
            <a:xfrm>
              <a:off x="2400" y="2448"/>
              <a:ext cx="1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z</a:t>
              </a:r>
            </a:p>
          </p:txBody>
        </p:sp>
        <p:sp>
          <p:nvSpPr>
            <p:cNvPr id="19489" name="Line 27"/>
            <p:cNvSpPr>
              <a:spLocks noChangeShapeType="1"/>
            </p:cNvSpPr>
            <p:nvPr/>
          </p:nvSpPr>
          <p:spPr bwMode="auto">
            <a:xfrm>
              <a:off x="2112" y="2784"/>
              <a:ext cx="0" cy="384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19474" name="Line 28"/>
          <p:cNvSpPr>
            <a:spLocks noChangeShapeType="1"/>
          </p:cNvSpPr>
          <p:nvPr/>
        </p:nvSpPr>
        <p:spPr bwMode="auto">
          <a:xfrm>
            <a:off x="3276600" y="36576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5" name="Line 29"/>
          <p:cNvSpPr>
            <a:spLocks noChangeShapeType="1"/>
          </p:cNvSpPr>
          <p:nvPr/>
        </p:nvSpPr>
        <p:spPr bwMode="auto">
          <a:xfrm>
            <a:off x="3276600" y="33528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6" name="Line 30"/>
          <p:cNvSpPr>
            <a:spLocks noChangeShapeType="1"/>
          </p:cNvSpPr>
          <p:nvPr/>
        </p:nvSpPr>
        <p:spPr bwMode="auto">
          <a:xfrm>
            <a:off x="3352800" y="2819400"/>
            <a:ext cx="0" cy="533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7" name="Line 31"/>
          <p:cNvSpPr>
            <a:spLocks noChangeShapeType="1"/>
          </p:cNvSpPr>
          <p:nvPr/>
        </p:nvSpPr>
        <p:spPr bwMode="auto">
          <a:xfrm>
            <a:off x="3581400" y="33528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8" name="Line 32"/>
          <p:cNvSpPr>
            <a:spLocks noChangeShapeType="1"/>
          </p:cNvSpPr>
          <p:nvPr/>
        </p:nvSpPr>
        <p:spPr bwMode="auto">
          <a:xfrm>
            <a:off x="3581400" y="3962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9" name="Line 33"/>
          <p:cNvSpPr>
            <a:spLocks noChangeShapeType="1"/>
          </p:cNvSpPr>
          <p:nvPr/>
        </p:nvSpPr>
        <p:spPr bwMode="auto">
          <a:xfrm>
            <a:off x="3657600" y="2819400"/>
            <a:ext cx="0" cy="533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80" name="Text Box 34"/>
          <p:cNvSpPr txBox="1">
            <a:spLocks noChangeArrowheads="1"/>
          </p:cNvSpPr>
          <p:nvPr/>
        </p:nvSpPr>
        <p:spPr bwMode="auto">
          <a:xfrm>
            <a:off x="3530600" y="2514600"/>
            <a:ext cx="277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 zu Sichtbarkeitsregeln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524000" y="908720"/>
            <a:ext cx="6042025" cy="536098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Sample {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P()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0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0;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Main()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0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1;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verdeckt statisches x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1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P();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&gt; 0)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Fehler: x ist in 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 bereits deklariert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9900"/>
                </a:solidFill>
                <a:latin typeface="Calibri" pitchFamily="34" charset="0"/>
                <a:ea typeface="ＭＳ Ｐゴシック" pitchFamily="-44" charset="-128"/>
              </a:rPr>
              <a:t>y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}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else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9900"/>
                </a:solidFill>
                <a:latin typeface="Calibri" pitchFamily="34" charset="0"/>
                <a:ea typeface="ＭＳ Ｐゴシック" pitchFamily="-44" charset="-128"/>
              </a:rPr>
              <a:t>y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ok, kein Konflikt mit y im 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then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-Zweig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for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0; ...) {...}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for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1; ...) {...}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ok, kein Konflikt mit i aus letzter Schleife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819150" y="2218407"/>
            <a:ext cx="0" cy="762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742950" y="19136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742950" y="2980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8" name="Line 7"/>
          <p:cNvSpPr>
            <a:spLocks noChangeShapeType="1"/>
          </p:cNvSpPr>
          <p:nvPr/>
        </p:nvSpPr>
        <p:spPr bwMode="auto">
          <a:xfrm>
            <a:off x="819150" y="1456407"/>
            <a:ext cx="0" cy="4572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742950" y="1456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742950" y="2218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685800" y="1913607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1066800" y="2980407"/>
            <a:ext cx="0" cy="28956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>
            <a:off x="990600" y="5876007"/>
            <a:ext cx="152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>
            <a:off x="990600" y="2980407"/>
            <a:ext cx="152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5" name="Text Box 14"/>
          <p:cNvSpPr txBox="1">
            <a:spLocks noChangeArrowheads="1"/>
          </p:cNvSpPr>
          <p:nvPr/>
        </p:nvSpPr>
        <p:spPr bwMode="auto">
          <a:xfrm>
            <a:off x="933450" y="2675607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20496" name="Line 15"/>
          <p:cNvSpPr>
            <a:spLocks noChangeShapeType="1"/>
          </p:cNvSpPr>
          <p:nvPr/>
        </p:nvSpPr>
        <p:spPr bwMode="auto">
          <a:xfrm>
            <a:off x="1295400" y="4123407"/>
            <a:ext cx="0" cy="45720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7" name="Line 16"/>
          <p:cNvSpPr>
            <a:spLocks noChangeShapeType="1"/>
          </p:cNvSpPr>
          <p:nvPr/>
        </p:nvSpPr>
        <p:spPr bwMode="auto">
          <a:xfrm>
            <a:off x="1219200" y="45806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8" name="Line 17"/>
          <p:cNvSpPr>
            <a:spLocks noChangeShapeType="1"/>
          </p:cNvSpPr>
          <p:nvPr/>
        </p:nvSpPr>
        <p:spPr bwMode="auto">
          <a:xfrm>
            <a:off x="1219200" y="41234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9" name="Text Box 18"/>
          <p:cNvSpPr txBox="1">
            <a:spLocks noChangeArrowheads="1"/>
          </p:cNvSpPr>
          <p:nvPr/>
        </p:nvSpPr>
        <p:spPr bwMode="auto">
          <a:xfrm>
            <a:off x="1162050" y="3818607"/>
            <a:ext cx="277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009900"/>
                </a:solidFill>
                <a:latin typeface="Calibri" panose="020F0502020204030204" pitchFamily="34" charset="0"/>
              </a:rPr>
              <a:t>y</a:t>
            </a:r>
          </a:p>
        </p:txBody>
      </p:sp>
      <p:sp>
        <p:nvSpPr>
          <p:cNvPr id="20500" name="Line 19"/>
          <p:cNvSpPr>
            <a:spLocks noChangeShapeType="1"/>
          </p:cNvSpPr>
          <p:nvPr/>
        </p:nvSpPr>
        <p:spPr bwMode="auto">
          <a:xfrm>
            <a:off x="1295400" y="4809207"/>
            <a:ext cx="0" cy="45720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1" name="Line 20"/>
          <p:cNvSpPr>
            <a:spLocks noChangeShapeType="1"/>
          </p:cNvSpPr>
          <p:nvPr/>
        </p:nvSpPr>
        <p:spPr bwMode="auto">
          <a:xfrm>
            <a:off x="1219200" y="52664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2" name="Line 21"/>
          <p:cNvSpPr>
            <a:spLocks noChangeShapeType="1"/>
          </p:cNvSpPr>
          <p:nvPr/>
        </p:nvSpPr>
        <p:spPr bwMode="auto">
          <a:xfrm>
            <a:off x="1219200" y="48092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1162050" y="4504407"/>
            <a:ext cx="322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009900"/>
                </a:solidFill>
                <a:latin typeface="Calibri" panose="020F0502020204030204" pitchFamily="34" charset="0"/>
              </a:rPr>
              <a:t>y'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Lebensdauer von Variablen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252663" y="879053"/>
            <a:ext cx="3995737" cy="381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LifenessDemo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{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g;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A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a;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B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b;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 A(); ... A(); 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 B(); 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212725" y="4993853"/>
            <a:ext cx="1644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lokale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(Methodenkeller)</a:t>
            </a: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212725" y="5741566"/>
            <a:ext cx="12731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statische Var.</a:t>
            </a: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1828800" y="5755853"/>
            <a:ext cx="457200" cy="2286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1905000" y="5679653"/>
            <a:ext cx="280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g</a:t>
            </a:r>
          </a:p>
        </p:txBody>
      </p:sp>
      <p:sp>
        <p:nvSpPr>
          <p:cNvPr id="21513" name="Line 8"/>
          <p:cNvSpPr>
            <a:spLocks noChangeShapeType="1"/>
          </p:cNvSpPr>
          <p:nvPr/>
        </p:nvSpPr>
        <p:spPr bwMode="auto">
          <a:xfrm>
            <a:off x="304800" y="5679653"/>
            <a:ext cx="6019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438400" y="5266903"/>
            <a:ext cx="457200" cy="1098550"/>
            <a:chOff x="1536" y="3532"/>
            <a:chExt cx="288" cy="692"/>
          </a:xfrm>
        </p:grpSpPr>
        <p:sp>
          <p:nvSpPr>
            <p:cNvPr id="21571" name="Text Box 10"/>
            <p:cNvSpPr txBox="1">
              <a:spLocks noChangeArrowheads="1"/>
            </p:cNvSpPr>
            <p:nvPr/>
          </p:nvSpPr>
          <p:spPr bwMode="auto">
            <a:xfrm>
              <a:off x="1536" y="397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</a:t>
              </a:r>
            </a:p>
          </p:txBody>
        </p:sp>
        <p:sp>
          <p:nvSpPr>
            <p:cNvPr id="21572" name="Rectangle 12"/>
            <p:cNvSpPr>
              <a:spLocks noChangeArrowheads="1"/>
            </p:cNvSpPr>
            <p:nvPr/>
          </p:nvSpPr>
          <p:spPr bwMode="auto">
            <a:xfrm>
              <a:off x="1536" y="38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3" name="Text Box 13"/>
            <p:cNvSpPr txBox="1">
              <a:spLocks noChangeArrowheads="1"/>
            </p:cNvSpPr>
            <p:nvPr/>
          </p:nvSpPr>
          <p:spPr bwMode="auto">
            <a:xfrm>
              <a:off x="1584" y="3792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74" name="Rectangle 14"/>
            <p:cNvSpPr>
              <a:spLocks noChangeArrowheads="1"/>
            </p:cNvSpPr>
            <p:nvPr/>
          </p:nvSpPr>
          <p:spPr bwMode="auto">
            <a:xfrm>
              <a:off x="1536" y="358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5" name="Text Box 15"/>
            <p:cNvSpPr txBox="1">
              <a:spLocks noChangeArrowheads="1"/>
            </p:cNvSpPr>
            <p:nvPr/>
          </p:nvSpPr>
          <p:spPr bwMode="auto">
            <a:xfrm>
              <a:off x="1584" y="3532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m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941638" y="5038303"/>
            <a:ext cx="487362" cy="1336675"/>
            <a:chOff x="1853" y="3388"/>
            <a:chExt cx="307" cy="842"/>
          </a:xfrm>
        </p:grpSpPr>
        <p:sp>
          <p:nvSpPr>
            <p:cNvPr id="21564" name="Rectangle 18"/>
            <p:cNvSpPr>
              <a:spLocks noChangeArrowheads="1"/>
            </p:cNvSpPr>
            <p:nvPr/>
          </p:nvSpPr>
          <p:spPr bwMode="auto">
            <a:xfrm>
              <a:off x="1872" y="3841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5" name="Text Box 19"/>
            <p:cNvSpPr txBox="1">
              <a:spLocks noChangeArrowheads="1"/>
            </p:cNvSpPr>
            <p:nvPr/>
          </p:nvSpPr>
          <p:spPr bwMode="auto">
            <a:xfrm>
              <a:off x="1920" y="3793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66" name="Rectangle 20"/>
            <p:cNvSpPr>
              <a:spLocks noChangeArrowheads="1"/>
            </p:cNvSpPr>
            <p:nvPr/>
          </p:nvSpPr>
          <p:spPr bwMode="auto">
            <a:xfrm>
              <a:off x="1872" y="3581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7" name="Text Box 21"/>
            <p:cNvSpPr txBox="1">
              <a:spLocks noChangeArrowheads="1"/>
            </p:cNvSpPr>
            <p:nvPr/>
          </p:nvSpPr>
          <p:spPr bwMode="auto">
            <a:xfrm>
              <a:off x="1920" y="3533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68" name="Text Box 22"/>
            <p:cNvSpPr txBox="1">
              <a:spLocks noChangeArrowheads="1"/>
            </p:cNvSpPr>
            <p:nvPr/>
          </p:nvSpPr>
          <p:spPr bwMode="auto">
            <a:xfrm>
              <a:off x="1853" y="3980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</a:t>
              </a:r>
            </a:p>
          </p:txBody>
        </p:sp>
        <p:sp>
          <p:nvSpPr>
            <p:cNvPr id="21569" name="Rectangle 23"/>
            <p:cNvSpPr>
              <a:spLocks noChangeArrowheads="1"/>
            </p:cNvSpPr>
            <p:nvPr/>
          </p:nvSpPr>
          <p:spPr bwMode="auto">
            <a:xfrm>
              <a:off x="1872" y="3436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0" name="Text Box 24"/>
            <p:cNvSpPr txBox="1">
              <a:spLocks noChangeArrowheads="1"/>
            </p:cNvSpPr>
            <p:nvPr/>
          </p:nvSpPr>
          <p:spPr bwMode="auto">
            <a:xfrm>
              <a:off x="1920" y="3388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505200" y="4816053"/>
            <a:ext cx="487363" cy="1565275"/>
            <a:chOff x="2208" y="3248"/>
            <a:chExt cx="307" cy="986"/>
          </a:xfrm>
        </p:grpSpPr>
        <p:sp>
          <p:nvSpPr>
            <p:cNvPr id="21555" name="Rectangle 27"/>
            <p:cNvSpPr>
              <a:spLocks noChangeArrowheads="1"/>
            </p:cNvSpPr>
            <p:nvPr/>
          </p:nvSpPr>
          <p:spPr bwMode="auto">
            <a:xfrm>
              <a:off x="2227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6" name="Text Box 28"/>
            <p:cNvSpPr txBox="1">
              <a:spLocks noChangeArrowheads="1"/>
            </p:cNvSpPr>
            <p:nvPr/>
          </p:nvSpPr>
          <p:spPr bwMode="auto">
            <a:xfrm>
              <a:off x="2275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57" name="Rectangle 29"/>
            <p:cNvSpPr>
              <a:spLocks noChangeArrowheads="1"/>
            </p:cNvSpPr>
            <p:nvPr/>
          </p:nvSpPr>
          <p:spPr bwMode="auto">
            <a:xfrm>
              <a:off x="2227" y="3585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8" name="Text Box 30"/>
            <p:cNvSpPr txBox="1">
              <a:spLocks noChangeArrowheads="1"/>
            </p:cNvSpPr>
            <p:nvPr/>
          </p:nvSpPr>
          <p:spPr bwMode="auto">
            <a:xfrm>
              <a:off x="2275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59" name="Text Box 31"/>
            <p:cNvSpPr txBox="1">
              <a:spLocks noChangeArrowheads="1"/>
            </p:cNvSpPr>
            <p:nvPr/>
          </p:nvSpPr>
          <p:spPr bwMode="auto">
            <a:xfrm>
              <a:off x="2208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</a:t>
              </a:r>
            </a:p>
          </p:txBody>
        </p:sp>
        <p:sp>
          <p:nvSpPr>
            <p:cNvPr id="21560" name="Rectangle 32"/>
            <p:cNvSpPr>
              <a:spLocks noChangeArrowheads="1"/>
            </p:cNvSpPr>
            <p:nvPr/>
          </p:nvSpPr>
          <p:spPr bwMode="auto">
            <a:xfrm>
              <a:off x="2227" y="3440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1" name="Text Box 33"/>
            <p:cNvSpPr txBox="1">
              <a:spLocks noChangeArrowheads="1"/>
            </p:cNvSpPr>
            <p:nvPr/>
          </p:nvSpPr>
          <p:spPr bwMode="auto">
            <a:xfrm>
              <a:off x="2275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b</a:t>
              </a:r>
            </a:p>
          </p:txBody>
        </p:sp>
        <p:sp>
          <p:nvSpPr>
            <p:cNvPr id="21562" name="Rectangle 34"/>
            <p:cNvSpPr>
              <a:spLocks noChangeArrowheads="1"/>
            </p:cNvSpPr>
            <p:nvPr/>
          </p:nvSpPr>
          <p:spPr bwMode="auto">
            <a:xfrm>
              <a:off x="2224" y="3296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3" name="Text Box 35"/>
            <p:cNvSpPr txBox="1">
              <a:spLocks noChangeArrowheads="1"/>
            </p:cNvSpPr>
            <p:nvPr/>
          </p:nvSpPr>
          <p:spPr bwMode="auto">
            <a:xfrm>
              <a:off x="2272" y="3248"/>
              <a:ext cx="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4084638" y="5044653"/>
            <a:ext cx="487362" cy="1336675"/>
            <a:chOff x="2573" y="3392"/>
            <a:chExt cx="307" cy="842"/>
          </a:xfrm>
        </p:grpSpPr>
        <p:sp>
          <p:nvSpPr>
            <p:cNvPr id="21548" name="Rectangle 38"/>
            <p:cNvSpPr>
              <a:spLocks noChangeArrowheads="1"/>
            </p:cNvSpPr>
            <p:nvPr/>
          </p:nvSpPr>
          <p:spPr bwMode="auto">
            <a:xfrm>
              <a:off x="2592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9" name="Text Box 39"/>
            <p:cNvSpPr txBox="1">
              <a:spLocks noChangeArrowheads="1"/>
            </p:cNvSpPr>
            <p:nvPr/>
          </p:nvSpPr>
          <p:spPr bwMode="auto">
            <a:xfrm>
              <a:off x="2640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50" name="Rectangle 40"/>
            <p:cNvSpPr>
              <a:spLocks noChangeArrowheads="1"/>
            </p:cNvSpPr>
            <p:nvPr/>
          </p:nvSpPr>
          <p:spPr bwMode="auto">
            <a:xfrm>
              <a:off x="2592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1" name="Text Box 41"/>
            <p:cNvSpPr txBox="1">
              <a:spLocks noChangeArrowheads="1"/>
            </p:cNvSpPr>
            <p:nvPr/>
          </p:nvSpPr>
          <p:spPr bwMode="auto">
            <a:xfrm>
              <a:off x="2640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52" name="Text Box 42"/>
            <p:cNvSpPr txBox="1">
              <a:spLocks noChangeArrowheads="1"/>
            </p:cNvSpPr>
            <p:nvPr/>
          </p:nvSpPr>
          <p:spPr bwMode="auto">
            <a:xfrm>
              <a:off x="2573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</a:t>
              </a:r>
            </a:p>
          </p:txBody>
        </p:sp>
        <p:sp>
          <p:nvSpPr>
            <p:cNvPr id="21553" name="Rectangle 43"/>
            <p:cNvSpPr>
              <a:spLocks noChangeArrowheads="1"/>
            </p:cNvSpPr>
            <p:nvPr/>
          </p:nvSpPr>
          <p:spPr bwMode="auto">
            <a:xfrm>
              <a:off x="2592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4" name="Text Box 44"/>
            <p:cNvSpPr txBox="1">
              <a:spLocks noChangeArrowheads="1"/>
            </p:cNvSpPr>
            <p:nvPr/>
          </p:nvSpPr>
          <p:spPr bwMode="auto">
            <a:xfrm>
              <a:off x="2640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4643438" y="4816053"/>
            <a:ext cx="492125" cy="1565275"/>
            <a:chOff x="2925" y="3248"/>
            <a:chExt cx="310" cy="986"/>
          </a:xfrm>
        </p:grpSpPr>
        <p:sp>
          <p:nvSpPr>
            <p:cNvPr id="21539" name="Rectangle 46"/>
            <p:cNvSpPr>
              <a:spLocks noChangeArrowheads="1"/>
            </p:cNvSpPr>
            <p:nvPr/>
          </p:nvSpPr>
          <p:spPr bwMode="auto">
            <a:xfrm>
              <a:off x="2947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0" name="Text Box 47"/>
            <p:cNvSpPr txBox="1">
              <a:spLocks noChangeArrowheads="1"/>
            </p:cNvSpPr>
            <p:nvPr/>
          </p:nvSpPr>
          <p:spPr bwMode="auto">
            <a:xfrm>
              <a:off x="2995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41" name="Rectangle 48"/>
            <p:cNvSpPr>
              <a:spLocks noChangeArrowheads="1"/>
            </p:cNvSpPr>
            <p:nvPr/>
          </p:nvSpPr>
          <p:spPr bwMode="auto">
            <a:xfrm>
              <a:off x="2947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2" name="Text Box 49"/>
            <p:cNvSpPr txBox="1">
              <a:spLocks noChangeArrowheads="1"/>
            </p:cNvSpPr>
            <p:nvPr/>
          </p:nvSpPr>
          <p:spPr bwMode="auto">
            <a:xfrm>
              <a:off x="2995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43" name="Text Box 50"/>
            <p:cNvSpPr txBox="1">
              <a:spLocks noChangeArrowheads="1"/>
            </p:cNvSpPr>
            <p:nvPr/>
          </p:nvSpPr>
          <p:spPr bwMode="auto">
            <a:xfrm>
              <a:off x="2925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</a:t>
              </a:r>
            </a:p>
          </p:txBody>
        </p:sp>
        <p:sp>
          <p:nvSpPr>
            <p:cNvPr id="21544" name="Rectangle 51"/>
            <p:cNvSpPr>
              <a:spLocks noChangeArrowheads="1"/>
            </p:cNvSpPr>
            <p:nvPr/>
          </p:nvSpPr>
          <p:spPr bwMode="auto">
            <a:xfrm>
              <a:off x="2947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5" name="Text Box 52"/>
            <p:cNvSpPr txBox="1">
              <a:spLocks noChangeArrowheads="1"/>
            </p:cNvSpPr>
            <p:nvPr/>
          </p:nvSpPr>
          <p:spPr bwMode="auto">
            <a:xfrm>
              <a:off x="2995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b</a:t>
              </a:r>
            </a:p>
          </p:txBody>
        </p:sp>
        <p:sp>
          <p:nvSpPr>
            <p:cNvPr id="21546" name="Rectangle 53"/>
            <p:cNvSpPr>
              <a:spLocks noChangeArrowheads="1"/>
            </p:cNvSpPr>
            <p:nvPr/>
          </p:nvSpPr>
          <p:spPr bwMode="auto">
            <a:xfrm>
              <a:off x="2947" y="3296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7" name="Text Box 54"/>
            <p:cNvSpPr txBox="1">
              <a:spLocks noChangeArrowheads="1"/>
            </p:cNvSpPr>
            <p:nvPr/>
          </p:nvSpPr>
          <p:spPr bwMode="auto">
            <a:xfrm>
              <a:off x="2992" y="3248"/>
              <a:ext cx="20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a'</a:t>
              </a:r>
            </a:p>
          </p:txBody>
        </p:sp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202238" y="5044653"/>
            <a:ext cx="487362" cy="1336675"/>
            <a:chOff x="3277" y="3392"/>
            <a:chExt cx="307" cy="842"/>
          </a:xfrm>
        </p:grpSpPr>
        <p:sp>
          <p:nvSpPr>
            <p:cNvPr id="21532" name="Rectangle 57"/>
            <p:cNvSpPr>
              <a:spLocks noChangeArrowheads="1"/>
            </p:cNvSpPr>
            <p:nvPr/>
          </p:nvSpPr>
          <p:spPr bwMode="auto">
            <a:xfrm>
              <a:off x="3296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3" name="Text Box 58"/>
            <p:cNvSpPr txBox="1">
              <a:spLocks noChangeArrowheads="1"/>
            </p:cNvSpPr>
            <p:nvPr/>
          </p:nvSpPr>
          <p:spPr bwMode="auto">
            <a:xfrm>
              <a:off x="3344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34" name="Rectangle 59"/>
            <p:cNvSpPr>
              <a:spLocks noChangeArrowheads="1"/>
            </p:cNvSpPr>
            <p:nvPr/>
          </p:nvSpPr>
          <p:spPr bwMode="auto">
            <a:xfrm>
              <a:off x="3296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5" name="Text Box 60"/>
            <p:cNvSpPr txBox="1">
              <a:spLocks noChangeArrowheads="1"/>
            </p:cNvSpPr>
            <p:nvPr/>
          </p:nvSpPr>
          <p:spPr bwMode="auto">
            <a:xfrm>
              <a:off x="3344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36" name="Text Box 61"/>
            <p:cNvSpPr txBox="1">
              <a:spLocks noChangeArrowheads="1"/>
            </p:cNvSpPr>
            <p:nvPr/>
          </p:nvSpPr>
          <p:spPr bwMode="auto">
            <a:xfrm>
              <a:off x="3277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</a:t>
              </a:r>
            </a:p>
          </p:txBody>
        </p:sp>
        <p:sp>
          <p:nvSpPr>
            <p:cNvPr id="21537" name="Rectangle 62"/>
            <p:cNvSpPr>
              <a:spLocks noChangeArrowheads="1"/>
            </p:cNvSpPr>
            <p:nvPr/>
          </p:nvSpPr>
          <p:spPr bwMode="auto">
            <a:xfrm>
              <a:off x="3296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8" name="Text Box 63"/>
            <p:cNvSpPr txBox="1">
              <a:spLocks noChangeArrowheads="1"/>
            </p:cNvSpPr>
            <p:nvPr/>
          </p:nvSpPr>
          <p:spPr bwMode="auto">
            <a:xfrm>
              <a:off x="3344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5791200" y="5273253"/>
            <a:ext cx="457200" cy="1098550"/>
            <a:chOff x="3648" y="3536"/>
            <a:chExt cx="288" cy="692"/>
          </a:xfrm>
        </p:grpSpPr>
        <p:sp>
          <p:nvSpPr>
            <p:cNvPr id="21527" name="Text Box 66"/>
            <p:cNvSpPr txBox="1">
              <a:spLocks noChangeArrowheads="1"/>
            </p:cNvSpPr>
            <p:nvPr/>
          </p:nvSpPr>
          <p:spPr bwMode="auto">
            <a:xfrm>
              <a:off x="3648" y="3978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</a:t>
              </a:r>
            </a:p>
          </p:txBody>
        </p:sp>
        <p:sp>
          <p:nvSpPr>
            <p:cNvPr id="21528" name="Rectangle 67"/>
            <p:cNvSpPr>
              <a:spLocks noChangeArrowheads="1"/>
            </p:cNvSpPr>
            <p:nvPr/>
          </p:nvSpPr>
          <p:spPr bwMode="auto">
            <a:xfrm>
              <a:off x="3648" y="3844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29" name="Text Box 68"/>
            <p:cNvSpPr txBox="1">
              <a:spLocks noChangeArrowheads="1"/>
            </p:cNvSpPr>
            <p:nvPr/>
          </p:nvSpPr>
          <p:spPr bwMode="auto">
            <a:xfrm>
              <a:off x="3696" y="3796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30" name="Rectangle 69"/>
            <p:cNvSpPr>
              <a:spLocks noChangeArrowheads="1"/>
            </p:cNvSpPr>
            <p:nvPr/>
          </p:nvSpPr>
          <p:spPr bwMode="auto">
            <a:xfrm>
              <a:off x="3648" y="3584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1" name="Text Box 70"/>
            <p:cNvSpPr txBox="1">
              <a:spLocks noChangeArrowheads="1"/>
            </p:cNvSpPr>
            <p:nvPr/>
          </p:nvSpPr>
          <p:spPr bwMode="auto">
            <a:xfrm>
              <a:off x="3696" y="3536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m</a:t>
              </a:r>
            </a:p>
          </p:txBody>
        </p:sp>
      </p:grpSp>
      <p:sp>
        <p:nvSpPr>
          <p:cNvPr id="21521" name="Text Box 65"/>
          <p:cNvSpPr txBox="1">
            <a:spLocks noChangeArrowheads="1"/>
          </p:cNvSpPr>
          <p:nvPr/>
        </p:nvSpPr>
        <p:spPr bwMode="auto">
          <a:xfrm>
            <a:off x="3316288" y="384450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</a:t>
            </a:r>
          </a:p>
        </p:txBody>
      </p:sp>
      <p:sp>
        <p:nvSpPr>
          <p:cNvPr id="21522" name="Text Box 11"/>
          <p:cNvSpPr txBox="1">
            <a:spLocks noChangeArrowheads="1"/>
          </p:cNvSpPr>
          <p:nvPr/>
        </p:nvSpPr>
        <p:spPr bwMode="auto">
          <a:xfrm>
            <a:off x="2397125" y="3844503"/>
            <a:ext cx="411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</a:t>
            </a:r>
          </a:p>
        </p:txBody>
      </p:sp>
      <p:sp>
        <p:nvSpPr>
          <p:cNvPr id="21523" name="Text Box 17"/>
          <p:cNvSpPr txBox="1">
            <a:spLocks noChangeArrowheads="1"/>
          </p:cNvSpPr>
          <p:nvPr/>
        </p:nvSpPr>
        <p:spPr bwMode="auto">
          <a:xfrm>
            <a:off x="2417763" y="2836441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</a:t>
            </a:r>
          </a:p>
        </p:txBody>
      </p:sp>
      <p:sp>
        <p:nvSpPr>
          <p:cNvPr id="21524" name="Text Box 37"/>
          <p:cNvSpPr txBox="1">
            <a:spLocks noChangeArrowheads="1"/>
          </p:cNvSpPr>
          <p:nvPr/>
        </p:nvSpPr>
        <p:spPr bwMode="auto">
          <a:xfrm>
            <a:off x="3135313" y="282850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</a:t>
            </a:r>
          </a:p>
        </p:txBody>
      </p:sp>
      <p:sp>
        <p:nvSpPr>
          <p:cNvPr id="21525" name="Text Box 56"/>
          <p:cNvSpPr txBox="1">
            <a:spLocks noChangeArrowheads="1"/>
          </p:cNvSpPr>
          <p:nvPr/>
        </p:nvSpPr>
        <p:spPr bwMode="auto">
          <a:xfrm>
            <a:off x="3836988" y="2836441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</a:t>
            </a:r>
          </a:p>
        </p:txBody>
      </p:sp>
      <p:sp>
        <p:nvSpPr>
          <p:cNvPr id="21526" name="Text Box 26"/>
          <p:cNvSpPr txBox="1">
            <a:spLocks noChangeArrowheads="1"/>
          </p:cNvSpPr>
          <p:nvPr/>
        </p:nvSpPr>
        <p:spPr bwMode="auto">
          <a:xfrm>
            <a:off x="2417763" y="186965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Lokalitätsprinzip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539750" y="1196975"/>
            <a:ext cx="77724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AT" altLang="de-DE" sz="2000" b="1">
                <a:solidFill>
                  <a:schemeClr val="accent2"/>
                </a:solidFill>
              </a:rPr>
              <a:t>Variablen möglichst lokal deklarieren, nicht als statische Variablen!</a:t>
            </a:r>
          </a:p>
          <a:p>
            <a:pPr>
              <a:buFont typeface="Times" panose="02020603050405020304" pitchFamily="18" charset="0"/>
              <a:buNone/>
            </a:pPr>
            <a:endParaRPr lang="de-AT" altLang="de-DE" sz="2000"/>
          </a:p>
          <a:p>
            <a:pPr>
              <a:buFont typeface="Times" panose="02020603050405020304" pitchFamily="18" charset="0"/>
              <a:buNone/>
            </a:pPr>
            <a:r>
              <a:rPr lang="de-AT" altLang="de-DE" sz="2000" b="1"/>
              <a:t>Vorteile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Übersichtlichkeit</a:t>
            </a:r>
            <a:br>
              <a:rPr lang="de-AT" altLang="de-DE" sz="2000"/>
            </a:br>
            <a:r>
              <a:rPr lang="de-AT" altLang="de-DE" sz="2000"/>
              <a:t>Deklaration und Benutzung nahe beisammen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Sicherheit</a:t>
            </a:r>
            <a:br>
              <a:rPr lang="de-AT" altLang="de-DE" sz="2000"/>
            </a:br>
            <a:r>
              <a:rPr lang="de-AT" altLang="de-DE" sz="2000"/>
              <a:t>Lokale Variablen können nicht durch andere Methoden zerstört werden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Effizienz</a:t>
            </a:r>
            <a:br>
              <a:rPr lang="de-AT" altLang="de-DE" sz="2000"/>
            </a:br>
            <a:r>
              <a:rPr lang="de-AT" altLang="de-DE" sz="2000"/>
              <a:t>Zugriff auf lokale Variable ist oft schneller als auf statische Variable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1263</Words>
  <Application>Microsoft Office PowerPoint</Application>
  <PresentationFormat>Bildschirmpräsentation (4:3)</PresentationFormat>
  <Paragraphs>268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1" baseType="lpstr">
      <vt:lpstr>Arial</vt:lpstr>
      <vt:lpstr>Calibri</vt:lpstr>
      <vt:lpstr>Courier New</vt:lpstr>
      <vt:lpstr>Symbol</vt:lpstr>
      <vt:lpstr>Times</vt:lpstr>
      <vt:lpstr>Times New Roman</vt:lpstr>
      <vt:lpstr>Wingdings</vt:lpstr>
      <vt:lpstr>2_Larissa</vt:lpstr>
      <vt:lpstr>1_Standarddesign</vt:lpstr>
      <vt:lpstr>Wozu Methoden?</vt:lpstr>
      <vt:lpstr>Parameterlose Methoden</vt:lpstr>
      <vt:lpstr>Namenskonvention Methoden</vt:lpstr>
      <vt:lpstr>Parameter (Wertparameter -&gt; call by value)</vt:lpstr>
      <vt:lpstr>Funktionen</vt:lpstr>
      <vt:lpstr>Weiteres Beispiel</vt:lpstr>
      <vt:lpstr>Lokale und statische Variablen</vt:lpstr>
      <vt:lpstr>Beispiel: Summe einer Zahlenfolge</vt:lpstr>
      <vt:lpstr>Sichtbarkeitsbereich von Namen</vt:lpstr>
      <vt:lpstr>Beispiel zu Sichtbarkeitsregeln</vt:lpstr>
      <vt:lpstr>Lebensdauer von Variablen</vt:lpstr>
      <vt:lpstr>Lokalitätsprinzip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Aitenbichler Herbert</cp:lastModifiedBy>
  <cp:revision>160</cp:revision>
  <dcterms:created xsi:type="dcterms:W3CDTF">2006-01-13T20:54:04Z</dcterms:created>
  <dcterms:modified xsi:type="dcterms:W3CDTF">2022-01-12T08:03:02Z</dcterms:modified>
</cp:coreProperties>
</file>